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Frame today as one keyword added to something the room already wrote for real last class. Nothing about the OVER clause changes; it just learns to start counting over inside each group.</a:t>
            </a:r>
          </a:p>
          <a:p/>
          <a:p>
            <a:r>
              <a:t>[SCRIPT] Say the business question out loud early: "who is worst in each borough" is a genuinely different question from "who is worst overall," and one flat ranking cannot answer it.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both out loud, then name the project tie: the project's own window-function question is graded on a ranking that answers a real per-group business question, not one flat list of everything.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"Top-N per group" is worth pointing at specifically - it is the phrase interviewers actually use for this pattern, so hearing it now makes the phrasing familiar later.</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[~4 min mark] Keep this quick - the payoff is real output on screen in a few minutes.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quick show of hands on A, B, or C. Online: drop a letter in chat, then confirm.</a:t>
            </a:r>
          </a:p>
          <a:p/>
          <a:p>
            <a:r>
              <a:t>[SCRIPT] This is not just a warm-up. Today's ranking still ties the exact same way - the only thing that changes is the set of rows a tie is measured against. Say that connection out loud before moving on.</a:t>
            </a:r>
          </a:p>
          <a:p/>
          <a:p>
            <a:r>
              <a:t>[MISCONCEPTIONS] Some Fellows expect a tie to raise an error or get broken automatically. It does neither - the database reports the tie honestly and leaves the tie-breaking decision to you.</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The same number, then a gap after it</a:t>
            </a:r>
          </a:p>
          <a:p>
            <a:r>
              <a:t>Why: `RANK()` gives every tied row the same rank, then picks the count back up after however many rows tied. That tie rule does not go away today - it still applies, just inside each group instead of across the whole table.</a:t>
            </a:r>
          </a:p>
          <a:p>
            <a:r>
              <a:t>Source: This module's own prior lesson on RANK() and ROW_NUMBER(),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Introduce the chart analogy before the keyword, then name the mechanism: the rows and the numbers are identical either way. The only thing that changed is which other rows each row gets compared against.</a:t>
            </a:r>
          </a:p>
          <a:p/>
          <a:p>
            <a:r>
              <a:t>[MISCONCEPTIONS] Fellows often assume a per-group ranking must need a separate query per group, or a `WHERE boro = 'Queens'` run three times. One query does all of it at once - that is exactly what `PARTITION BY` buys you.</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 - everyone opens their terminal now, not in five minutes.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confirm `INSERT 0 2`. Do not explain why these two specifically yet - let the ranking output make the point on its own.</a:t>
            </a:r>
          </a:p>
          <a:p/>
          <a:p>
            <a:r>
              <a:t>[MISCONCEPTIONS] If anyone runs this twice they get "duplicate key value violates unique constraint restaurants_pkey". That is the primary key from this module's own table-creation lesson doing its job, not a broken command. Say so out loud and move on rather than debugging it live.</a:t>
            </a:r>
          </a:p>
          <a:p/>
          <a:p>
            <a:r>
              <a:t>[MISCONCEPTIONS] A brand-new restaurant with no inspections still counts as a real row here. Its violation total is a genuine zero, not missing data - that distinction is what the `LEFT JOIN` protects.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read the `rnk` column down the screen out loud. Corner Bistro is 1, Green Leaf Cafe is 2, and then five rows all sit at 3. Ask the room whether that answers "who is worst in Brooklyn." It does not, and everyone can see why.</a:t>
            </a:r>
          </a:p>
          <a:p/>
          <a:p>
            <a:r>
              <a:t>[SCRIPT] Point at the `ORDER BY boro, rnk` on the last line: that is only sorting the printout so boroughs stay together. It has no effect on the ranking itself, which is still computed across all seven rows.</a:t>
            </a:r>
          </a:p>
          <a:p/>
          <a:p>
            <a:r>
              <a:t>[MISCONCEPTIONS] Fellows sometimes read the `ORDER BY boro` in the final line as if it grouped the ranking. It did not - sorting output and defining a ranking's comparison group are two different jobs.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hold up fingers for 3, 4, or 5. Online: drop the number in chat before advancing.</a:t>
            </a:r>
          </a:p>
          <a:p/>
          <a:p>
            <a:r>
              <a:t>[SCRIPT] The number itself is less important than the point: a flat ranking got less useful as the table got bigger, not more. That is the problem the next slide fixes.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5</a:t>
            </a:r>
          </a:p>
          <a:p>
            <a:r>
              <a:t>Why: Only Corner Bistro (3 violations) and Green Leaf Cafe (1) have any violations at all. The other five restaurants sit at zero, so `RANK()` puts all five of them at rank 3 - one flat ranking, and most of the table is a single undifferentiated block.</a:t>
            </a:r>
          </a:p>
          <a:p>
            <a:r>
              <a:t>Source: This lesson's own worked example,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still a code-along, and that only one line of the previous query changes.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Give the room 60 seconds to fill in the blank before you reveal it. In person: call on one Fellow to say the keyword out loud. Online: everyone types their guess in chat at the same time.</a:t>
            </a:r>
          </a:p>
          <a:p/>
          <a:p>
            <a:r>
              <a:t>[SCRIPT] Run it and read the output borough by borough. Brooklyn: Green Leaf Cafe 1, then Harbor Grill and Flatbush Fry both 2. Manhattan: Corner Bistro 1, New Spot NYC 2. Queens: Sunset Diner and Bayside Grill both 1. The five-way tie is gone, and every borough has its own number one.</a:t>
            </a:r>
          </a:p>
          <a:p/>
          <a:p>
            <a:r>
              <a:t>[SCRIPT] Call back to the chart analogy here: a national chart has exactly one #1, and a city-by-city chart restarts the count in each city. Same songs, same plays, three different winners.</a:t>
            </a:r>
          </a:p>
          <a:p/>
          <a:p>
            <a:r>
              <a:t>[SCRIPT] Say the row count out loud: seven rows went in and seven rows came back. `PARTITION BY` changed which rows each rank was measured against - it never removed or merged a single row.</a:t>
            </a:r>
          </a:p>
          <a:p/>
          <a:p>
            <a:r>
              <a:t>[MISCONCEPTIONS] The most common wrong guess here is `GROUP BY boro`. That collapses the table to three rows, one per borough, and the restaurant names disappear entirely. Same word "group," opposite effect on your row count.</a:t>
            </a:r>
          </a:p>
          <a:p/>
          <a:p>
            <a:r>
              <a:t>[SOURCES] PostgreSQL documentation, "Window Functions": PARTITION BY "divides the rows into groups, or partitions... For each row, the window function is computed across the rows that fall into the same partition as the current row," and window function rows "retain their separate identities."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Give the room 60 seconds to fill in the blank before you reveal it. In person: call on one Fellow to say the keyword out loud. Online: everyone types their guess in chat at the same time.</a:t>
            </a:r>
          </a:p>
          <a:p/>
          <a:p>
            <a:r>
              <a:t>[SCRIPT] Run it and read the output borough by borough. Brooklyn: Green Leaf Cafe 1, then Harbor Grill and Flatbush Fry both 2. Manhattan: Corner Bistro 1, New Spot NYC 2. Queens: Sunset Diner and Bayside Grill both 1. The five-way tie is gone, and every borough has its own number one.</a:t>
            </a:r>
          </a:p>
          <a:p/>
          <a:p>
            <a:r>
              <a:t>[SCRIPT] Call back to the chart analogy here: a national chart has exactly one #1, and a city-by-city chart restarts the count in each city. Same songs, same plays, three different winners.</a:t>
            </a:r>
          </a:p>
          <a:p/>
          <a:p>
            <a:r>
              <a:t>[SCRIPT] Say the row count out loud: seven rows went in and seven rows came back. `PARTITION BY` changed which rows each rank was measured against - it never removed or merged a single row.</a:t>
            </a:r>
          </a:p>
          <a:p/>
          <a:p>
            <a:r>
              <a:t>[MISCONCEPTIONS] The most common wrong guess here is `GROUP BY boro`. That collapses the table to three rows, one per borough, and the restaurant names disappear entirely. Same word "group," opposite effect on your row count.</a:t>
            </a:r>
          </a:p>
          <a:p/>
          <a:p>
            <a:r>
              <a:t>[SOURCES] PostgreSQL documentation, "Window Functions": PARTITION BY "divides the rows into groups, or partitions... For each row, the window function is computed across the rows that fall into the same partition as the current row," and window function rows "retain their separate identities."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Quick-fire round. In person: shout it out or hold up fingers. Online: everyone types a number in chat at once, then reveal.</a:t>
            </a:r>
          </a:p>
          <a:p/>
          <a:p>
            <a:r>
              <a:t>[SCRIPT] Expect most of the room to answer 3. That wrong answer is the whole point of asking - it shows that "one winner per group" is an assumption about the data, not something the function guarantees.</a:t>
            </a:r>
          </a:p>
          <a:p/>
          <a:p>
            <a:r>
              <a:t>[MISCONCEPTIONS] "One row per partition" is the assumption to break here. `PARTITION BY` decides the comparison group; it never promises a unique winner inside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4</a:t>
            </a:r>
          </a:p>
          <a:p>
            <a:r>
              <a:t>Why: Three boroughs each produce a rank 1, so three is the tempting answer. But Queens has two restaurants both sitting at zero violations, and `RANK()` still gives tied rows the same number - inside a partition just as much as outside one. Sunset Diner and Bayside Grill are both rank 1, so four rows come back.</a:t>
            </a:r>
          </a:p>
          <a:p>
            <a:r>
              <a:t>Source: This lesson's own worked example,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real distinction: `GROUP BY` changes your row count, `PARTITION BY` never does. If someone asks which one is "better," the honest answer is that they answer different questions.</a:t>
            </a:r>
          </a:p>
          <a:p/>
          <a:p>
            <a:r>
              <a:t>[SCRIPT] Say the day's through-line out loud here, since this is where it lands hardest: the hard part of a ranking question is almost never the function. It is deciding what each row is being compared against.</a:t>
            </a:r>
          </a:p>
          <a:p/>
          <a:p>
            <a:r>
              <a:t>[MISCONCEPTIONS] These are not opposites and not mutually exclusive - a single query can legitimately use both, since window functions run after the grouping is already done. Do not leave the room believing you must pick one.</a:t>
            </a:r>
          </a:p>
          <a:p/>
          <a:p>
            <a:r>
              <a:t>[SOURCES] PostgreSQL documentation, "Window Functions": window functions "do not cause rows to become grouped into a single output row like non-window aggregate calls would," and they "execute after non-window aggregate functions."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it left to right, then land on the point: `WHERE` has completely finished by the time the database reaches `SELECT`, and `SELECT` is where a window function runs. So at `WHERE` time, the rank genuinely does not exist yet. This is not an arbitrary rule about where you are allowed to type things.</a:t>
            </a:r>
          </a:p>
          <a:p/>
          <a:p>
            <a:r>
              <a:t>[SCRIPT] Same reason `HAVING` cannot see a rank either - it sits to the left of `SELECT` too. Fellows who learned `HAVING` as "the `WHERE` for aggregates" will reach for it otherwise.</a:t>
            </a:r>
          </a:p>
          <a:p/>
          <a:p>
            <a:r>
              <a:t>[MISCONCEPTIONS] The order you *write* a query in is not the order it *runs* in. `SELECT` is written first and runs almost last. That gap is the whole reason the next slide needs a wrapper.</a:t>
            </a:r>
          </a:p>
          <a:p/>
          <a:p>
            <a:r>
              <a:t>[SOURCES] PostgreSQL documentation, "Window Functions": window functions "are permitted only in the SELECT list and the ORDER BY clause of the query. They are forbidden elsewhere, such as in GROUP BY, HAVING and WHERE clauses. This is because they logically execute after the processing of those clauses."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[~36 min mark] Set up the real ask: the manager wanted the worst restaurant in each borough, not a ranked list of everything. Name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pattern out loud first: this shape - rank inside each group, then keep the top rows of each - is called top-N per group, and that is the phrase an interviewer will use for it.</a:t>
            </a:r>
          </a:p>
          <a:p/>
          <a:p>
            <a:r>
              <a:t>[SCRIPT] Ask next: why not just add `WHERE rnk = 1` to the previous query? Then answer it with the real mechanism. `WHERE` has already finished running by the time any window function is computed, so at that moment `rnk` does not exist yet. Postgres reports it as plainly as that: column "rnk" does not exist.</a:t>
            </a:r>
          </a:p>
          <a:p/>
          <a:p>
            <a:r>
              <a:t>[SCRIPT] Name why the wrapper fixes it: the inner CTE finishes the whole ranking first, which turns `rnk` into an ordinary column. Only then does the outer `WHERE` run, against a plain value.</a:t>
            </a:r>
          </a:p>
          <a:p/>
          <a:p>
            <a:r>
              <a:t>[SCRIPT] Run it and read the four rows: Green Leaf Cafe for Brooklyn, Corner Bistro for Manhattan, and both Sunset Diner and Bayside Grill for Queens. Tie back to the quick-fire question - four, not three.</a:t>
            </a:r>
          </a:p>
          <a:p/>
          <a:p>
            <a:r>
              <a:t>[MISCONCEPTIONS] Fellows who learned `HAVING` as "the `WHERE` for aggregates" will try `HAVING rnk = 1` next. That fails for the same reason, and it is worth saying out loud before someone loses ten minutes to it.</a:t>
            </a:r>
          </a:p>
          <a:p/>
          <a:p>
            <a:r>
              <a:t>[SOURCES] PostgreSQL documentation, "Window Functions": window functions "are permitted only in the SELECT list and the ORDER BY clause of the query. They are forbidden elsewhere, such as in GROUP BY, HAVING and WHERE clauses. This is because they logically execute after the processing of those clauses." The docs give the same sub-select fix this slide uses as a CTE.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Use a shared board - Padlet, Jamboard, or a physical whiteboard, whichever this cohort already uses. In person: pairs sketch on the board, then two pairs present. Online: each pair posts their clause to the shared board, then unmute two pairs to defend it.</a:t>
            </a:r>
          </a:p>
          <a:p/>
          <a:p>
            <a:r>
              <a:t>[SCRIPT] Target idea: the clause is `OVER (PARTITION BY boro ORDER BY tv DESC)` either way. The real decision is the function. Today's own output already proves it matters - Queens tied, so `RANK()` returned two "winners" for one borough. A report that promises exactly one name per borough has a real, defensible reason to use `ROW_NUMBER()`.</a:t>
            </a:r>
          </a:p>
          <a:p/>
          <a:p>
            <a:r>
              <a:t>[SCRIPT] Push on the honest cost: `ROW_NUMBER()` picks a winner even when the data did not. Listen for whether a pair says out loud how the tie should be broken, rather than letting the database decide silently.</a:t>
            </a:r>
          </a:p>
          <a:p/>
          <a:p>
            <a:r>
              <a:t>[MISCONCEPTIONS] Some Fellows will treat `ROW_NUMBER()` as simply the safer choice. It is only safer for the row count - it quietly hides a real tie, which is sometimes exactly the wrong thing for a report to do.</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60 seconds silent, then 60 seconds in pairs, then cold-call one Fellow to narrate the plan while a second Fellow critiques it - the pair step first is deliberate, so nobody is put on the spot with an untested answer. Online: 60 seconds silent, then post to a pair breakout or chat, then unmute two Fellows.</a:t>
            </a:r>
          </a:p>
          <a:p/>
          <a:p>
            <a:r>
              <a:t>[TECHNIQUE] Use the Query Walkthrough Method - Understand, Plan, Write, Explain, Validate. This is a live SQL question, and the point is narrating a plan out loud, not racing to syntax. A candidate who says the plan first is easier to follow even if the syntax wobbles.</a:t>
            </a:r>
          </a:p>
          <a:p/>
          <a:p>
            <a:r>
              <a:t>[SCRIPT] Target shape of a strong answer. Understand: what counts as "top two" if two people tie on pay? Plan: total or select the pay per employee, rank within each job title, then keep the top two. Write: a ranking function with `PARTITION BY job_title ORDER BY pay DESC`, wrapped in a CTE. Explain: name why the wrapper is needed at all. Validate: check one job title by hand against the raw rows.</a:t>
            </a:r>
          </a:p>
          <a:p/>
          <a:p>
            <a:r>
              <a:t>[SCRIPT] This exact question shape shows up constantly in real data analyst interviews, phrased as top-two-per-category, top-earner-per- department, or best-selling-product-per-month. Say that out loud so Fellows recognize it as a pattern, not a one-off puzzle.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ARP - Acknowledge, Reason, Pivot. Acknowledge is not apologize: "I have not used that one yet" is confident, "I'm terrible at window functions" is not. Reason means thinking out loud from adjacent knowledge, which Fellows genuinely have after today. Pivot means landing back on something real they have built.</a:t>
            </a:r>
          </a:p>
          <a:p/>
          <a:p>
            <a:r>
              <a:t>[SCOPE] `DENSE_RANK()` is deliberately not taught anywhere in this module - that is the point. This question rehearses what to do when a real interview reaches past what you have been taught, which is normal and survivable. Do not turn it into a syntax lesson.</a:t>
            </a:r>
          </a:p>
          <a:p/>
          <a:p>
            <a:r>
              <a:t>[SCRIPT] Have one Fellow attempt it cold. Listen for the three beats in order, and especially for whether they actually pivot to real work instead of trailing off after admitting the gap.</a:t>
            </a:r>
          </a:p>
          <a:p/>
          <a:p/>
          <a:p>
            <a:r>
              <a:t>Short answers:</a:t>
            </a:r>
          </a:p>
          <a:p/>
          <a:p>
            <a:r>
              <a:t>Q: An interviewer asks how you would use `DENSE_RANK()`. You have never used it. What do you say?</a:t>
            </a:r>
          </a:p>
          <a:p>
            <a:r>
              <a:t>A: Don't bluff or shut down - say honestly you haven't used it yet, then reason aloud from what you do know: you've written `RANK()`, which gives tied rows the same number then leaves a gap, so `DENSE_RANK` is likely the version that closes that gap. Then pivot to real ground: describe a ranking you've actually written with `PARTITION BY` and how you checked it by hand. Reasoning aloud beats freezing on syntax.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it directly: the project's own window-function question is graded on whether the ranking answers a real business question. A per-group ranking almost always does that better than one flat list.</a:t>
            </a:r>
          </a:p>
          <a:p/>
          <a:p>
            <a:r>
              <a:t>[SCRIPT] Repeat the spot-check habit this module has drilled since the join lectures. Pick one group, count it by hand from the raw rows, and confirm the query agrees before trusting any of it.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pass through all three. "Top-N per group" especially - that is the phrase to recognize the moment an interviewer or a manager uses it.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by naming the through-line across both window-function lessons: the `OVER` clause has not changed at all. It just learned who each row is being compared against.</a:t>
            </a:r>
          </a:p>
          <a:p/>
          <a:p>
            <a:r>
              <a:t>[SCRIPT] Name the project tie explicitly, same as the objectives slide did: your own project's window-function question expects a ranking that answers a real per-group business question, spot-checked by hand.</a:t>
            </a:r>
          </a:p>
          <a:p/>
          <a:p>
            <a:r>
              <a:t>[SCRIPT] The video is optional enrichment for anyone who wants the whole idea narrated once more before the project. It is under eight minutes and covers both lessons' scope together.</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Give a specific heads-up: the next lecture runs new queries against this same database, so do not drop `nyc_restaurants`.</a:t>
            </a:r>
          </a:p>
          <a:p/>
          <a:p>
            <a:r>
              <a:t>[SCRIPT] The optional try-it: rank anything by anything, partitioned by any column that has real groups in it. Ten minutes of that is worth more than rereading the slides.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practice link specifically for anyone who wants more reps - its first several problems are exactly today's pattern, and it runs in the browser with no account needed.</a:t>
            </a:r>
          </a:p>
          <a:p/>
          <a:p>
            <a:r>
              <a:t>[SCRIPT] The docs link is a different page than the tutorial one from last class - this is the reference list where every ranking function is defined precisely, including ones this course has not taught.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youtube.com/watch?v=rIcB4zMYMas" TargetMode="External"/><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hyperlink" Target="https://dataschool.com/how-to-teach-people-sql/how-window-functions-work/" TargetMode="External"/><Relationship Id="rId5" Type="http://schemas.openxmlformats.org/officeDocument/2006/relationships/image" Target="../media/image15.png"/><Relationship Id="rId6" Type="http://schemas.openxmlformats.org/officeDocument/2006/relationships/hyperlink" Target="https://www.postgresql.org/docs/current/functions-window.html" TargetMode="External"/><Relationship Id="rId7" Type="http://schemas.openxmlformats.org/officeDocument/2006/relationships/image" Target="../media/image16.png"/><Relationship Id="rId8" Type="http://schemas.openxmlformats.org/officeDocument/2006/relationships/hyperlink" Target="https://www.practicewindowfunctions.com/learn/how_window_functions_work" TargetMode="External"/><Relationship Id="rId9"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PARTITION BY: Ranking Within Groups</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Restart a ranking inside each group</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Return only each group's top row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PARTITION BY</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Partition</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Top-N Per Group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One Ranking Over Everything</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Why One Ranking Can Hide the Real Answer</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restaurant can be middling citywide and still be the worst on its own block.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Last class three restaurants tied on total violations. What did </a:t>
            </a:r>
            <a:r>
              <a:rPr sz="3200" b="1" i="0" u="none">
                <a:solidFill>
                  <a:srgbClr val="261F1D"/>
                </a:solidFill>
                <a:latin typeface="Roboto Mono"/>
              </a:rPr>
              <a:t>RANK()</a:t>
            </a:r>
            <a:r>
              <a:rPr sz="3200" b="1" i="0" u="none">
                <a:solidFill>
                  <a:srgbClr val="261F1D"/>
                </a:solidFill>
                <a:latin typeface="Helvetica"/>
              </a:rPr>
              <a:t> give each of them?</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Three different numbers</a:t>
            </a:r>
          </a:p>
          <a:p>
            <a:pPr>
              <a:spcAft>
                <a:spcPts val="1000"/>
              </a:spcAft>
            </a:pPr>
            <a:r>
              <a:rPr sz="2600" b="0" i="0" u="none">
                <a:solidFill>
                  <a:srgbClr val="261F1D"/>
                </a:solidFill>
                <a:latin typeface="Helvetica"/>
              </a:rPr>
              <a:t>B.  The same number, then a gap after it</a:t>
            </a:r>
          </a:p>
          <a:p>
            <a:pPr>
              <a:spcAft>
                <a:spcPts val="1000"/>
              </a:spcAft>
            </a:pPr>
            <a:r>
              <a:rPr sz="2600" b="0" i="0" u="none">
                <a:solidFill>
                  <a:srgbClr val="261F1D"/>
                </a:solidFill>
                <a:latin typeface="Helvetica"/>
              </a:rPr>
              <a:t>C.  An error, because ties are not allowed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What RANK() Did With a Tie</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The same number, then a gap after it</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Roboto Mono"/>
              </a:rPr>
              <a:t>RANK()</a:t>
            </a:r>
            <a:r>
              <a:rPr sz="2600" b="0" i="0" u="none">
                <a:solidFill>
                  <a:srgbClr val="261F1D"/>
                </a:solidFill>
                <a:latin typeface="Helvetica"/>
              </a:rPr>
              <a:t> gives every tied row the same rank, then picks the count back up after however many rows tied. That tie rule does not go away today - it still applies, just inside each group instead of across the whole 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One Flat Ranking Can't Answer a Per-Group Question</a:t>
            </a:r>
          </a:p>
        </p:txBody>
      </p:sp>
      <p:sp>
        <p:nvSpPr>
          <p:cNvPr id="4" name="TextBox 3"/>
          <p:cNvSpPr txBox="1"/>
          <p:nvPr/>
        </p:nvSpPr>
        <p:spPr>
          <a:xfrm>
            <a:off x="548640" y="1188720"/>
            <a:ext cx="6705295" cy="35382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"Worst overall" is one question</a:t>
            </a:r>
          </a:p>
          <a:p>
            <a:pPr>
              <a:spcAft>
                <a:spcPts val="1000"/>
              </a:spcAft>
            </a:pPr>
            <a:r>
              <a:rPr sz="2600">
                <a:solidFill>
                  <a:srgbClr val="261F1D"/>
                </a:solidFill>
                <a:latin typeface="Helvetica"/>
              </a:rPr>
              <a:t>•  </a:t>
            </a:r>
            <a:r>
              <a:rPr sz="2600" b="0" i="0" u="none">
                <a:solidFill>
                  <a:srgbClr val="261F1D"/>
                </a:solidFill>
                <a:latin typeface="Helvetica"/>
              </a:rPr>
              <a:t>"Worst in each borough" is another</a:t>
            </a:r>
          </a:p>
          <a:p>
            <a:pPr>
              <a:spcAft>
                <a:spcPts val="1000"/>
              </a:spcAft>
            </a:pPr>
            <a:r>
              <a:rPr sz="2600">
                <a:solidFill>
                  <a:srgbClr val="261F1D"/>
                </a:solidFill>
                <a:latin typeface="Helvetica"/>
              </a:rPr>
              <a:t>•  </a:t>
            </a:r>
            <a:r>
              <a:rPr sz="2600" b="0" i="0" u="none">
                <a:solidFill>
                  <a:srgbClr val="261F1D"/>
                </a:solidFill>
                <a:latin typeface="Helvetica"/>
              </a:rPr>
              <a:t>Same rows, different comparison group</a:t>
            </a:r>
          </a:p>
        </p:txBody>
      </p:sp>
      <p:sp>
        <p:nvSpPr>
          <p:cNvPr id="5" name="Oval 4"/>
          <p:cNvSpPr/>
          <p:nvPr/>
        </p:nvSpPr>
        <p:spPr>
          <a:xfrm>
            <a:off x="8611794" y="1869669"/>
            <a:ext cx="2222043" cy="2222043"/>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67304" y="2425179"/>
            <a:ext cx="1111021" cy="1111021"/>
          </a:xfrm>
          <a:prstGeom prst="rect">
            <a:avLst/>
          </a:prstGeom>
        </p:spPr>
      </p:pic>
      <p:sp>
        <p:nvSpPr>
          <p:cNvPr id="7" name="Rounded Rectangle 6"/>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national song chart ranks every track against every other one. A city-by-city chart restarts the count in each city - same songs, same plays, a different #1 in each place.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Chart Analogy</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Setting Up Real Groups to Rank</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Two more restaurants, so every borough has a real group to rank inside.</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Add two restaurants</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Re-run yesterday's ranking</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Two More Restaurants, So Every Borough Has a Group</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a:t>
            </a:r>
            <a:r>
              <a:rPr sz="2600" i="0">
                <a:solidFill>
                  <a:srgbClr val="EEBC32"/>
                </a:solidFill>
                <a:latin typeface="Roboto Mono"/>
              </a:rPr>
              <a:t>c</a:t>
            </a:r>
            <a:r>
              <a:rPr sz="2600" i="0">
                <a:solidFill>
                  <a:srgbClr val="FFFCF7"/>
                </a:solidFill>
                <a:latin typeface="Roboto Mono"/>
              </a:rPr>
              <a:t> </a:t>
            </a:r>
            <a:r>
              <a:rPr sz="2600" i="0">
                <a:solidFill>
                  <a:srgbClr val="FFFCF7"/>
                </a:solidFill>
                <a:latin typeface="Roboto Mono"/>
              </a:rPr>
              <a:t>nyc_restaurants</a:t>
            </a:r>
          </a:p>
          <a:p>
            <a:pPr>
              <a:lnSpc>
                <a:spcPct val="120000"/>
              </a:lnSpc>
              <a:defRPr sz="2600">
                <a:latin typeface="Roboto Mono"/>
              </a:defRPr>
            </a:pPr>
            <a:r>
              <a:rPr sz="2600" i="0">
                <a:solidFill>
                  <a:srgbClr val="EEBC32"/>
                </a:solidFill>
                <a:latin typeface="Roboto Mono"/>
              </a:rPr>
              <a:t>INSERT</a:t>
            </a:r>
            <a:r>
              <a:rPr sz="2600" i="0">
                <a:solidFill>
                  <a:srgbClr val="FFFCF7"/>
                </a:solidFill>
                <a:latin typeface="Roboto Mono"/>
              </a:rPr>
              <a:t> </a:t>
            </a:r>
            <a:r>
              <a:rPr sz="2600" i="0">
                <a:solidFill>
                  <a:srgbClr val="EEBC32"/>
                </a:solidFill>
                <a:latin typeface="Roboto Mono"/>
              </a:rPr>
              <a:t>INTO</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VALUES</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659B87"/>
                </a:solidFill>
                <a:latin typeface="Roboto Mono"/>
              </a:rPr>
              <a:t>1006</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'Bayside Grill'</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'Queens'</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659B87"/>
                </a:solidFill>
                <a:latin typeface="Roboto Mono"/>
              </a:rPr>
              <a:t>1007</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'Flatbush Fry'</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'Brooklyn'</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Yesterday's Ranking, Now With Boroughs Showing</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1">
                <a:solidFill>
                  <a:srgbClr val="B3BBB0"/>
                </a:solidFill>
                <a:latin typeface="Roboto Mono"/>
              </a:rPr>
              <a:t>-- tv = total violations, rnk = rank</a:t>
            </a:r>
          </a:p>
          <a:p>
            <a:pPr>
              <a:lnSpc>
                <a:spcPct val="105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tv</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RANK</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OVER</a:t>
            </a:r>
            <a:r>
              <a:rPr sz="2600" i="0">
                <a:solidFill>
                  <a:srgbClr val="FFFCF7"/>
                </a:solidFill>
                <a:latin typeface="Roboto Mono"/>
              </a:rPr>
              <a:t> </a:t>
            </a:r>
            <a:r>
              <a:rPr sz="2600" i="0">
                <a:solidFill>
                  <a:srgbClr val="FFFCF7"/>
                </a:solidFill>
                <a:latin typeface="Roboto Mono"/>
              </a:rPr>
              <a:t>(</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rnk</a:t>
            </a:r>
          </a:p>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rnk</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Predict it: With the two new restaurants added, how many rows now come back sharing </a:t>
            </a:r>
            <a:r>
              <a:rPr sz="3200" b="1" i="0" u="none">
                <a:solidFill>
                  <a:srgbClr val="261F1D"/>
                </a:solidFill>
                <a:latin typeface="Roboto Mono"/>
              </a:rPr>
              <a:t>rnk = 3</a:t>
            </a:r>
            <a:r>
              <a:rPr sz="3200" b="1" i="0" u="none">
                <a:solidFill>
                  <a:srgbClr val="261F1D"/>
                </a:solidFill>
                <a:latin typeface="Helvetica"/>
              </a:rPr>
              <a:t>?</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3</a:t>
            </a:r>
          </a:p>
          <a:p>
            <a:pPr>
              <a:spcAft>
                <a:spcPts val="1000"/>
              </a:spcAft>
            </a:pPr>
            <a:r>
              <a:rPr sz="2600" b="0" i="0" u="none">
                <a:solidFill>
                  <a:srgbClr val="261F1D"/>
                </a:solidFill>
                <a:latin typeface="Helvetica"/>
              </a:rPr>
              <a:t>B.  4</a:t>
            </a:r>
          </a:p>
          <a:p>
            <a:pPr>
              <a:spcAft>
                <a:spcPts val="1000"/>
              </a:spcAft>
            </a:pPr>
            <a:r>
              <a:rPr sz="2600" b="0" i="0" u="none">
                <a:solidFill>
                  <a:srgbClr val="261F1D"/>
                </a:solidFill>
                <a:latin typeface="Helvetica"/>
              </a:rPr>
              <a:t>C.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How Big the Tie Got</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5</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Only Corner Bistro (3 violations) and Green Leaf Cafe (1) have any violations at all. The other five restaurants sit at zero, so </a:t>
            </a:r>
            <a:r>
              <a:rPr sz="2600" b="0" i="0" u="none">
                <a:solidFill>
                  <a:srgbClr val="261F1D"/>
                </a:solidFill>
                <a:latin typeface="Roboto Mono"/>
              </a:rPr>
              <a:t>RANK()</a:t>
            </a:r>
            <a:r>
              <a:rPr sz="2600" b="0" i="0" u="none">
                <a:solidFill>
                  <a:srgbClr val="261F1D"/>
                </a:solidFill>
                <a:latin typeface="Helvetica"/>
              </a:rPr>
              <a:t> puts all five of them at rank 3 - one flat ranking, and most of the table is a single undifferentiated block.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One Big Tie</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Adding PARTITION BY</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One keyword decides which rows a rank is measured against.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45720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457200"/>
          </a:xfrm>
          <a:prstGeom prst="rect">
            <a:avLst/>
          </a:prstGeom>
          <a:noFill/>
        </p:spPr>
        <p:txBody>
          <a:bodyPr wrap="square" anchor="ctr" lIns="0" rIns="0" tIns="0" bIns="0">
            <a:noAutofit/>
          </a:bodyPr>
          <a:lstStyle/>
          <a:p>
            <a:pPr algn="l"/>
            <a:r>
              <a:rPr sz="2600" b="1" i="0" u="none">
                <a:solidFill>
                  <a:srgbClr val="261F1D"/>
                </a:solidFill>
                <a:latin typeface="Helvetica"/>
              </a:rPr>
              <a:t>FILL IN THE BLANK</a:t>
            </a:r>
          </a:p>
        </p:txBody>
      </p:sp>
      <p:sp>
        <p:nvSpPr>
          <p:cNvPr id="5" name="TextBox 4"/>
          <p:cNvSpPr txBox="1"/>
          <p:nvPr/>
        </p:nvSpPr>
        <p:spPr>
          <a:xfrm>
            <a:off x="548640" y="105156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Ranking Restarts in Each Borough</a:t>
            </a:r>
          </a:p>
        </p:txBody>
      </p:sp>
      <p:sp>
        <p:nvSpPr>
          <p:cNvPr id="6" name="Rounded Rectangle 5"/>
          <p:cNvSpPr/>
          <p:nvPr/>
        </p:nvSpPr>
        <p:spPr>
          <a:xfrm>
            <a:off x="548640" y="1600200"/>
            <a:ext cx="11094415" cy="475488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79222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179222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3856" y="179222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48495" y="160020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11" name="TextBox 10"/>
          <p:cNvSpPr txBox="1"/>
          <p:nvPr/>
        </p:nvSpPr>
        <p:spPr>
          <a:xfrm>
            <a:off x="804672" y="2231136"/>
            <a:ext cx="10582351" cy="3995928"/>
          </a:xfrm>
          <a:prstGeom prst="rect">
            <a:avLst/>
          </a:prstGeom>
          <a:noFill/>
        </p:spPr>
        <p:txBody>
          <a:bodyPr wrap="square" lIns="0" rIns="0" tIns="0" bIns="0">
            <a:noAutofit/>
          </a:bodyPr>
          <a:lstStyle/>
          <a:p>
            <a:pPr>
              <a:lnSpc>
                <a:spcPct val="105000"/>
              </a:lnSpc>
              <a:defRPr sz="2400">
                <a:latin typeface="Roboto Mono"/>
              </a:defRPr>
            </a:pPr>
            <a:r>
              <a:rPr sz="2400" i="0">
                <a:solidFill>
                  <a:srgbClr val="EEBC32"/>
                </a:solidFill>
                <a:latin typeface="Roboto Mono"/>
              </a:rPr>
              <a:t>WITH</a:t>
            </a:r>
            <a:r>
              <a:rPr sz="2400" i="0">
                <a:solidFill>
                  <a:srgbClr val="FFFCF7"/>
                </a:solidFill>
                <a:latin typeface="Roboto Mono"/>
              </a:rPr>
              <a:t> </a:t>
            </a:r>
            <a:r>
              <a:rPr sz="2400" i="0">
                <a:solidFill>
                  <a:srgbClr val="FFFCF7"/>
                </a:solidFill>
                <a:latin typeface="Roboto Mono"/>
              </a:rPr>
              <a:t>totals</a:t>
            </a:r>
            <a:r>
              <a:rPr sz="2400" i="0">
                <a:solidFill>
                  <a:srgbClr val="FFFCF7"/>
                </a:solidFill>
                <a:latin typeface="Roboto Mono"/>
              </a:rPr>
              <a:t> </a:t>
            </a:r>
            <a:r>
              <a:rPr sz="2400" i="0">
                <a:solidFill>
                  <a:srgbClr val="EEBC32"/>
                </a:solidFill>
                <a:latin typeface="Roboto Mono"/>
              </a:rPr>
              <a:t>AS</a:t>
            </a:r>
            <a:r>
              <a:rPr sz="2400" i="0">
                <a:solidFill>
                  <a:srgbClr val="FFFCF7"/>
                </a:solidFill>
                <a:latin typeface="Roboto Mono"/>
              </a:rPr>
              <a:t> </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SELECT</a:t>
            </a:r>
            <a:r>
              <a:rPr sz="2400" i="0">
                <a:solidFill>
                  <a:srgbClr val="FFFCF7"/>
                </a:solidFill>
                <a:latin typeface="Roboto Mono"/>
              </a:rPr>
              <a:t> </a:t>
            </a:r>
            <a:r>
              <a:rPr sz="2400" i="0">
                <a:solidFill>
                  <a:srgbClr val="FFFCF7"/>
                </a:solidFill>
                <a:latin typeface="Roboto Mono"/>
              </a:rPr>
              <a:t>dba</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boro</a:t>
            </a:r>
            <a:r>
              <a:rPr sz="2400" i="0">
                <a:solidFill>
                  <a:srgbClr val="FFFCF7"/>
                </a:solidFill>
                <a:latin typeface="Roboto Mono"/>
              </a:rPr>
              <a:t>,</a:t>
            </a:r>
            <a:r>
              <a:rPr sz="2400" i="0">
                <a:solidFill>
                  <a:srgbClr val="FFFCF7"/>
                </a:solidFill>
                <a:latin typeface="Roboto Mono"/>
              </a:rPr>
              <a:t> </a:t>
            </a:r>
            <a:r>
              <a:rPr sz="2400" i="0">
                <a:solidFill>
                  <a:srgbClr val="EEBC32"/>
                </a:solidFill>
                <a:latin typeface="Roboto Mono"/>
              </a:rPr>
              <a:t>COUNT</a:t>
            </a:r>
            <a:r>
              <a:rPr sz="2400" i="0">
                <a:solidFill>
                  <a:srgbClr val="FFFCF7"/>
                </a:solidFill>
                <a:latin typeface="Roboto Mono"/>
              </a:rPr>
              <a:t>(</a:t>
            </a:r>
            <a:r>
              <a:rPr sz="2400" i="0">
                <a:solidFill>
                  <a:srgbClr val="FFFCF7"/>
                </a:solidFill>
                <a:latin typeface="Roboto Mono"/>
              </a:rPr>
              <a:t>violation_id</a:t>
            </a:r>
            <a:r>
              <a:rPr sz="2400" i="0">
                <a:solidFill>
                  <a:srgbClr val="FFFCF7"/>
                </a:solidFill>
                <a:latin typeface="Roboto Mono"/>
              </a:rPr>
              <a:t>)</a:t>
            </a:r>
            <a:r>
              <a:rPr sz="2400" i="0">
                <a:solidFill>
                  <a:srgbClr val="FFFCF7"/>
                </a:solidFill>
                <a:latin typeface="Roboto Mono"/>
              </a:rPr>
              <a:t> </a:t>
            </a:r>
            <a:r>
              <a:rPr sz="2400" i="0">
                <a:solidFill>
                  <a:srgbClr val="EEBC32"/>
                </a:solidFill>
                <a:latin typeface="Roboto Mono"/>
              </a:rPr>
              <a:t>AS</a:t>
            </a:r>
            <a:r>
              <a:rPr sz="2400" i="0">
                <a:solidFill>
                  <a:srgbClr val="FFFCF7"/>
                </a:solidFill>
                <a:latin typeface="Roboto Mono"/>
              </a:rPr>
              <a:t> </a:t>
            </a:r>
            <a:r>
              <a:rPr sz="2400" i="0">
                <a:solidFill>
                  <a:srgbClr val="FFFCF7"/>
                </a:solidFill>
                <a:latin typeface="Roboto Mono"/>
              </a:rPr>
              <a:t>tv</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FROM</a:t>
            </a:r>
            <a:r>
              <a:rPr sz="2400" i="0">
                <a:solidFill>
                  <a:srgbClr val="FFFCF7"/>
                </a:solidFill>
                <a:latin typeface="Roboto Mono"/>
              </a:rPr>
              <a:t> </a:t>
            </a:r>
            <a:r>
              <a:rPr sz="2400" i="0">
                <a:solidFill>
                  <a:srgbClr val="FFFCF7"/>
                </a:solidFill>
                <a:latin typeface="Roboto Mono"/>
              </a:rPr>
              <a:t>restaurants</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LEFT</a:t>
            </a:r>
            <a:r>
              <a:rPr sz="2400" i="0">
                <a:solidFill>
                  <a:srgbClr val="FFFCF7"/>
                </a:solidFill>
                <a:latin typeface="Roboto Mono"/>
              </a:rPr>
              <a:t> </a:t>
            </a:r>
            <a:r>
              <a:rPr sz="2400" i="0">
                <a:solidFill>
                  <a:srgbClr val="EEBC32"/>
                </a:solidFill>
                <a:latin typeface="Roboto Mono"/>
              </a:rPr>
              <a:t>JOIN</a:t>
            </a:r>
            <a:r>
              <a:rPr sz="2400" i="0">
                <a:solidFill>
                  <a:srgbClr val="FFFCF7"/>
                </a:solidFill>
                <a:latin typeface="Roboto Mono"/>
              </a:rPr>
              <a:t> </a:t>
            </a:r>
            <a:r>
              <a:rPr sz="2400" i="0">
                <a:solidFill>
                  <a:srgbClr val="FFFCF7"/>
                </a:solidFill>
                <a:latin typeface="Roboto Mono"/>
              </a:rPr>
              <a:t>inspections</a:t>
            </a:r>
            <a:r>
              <a:rPr sz="2400" i="0">
                <a:solidFill>
                  <a:srgbClr val="FFFCF7"/>
                </a:solidFill>
                <a:latin typeface="Roboto Mono"/>
              </a:rPr>
              <a:t> </a:t>
            </a:r>
            <a:r>
              <a:rPr sz="2400" i="0">
                <a:solidFill>
                  <a:srgbClr val="EEBC32"/>
                </a:solidFill>
                <a:latin typeface="Roboto Mono"/>
              </a:rPr>
              <a:t>USING</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camis</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LEFT</a:t>
            </a:r>
            <a:r>
              <a:rPr sz="2400" i="0">
                <a:solidFill>
                  <a:srgbClr val="FFFCF7"/>
                </a:solidFill>
                <a:latin typeface="Roboto Mono"/>
              </a:rPr>
              <a:t> </a:t>
            </a:r>
            <a:r>
              <a:rPr sz="2400" i="0">
                <a:solidFill>
                  <a:srgbClr val="EEBC32"/>
                </a:solidFill>
                <a:latin typeface="Roboto Mono"/>
              </a:rPr>
              <a:t>JOIN</a:t>
            </a:r>
            <a:r>
              <a:rPr sz="2400" i="0">
                <a:solidFill>
                  <a:srgbClr val="FFFCF7"/>
                </a:solidFill>
                <a:latin typeface="Roboto Mono"/>
              </a:rPr>
              <a:t> </a:t>
            </a:r>
            <a:r>
              <a:rPr sz="2400" i="0">
                <a:solidFill>
                  <a:srgbClr val="FFFCF7"/>
                </a:solidFill>
                <a:latin typeface="Roboto Mono"/>
              </a:rPr>
              <a:t>violations</a:t>
            </a:r>
            <a:r>
              <a:rPr sz="2400" i="0">
                <a:solidFill>
                  <a:srgbClr val="FFFCF7"/>
                </a:solidFill>
                <a:latin typeface="Roboto Mono"/>
              </a:rPr>
              <a:t> </a:t>
            </a:r>
            <a:r>
              <a:rPr sz="2400" i="0">
                <a:solidFill>
                  <a:srgbClr val="EEBC32"/>
                </a:solidFill>
                <a:latin typeface="Roboto Mono"/>
              </a:rPr>
              <a:t>USING</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inspection_id</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GROUP</a:t>
            </a:r>
            <a:r>
              <a:rPr sz="2400" i="0">
                <a:solidFill>
                  <a:srgbClr val="FFFCF7"/>
                </a:solidFill>
                <a:latin typeface="Roboto Mono"/>
              </a:rPr>
              <a:t> </a:t>
            </a:r>
            <a:r>
              <a:rPr sz="2400" i="0">
                <a:solidFill>
                  <a:srgbClr val="EEBC32"/>
                </a:solidFill>
                <a:latin typeface="Roboto Mono"/>
              </a:rPr>
              <a:t>BY</a:t>
            </a:r>
            <a:r>
              <a:rPr sz="2400" i="0">
                <a:solidFill>
                  <a:srgbClr val="FFFCF7"/>
                </a:solidFill>
                <a:latin typeface="Roboto Mono"/>
              </a:rPr>
              <a:t> </a:t>
            </a:r>
            <a:r>
              <a:rPr sz="2400" i="0">
                <a:solidFill>
                  <a:srgbClr val="FFFCF7"/>
                </a:solidFill>
                <a:latin typeface="Roboto Mono"/>
              </a:rPr>
              <a:t>dba</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boro</a:t>
            </a:r>
            <a:r>
              <a:rPr sz="2400" i="0">
                <a:solidFill>
                  <a:srgbClr val="FFFCF7"/>
                </a:solidFill>
                <a:latin typeface="Roboto Mono"/>
              </a:rPr>
              <a:t>)</a:t>
            </a:r>
          </a:p>
          <a:p>
            <a:pPr>
              <a:lnSpc>
                <a:spcPct val="105000"/>
              </a:lnSpc>
              <a:defRPr sz="2400">
                <a:latin typeface="Roboto Mono"/>
              </a:defRPr>
            </a:pPr>
            <a:r>
              <a:rPr sz="2400" i="0">
                <a:solidFill>
                  <a:srgbClr val="EEBC32"/>
                </a:solidFill>
                <a:latin typeface="Roboto Mono"/>
              </a:rPr>
              <a:t>SELECT</a:t>
            </a:r>
            <a:r>
              <a:rPr sz="2400" i="0">
                <a:solidFill>
                  <a:srgbClr val="FFFCF7"/>
                </a:solidFill>
                <a:latin typeface="Roboto Mono"/>
              </a:rPr>
              <a:t> </a:t>
            </a:r>
            <a:r>
              <a:rPr sz="2400" i="0">
                <a:solidFill>
                  <a:srgbClr val="FFFCF7"/>
                </a:solidFill>
                <a:latin typeface="Roboto Mono"/>
              </a:rPr>
              <a:t>dba</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boro</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tv</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FFFCF7"/>
                </a:solidFill>
                <a:latin typeface="Roboto Mono"/>
              </a:rPr>
              <a:t>RANK</a:t>
            </a:r>
            <a:r>
              <a:rPr sz="2400" i="0">
                <a:solidFill>
                  <a:srgbClr val="FFFCF7"/>
                </a:solidFill>
                <a:latin typeface="Roboto Mono"/>
              </a:rPr>
              <a:t>(</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OVER</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____________</a:t>
            </a:r>
            <a:r>
              <a:rPr sz="2400" i="0">
                <a:solidFill>
                  <a:srgbClr val="FFFCF7"/>
                </a:solidFill>
                <a:latin typeface="Roboto Mono"/>
              </a:rPr>
              <a:t> </a:t>
            </a:r>
            <a:r>
              <a:rPr sz="2400" i="0">
                <a:solidFill>
                  <a:srgbClr val="FFFCF7"/>
                </a:solidFill>
                <a:latin typeface="Roboto Mono"/>
              </a:rPr>
              <a:t>boro</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ORDER</a:t>
            </a:r>
            <a:r>
              <a:rPr sz="2400" i="0">
                <a:solidFill>
                  <a:srgbClr val="FFFCF7"/>
                </a:solidFill>
                <a:latin typeface="Roboto Mono"/>
              </a:rPr>
              <a:t> </a:t>
            </a:r>
            <a:r>
              <a:rPr sz="2400" i="0">
                <a:solidFill>
                  <a:srgbClr val="EEBC32"/>
                </a:solidFill>
                <a:latin typeface="Roboto Mono"/>
              </a:rPr>
              <a:t>BY</a:t>
            </a:r>
            <a:r>
              <a:rPr sz="2400" i="0">
                <a:solidFill>
                  <a:srgbClr val="FFFCF7"/>
                </a:solidFill>
                <a:latin typeface="Roboto Mono"/>
              </a:rPr>
              <a:t> </a:t>
            </a:r>
            <a:r>
              <a:rPr sz="2400" i="0">
                <a:solidFill>
                  <a:srgbClr val="FFFCF7"/>
                </a:solidFill>
                <a:latin typeface="Roboto Mono"/>
              </a:rPr>
              <a:t>tv</a:t>
            </a:r>
            <a:r>
              <a:rPr sz="2400" i="0">
                <a:solidFill>
                  <a:srgbClr val="FFFCF7"/>
                </a:solidFill>
                <a:latin typeface="Roboto Mono"/>
              </a:rPr>
              <a:t> </a:t>
            </a:r>
            <a:r>
              <a:rPr sz="2400" i="0">
                <a:solidFill>
                  <a:srgbClr val="EEBC32"/>
                </a:solidFill>
                <a:latin typeface="Roboto Mono"/>
              </a:rPr>
              <a:t>DESC</a:t>
            </a:r>
            <a:r>
              <a:rPr sz="2400" i="0">
                <a:solidFill>
                  <a:srgbClr val="FFFCF7"/>
                </a:solidFill>
                <a:latin typeface="Roboto Mono"/>
              </a:rPr>
              <a:t>)</a:t>
            </a:r>
            <a:r>
              <a:rPr sz="2400" i="0">
                <a:solidFill>
                  <a:srgbClr val="FFFCF7"/>
                </a:solidFill>
                <a:latin typeface="Roboto Mono"/>
              </a:rPr>
              <a:t> </a:t>
            </a:r>
            <a:r>
              <a:rPr sz="2400" i="0">
                <a:solidFill>
                  <a:srgbClr val="EEBC32"/>
                </a:solidFill>
                <a:latin typeface="Roboto Mono"/>
              </a:rPr>
              <a:t>AS</a:t>
            </a:r>
            <a:r>
              <a:rPr sz="2400" i="0">
                <a:solidFill>
                  <a:srgbClr val="FFFCF7"/>
                </a:solidFill>
                <a:latin typeface="Roboto Mono"/>
              </a:rPr>
              <a:t> </a:t>
            </a:r>
            <a:r>
              <a:rPr sz="2400" i="0">
                <a:solidFill>
                  <a:srgbClr val="FFFCF7"/>
                </a:solidFill>
                <a:latin typeface="Roboto Mono"/>
              </a:rPr>
              <a:t>rnk</a:t>
            </a:r>
          </a:p>
          <a:p>
            <a:pPr>
              <a:lnSpc>
                <a:spcPct val="105000"/>
              </a:lnSpc>
              <a:defRPr sz="2400">
                <a:latin typeface="Roboto Mono"/>
              </a:defRPr>
            </a:pPr>
            <a:r>
              <a:rPr sz="2400" i="0">
                <a:solidFill>
                  <a:srgbClr val="EEBC32"/>
                </a:solidFill>
                <a:latin typeface="Roboto Mono"/>
              </a:rPr>
              <a:t>FROM</a:t>
            </a:r>
            <a:r>
              <a:rPr sz="2400" i="0">
                <a:solidFill>
                  <a:srgbClr val="FFFCF7"/>
                </a:solidFill>
                <a:latin typeface="Roboto Mono"/>
              </a:rPr>
              <a:t> </a:t>
            </a:r>
            <a:r>
              <a:rPr sz="2400" i="0">
                <a:solidFill>
                  <a:srgbClr val="FFFCF7"/>
                </a:solidFill>
                <a:latin typeface="Roboto Mono"/>
              </a:rPr>
              <a:t>totals</a:t>
            </a:r>
            <a:r>
              <a:rPr sz="2400" i="0">
                <a:solidFill>
                  <a:srgbClr val="FFFCF7"/>
                </a:solidFill>
                <a:latin typeface="Roboto Mono"/>
              </a:rPr>
              <a:t> </a:t>
            </a:r>
            <a:r>
              <a:rPr sz="2400" i="0">
                <a:solidFill>
                  <a:srgbClr val="EEBC32"/>
                </a:solidFill>
                <a:latin typeface="Roboto Mono"/>
              </a:rPr>
              <a:t>ORDER</a:t>
            </a:r>
            <a:r>
              <a:rPr sz="2400" i="0">
                <a:solidFill>
                  <a:srgbClr val="FFFCF7"/>
                </a:solidFill>
                <a:latin typeface="Roboto Mono"/>
              </a:rPr>
              <a:t> </a:t>
            </a:r>
            <a:r>
              <a:rPr sz="2400" i="0">
                <a:solidFill>
                  <a:srgbClr val="EEBC32"/>
                </a:solidFill>
                <a:latin typeface="Roboto Mono"/>
              </a:rPr>
              <a:t>BY</a:t>
            </a:r>
            <a:r>
              <a:rPr sz="2400" i="0">
                <a:solidFill>
                  <a:srgbClr val="FFFCF7"/>
                </a:solidFill>
                <a:latin typeface="Roboto Mono"/>
              </a:rPr>
              <a:t> </a:t>
            </a:r>
            <a:r>
              <a:rPr sz="2400" i="0">
                <a:solidFill>
                  <a:srgbClr val="FFFCF7"/>
                </a:solidFill>
                <a:latin typeface="Roboto Mono"/>
              </a:rPr>
              <a:t>boro</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rnk</a:t>
            </a:r>
            <a:r>
              <a:rPr sz="2400" i="0">
                <a:solidFill>
                  <a:srgbClr val="FFFCF7"/>
                </a:solidFill>
                <a:latin typeface="Roboto Mono"/>
              </a:rPr>
              <a:t>;</a:t>
            </a:r>
          </a:p>
          <a:p>
            <a:pPr>
              <a:lnSpc>
                <a:spcPct val="105000"/>
              </a:lnSpc>
              <a:defRPr sz="2400">
                <a:latin typeface="Roboto Mono"/>
              </a:defRPr>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4326"/>
                </a:solidFill>
                <a:latin typeface="Helvetica"/>
              </a:rPr>
              <a:t>Answer:</a:t>
            </a:r>
            <a:r>
              <a:rPr sz="3200" b="1" i="0" u="none">
                <a:solidFill>
                  <a:srgbClr val="261F1D"/>
                </a:solidFill>
                <a:latin typeface="Helvetica"/>
              </a:rPr>
              <a:t> Ranking Restarts in Each Borough</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Rectangle 8"/>
          <p:cNvSpPr/>
          <p:nvPr/>
        </p:nvSpPr>
        <p:spPr>
          <a:xfrm>
            <a:off x="676656" y="4549140"/>
            <a:ext cx="10838383" cy="416052"/>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tv</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RANK</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OVER</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PARTITION</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boro</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rnk</a:t>
            </a:r>
          </a:p>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rnk</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Quick-fire: There are three boroughs in the table. How many rows now come back with </a:t>
            </a:r>
            <a:r>
              <a:rPr sz="3200" b="1" i="0" u="none">
                <a:solidFill>
                  <a:srgbClr val="261F1D"/>
                </a:solidFill>
                <a:latin typeface="Roboto Mono"/>
              </a:rPr>
              <a:t>rnk = 1</a:t>
            </a:r>
            <a:r>
              <a:rPr sz="3200" b="1" i="0" u="none">
                <a:solidFill>
                  <a:srgbClr val="261F1D"/>
                </a:solidFill>
                <a:latin typeface="Helvetica"/>
              </a:rPr>
              <a:t>?</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3</a:t>
            </a:r>
          </a:p>
          <a:p>
            <a:pPr>
              <a:spcAft>
                <a:spcPts val="1000"/>
              </a:spcAft>
            </a:pPr>
            <a:r>
              <a:rPr sz="2600" b="0" i="0" u="none">
                <a:solidFill>
                  <a:srgbClr val="261F1D"/>
                </a:solidFill>
                <a:latin typeface="Helvetica"/>
              </a:rPr>
              <a:t>B.  4</a:t>
            </a:r>
          </a:p>
          <a:p>
            <a:pPr>
              <a:spcAft>
                <a:spcPts val="1000"/>
              </a:spcAft>
            </a:pPr>
            <a:r>
              <a:rPr sz="2600" b="0" i="0" u="none">
                <a:solidFill>
                  <a:srgbClr val="261F1D"/>
                </a:solidFill>
                <a:latin typeface="Helvetica"/>
              </a:rPr>
              <a:t>C.  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Counting the Winners</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4</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Three boroughs each produce a rank 1, so three is the tempting answer. But Queens has two restaurants both sitting at zero violations, and </a:t>
            </a:r>
            <a:r>
              <a:rPr sz="2600" b="0" i="0" u="none">
                <a:solidFill>
                  <a:srgbClr val="261F1D"/>
                </a:solidFill>
                <a:latin typeface="Roboto Mono"/>
              </a:rPr>
              <a:t>RANK()</a:t>
            </a:r>
            <a:r>
              <a:rPr sz="2600" b="0" i="0" u="none">
                <a:solidFill>
                  <a:srgbClr val="261F1D"/>
                </a:solidFill>
                <a:latin typeface="Helvetica"/>
              </a:rPr>
              <a:t> still gives tied rows the same number - inside a partition just as much as outside one. Sunset Diner and Bayside Grill are both rank 1, so four rows come back.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Same Word 'Group,' Opposite Effect on Your Rows</a:t>
            </a:r>
          </a:p>
        </p:txBody>
      </p:sp>
      <p:sp>
        <p:nvSpPr>
          <p:cNvPr id="4" name="Rectangle 3"/>
          <p:cNvSpPr/>
          <p:nvPr/>
        </p:nvSpPr>
        <p:spPr>
          <a:xfrm>
            <a:off x="548640" y="1188720"/>
            <a:ext cx="5410048" cy="361188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GROUP BY boro</a:t>
            </a:r>
          </a:p>
        </p:txBody>
      </p:sp>
      <p:sp>
        <p:nvSpPr>
          <p:cNvPr id="7" name="TextBox 6"/>
          <p:cNvSpPr txBox="1"/>
          <p:nvPr/>
        </p:nvSpPr>
        <p:spPr>
          <a:xfrm>
            <a:off x="777240"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Three rows come back</a:t>
            </a:r>
          </a:p>
          <a:p>
            <a:pPr>
              <a:spcAft>
                <a:spcPts val="1000"/>
              </a:spcAft>
            </a:pPr>
            <a:r>
              <a:rPr sz="2600">
                <a:solidFill>
                  <a:srgbClr val="261F1D"/>
                </a:solidFill>
                <a:latin typeface="Helvetica"/>
              </a:rPr>
              <a:t>•  </a:t>
            </a:r>
            <a:r>
              <a:rPr sz="2600" b="0" i="0" u="none">
                <a:solidFill>
                  <a:srgbClr val="261F1D"/>
                </a:solidFill>
                <a:latin typeface="Helvetica"/>
              </a:rPr>
              <a:t>Restaurant names disappear</a:t>
            </a:r>
          </a:p>
          <a:p>
            <a:pPr>
              <a:spcAft>
                <a:spcPts val="1000"/>
              </a:spcAft>
            </a:pPr>
            <a:r>
              <a:rPr sz="2600">
                <a:solidFill>
                  <a:srgbClr val="261F1D"/>
                </a:solidFill>
                <a:latin typeface="Helvetica"/>
              </a:rPr>
              <a:t>•  </a:t>
            </a:r>
            <a:r>
              <a:rPr sz="2600" b="0" i="0" u="none">
                <a:solidFill>
                  <a:srgbClr val="261F1D"/>
                </a:solidFill>
                <a:latin typeface="Helvetica"/>
              </a:rPr>
              <a:t>Answers: Count per borough</a:t>
            </a:r>
          </a:p>
        </p:txBody>
      </p:sp>
      <p:sp>
        <p:nvSpPr>
          <p:cNvPr id="8" name="Rectangle 7"/>
          <p:cNvSpPr/>
          <p:nvPr/>
        </p:nvSpPr>
        <p:spPr>
          <a:xfrm>
            <a:off x="6233008" y="1188720"/>
            <a:ext cx="5410048" cy="361188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PARTITION BY boro</a:t>
            </a:r>
          </a:p>
        </p:txBody>
      </p:sp>
      <p:sp>
        <p:nvSpPr>
          <p:cNvPr id="11" name="TextBox 10"/>
          <p:cNvSpPr txBox="1"/>
          <p:nvPr/>
        </p:nvSpPr>
        <p:spPr>
          <a:xfrm>
            <a:off x="6461608"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All seven rows come back</a:t>
            </a:r>
          </a:p>
          <a:p>
            <a:pPr>
              <a:spcAft>
                <a:spcPts val="1000"/>
              </a:spcAft>
            </a:pPr>
            <a:r>
              <a:rPr sz="2600">
                <a:solidFill>
                  <a:srgbClr val="261F1D"/>
                </a:solidFill>
                <a:latin typeface="Helvetica"/>
              </a:rPr>
              <a:t>•  </a:t>
            </a:r>
            <a:r>
              <a:rPr sz="2600" b="0" i="0" u="none">
                <a:solidFill>
                  <a:srgbClr val="261F1D"/>
                </a:solidFill>
                <a:latin typeface="Helvetica"/>
              </a:rPr>
              <a:t>Every restaurant keeps its row</a:t>
            </a:r>
          </a:p>
          <a:p>
            <a:pPr>
              <a:spcAft>
                <a:spcPts val="1000"/>
              </a:spcAft>
            </a:pPr>
            <a:r>
              <a:rPr sz="2600">
                <a:solidFill>
                  <a:srgbClr val="261F1D"/>
                </a:solidFill>
                <a:latin typeface="Helvetica"/>
              </a:rPr>
              <a:t>•  </a:t>
            </a:r>
            <a:r>
              <a:rPr sz="2600" b="0" i="0" u="none">
                <a:solidFill>
                  <a:srgbClr val="261F1D"/>
                </a:solidFill>
                <a:latin typeface="Helvetica"/>
              </a:rPr>
              <a:t>Answers: Rank inside a borough</a:t>
            </a:r>
          </a:p>
        </p:txBody>
      </p:sp>
      <p:cxnSp>
        <p:nvCxnSpPr>
          <p:cNvPr id="12" name="Connector 11"/>
          <p:cNvCxnSpPr/>
          <p:nvPr/>
        </p:nvCxnSpPr>
        <p:spPr>
          <a:xfrm>
            <a:off x="6095848" y="1188720"/>
            <a:ext cx="0" cy="361188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983480"/>
            <a:ext cx="2926080" cy="411480"/>
          </a:xfrm>
          <a:prstGeom prst="rect">
            <a:avLst/>
          </a:prstGeom>
          <a:noFill/>
        </p:spPr>
        <p:txBody>
          <a:bodyPr wrap="square" anchor="t" lIns="0" rIns="0" tIns="0" bIns="0">
            <a:noAutofit/>
          </a:bodyPr>
          <a:lstStyle/>
          <a:p>
            <a:pPr algn="l"/>
            <a:r>
              <a:rPr sz="2600" b="1" i="0" u="none">
                <a:solidFill>
                  <a:srgbClr val="327A5F"/>
                </a:solidFill>
                <a:latin typeface="Helvetica"/>
              </a:rPr>
              <a:t>IN COMMON:</a:t>
            </a:r>
          </a:p>
        </p:txBody>
      </p:sp>
      <p:sp>
        <p:nvSpPr>
          <p:cNvPr id="14" name="TextBox 13"/>
          <p:cNvSpPr txBox="1"/>
          <p:nvPr/>
        </p:nvSpPr>
        <p:spPr>
          <a:xfrm>
            <a:off x="548640" y="5440680"/>
            <a:ext cx="11094415" cy="914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Both split rows on the same column</a:t>
            </a:r>
          </a:p>
          <a:p>
            <a:pPr>
              <a:spcAft>
                <a:spcPts val="1000"/>
              </a:spcAft>
            </a:pPr>
            <a:r>
              <a:rPr sz="2600">
                <a:solidFill>
                  <a:srgbClr val="261F1D"/>
                </a:solidFill>
                <a:latin typeface="Helvetica"/>
              </a:rPr>
              <a:t>•  </a:t>
            </a:r>
            <a:r>
              <a:rPr sz="2600" b="0" i="0" u="none">
                <a:solidFill>
                  <a:srgbClr val="261F1D"/>
                </a:solidFill>
                <a:latin typeface="Helvetica"/>
              </a:rPr>
              <a:t>Both can appear in one query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Runs Long Before Your Rank Exists</a:t>
            </a:r>
          </a:p>
        </p:txBody>
      </p:sp>
      <p:sp>
        <p:nvSpPr>
          <p:cNvPr id="4" name="Oval 3"/>
          <p:cNvSpPr/>
          <p:nvPr/>
        </p:nvSpPr>
        <p:spPr>
          <a:xfrm>
            <a:off x="822960"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1</a:t>
            </a:r>
          </a:p>
        </p:txBody>
      </p:sp>
      <p:cxnSp>
        <p:nvCxnSpPr>
          <p:cNvPr id="5" name="Connector 4"/>
          <p:cNvCxnSpPr/>
          <p:nvPr/>
        </p:nvCxnSpPr>
        <p:spPr>
          <a:xfrm>
            <a:off x="1828800" y="2880360"/>
            <a:ext cx="902147"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3520440"/>
            <a:ext cx="1529029" cy="914400"/>
          </a:xfrm>
          <a:prstGeom prst="rect">
            <a:avLst/>
          </a:prstGeom>
          <a:noFill/>
        </p:spPr>
        <p:txBody>
          <a:bodyPr wrap="square" anchor="t" lIns="0" rIns="0" tIns="0" bIns="0">
            <a:noAutofit/>
          </a:bodyPr>
          <a:lstStyle/>
          <a:p>
            <a:pPr algn="ctr"/>
            <a:r>
              <a:rPr sz="3000" b="1" i="0" u="none">
                <a:solidFill>
                  <a:srgbClr val="261F1D"/>
                </a:solidFill>
                <a:latin typeface="Helvetica"/>
              </a:rPr>
              <a:t>FROM</a:t>
            </a:r>
          </a:p>
        </p:txBody>
      </p:sp>
      <p:sp>
        <p:nvSpPr>
          <p:cNvPr id="7" name="TextBox 6"/>
          <p:cNvSpPr txBox="1"/>
          <p:nvPr/>
        </p:nvSpPr>
        <p:spPr>
          <a:xfrm>
            <a:off x="822960" y="4480560"/>
            <a:ext cx="1529029" cy="1005840"/>
          </a:xfrm>
          <a:prstGeom prst="rect">
            <a:avLst/>
          </a:prstGeom>
          <a:noFill/>
        </p:spPr>
        <p:txBody>
          <a:bodyPr wrap="square" anchor="t" lIns="0" rIns="0" tIns="0" bIns="0">
            <a:noAutofit/>
          </a:bodyPr>
          <a:lstStyle/>
          <a:p>
            <a:pPr algn="ctr"/>
            <a:r>
              <a:rPr sz="2600" b="0" i="0" u="none">
                <a:solidFill>
                  <a:srgbClr val="261F1D"/>
                </a:solidFill>
                <a:latin typeface="Helvetica"/>
              </a:rPr>
              <a:t>Gather Rows</a:t>
            </a:r>
          </a:p>
        </p:txBody>
      </p:sp>
      <p:sp>
        <p:nvSpPr>
          <p:cNvPr id="8" name="Oval 7"/>
          <p:cNvSpPr/>
          <p:nvPr/>
        </p:nvSpPr>
        <p:spPr>
          <a:xfrm>
            <a:off x="2730947"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2</a:t>
            </a:r>
          </a:p>
        </p:txBody>
      </p:sp>
      <p:cxnSp>
        <p:nvCxnSpPr>
          <p:cNvPr id="9" name="Connector 8"/>
          <p:cNvCxnSpPr/>
          <p:nvPr/>
        </p:nvCxnSpPr>
        <p:spPr>
          <a:xfrm>
            <a:off x="3736787" y="2880360"/>
            <a:ext cx="902147"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469352" y="3520440"/>
            <a:ext cx="1529029" cy="914400"/>
          </a:xfrm>
          <a:prstGeom prst="rect">
            <a:avLst/>
          </a:prstGeom>
          <a:noFill/>
        </p:spPr>
        <p:txBody>
          <a:bodyPr wrap="square" anchor="t" lIns="0" rIns="0" tIns="0" bIns="0">
            <a:noAutofit/>
          </a:bodyPr>
          <a:lstStyle/>
          <a:p>
            <a:pPr algn="ctr"/>
            <a:r>
              <a:rPr sz="3000" b="1" i="0" u="none">
                <a:solidFill>
                  <a:srgbClr val="261F1D"/>
                </a:solidFill>
                <a:latin typeface="Helvetica"/>
              </a:rPr>
              <a:t>WHERE</a:t>
            </a:r>
          </a:p>
        </p:txBody>
      </p:sp>
      <p:sp>
        <p:nvSpPr>
          <p:cNvPr id="11" name="TextBox 10"/>
          <p:cNvSpPr txBox="1"/>
          <p:nvPr/>
        </p:nvSpPr>
        <p:spPr>
          <a:xfrm>
            <a:off x="2469352" y="4480560"/>
            <a:ext cx="1529029" cy="1005840"/>
          </a:xfrm>
          <a:prstGeom prst="rect">
            <a:avLst/>
          </a:prstGeom>
          <a:noFill/>
        </p:spPr>
        <p:txBody>
          <a:bodyPr wrap="square" anchor="t" lIns="0" rIns="0" tIns="0" bIns="0">
            <a:noAutofit/>
          </a:bodyPr>
          <a:lstStyle/>
          <a:p>
            <a:pPr algn="ctr"/>
            <a:r>
              <a:rPr sz="2600" b="0" i="0" u="none">
                <a:solidFill>
                  <a:srgbClr val="261F1D"/>
                </a:solidFill>
                <a:latin typeface="Helvetica"/>
              </a:rPr>
              <a:t>Filter Rows</a:t>
            </a:r>
          </a:p>
        </p:txBody>
      </p:sp>
      <p:sp>
        <p:nvSpPr>
          <p:cNvPr id="12" name="Oval 11"/>
          <p:cNvSpPr/>
          <p:nvPr/>
        </p:nvSpPr>
        <p:spPr>
          <a:xfrm>
            <a:off x="4638934"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3</a:t>
            </a:r>
          </a:p>
        </p:txBody>
      </p:sp>
      <p:cxnSp>
        <p:nvCxnSpPr>
          <p:cNvPr id="13" name="Connector 12"/>
          <p:cNvCxnSpPr/>
          <p:nvPr/>
        </p:nvCxnSpPr>
        <p:spPr>
          <a:xfrm>
            <a:off x="5644774" y="2880360"/>
            <a:ext cx="902147"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77339" y="3520440"/>
            <a:ext cx="1529029" cy="914400"/>
          </a:xfrm>
          <a:prstGeom prst="rect">
            <a:avLst/>
          </a:prstGeom>
          <a:noFill/>
        </p:spPr>
        <p:txBody>
          <a:bodyPr wrap="square" anchor="t" lIns="0" rIns="0" tIns="0" bIns="0">
            <a:noAutofit/>
          </a:bodyPr>
          <a:lstStyle/>
          <a:p>
            <a:pPr algn="ctr"/>
            <a:r>
              <a:rPr sz="3000" b="1" i="0" u="none">
                <a:solidFill>
                  <a:srgbClr val="261F1D"/>
                </a:solidFill>
                <a:latin typeface="Helvetica"/>
              </a:rPr>
              <a:t>GROUP BY</a:t>
            </a:r>
          </a:p>
        </p:txBody>
      </p:sp>
      <p:sp>
        <p:nvSpPr>
          <p:cNvPr id="15" name="TextBox 14"/>
          <p:cNvSpPr txBox="1"/>
          <p:nvPr/>
        </p:nvSpPr>
        <p:spPr>
          <a:xfrm>
            <a:off x="4377339" y="4480560"/>
            <a:ext cx="1529029" cy="1005840"/>
          </a:xfrm>
          <a:prstGeom prst="rect">
            <a:avLst/>
          </a:prstGeom>
          <a:noFill/>
        </p:spPr>
        <p:txBody>
          <a:bodyPr wrap="square" anchor="t" lIns="0" rIns="0" tIns="0" bIns="0">
            <a:noAutofit/>
          </a:bodyPr>
          <a:lstStyle/>
          <a:p>
            <a:pPr algn="ctr"/>
            <a:r>
              <a:rPr sz="2600" b="0" i="0" u="none">
                <a:solidFill>
                  <a:srgbClr val="261F1D"/>
                </a:solidFill>
                <a:latin typeface="Helvetica"/>
              </a:rPr>
              <a:t>Group Rows</a:t>
            </a:r>
          </a:p>
        </p:txBody>
      </p:sp>
      <p:sp>
        <p:nvSpPr>
          <p:cNvPr id="16" name="Oval 15"/>
          <p:cNvSpPr/>
          <p:nvPr/>
        </p:nvSpPr>
        <p:spPr>
          <a:xfrm>
            <a:off x="6546921"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4</a:t>
            </a:r>
          </a:p>
        </p:txBody>
      </p:sp>
      <p:cxnSp>
        <p:nvCxnSpPr>
          <p:cNvPr id="17" name="Connector 16"/>
          <p:cNvCxnSpPr/>
          <p:nvPr/>
        </p:nvCxnSpPr>
        <p:spPr>
          <a:xfrm>
            <a:off x="7552761" y="2880360"/>
            <a:ext cx="902147"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85326" y="3520440"/>
            <a:ext cx="1529029" cy="914400"/>
          </a:xfrm>
          <a:prstGeom prst="rect">
            <a:avLst/>
          </a:prstGeom>
          <a:noFill/>
        </p:spPr>
        <p:txBody>
          <a:bodyPr wrap="square" anchor="t" lIns="0" rIns="0" tIns="0" bIns="0">
            <a:noAutofit/>
          </a:bodyPr>
          <a:lstStyle/>
          <a:p>
            <a:pPr algn="ctr"/>
            <a:r>
              <a:rPr sz="3000" b="1" i="0" u="none">
                <a:solidFill>
                  <a:srgbClr val="261F1D"/>
                </a:solidFill>
                <a:latin typeface="Helvetica"/>
              </a:rPr>
              <a:t>HAVING</a:t>
            </a:r>
          </a:p>
        </p:txBody>
      </p:sp>
      <p:sp>
        <p:nvSpPr>
          <p:cNvPr id="19" name="TextBox 18"/>
          <p:cNvSpPr txBox="1"/>
          <p:nvPr/>
        </p:nvSpPr>
        <p:spPr>
          <a:xfrm>
            <a:off x="6285326" y="4480560"/>
            <a:ext cx="1529029" cy="1005840"/>
          </a:xfrm>
          <a:prstGeom prst="rect">
            <a:avLst/>
          </a:prstGeom>
          <a:noFill/>
        </p:spPr>
        <p:txBody>
          <a:bodyPr wrap="square" anchor="t" lIns="0" rIns="0" tIns="0" bIns="0">
            <a:noAutofit/>
          </a:bodyPr>
          <a:lstStyle/>
          <a:p>
            <a:pPr algn="ctr"/>
            <a:r>
              <a:rPr sz="2600" b="0" i="0" u="none">
                <a:solidFill>
                  <a:srgbClr val="261F1D"/>
                </a:solidFill>
                <a:latin typeface="Helvetica"/>
              </a:rPr>
              <a:t>Filter Groups</a:t>
            </a:r>
          </a:p>
        </p:txBody>
      </p:sp>
      <p:sp>
        <p:nvSpPr>
          <p:cNvPr id="20" name="Oval 19"/>
          <p:cNvSpPr/>
          <p:nvPr/>
        </p:nvSpPr>
        <p:spPr>
          <a:xfrm>
            <a:off x="8454908"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5</a:t>
            </a:r>
          </a:p>
        </p:txBody>
      </p:sp>
      <p:cxnSp>
        <p:nvCxnSpPr>
          <p:cNvPr id="21" name="Connector 20"/>
          <p:cNvCxnSpPr/>
          <p:nvPr/>
        </p:nvCxnSpPr>
        <p:spPr>
          <a:xfrm>
            <a:off x="9460748" y="2880360"/>
            <a:ext cx="902147"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193313" y="3520440"/>
            <a:ext cx="1529029" cy="914400"/>
          </a:xfrm>
          <a:prstGeom prst="rect">
            <a:avLst/>
          </a:prstGeom>
          <a:noFill/>
        </p:spPr>
        <p:txBody>
          <a:bodyPr wrap="square" anchor="t" lIns="0" rIns="0" tIns="0" bIns="0">
            <a:noAutofit/>
          </a:bodyPr>
          <a:lstStyle/>
          <a:p>
            <a:pPr algn="ctr"/>
            <a:r>
              <a:rPr sz="3000" b="1" i="0" u="none">
                <a:solidFill>
                  <a:srgbClr val="261F1D"/>
                </a:solidFill>
                <a:latin typeface="Helvetica"/>
              </a:rPr>
              <a:t>SELECT</a:t>
            </a:r>
          </a:p>
        </p:txBody>
      </p:sp>
      <p:sp>
        <p:nvSpPr>
          <p:cNvPr id="23" name="TextBox 22"/>
          <p:cNvSpPr txBox="1"/>
          <p:nvPr/>
        </p:nvSpPr>
        <p:spPr>
          <a:xfrm>
            <a:off x="8193313" y="4480560"/>
            <a:ext cx="1529029" cy="1005840"/>
          </a:xfrm>
          <a:prstGeom prst="rect">
            <a:avLst/>
          </a:prstGeom>
          <a:noFill/>
        </p:spPr>
        <p:txBody>
          <a:bodyPr wrap="square" anchor="t" lIns="0" rIns="0" tIns="0" bIns="0">
            <a:noAutofit/>
          </a:bodyPr>
          <a:lstStyle/>
          <a:p>
            <a:pPr algn="ctr"/>
            <a:r>
              <a:rPr sz="2600" b="0" i="0" u="none">
                <a:solidFill>
                  <a:srgbClr val="261F1D"/>
                </a:solidFill>
                <a:latin typeface="Helvetica"/>
              </a:rPr>
              <a:t>Rank Here</a:t>
            </a:r>
          </a:p>
        </p:txBody>
      </p:sp>
      <p:sp>
        <p:nvSpPr>
          <p:cNvPr id="24" name="Oval 23"/>
          <p:cNvSpPr/>
          <p:nvPr/>
        </p:nvSpPr>
        <p:spPr>
          <a:xfrm>
            <a:off x="10362895"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6</a:t>
            </a:r>
          </a:p>
        </p:txBody>
      </p:sp>
      <p:sp>
        <p:nvSpPr>
          <p:cNvPr id="25" name="TextBox 24"/>
          <p:cNvSpPr txBox="1"/>
          <p:nvPr/>
        </p:nvSpPr>
        <p:spPr>
          <a:xfrm>
            <a:off x="9839706" y="3520440"/>
            <a:ext cx="1529029" cy="914400"/>
          </a:xfrm>
          <a:prstGeom prst="rect">
            <a:avLst/>
          </a:prstGeom>
          <a:noFill/>
        </p:spPr>
        <p:txBody>
          <a:bodyPr wrap="square" anchor="t" lIns="0" rIns="0" tIns="0" bIns="0">
            <a:noAutofit/>
          </a:bodyPr>
          <a:lstStyle/>
          <a:p>
            <a:pPr algn="ctr"/>
            <a:r>
              <a:rPr sz="3000" b="1" i="0" u="none">
                <a:solidFill>
                  <a:srgbClr val="261F1D"/>
                </a:solidFill>
                <a:latin typeface="Helvetica"/>
              </a:rPr>
              <a:t>ORDER BY</a:t>
            </a:r>
          </a:p>
        </p:txBody>
      </p:sp>
      <p:sp>
        <p:nvSpPr>
          <p:cNvPr id="26" name="TextBox 25"/>
          <p:cNvSpPr txBox="1"/>
          <p:nvPr/>
        </p:nvSpPr>
        <p:spPr>
          <a:xfrm>
            <a:off x="9839706" y="4480560"/>
            <a:ext cx="1529029" cy="1005840"/>
          </a:xfrm>
          <a:prstGeom prst="rect">
            <a:avLst/>
          </a:prstGeom>
          <a:noFill/>
        </p:spPr>
        <p:txBody>
          <a:bodyPr wrap="square" anchor="t" lIns="0" rIns="0" tIns="0" bIns="0">
            <a:noAutofit/>
          </a:bodyPr>
          <a:lstStyle/>
          <a:p>
            <a:pPr algn="ctr"/>
            <a:r>
              <a:rPr sz="2600" b="0" i="0" u="none">
                <a:solidFill>
                  <a:srgbClr val="261F1D"/>
                </a:solidFill>
                <a:latin typeface="Helvetica"/>
              </a:rPr>
              <a:t>Sort Output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Order Clauses Actually Run</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Returning Only the Winners</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rank you can see is not yet a rank you can filter 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Top-N Per Group Needs a CTE Wrapper</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tv</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p>
          <a:p>
            <a:pPr>
              <a:lnSpc>
                <a:spcPct val="105000"/>
              </a:lnSpc>
              <a:defRPr sz="2600">
                <a:latin typeface="Roboto Mono"/>
              </a:defRPr>
            </a:pP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ranked</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RANK</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OVER</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PARTITION</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boro</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rnk</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ranked</a:t>
            </a:r>
            <a:r>
              <a:rPr sz="2600" i="0">
                <a:solidFill>
                  <a:srgbClr val="FFFCF7"/>
                </a:solidFill>
                <a:latin typeface="Roboto Mono"/>
              </a:rPr>
              <a:t> </a:t>
            </a: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rnk</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1</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ADD TO THE BOARD</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Sketch it: A report must name exactly one worst restaurant per borough. Write the </a:t>
            </a:r>
            <a:r>
              <a:rPr sz="3200" b="1" i="0" u="none">
                <a:solidFill>
                  <a:srgbClr val="261F1D"/>
                </a:solidFill>
                <a:latin typeface="Roboto Mono"/>
              </a:rPr>
              <a:t>OVER (...)</a:t>
            </a:r>
            <a:r>
              <a:rPr sz="3200" b="1" i="0" u="none">
                <a:solidFill>
                  <a:srgbClr val="261F1D"/>
                </a:solidFill>
                <a:latin typeface="Helvetica"/>
              </a:rPr>
              <a:t> clause you would use, and defend </a:t>
            </a:r>
            <a:r>
              <a:rPr sz="3200" b="1" i="0" u="none">
                <a:solidFill>
                  <a:srgbClr val="261F1D"/>
                </a:solidFill>
                <a:latin typeface="Roboto Mono"/>
              </a:rPr>
              <a:t>RANK()</a:t>
            </a:r>
            <a:r>
              <a:rPr sz="3200" b="1" i="0" u="none">
                <a:solidFill>
                  <a:srgbClr val="261F1D"/>
                </a:solidFill>
                <a:latin typeface="Helvetica"/>
              </a:rPr>
              <a:t> or </a:t>
            </a:r>
            <a:r>
              <a:rPr sz="3200" b="1" i="0" u="none">
                <a:solidFill>
                  <a:srgbClr val="261F1D"/>
                </a:solidFill>
                <a:latin typeface="Roboto Mono"/>
              </a:rPr>
              <a:t>ROW_NUMBER()</a:t>
            </a:r>
            <a:r>
              <a:rPr sz="3200" b="1" i="0" u="none">
                <a:solidFill>
                  <a:srgbClr val="261F1D"/>
                </a:solidFill>
                <a:latin typeface="Helvetica"/>
              </a:rPr>
              <a:t> inside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Interview-style: An interviewer asks for the top two highest-paid employees in each job title. Walk through how you would get there before writing any SQL.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An interviewer asks how you would use </a:t>
            </a:r>
            <a:r>
              <a:rPr sz="2600" b="0" i="0" u="none">
                <a:solidFill>
                  <a:srgbClr val="261F1D"/>
                </a:solidFill>
                <a:latin typeface="Roboto Mono"/>
              </a:rPr>
              <a:t>DENSE_RANK()</a:t>
            </a:r>
            <a:r>
              <a:rPr sz="2600" b="0" i="0" u="none">
                <a:solidFill>
                  <a:srgbClr val="261F1D"/>
                </a:solidFill>
                <a:latin typeface="Helvetica"/>
              </a:rPr>
              <a:t>. You have never used it. What do you say?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An interviewer asks how you would use </a:t>
            </a:r>
            <a:r>
              <a:rPr sz="3200" b="1" i="0" u="none">
                <a:solidFill>
                  <a:srgbClr val="261F1D"/>
                </a:solidFill>
                <a:latin typeface="Roboto Mono"/>
              </a:rPr>
              <a:t>DENSE_RANK()</a:t>
            </a:r>
            <a:r>
              <a:rPr sz="3200" b="1" i="0" u="none">
                <a:solidFill>
                  <a:srgbClr val="261F1D"/>
                </a:solidFill>
                <a:latin typeface="Helvetica"/>
              </a:rPr>
              <a:t>. You have never used it. What do you say?</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Don't bluff or shut down - say honestly you haven't used it yet, then reason aloud from what you do know: you've written </a:t>
            </a:r>
            <a:r>
              <a:rPr sz="2600" b="0" i="0" u="none">
                <a:solidFill>
                  <a:srgbClr val="261F1D"/>
                </a:solidFill>
                <a:latin typeface="Roboto Mono"/>
              </a:rPr>
              <a:t>RANK()</a:t>
            </a:r>
            <a:r>
              <a:rPr sz="2600" b="0" i="0" u="none">
                <a:solidFill>
                  <a:srgbClr val="261F1D"/>
                </a:solidFill>
                <a:latin typeface="Helvetica"/>
              </a:rPr>
              <a:t>, which gives tied rows the same number then leaves a gap, so </a:t>
            </a:r>
            <a:r>
              <a:rPr sz="2600" b="0" i="0" u="none">
                <a:solidFill>
                  <a:srgbClr val="261F1D"/>
                </a:solidFill>
                <a:latin typeface="Roboto Mono"/>
              </a:rPr>
              <a:t>DENSE_RANK</a:t>
            </a:r>
            <a:r>
              <a:rPr sz="2600" b="0" i="0" u="none">
                <a:solidFill>
                  <a:srgbClr val="261F1D"/>
                </a:solidFill>
                <a:latin typeface="Helvetica"/>
              </a:rPr>
              <a:t> is likely the version that closes that gap. Then pivot to real ground: describe a ranking you've actually written with </a:t>
            </a:r>
            <a:r>
              <a:rPr sz="2600" b="0" i="0" u="none">
                <a:solidFill>
                  <a:srgbClr val="261F1D"/>
                </a:solidFill>
                <a:latin typeface="Roboto Mono"/>
              </a:rPr>
              <a:t>PARTITION BY</a:t>
            </a:r>
            <a:r>
              <a:rPr sz="2600" b="0" i="0" u="none">
                <a:solidFill>
                  <a:srgbClr val="261F1D"/>
                </a:solidFill>
                <a:latin typeface="Helvetica"/>
              </a:rPr>
              <a:t> and how you checked it by hand. Reasoning aloud beats freezing on syntax.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Why This Matters for Your Project</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Your window-function question needs a group</a:t>
            </a:r>
          </a:p>
          <a:p>
            <a:pPr>
              <a:spcAft>
                <a:spcPts val="1000"/>
              </a:spcAft>
            </a:pPr>
            <a:r>
              <a:rPr sz="2600">
                <a:solidFill>
                  <a:srgbClr val="261F1D"/>
                </a:solidFill>
                <a:latin typeface="Helvetica"/>
              </a:rPr>
              <a:t>•  </a:t>
            </a:r>
            <a:r>
              <a:rPr sz="2600" b="0" i="0" u="none">
                <a:solidFill>
                  <a:srgbClr val="261F1D"/>
                </a:solidFill>
                <a:latin typeface="Helvetica"/>
              </a:rPr>
              <a:t>A CTE wrapper returns just the winners</a:t>
            </a:r>
          </a:p>
          <a:p>
            <a:pPr>
              <a:spcAft>
                <a:spcPts val="1000"/>
              </a:spcAft>
            </a:pPr>
            <a:r>
              <a:rPr sz="2600">
                <a:solidFill>
                  <a:srgbClr val="261F1D"/>
                </a:solidFill>
                <a:latin typeface="Helvetica"/>
              </a:rPr>
              <a:t>•  </a:t>
            </a:r>
            <a:r>
              <a:rPr sz="2600" b="0" i="0" u="none">
                <a:solidFill>
                  <a:srgbClr val="261F1D"/>
                </a:solidFill>
                <a:latin typeface="Helvetica"/>
              </a:rPr>
              <a:t>Spot-check one group by hand</a:t>
            </a:r>
          </a:p>
        </p:txBody>
      </p:sp>
      <p:sp>
        <p:nvSpPr>
          <p:cNvPr id="5" name="Oval 4"/>
          <p:cNvSpPr/>
          <p:nvPr/>
        </p:nvSpPr>
        <p:spPr>
          <a:xfrm>
            <a:off x="8532266" y="2581351"/>
            <a:ext cx="2381098" cy="2381098"/>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2180844"/>
          <a:ext cx="11094415" cy="3136392"/>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PARTITION BY</a:t>
                      </a:r>
                    </a:p>
                  </a:txBody>
                  <a:tcPr marL="109728" marR="109728" marT="54864" marB="54864" anchor="ctr">
                    <a:solidFill>
                      <a:srgbClr val="FFFCF7"/>
                    </a:solidFill>
                  </a:tcPr>
                </a:tc>
                <a:tc>
                  <a:txBody>
                    <a:bodyPr wrap="square"/>
                    <a:lstStyle/>
                    <a:p>
                      <a:r>
                        <a:rPr sz="2600" b="0" i="0" u="none">
                          <a:solidFill>
                            <a:srgbClr val="261F1D"/>
                          </a:solidFill>
                          <a:latin typeface="Helvetica"/>
                        </a:rPr>
                        <a:t>Splits rows into groups inside OVER</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Partition</a:t>
                      </a:r>
                    </a:p>
                  </a:txBody>
                  <a:tcPr marL="109728" marR="109728" marT="54864" marB="54864" anchor="ctr">
                    <a:solidFill>
                      <a:srgbClr val="FFF6E4"/>
                    </a:solidFill>
                  </a:tcPr>
                </a:tc>
                <a:tc>
                  <a:txBody>
                    <a:bodyPr wrap="square"/>
                    <a:lstStyle/>
                    <a:p>
                      <a:r>
                        <a:rPr sz="2600" b="0" i="0" u="none">
                          <a:solidFill>
                            <a:srgbClr val="261F1D"/>
                          </a:solidFill>
                          <a:latin typeface="Helvetica"/>
                        </a:rPr>
                        <a:t>One group a window function counts within</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Top-N Per Group</a:t>
                      </a:r>
                    </a:p>
                  </a:txBody>
                  <a:tcPr marL="109728" marR="109728" marT="54864" marB="54864" anchor="ctr">
                    <a:solidFill>
                      <a:srgbClr val="FFFCF7"/>
                    </a:solidFill>
                  </a:tcPr>
                </a:tc>
                <a:tc>
                  <a:txBody>
                    <a:bodyPr wrap="square"/>
                    <a:lstStyle/>
                    <a:p>
                      <a:r>
                        <a:rPr sz="2600" b="0" i="0" u="none">
                          <a:solidFill>
                            <a:srgbClr val="261F1D"/>
                          </a:solidFill>
                          <a:latin typeface="Helvetica"/>
                        </a:rPr>
                        <a:t>Each group's highest-ranked rows, not overall</a:t>
                      </a:r>
                    </a:p>
                  </a:txBody>
                  <a:tcPr marL="109728" marR="109728" marT="54864" marB="54864" anchor="ctr">
                    <a:solidFill>
                      <a:srgbClr val="FFFCF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4617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PARTITION BY restarts a rank per group</a:t>
            </a:r>
          </a:p>
          <a:p>
            <a:pPr>
              <a:spcAft>
                <a:spcPts val="1000"/>
              </a:spcAft>
            </a:pPr>
            <a:r>
              <a:rPr sz="2600">
                <a:solidFill>
                  <a:srgbClr val="261F1D"/>
                </a:solidFill>
                <a:latin typeface="Helvetica"/>
              </a:rPr>
              <a:t>•  </a:t>
            </a:r>
            <a:r>
              <a:rPr sz="2600" b="0" i="0" u="none">
                <a:solidFill>
                  <a:srgbClr val="261F1D"/>
                </a:solidFill>
                <a:latin typeface="Helvetica"/>
              </a:rPr>
              <a:t>Every row still comes back</a:t>
            </a:r>
          </a:p>
          <a:p>
            <a:pPr>
              <a:spcAft>
                <a:spcPts val="1000"/>
              </a:spcAft>
            </a:pPr>
            <a:r>
              <a:rPr sz="2600">
                <a:solidFill>
                  <a:srgbClr val="261F1D"/>
                </a:solidFill>
                <a:latin typeface="Helvetica"/>
              </a:rPr>
              <a:t>•  </a:t>
            </a:r>
            <a:r>
              <a:rPr sz="2600" b="0" i="0" u="none">
                <a:solidFill>
                  <a:srgbClr val="261F1D"/>
                </a:solidFill>
                <a:latin typeface="Helvetica"/>
              </a:rPr>
              <a:t>A CTE wrapper filters on the rank</a:t>
            </a:r>
          </a:p>
        </p:txBody>
      </p:sp>
      <p:sp>
        <p:nvSpPr>
          <p:cNvPr id="5" name="TextBox 4"/>
          <p:cNvSpPr txBox="1"/>
          <p:nvPr/>
        </p:nvSpPr>
        <p:spPr>
          <a:xfrm>
            <a:off x="548640" y="5852160"/>
            <a:ext cx="11094415" cy="457200"/>
          </a:xfrm>
          <a:prstGeom prst="rect">
            <a:avLst/>
          </a:prstGeom>
          <a:noFill/>
        </p:spPr>
        <p:txBody>
          <a:bodyPr wrap="square" anchor="t" lIns="0" rIns="0" tIns="0" bIns="0">
            <a:noAutofit/>
          </a:bodyPr>
          <a:lstStyle/>
          <a:p>
            <a:pPr algn="l"/>
            <a:r>
              <a:rPr sz="2600" b="1" i="0" u="none">
                <a:solidFill>
                  <a:srgbClr val="2274B5"/>
                </a:solidFill>
                <a:latin typeface="Helvetica"/>
                <a:hlinkClick r:id="rId3"/>
              </a:rPr>
              <a:t>Watch: SQL Window Functions, Clearly Explained (~~8 min)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No new exercise today</a:t>
            </a:r>
          </a:p>
          <a:p>
            <a:pPr>
              <a:spcAft>
                <a:spcPts val="1000"/>
              </a:spcAft>
            </a:pPr>
            <a:r>
              <a:rPr sz="2600">
                <a:solidFill>
                  <a:srgbClr val="FFFCF7"/>
                </a:solidFill>
                <a:latin typeface="Helvetica"/>
              </a:rPr>
              <a:t>•  </a:t>
            </a:r>
            <a:r>
              <a:rPr sz="2600" b="0" i="0" u="none">
                <a:solidFill>
                  <a:srgbClr val="FFFCF7"/>
                </a:solidFill>
                <a:latin typeface="Helvetica"/>
              </a:rPr>
              <a:t>Keep your database running</a:t>
            </a:r>
          </a:p>
          <a:p>
            <a:pPr>
              <a:spcAft>
                <a:spcPts val="1000"/>
              </a:spcAft>
            </a:pPr>
            <a:r>
              <a:rPr sz="2600">
                <a:solidFill>
                  <a:srgbClr val="FFFCF7"/>
                </a:solidFill>
                <a:latin typeface="Helvetica"/>
              </a:rPr>
              <a:t>•  </a:t>
            </a:r>
            <a:r>
              <a:rPr sz="2600" b="0" i="0" u="none">
                <a:solidFill>
                  <a:srgbClr val="FFFCF7"/>
                </a:solidFill>
                <a:latin typeface="Helvetica"/>
              </a:rPr>
              <a:t>Try one ranking on your own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How Window Functions Work, With Animated GIFs</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Data School (Chartio)  ·  READING  ·  ~7 min read</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Animated GIFs show a partition forming, group by group</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PostgreSQL Docs: Window Function Reference</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PostgreSQL  ·  DOCS  ·  ~10 min skim</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Exact definitions of every ranking function</a:t>
            </a:r>
          </a:p>
        </p:txBody>
      </p:sp>
      <p:pic>
        <p:nvPicPr>
          <p:cNvPr id="14" name="Picture 13" descr=""/>
          <p:cNvPicPr>
            <a:picLocks noChangeAspect="1"/>
          </p:cNvPicPr>
          <p:nvPr/>
        </p:nvPicPr>
        <p:blipFill>
          <a:blip r:embed="rId7"/>
          <a:stretch>
            <a:fillRect/>
          </a:stretch>
        </p:blipFill>
        <p:spPr>
          <a:xfrm>
            <a:off x="548640" y="4745736"/>
            <a:ext cx="365760" cy="365760"/>
          </a:xfrm>
          <a:prstGeom prst="rect">
            <a:avLst/>
          </a:prstGeom>
        </p:spPr>
      </p:pic>
      <p:sp>
        <p:nvSpPr>
          <p:cNvPr id="15" name="TextBox 14"/>
          <p:cNvSpPr txBox="1"/>
          <p:nvPr/>
        </p:nvSpPr>
        <p:spPr>
          <a:xfrm>
            <a:off x="1051560" y="4727448"/>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How SQL OVER PARTITION BY Works, With Practice</a:t>
            </a:r>
          </a:p>
        </p:txBody>
      </p:sp>
      <p:sp>
        <p:nvSpPr>
          <p:cNvPr id="16" name="TextBox 15"/>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Practice Window Functions  ·  PRACTICE  ·  ~20 min</a:t>
            </a:r>
          </a:p>
        </p:txBody>
      </p:sp>
      <p:sp>
        <p:nvSpPr>
          <p:cNvPr id="17" name="TextBox 16"/>
          <p:cNvSpPr txBox="1"/>
          <p:nvPr/>
        </p:nvSpPr>
        <p:spPr>
          <a:xfrm>
            <a:off x="1051560" y="549554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Browser problems, including real top-N-per-group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