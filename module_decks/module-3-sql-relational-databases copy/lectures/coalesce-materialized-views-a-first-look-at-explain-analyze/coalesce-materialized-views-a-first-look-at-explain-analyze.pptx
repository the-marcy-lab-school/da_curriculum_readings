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Frame the day honestly: three smaller tools rather than one big concept. They share a theme though, and it is worth saying out loud - all three are about what a query is not telling you. A blank you assumed was a zero, a number that was true an hour ago, and a cost you never measured.</a:t>
            </a:r>
          </a:p>
          <a:p/>
          <a:p>
            <a:r>
              <a:t>[SCRIPT] Name that every one of the three is a graded requirement in the project. Nothing today is optional enrichment.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all three, then tie each to the project by name: your `COALESCE` question, your materialized-view question, and the `EXPLAIN ANALYZE` writeup you have to hand in. Fellows should hear that today is the rehearsal for three separate graded items.</a:t>
            </a:r>
          </a:p>
          <a:p/>
          <a:p>
            <a:r>
              <a:t>[SCRIPT] Set expectations on depth for the third one. Today is reading a plan, not tuning one. Nobody is expected to leave able to speed a query up.</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Names only for now. Point at `NULL` specifically and say the room has already seen it without being told what it was - every blank cell in every `LEFT JOIN` result this module has produced was one.</a:t>
            </a:r>
          </a:p>
          <a:p/>
          <a:p>
            <a:r>
              <a:t>[MISCONCEPTIONS] "Materialized" is the word that trips people. It just means "made real" - the rows genuinely exist on disk instead of being recalculated. Say that once now so it is not a mystery word later.</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show of hands for A, B, or C. Online: drop a letter in chat, then confirm out loud before advancing.</a:t>
            </a:r>
          </a:p>
          <a:p/>
          <a:p>
            <a:r>
              <a:t>[SCRIPT] This is not a generic warm-up. Every blank cell today comes from exactly this: a `LEFT JOIN` with nothing on the other side, or a column nobody has filled in yet. Say that connection before moving on.</a:t>
            </a:r>
          </a:p>
          <a:p/>
          <a:p>
            <a:r>
              <a:t>[MISCONCEPTIONS] Some Fellows will say `INNER JOIN` "works too, it just shows nothing." It does not show the restaurant at all, which is a different outcome from showing it with empty columns. That difference is the whole reason the join lesson happened.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LEFT JOIN</a:t>
            </a:r>
          </a:p>
          <a:p>
            <a:r>
              <a:t>Why: `LEFT JOIN` keeps every row from the left table whether or not a match exists. For a restaurant with no inspections, the inspection columns come back empty instead. That empty value is not an accident and it is not a zero - it has a name, and naming it is where today starts.</a:t>
            </a:r>
          </a:p>
          <a:p>
            <a:r>
              <a:t>Source: This module's own join lesson,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[~9 min mark] Keep this to one beat. The payoff is a real query returning zero rows in about three minutes.</a:t>
            </a:r>
          </a:p>
          <a:p/>
          <a:p>
            <a:r>
              <a:t>[SCRIPT] Name explicitly that everything from here to the next section is a code-along - terminals open now, not in five minutes.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`ALTER TABLE ... ADD COLUMN` is new, and it is exactly what it looks like: it adds a column to a table that already has rows in it. Every existing row gets the new column with no value in it, which is precisely the situation we want.</a:t>
            </a:r>
          </a:p>
          <a:p/>
          <a:p>
            <a:r>
              <a:t>[SCRIPT] Run it, then read the output down the screen. Two rows have a score and a grade. Two rows have nothing in either column. Ask the room what "nothing" means there before you name it - a zero, a blank, or something else.</a:t>
            </a:r>
          </a:p>
          <a:p/>
          <a:p>
            <a:r>
              <a:t>[MISCONCEPTIONS] Fellows often read the empty cell in `psql` output as an empty piece of text, because that is what it looks like. It is not. An empty piece of text is a real value you could match on; this is the absence of any value at all.</a:t>
            </a:r>
          </a:p>
          <a:p/>
          <a:p>
            <a:r>
              <a:t>[MISCONCEPTIONS] If anyone re-runs this whole block they will get "column score of relation inspections already exists". That is the second `ALTER` failing, not a broken command. Say so and move on rather than debugging live.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Before you run the first query, ask the room to predict how many rows come back. In person: fingers up for 0, 1, or 2. Online: drop the number in chat. Most of the room will say 2. Then run it and let zero rows land on its own.</a:t>
            </a:r>
          </a:p>
          <a:p/>
          <a:p>
            <a:r>
              <a:t>[SCRIPT] Say the rule plainly after the surprise: `NULL` means unknown, and unknown is not equal to anything, including another unknown. This is the single most common silent bug in SQL - the query runs, returns no error, and quietly answers a different question than the one you asked.</a:t>
            </a:r>
          </a:p>
          <a:p/>
          <a:p>
            <a:r>
              <a:t>[SCRIPT] Introduce the group-chat comparison before the formal wording, not after. The point is that a stated zero and no answer at all are genuinely different facts, and only one of them is safe to add up.</a:t>
            </a:r>
          </a:p>
          <a:p/>
          <a:p>
            <a:r>
              <a:t>[MISCONCEPTIONS] The most common wrong model is "NULL is basically zero." It is worth stating the opposite out loud: zero is a real, known measurement. `NULL` is the database refusing to guess. Postgres also applies the same rule to `!=`, so `WHERE grade != NULL` returns nothing either - and that catches people out even more often.</a:t>
            </a:r>
          </a:p>
          <a:p/>
          <a:p>
            <a:r>
              <a:t>[MISCONCEPTIONS] Very occasionally a Fellow reports that `= NULL` "worked" somewhere. Postgres has an off-by-default setting that rewrites it into `IS NULL` for old applications, and the docs actively discourage relying on it. Do not teach it - just know why the story is not impossible.</a:t>
            </a:r>
          </a:p>
          <a:p/>
          <a:p>
            <a:r>
              <a:t>[SOURCES] PostgreSQL documentation, "Comparison Functions and Operators": "Ordinary comparison operators yield null (signifying 'unknown'), not true or false, when either input is null. For example, 7 = NULL yields null, as does 7 &lt;&gt; NULL." And: "Do not write expression = NULL because NULL is not 'equal to' NULL." This is standard SQL three-valued logic, not a PostgreSQL quirk - it holds across databases.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Before anyone hits enter, have the room predict what the two new columns will show for Corner Bistro's two unscored inspections. In person: call on two Fellows for the two columns. Online: both answers in chat at once, then run it.</a:t>
            </a:r>
          </a:p>
          <a:p/>
          <a:p>
            <a:r>
              <a:t>[SCRIPT] Run it and read the four rows. Corner Bistro's two unscored inspections now show `0` in one column and `Not graded` in the other - the same missing value, presented two completely different ways.</a:t>
            </a:r>
          </a:p>
          <a:p/>
          <a:p>
            <a:r>
              <a:t>[SCRIPT] Land the real point: `COALESCE` is a syntax tool with no opinion about meaning. It will happily put any fallback you name into the gap. The judgment about which fallback is honest is entirely yours, and the next question is about exactly that.</a:t>
            </a:r>
          </a:p>
          <a:p/>
          <a:p>
            <a:r>
              <a:t>[MISCONCEPTIONS] Fellows often assume `COALESCE` changes the stored data. It does not - it only changes what this one query returns. The `NULL` is still sitting in the table afterwards.</a:t>
            </a:r>
          </a:p>
          <a:p/>
          <a:p>
            <a:r>
              <a:t>[SOURCES] PostgreSQL documentation, "Conditional Expressions": COALESCE "returns the first of its arguments that is not null," and "Null is returned only if all arguments are null." Arguments are evaluated left to right and evaluation stops once a non-null argument is found.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hands up for A, B, or C, then ask one Fellow who picked B to say why before you confirm. Online: letters in chat, then unmute one Fellow.</a:t>
            </a:r>
          </a:p>
          <a:p/>
          <a:p>
            <a:r>
              <a:t>[SCRIPT] Run the proof live if you have a minute - it lands harder than the slide does. `SELECT ROUND(AVG(score), 2), ROUND(AVG(COALESCE(score, 0)), 2) FROM inspections;` returns 9.50 and 4.75.</a:t>
            </a:r>
          </a:p>
          <a:p/>
          <a:p>
            <a:r>
              <a:t>[SCRIPT] Name the transferable habit, since this is the part that follows Fellows into the project and the job: before you fill a blank, ask what the fallback is claiming. `0` claims a measurement. `'Not graded'` claims nothing. One of those is a lie about food safety.</a:t>
            </a:r>
          </a:p>
          <a:p/>
          <a:p>
            <a:r>
              <a:t>[MISCONCEPTIONS] Several Fellows will pick A, because `AVG` genuinely does skip `NULL` on its own. That is true - and it is exactly why wrapping the column in `COALESCE` changes the answer: it hands `AVG` a real zero that it can no longer skip.</a:t>
            </a:r>
          </a:p>
          <a:p/>
          <a:p>
            <a:r>
              <a:t>[SOURCES] PostgreSQL documentation, "Aggregate Functions": aggregate functions other than `count(*)` ignore null inputs, which is why the untouched average is computed over two rows rather than four.</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Pulls it down, so the city looks cleaner</a:t>
            </a:r>
          </a:p>
          <a:p>
            <a:r>
              <a:t>Why: The real average of the two scored inspections is 9.50. Fill the two blanks with 0 and it drops to 4.75 - the city's food-safety record looks about twice as good, purely because two inspections have not been typed in yet. `COALESCE` never warns you about this. Choosing a fallback is a claim about what the missing data means, and here `0` claims a perfect inspection nobody performed.</a:t>
            </a:r>
          </a:p>
          <a:p>
            <a:r>
              <a:t>Source: This lesson's own worked example, run against the class database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[~26 min mark] Connect the two halves honestly: the totals query this section stores is the same three-table `LEFT JOIN` the room has now written several times. Nothing new about the query - only where its answer lives.</a:t>
            </a:r>
          </a:p>
          <a:p/>
          <a:p>
            <a:r>
              <a:t>[SCRIPT] Still a code-along. Terminals stay open.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Plain `CREATE VIEW` is named here for the contrast, not taught as a skill today - the project's own requirement is specifically the materialized kind.</a:t>
            </a:r>
          </a:p>
          <a:p/>
          <a:p>
            <a:r>
              <a:t>[SCRIPT] Both are created the same way and both are queried the same way, which is exactly why the difference catches people out. The only thing that changes is whether the answer is recomputed or remembered.</a:t>
            </a:r>
          </a:p>
          <a:p/>
          <a:p>
            <a:r>
              <a:t>[SCRIPT] Give the honest decision rule rather than a winner: if the answer must be correct to the second, a plain view is right. If the query is expensive and the data changes on a schedule you control, a materialized view is right. Most dashboards are the second case.</a:t>
            </a:r>
          </a:p>
          <a:p/>
          <a:p>
            <a:r>
              <a:t>[MISCONCEPTIONS] Fellows sometimes hear "materialized view" as "faster view." It is not faster at the same job - it is doing a different job. It trades freshness for speed, and somebody has to decide that trade is acceptable.</a:t>
            </a:r>
          </a:p>
          <a:p/>
          <a:p>
            <a:r>
              <a:t>[SOURCES] PostgreSQL documentation, "CREATE MATERIALIZED VIEW": a materialized view is populated by the query at creation time and its contents are not automatically kept current; PostgreSQL's "CREATE VIEW" page describes a view as a query stored under a name, re-evaluated each time the view is referenced.</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Terminals open again. Say out loud that nothing about the SELECT is new, so the only thing to concentrate on is the two words in front of it.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`SELECT 7` in the output first - Postgres tells you how many rows it stored. That number is the whole idea: seven real rows now exist on disk, and nothing has to be joined again to read them.</a:t>
            </a:r>
          </a:p>
          <a:p/>
          <a:p>
            <a:r>
              <a:t>[SCRIPT] Run the second statement and note how ordinary it looks. Querying a materialized view is just querying a table. `WHERE`, `ORDER BY`, `GROUP BY` and joins all work on it exactly as they would anywhere else - which matters, because the project asks for two further queries run against the view rather than against the base tables.</a:t>
            </a:r>
          </a:p>
          <a:p/>
          <a:p>
            <a:r>
              <a:t>[SCRIPT] Introduce the screenshot comparison before the word "stale" so the next slide's surprise has somewhere to land.</a:t>
            </a:r>
          </a:p>
          <a:p/>
          <a:p>
            <a:r>
              <a:t>[MISCONCEPTIONS] Fellows often expect the view to be a shortcut that still reads the live tables. It does not read them at all after this moment. Everything it will ever report is already decided.</a:t>
            </a:r>
          </a:p>
          <a:p/>
          <a:p>
            <a:r>
              <a:t>[MISCONCEPTIONS] Re-running this exact command gives "relation restaurant_totals already exists". Expected, not a bug - drop it first or move on.</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the block one statement at a time, not all at once. The whole teaching moment is the beat between the first `3` and the `4` after the refresh, and pasting the whole thing skips straight past it.</a:t>
            </a:r>
          </a:p>
          <a:p/>
          <a:p>
            <a:r>
              <a:t>[SCRIPT] After the first `SELECT`, say it plainly: the base table and the view now disagree, and neither of them is going to tell you. This is the real cost of the trade the last slide named.</a:t>
            </a:r>
          </a:p>
          <a:p/>
          <a:p>
            <a:r>
              <a:t>[SCRIPT] Then run the refresh and the second `SELECT`. Ask how long that took on seven rows, and name honestly that on a real table of millions it is a genuine wait - which is exactly why teams schedule refreshes overnight instead of after every insert.</a:t>
            </a:r>
          </a:p>
          <a:p/>
          <a:p>
            <a:r>
              <a:t>[MISCONCEPTIONS] Fellows often expect `REFRESH` to only pick up the new row. It rebuilds the entire result from scratch. The rebuilt answer is correct either way, but the cost is proportional to the whole query, not to what changed.</a:t>
            </a:r>
          </a:p>
          <a:p/>
          <a:p>
            <a:r>
              <a:t>[MISCONCEPTIONS] Somebody will ask whether Postgres can refresh automatically. Core PostgreSQL has no built-in auto-refresh at all - teams schedule it from outside, with cron, the `pg_cron` extension, or whatever orchestrator already runs their pipelines. Scope this claim to Postgres when you say it: Oracle can refresh on commit, BigQuery refreshes materialized views on its own, and SQL Server's indexed views are maintained by the engine automatically. An answer found online may genuinely be right about a different database.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Quick-fire round. In person: shout it out or hold up fingers for A, B, or C. Online: everyone types a letter in chat at once, then reveal.</a:t>
            </a:r>
          </a:p>
          <a:p/>
          <a:p>
            <a:r>
              <a:t>[SCRIPT] This is the transfer question - the same mechanic the room just ran by hand, now on a real schedule. Push on the follow-up: how stale is too stale here? For a food-safety dashboard a day might be fine; for a live inventory count it would not be. Nothing in SQL answers that for you.</a:t>
            </a:r>
          </a:p>
          <a:p/>
          <a:p>
            <a:r>
              <a:t>[SCRIPT] Name the professional habit that follows: whoever builds the view owes the people reading it a plain statement of how fresh the numbers are. A "last refreshed 2am" line on the dashboard is the whole fix.</a:t>
            </a:r>
          </a:p>
          <a:p/>
          <a:p>
            <a:r>
              <a:t>[MISCONCEPTIONS] Option C keeps coming back because Fellows expect a database to warn them. It will not. Stale data returns confident, wrong numbers with a clean exit code, which is exactly why it is dangerous.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Last night's numbers, until tomorrow</a:t>
            </a:r>
          </a:p>
          <a:p>
            <a:r>
              <a:t>Why: The view reports whatever it stored at its last refresh, and nothing in between changes that. So the 10am dashboard is showing a picture of the database as it looked at 2am - correct as of then, quietly wrong now. That gap is not a bug; it is the trade you agreed to when you chose a materialized view, and it is the thing to state plainly to whoever reads the dashboard.</a:t>
            </a:r>
          </a:p>
          <a:p>
            <a:r>
              <a:t>Source: This lesson's own worked example, applied to a scheduled refresh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This is a first look, deliberately. Reading a plan is today; choosing indexes and rewriting queries for speed is a later module's work. Do not let the room pull you into optimization.</a:t>
            </a:r>
          </a:p>
          <a:p/>
          <a:p>
            <a:r>
              <a:t>[SCRIPT] [~41 min mark] Make the link explicit rather than switching topics cold: the last section assumed the base query was expensive enough to be worth storing. Nobody checked. This section is how you check.</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Say what the two words do separately, because Fellows will meet both. `EXPLAIN` alone shows the plan Postgres intends to use, with estimated costs, without running anything. Adding `ANALYZE` genuinely runs the query and adds measured times and real row counts next to those estimates.</a:t>
            </a:r>
          </a:p>
          <a:p/>
          <a:p>
            <a:r>
              <a:t>[SCRIPT] Warn about the one real footgun before anyone tries it: because `ANALYZE` actually runs the query, running it on an `INSERT`, `UPDATE` or `DELETE` really does change your data. On a `SELECT` it is completely safe. The documented way to time a write safely is to wrap it - `BEGIN;`, then the `EXPLAIN ANALYZE`, then `ROLLBACK;` - so the plan is real and the change is thrown away.</a:t>
            </a:r>
          </a:p>
          <a:p/>
          <a:p>
            <a:r>
              <a:t>[SCRIPT] Give the room permission not to read the whole plan. Three things only: what kind of scan, how far the guess was from reality, and the execution time at the bottom. The middle one is not a shortcut - the PostgreSQL docs themselves say the thing usually most important to look for is whether the estimated row counts are reasonably close to reality.</a:t>
            </a:r>
          </a:p>
          <a:p/>
          <a:p>
            <a:r>
              <a:t>[MISCONCEPTIONS] The "cost" numbers are not seconds or milliseconds. They are made-up units the planner uses only to compare its own options against each other. The line that reports real time is `Execution Time`.</a:t>
            </a:r>
          </a:p>
          <a:p/>
          <a:p>
            <a:r>
              <a:t>[MISCONCEPTIONS] `Seq Scan` is not automatically bad. On a seven-row table reading everything is genuinely the fastest option, and Postgres knows it. It becomes a signal worth investigating on large tables, not small ones.</a:t>
            </a:r>
          </a:p>
          <a:p/>
          <a:p>
            <a:r>
              <a:t>[SOURCES] PostgreSQL documentation, "Using EXPLAIN": the `ANALYZE` option causes the statement to be actually executed, with true row counts and run times displayed alongside the planner's estimates; the documentation warns that using `ANALYZE` on a data-modifying statement will really modify the data, and that cost figures are in arbitrary planner units.</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Terminals open. Warn the room that the output looks alarming the first time, and that they are only hunting for the three things the last slide named.</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Run the first one and walk the five lines together, slowly. It says `Seq Scan on restaurants`, then a `Filter` line naming the condition, then `Rows Removed by Filter: 4`, then planning and execution time. That is a complete plan and it is genuinely readable.</a:t>
            </a:r>
          </a:p>
          <a:p/>
          <a:p>
            <a:r>
              <a:t>[SCRIPT] Point at the two `rows=` numbers on the scan line. The first is the planner's guess before running, the second is what actually came back. Here it guessed 4 and got 3. On a small table nobody has collected statistics for, a gap like that is normal and harmless - on a big table a wide gap is the first thing a performance engineer looks at.</a:t>
            </a:r>
          </a:p>
          <a:p/>
          <a:p>
            <a:r>
              <a:t>[SCRIPT] Then run the second one. Three lines total, one `Seq Scan`, no joins anywhere. That is the whole payoff of the last section made visible: the joins already happened once, at creation time, and reading the view never redoes them.</a:t>
            </a:r>
          </a:p>
          <a:p/>
          <a:p>
            <a:r>
              <a:t>[SCRIPT] If there is a spare minute, paste the original totals query after `EXPLAIN ANALYZE` for the contrast. It comes back as sixteen lines with three separate `Seq Scan` steps and two joins stacked above them - the work the view is no longer doing.</a:t>
            </a:r>
          </a:p>
          <a:p/>
          <a:p>
            <a:r>
              <a:t>[SCRIPT] Be honest about scale: on seven rows every one of these numbers is a fraction of a millisecond and none of the timings mean anything on their own. What transfers is the shape - three table scans and two joins versus one scan.</a:t>
            </a:r>
          </a:p>
          <a:p/>
          <a:p>
            <a:r>
              <a:t>[MISCONCEPTIONS] Fellows expect the execution time to be reproducible. It is not - run the same query twice and the number moves, because caching and whatever else the machine is doing both affect it. Compare shapes and row counts, not one run's milliseconds.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the five rows against the real output still on screen. These are not paraphrases - they are the literal lines the query just printed.</a:t>
            </a:r>
          </a:p>
          <a:p/>
          <a:p>
            <a:r>
              <a:t>[SCRIPT] Name the one line the project actually asks about. The writeup wants a real assessment of the plan, and the most defensible thing a Fellow can write is which step handled the most rows and why.</a:t>
            </a:r>
          </a:p>
          <a:p/>
          <a:p>
            <a:r>
              <a:t>[MISCONCEPTIONS] "Rows Removed by Filter" confuses people because it sounds like an error. It is not - it is a count of work that did not contribute to the answer, which is why it is a useful thing to notice.</a:t>
            </a:r>
          </a:p>
          <a:p/>
          <a:p>
            <a:r>
              <a:t>[MISCONCEPTIONS] That line only appears when something was actually rejected. A Fellow whose plan has no `Rows Removed` line has not done anything wrong - their filter simply kept everything it read.</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60 seconds silent, then 60 seconds in pairs, then cold-call one Fellow to narrate the investigation while a second Fellow adds a hypothesis they missed. The pair step first is deliberate, so nobody is put on the spot with an untested answer. Online: 60 seconds silent, then pairs in breakouts or chat, then unmute two Fellows.</a:t>
            </a:r>
          </a:p>
          <a:p/>
          <a:p>
            <a:r>
              <a:t>[TECHNIQUE] Use the Investigation Framework - Observation, Hypothesis, Evidence, Recommendation. This is a "why did X happen" question, and the interviewer is listening for a process, not a fix. A candidate who names several possible causes before picking one sounds far more senior than one who jumps straight to "add an index."</a:t>
            </a:r>
          </a:p>
          <a:p/>
          <a:p>
            <a:r>
              <a:t>[SCRIPT] Target shape of a strong answer. Observation: confirm it is real and repeatable, and find out what changed and when. Hypothesis: several, out loud - the data volume grew, the query itself was edited, something it depends on stopped being refreshed, or the machine is busier. Evidence: `EXPLAIN ANALYZE` the query now and compare the plan and row counts against what it used to do. Recommendation: name the next step the evidence supports, and say what you would measure to prove it worked.</a:t>
            </a:r>
          </a:p>
          <a:p/>
          <a:p>
            <a:r>
              <a:t>[SCRIPT] Point out that today gives them the Evidence step for real. That is the part most candidates hand-wave, and it is the part they can now actually demonstrate.</a:t>
            </a:r>
          </a:p>
          <a:p/>
          <a:p>
            <a:r>
              <a:t>[MISCONCEPTIONS] The most common weak answer is a confident single cause in the first sentence. Listen for whether a Fellow confirms the problem is real before theorizing about it - a query that is slow once is not the same as a query that got slower.</a:t>
            </a:r>
          </a:p>
          <a:p/>
          <a:p>
            <a:r>
              <a:t>[SOURCES] Verified as genuinely asked of data analysts, not only engineers: Resume Worded's SQL-analyst question bank carries a whole optimization cluster ("How do you optimize a slow-performing SQL query?", "Explain the concept of query execution plans"), and Dataquest lists both as advanced- tier SQL interview questions whose model answers reach for `EXPLAIN ANALYZE`. Say the tier honestly - this is a mid-level question, so a first-role candidate is showing range by handling it, not failing by finding it hard.</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PREP - Point, Reason, Example, Point. This is a definitional question, and the failure mode is listing every fact a candidate knows about both. Answer in one sentence, justify it, ground it in something you actually built, then restate the decision rule.</a:t>
            </a:r>
          </a:p>
          <a:p/>
          <a:p>
            <a:r>
              <a:t>[SCRIPT] Have one Fellow attempt it cold. Listen specifically for whether the Example step is real. Everyone in this room genuinely has one after today, and using it is what separates this from a memorized definition.</a:t>
            </a:r>
          </a:p>
          <a:p/>
          <a:p>
            <a:r>
              <a:t>[SCRIPT] Coach the closing Point. The strongest version is a decision rule, not a summary - "current answer, plain view; expensive query and controllable freshness, materialized view" gives an interviewer something to hire.</a:t>
            </a:r>
          </a:p>
          <a:p/>
          <a:p>
            <a:r>
              <a:t>[MISCONCEPTIONS] Fellows sometimes state "materialized views need a manual refresh" as though it were true of every database. In core PostgreSQL it is. Oracle, BigQuery and SQL Server's indexed views can all refresh themselves, so the safe phrasing in an interview is to name which database you mean.</a:t>
            </a:r>
          </a:p>
          <a:p/>
          <a:p>
            <a:r>
              <a:t>[SOURCES] Verified as a real, commonly-asked question: it appears in Dataquest's "60 SQL Interview Questions" as an intermediate-tier item and in a Deloitte-focused prep guide covering SQL developer, data analyst and data engineer roles. Be honest with the room about the split, though - analyst-specific banks (DataLemur's own data-analyst SQL list, StrataScratch's database questions) skip views entirely. It leans analytics-engineer and data-engineer. Worth knowing cold; not worth expecting every time.</a:t>
            </a:r>
          </a:p>
          <a:p/>
          <a:p/>
          <a:p>
            <a:r>
              <a:t>Short answers:</a:t>
            </a:r>
          </a:p>
          <a:p/>
          <a:p>
            <a:r>
              <a:t>Q: What's the difference between a view and a materialized view, and when would you use each?</a:t>
            </a:r>
          </a:p>
          <a:p>
            <a:r>
              <a:t>A: A view stores only the query text and re-runs every time; a materialized view stores the actual rows, reading back fast but staying stale until refreshed. The trade is freshness for speed. I built one over a three-table join for a nightly dashboard, refreshed on a schedule, since users needed instant loads and same-day accuracy wasn't required. So: plain view when current answers matter, materialized view when the query is expensive and you control freshness.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Quick pass through all four. Spend the extra beat on `NULL`, since it is the one that causes silent wrong answers rather than errors - and it is the one that will keep showing up long after this module ends.</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Close on the through-line: all three tools are about what a query is not telling you. A blank you assumed, a number that was true an hour ago, and a cost you never measured.</a:t>
            </a:r>
          </a:p>
          <a:p/>
          <a:p>
            <a:r>
              <a:t>[SCRIPT] Name the project tie for all three by name, the same way the objectives slide did: a `COALESCE` question on a genuinely nullable column, a real materialized view with two follow-up queries run against it, and a written `EXPLAIN ANALYZE` assessment.</a:t>
            </a:r>
          </a:p>
          <a:p/>
          <a:p>
            <a:r>
              <a:t>[SCRIPT] The last bullet needs a real explanation, not a throwaway. The project lets you run queries through Python, and the temptation is to pull the table into pandas and finish with `.groupby()` or a merge. That is graded as a SQL failure, not a style choice - pandas may hold or chart a result the database already computed, and nothing more. Say it plainly now, because it is easier to hear today than after it costs somebody a grade.</a:t>
            </a:r>
          </a:p>
          <a:p/>
          <a:p>
            <a:r>
              <a:t>[MISCONCEPTIONS] Fellows sometimes read that rule as "pandas is banned." It is not. The line is about where the analysis happens, not which tools are allowed on the machine.</a:t>
            </a:r>
          </a:p>
          <a:p/>
          <a:p>
            <a:r>
              <a:t>[SCRIPT] The video is optional enrichment, not required viewing. Set expectations honestly if you point at it: it spends more time on how the planner chooses a plan than on reading `EXPLAIN ANALYZE` output, and it is pitched at backend engineers rather than analysts. Useful for anyone who wants the "why" behind today's output.</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All three are free and none needs an account. Point at the visualizer for anyone whose plan output felt unreadable - it draws the same text as a tree, which makes the nesting obvious.</a:t>
            </a:r>
          </a:p>
          <a:p/>
          <a:p>
            <a:r>
              <a:t>[SCRIPT] One real caution on the visualizer, worth saying out loud: a plan you paste in is uploaded and stored on their server. Perfectly fine for class data. Never paste a plan from an employer's database into it - the site also offers a standalone version you can download and run locally, which is the right answer at work.</a:t>
            </a:r>
          </a:p>
          <a:p/>
          <a:p>
            <a:r>
              <a:t>[SCRIPT] The `COALESCE` article is the one to send anyone who wants more than today's two examples - it walks several patterns for choosing a fallback, which is exactly the judgment half of today's lesson.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5.pn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youtube.com/watch?v=P7EUFtjeAmI" TargetMode="External"/><Relationship Id="rId4"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hyperlink" Target="https://www.postgresql.org/docs/current/using-explain.html" TargetMode="External"/><Relationship Id="rId5" Type="http://schemas.openxmlformats.org/officeDocument/2006/relationships/image" Target="../media/image19.png"/><Relationship Id="rId6" Type="http://schemas.openxmlformats.org/officeDocument/2006/relationships/hyperlink" Target="https://explain.dalibo.com/" TargetMode="External"/><Relationship Id="rId7" Type="http://schemas.openxmlformats.org/officeDocument/2006/relationships/image" Target="../media/image20.png"/><Relationship Id="rId8" Type="http://schemas.openxmlformats.org/officeDocument/2006/relationships/hyperlink" Target="https://learnsql.com/blog/coalesce-function-sql/" TargetMode="External"/><Relationship Id="rId9"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11094415" cy="1463040"/>
          </a:xfrm>
          <a:prstGeom prst="rect">
            <a:avLst/>
          </a:prstGeom>
          <a:noFill/>
        </p:spPr>
        <p:txBody>
          <a:bodyPr wrap="square" anchor="b" lIns="0" rIns="0" tIns="0" bIns="0">
            <a:noAutofit/>
          </a:bodyPr>
          <a:lstStyle/>
          <a:p>
            <a:pPr algn="l"/>
            <a:r>
              <a:rPr sz="4000" b="1" i="0" u="none">
                <a:solidFill>
                  <a:srgbClr val="EEBC32"/>
                </a:solidFill>
                <a:latin typeface="Helvetica"/>
              </a:rPr>
              <a:t>COALESCE, Materialized Views &amp; Reading a Query Plan</a:t>
            </a:r>
          </a:p>
        </p:txBody>
      </p:sp>
      <p:sp>
        <p:nvSpPr>
          <p:cNvPr id="6" name="TextBox 5"/>
          <p:cNvSpPr txBox="1"/>
          <p:nvPr/>
        </p:nvSpPr>
        <p:spPr>
          <a:xfrm>
            <a:off x="548640" y="5943600"/>
            <a:ext cx="8229600" cy="457200"/>
          </a:xfrm>
          <a:prstGeom prst="rect">
            <a:avLst/>
          </a:prstGeom>
          <a:noFill/>
        </p:spPr>
        <p:txBody>
          <a:bodyPr wrap="square" anchor="t" lIns="0" rIns="0" tIns="0" bIns="0">
            <a:noAutofit/>
          </a:bodyPr>
          <a:lstStyle/>
          <a:p>
            <a:pPr algn="l"/>
            <a:r>
              <a:rPr sz="2600" b="0" i="0" u="none">
                <a:solidFill>
                  <a:srgbClr val="FFFCF7"/>
                </a:solidFill>
                <a:latin typeface="Helvetica"/>
              </a:rPr>
              <a:t>Module 3: SQL &amp; Relational Databases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Fill a blank on purpose</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Store a query's answer</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Measure what a query costs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2602154"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1575397" y="2697480"/>
            <a:ext cx="548640" cy="548640"/>
          </a:xfrm>
          <a:prstGeom prst="rect">
            <a:avLst/>
          </a:prstGeom>
        </p:spPr>
      </p:pic>
      <p:sp>
        <p:nvSpPr>
          <p:cNvPr id="6" name="TextBox 5"/>
          <p:cNvSpPr txBox="1"/>
          <p:nvPr/>
        </p:nvSpPr>
        <p:spPr>
          <a:xfrm>
            <a:off x="685800"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NULL</a:t>
            </a:r>
          </a:p>
        </p:txBody>
      </p:sp>
      <p:sp>
        <p:nvSpPr>
          <p:cNvPr id="7" name="Rounded Rectangle 6"/>
          <p:cNvSpPr/>
          <p:nvPr/>
        </p:nvSpPr>
        <p:spPr>
          <a:xfrm>
            <a:off x="3379394" y="2468880"/>
            <a:ext cx="2602154"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4406151" y="2697480"/>
            <a:ext cx="548640" cy="548640"/>
          </a:xfrm>
          <a:prstGeom prst="rect">
            <a:avLst/>
          </a:prstGeom>
        </p:spPr>
      </p:pic>
      <p:sp>
        <p:nvSpPr>
          <p:cNvPr id="9" name="TextBox 8"/>
          <p:cNvSpPr txBox="1"/>
          <p:nvPr/>
        </p:nvSpPr>
        <p:spPr>
          <a:xfrm>
            <a:off x="3516554"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COALESCE</a:t>
            </a:r>
          </a:p>
        </p:txBody>
      </p:sp>
      <p:sp>
        <p:nvSpPr>
          <p:cNvPr id="10" name="Rounded Rectangle 9"/>
          <p:cNvSpPr/>
          <p:nvPr/>
        </p:nvSpPr>
        <p:spPr>
          <a:xfrm>
            <a:off x="6210148" y="2468880"/>
            <a:ext cx="2602154"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7236904" y="2697480"/>
            <a:ext cx="548640" cy="548640"/>
          </a:xfrm>
          <a:prstGeom prst="rect">
            <a:avLst/>
          </a:prstGeom>
        </p:spPr>
      </p:pic>
      <p:sp>
        <p:nvSpPr>
          <p:cNvPr id="12" name="TextBox 11"/>
          <p:cNvSpPr txBox="1"/>
          <p:nvPr/>
        </p:nvSpPr>
        <p:spPr>
          <a:xfrm>
            <a:off x="6347308"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Materialized View</a:t>
            </a:r>
          </a:p>
        </p:txBody>
      </p:sp>
      <p:sp>
        <p:nvSpPr>
          <p:cNvPr id="13" name="Rounded Rectangle 12"/>
          <p:cNvSpPr/>
          <p:nvPr/>
        </p:nvSpPr>
        <p:spPr>
          <a:xfrm>
            <a:off x="9040901" y="2468880"/>
            <a:ext cx="2602154" cy="2560320"/>
          </a:xfrm>
          <a:prstGeom prst="roundRect">
            <a:avLst>
              <a:gd name="adj" fmla="val 6000"/>
            </a:avLst>
          </a:prstGeom>
          <a:solidFill>
            <a:srgbClr val="F7DFDF"/>
          </a:solidFill>
          <a:ln w="50800">
            <a:solidFill>
              <a:srgbClr val="C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
          <p:cNvPicPr>
            <a:picLocks noChangeAspect="1"/>
          </p:cNvPicPr>
          <p:nvPr/>
        </p:nvPicPr>
        <p:blipFill>
          <a:blip r:embed="rId6"/>
          <a:stretch>
            <a:fillRect/>
          </a:stretch>
        </p:blipFill>
        <p:spPr>
          <a:xfrm>
            <a:off x="10067658" y="2697480"/>
            <a:ext cx="548640" cy="548640"/>
          </a:xfrm>
          <a:prstGeom prst="rect">
            <a:avLst/>
          </a:prstGeom>
        </p:spPr>
      </p:pic>
      <p:sp>
        <p:nvSpPr>
          <p:cNvPr id="15" name="TextBox 14"/>
          <p:cNvSpPr txBox="1"/>
          <p:nvPr/>
        </p:nvSpPr>
        <p:spPr>
          <a:xfrm>
            <a:off x="9178061"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Query Plan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Quick recall: Bayside Grill has never been inspected. Which join still keeps it in a restaurants-plus-inspections result?</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INNER JOIN</a:t>
            </a:r>
          </a:p>
          <a:p>
            <a:pPr>
              <a:spcAft>
                <a:spcPts val="1000"/>
              </a:spcAft>
            </a:pPr>
            <a:r>
              <a:rPr sz="2600" b="0" i="0" u="none">
                <a:solidFill>
                  <a:srgbClr val="261F1D"/>
                </a:solidFill>
                <a:latin typeface="Helvetica"/>
              </a:rPr>
              <a:t>B.  LEFT JOIN</a:t>
            </a:r>
          </a:p>
          <a:p>
            <a:pPr>
              <a:spcAft>
                <a:spcPts val="1000"/>
              </a:spcAft>
            </a:pPr>
            <a:r>
              <a:rPr sz="2600" b="0" i="0" u="none">
                <a:solidFill>
                  <a:srgbClr val="261F1D"/>
                </a:solidFill>
                <a:latin typeface="Helvetica"/>
              </a:rPr>
              <a:t>C.  Neither - it gets dropped either 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Warm-Up: The Join That Keeps Everyone</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LEFT JOIN</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Roboto Mono"/>
              </a:rPr>
              <a:t>LEFT JOIN</a:t>
            </a:r>
            <a:r>
              <a:rPr sz="2600" b="0" i="0" u="none">
                <a:solidFill>
                  <a:srgbClr val="261F1D"/>
                </a:solidFill>
                <a:latin typeface="Helvetica"/>
              </a:rPr>
              <a:t> keeps every row from the left table whether or not a match exists. For a restaurant with no inspections, the inspection columns come back empty instead. That empty value is not an accident and it is not a zero - it has a name, and naming it is where today starts.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Rows That Came Back Empty</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What That Empty Cell Really Is</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An empty cell is a value with its own rules - and the obvious way to test for it silently fails.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New Columns Come Back </a:t>
            </a:r>
            <a:r>
              <a:rPr sz="3200" b="1" i="0" u="none">
                <a:solidFill>
                  <a:srgbClr val="264326"/>
                </a:solidFill>
                <a:latin typeface="Helvetica"/>
              </a:rPr>
              <a:t>Empty on Every Old Row</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FFFCF7"/>
                </a:solidFill>
                <a:latin typeface="Roboto Mono"/>
              </a:rPr>
              <a:t>\</a:t>
            </a:r>
            <a:r>
              <a:rPr sz="2600" i="0">
                <a:solidFill>
                  <a:srgbClr val="EEBC32"/>
                </a:solidFill>
                <a:latin typeface="Roboto Mono"/>
              </a:rPr>
              <a:t>c</a:t>
            </a:r>
            <a:r>
              <a:rPr sz="2600" i="0">
                <a:solidFill>
                  <a:srgbClr val="FFFCF7"/>
                </a:solidFill>
                <a:latin typeface="Roboto Mono"/>
              </a:rPr>
              <a:t> </a:t>
            </a:r>
            <a:r>
              <a:rPr sz="2600" i="0">
                <a:solidFill>
                  <a:srgbClr val="FFFCF7"/>
                </a:solidFill>
                <a:latin typeface="Roboto Mono"/>
              </a:rPr>
              <a:t>nyc_restaurants</a:t>
            </a:r>
          </a:p>
          <a:p>
            <a:pPr>
              <a:lnSpc>
                <a:spcPct val="120000"/>
              </a:lnSpc>
              <a:defRPr sz="2600">
                <a:latin typeface="Roboto Mono"/>
              </a:defRPr>
            </a:pPr>
            <a:r>
              <a:rPr sz="2600" i="0">
                <a:solidFill>
                  <a:srgbClr val="EEBC32"/>
                </a:solidFill>
                <a:latin typeface="Roboto Mono"/>
              </a:rPr>
              <a:t>ALTER</a:t>
            </a:r>
            <a:r>
              <a:rPr sz="2600" i="0">
                <a:solidFill>
                  <a:srgbClr val="FFFCF7"/>
                </a:solidFill>
                <a:latin typeface="Roboto Mono"/>
              </a:rPr>
              <a:t> </a:t>
            </a:r>
            <a:r>
              <a:rPr sz="2600" i="0">
                <a:solidFill>
                  <a:srgbClr val="EEBC32"/>
                </a:solidFill>
                <a:latin typeface="Roboto Mono"/>
              </a:rPr>
              <a:t>TABLE</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ADD</a:t>
            </a:r>
            <a:r>
              <a:rPr sz="2600" i="0">
                <a:solidFill>
                  <a:srgbClr val="FFFCF7"/>
                </a:solidFill>
                <a:latin typeface="Roboto Mono"/>
              </a:rPr>
              <a:t> </a:t>
            </a:r>
            <a:r>
              <a:rPr sz="2600" i="0">
                <a:solidFill>
                  <a:srgbClr val="EEBC32"/>
                </a:solidFill>
                <a:latin typeface="Roboto Mono"/>
              </a:rPr>
              <a:t>COLUMN</a:t>
            </a:r>
            <a:r>
              <a:rPr sz="2600" i="0">
                <a:solidFill>
                  <a:srgbClr val="FFFCF7"/>
                </a:solidFill>
                <a:latin typeface="Roboto Mono"/>
              </a:rPr>
              <a:t> </a:t>
            </a:r>
            <a:r>
              <a:rPr sz="2600" i="0">
                <a:solidFill>
                  <a:srgbClr val="FFFCF7"/>
                </a:solidFill>
                <a:latin typeface="Roboto Mono"/>
              </a:rPr>
              <a:t>score</a:t>
            </a:r>
            <a:r>
              <a:rPr sz="2600" i="0">
                <a:solidFill>
                  <a:srgbClr val="FFFCF7"/>
                </a:solidFill>
                <a:latin typeface="Roboto Mono"/>
              </a:rPr>
              <a:t> </a:t>
            </a:r>
            <a:r>
              <a:rPr sz="2600" i="0">
                <a:solidFill>
                  <a:srgbClr val="5996C7"/>
                </a:solidFill>
                <a:latin typeface="Roboto Mono"/>
              </a:rPr>
              <a:t>INT</a:t>
            </a:r>
            <a:r>
              <a:rPr sz="2600" i="0">
                <a:solidFill>
                  <a:srgbClr val="FFFCF7"/>
                </a:solidFill>
                <a:latin typeface="Roboto Mono"/>
              </a:rPr>
              <a:t>;</a:t>
            </a:r>
          </a:p>
          <a:p>
            <a:pPr>
              <a:lnSpc>
                <a:spcPct val="120000"/>
              </a:lnSpc>
              <a:defRPr sz="2600">
                <a:latin typeface="Roboto Mono"/>
              </a:defRPr>
            </a:pPr>
            <a:r>
              <a:rPr sz="2600" i="0">
                <a:solidFill>
                  <a:srgbClr val="EEBC32"/>
                </a:solidFill>
                <a:latin typeface="Roboto Mono"/>
              </a:rPr>
              <a:t>ALTER</a:t>
            </a:r>
            <a:r>
              <a:rPr sz="2600" i="0">
                <a:solidFill>
                  <a:srgbClr val="FFFCF7"/>
                </a:solidFill>
                <a:latin typeface="Roboto Mono"/>
              </a:rPr>
              <a:t> </a:t>
            </a:r>
            <a:r>
              <a:rPr sz="2600" i="0">
                <a:solidFill>
                  <a:srgbClr val="EEBC32"/>
                </a:solidFill>
                <a:latin typeface="Roboto Mono"/>
              </a:rPr>
              <a:t>TABLE</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ADD</a:t>
            </a:r>
            <a:r>
              <a:rPr sz="2600" i="0">
                <a:solidFill>
                  <a:srgbClr val="FFFCF7"/>
                </a:solidFill>
                <a:latin typeface="Roboto Mono"/>
              </a:rPr>
              <a:t> </a:t>
            </a:r>
            <a:r>
              <a:rPr sz="2600" i="0">
                <a:solidFill>
                  <a:srgbClr val="EEBC32"/>
                </a:solidFill>
                <a:latin typeface="Roboto Mono"/>
              </a:rPr>
              <a:t>COLUMN</a:t>
            </a:r>
            <a:r>
              <a:rPr sz="2600" i="0">
                <a:solidFill>
                  <a:srgbClr val="FFFCF7"/>
                </a:solidFill>
                <a:latin typeface="Roboto Mono"/>
              </a:rPr>
              <a:t> </a:t>
            </a:r>
            <a:r>
              <a:rPr sz="2600" i="0">
                <a:solidFill>
                  <a:srgbClr val="FFFCF7"/>
                </a:solidFill>
                <a:latin typeface="Roboto Mono"/>
              </a:rPr>
              <a:t>grade</a:t>
            </a:r>
            <a:r>
              <a:rPr sz="2600" i="0">
                <a:solidFill>
                  <a:srgbClr val="FFFCF7"/>
                </a:solidFill>
                <a:latin typeface="Roboto Mono"/>
              </a:rPr>
              <a:t> </a:t>
            </a:r>
            <a:r>
              <a:rPr sz="2600" i="0">
                <a:solidFill>
                  <a:srgbClr val="5996C7"/>
                </a:solidFill>
                <a:latin typeface="Roboto Mono"/>
              </a:rPr>
              <a:t>TEXT</a:t>
            </a:r>
            <a:r>
              <a:rPr sz="2600" i="0">
                <a:solidFill>
                  <a:srgbClr val="FFFCF7"/>
                </a:solidFill>
                <a:latin typeface="Roboto Mono"/>
              </a:rPr>
              <a:t>;</a:t>
            </a:r>
          </a:p>
          <a:p>
            <a:pPr>
              <a:lnSpc>
                <a:spcPct val="120000"/>
              </a:lnSpc>
              <a:defRPr sz="2600">
                <a:latin typeface="Roboto Mono"/>
              </a:defRPr>
            </a:pPr>
            <a:r>
              <a:rPr sz="2600" i="0">
                <a:solidFill>
                  <a:srgbClr val="EEBC32"/>
                </a:solidFill>
                <a:latin typeface="Roboto Mono"/>
              </a:rPr>
              <a:t>UPDATE</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SET</a:t>
            </a:r>
            <a:r>
              <a:rPr sz="2600" i="0">
                <a:solidFill>
                  <a:srgbClr val="FFFCF7"/>
                </a:solidFill>
                <a:latin typeface="Roboto Mono"/>
              </a:rPr>
              <a:t> </a:t>
            </a:r>
            <a:r>
              <a:rPr sz="2600" i="0">
                <a:solidFill>
                  <a:srgbClr val="FFFCF7"/>
                </a:solidFill>
                <a:latin typeface="Roboto Mono"/>
              </a:rPr>
              <a:t>score</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12</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grade</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'B'</a:t>
            </a:r>
          </a:p>
          <a:p>
            <a:pPr>
              <a:lnSpc>
                <a:spcPct val="120000"/>
              </a:lnSpc>
              <a:defRPr sz="2600">
                <a:latin typeface="Roboto Mono"/>
              </a:defRPr>
            </a:pPr>
            <a:r>
              <a:rPr sz="2600" i="0">
                <a:solidFill>
                  <a:srgbClr val="FFFCF7"/>
                </a:solidFill>
                <a:latin typeface="Roboto Mono"/>
              </a:rPr>
              <a:t>  </a:t>
            </a:r>
            <a:r>
              <a:rPr sz="2600" i="0">
                <a:solidFill>
                  <a:srgbClr val="EEBC32"/>
                </a:solidFill>
                <a:latin typeface="Roboto Mono"/>
              </a:rPr>
              <a:t>WHERE</a:t>
            </a:r>
            <a:r>
              <a:rPr sz="2600" i="0">
                <a:solidFill>
                  <a:srgbClr val="FFFCF7"/>
                </a:solidFill>
                <a:latin typeface="Roboto Mono"/>
              </a:rPr>
              <a:t> </a:t>
            </a:r>
            <a:r>
              <a:rPr sz="2600" i="0">
                <a:solidFill>
                  <a:srgbClr val="FFFCF7"/>
                </a:solidFill>
                <a:latin typeface="Roboto Mono"/>
              </a:rPr>
              <a:t>inspection_id</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1</a:t>
            </a:r>
            <a:r>
              <a:rPr sz="2600" i="0">
                <a:solidFill>
                  <a:srgbClr val="FFFCF7"/>
                </a:solidFill>
                <a:latin typeface="Roboto Mono"/>
              </a:rPr>
              <a:t>;</a:t>
            </a:r>
          </a:p>
          <a:p>
            <a:pPr>
              <a:lnSpc>
                <a:spcPct val="120000"/>
              </a:lnSpc>
              <a:defRPr sz="2600">
                <a:latin typeface="Roboto Mono"/>
              </a:defRPr>
            </a:pPr>
            <a:r>
              <a:rPr sz="2600" i="0">
                <a:solidFill>
                  <a:srgbClr val="EEBC32"/>
                </a:solidFill>
                <a:latin typeface="Roboto Mono"/>
              </a:rPr>
              <a:t>UPDATE</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SET</a:t>
            </a:r>
            <a:r>
              <a:rPr sz="2600" i="0">
                <a:solidFill>
                  <a:srgbClr val="FFFCF7"/>
                </a:solidFill>
                <a:latin typeface="Roboto Mono"/>
              </a:rPr>
              <a:t> </a:t>
            </a:r>
            <a:r>
              <a:rPr sz="2600" i="0">
                <a:solidFill>
                  <a:srgbClr val="FFFCF7"/>
                </a:solidFill>
                <a:latin typeface="Roboto Mono"/>
              </a:rPr>
              <a:t>score</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7</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grade</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'A'</a:t>
            </a:r>
          </a:p>
          <a:p>
            <a:pPr>
              <a:lnSpc>
                <a:spcPct val="120000"/>
              </a:lnSpc>
              <a:defRPr sz="2600">
                <a:latin typeface="Roboto Mono"/>
              </a:defRPr>
            </a:pPr>
            <a:r>
              <a:rPr sz="2600" i="0">
                <a:solidFill>
                  <a:srgbClr val="FFFCF7"/>
                </a:solidFill>
                <a:latin typeface="Roboto Mono"/>
              </a:rPr>
              <a:t>  </a:t>
            </a:r>
            <a:r>
              <a:rPr sz="2600" i="0">
                <a:solidFill>
                  <a:srgbClr val="EEBC32"/>
                </a:solidFill>
                <a:latin typeface="Roboto Mono"/>
              </a:rPr>
              <a:t>WHERE</a:t>
            </a:r>
            <a:r>
              <a:rPr sz="2600" i="0">
                <a:solidFill>
                  <a:srgbClr val="FFFCF7"/>
                </a:solidFill>
                <a:latin typeface="Roboto Mono"/>
              </a:rPr>
              <a:t> </a:t>
            </a:r>
            <a:r>
              <a:rPr sz="2600" i="0">
                <a:solidFill>
                  <a:srgbClr val="FFFCF7"/>
                </a:solidFill>
                <a:latin typeface="Roboto Mono"/>
              </a:rPr>
              <a:t>inspection_id</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2</a:t>
            </a:r>
            <a:r>
              <a:rPr sz="2600" i="0">
                <a:solidFill>
                  <a:srgbClr val="FFFCF7"/>
                </a:solidFill>
                <a:latin typeface="Roboto Mono"/>
              </a:rPr>
              <a:t>;</a:t>
            </a:r>
          </a:p>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score</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grade</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inspections</a:t>
            </a:r>
          </a:p>
          <a:p>
            <a:pPr>
              <a:lnSpc>
                <a:spcPct val="120000"/>
              </a:lnSpc>
              <a:defRPr sz="2600">
                <a:latin typeface="Roboto Mono"/>
              </a:defRPr>
            </a:pP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inspection_id</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Roboto Mono"/>
              </a:rPr>
              <a:t>= NULL</a:t>
            </a:r>
            <a:r>
              <a:rPr sz="3200" b="1" i="0" u="none">
                <a:solidFill>
                  <a:srgbClr val="261F1D"/>
                </a:solidFill>
                <a:latin typeface="Helvetica"/>
              </a:rPr>
              <a:t> Never Matches - </a:t>
            </a:r>
            <a:r>
              <a:rPr sz="3200" b="1" i="0" u="none">
                <a:solidFill>
                  <a:srgbClr val="264326"/>
                </a:solidFill>
                <a:latin typeface="Helvetica"/>
              </a:rPr>
              <a:t>Not Even a NULL</a:t>
            </a:r>
          </a:p>
        </p:txBody>
      </p:sp>
      <p:sp>
        <p:nvSpPr>
          <p:cNvPr id="4" name="Rounded Rectangle 3"/>
          <p:cNvSpPr/>
          <p:nvPr/>
        </p:nvSpPr>
        <p:spPr>
          <a:xfrm>
            <a:off x="548640" y="1005840"/>
            <a:ext cx="11094415" cy="376682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3007868"/>
          </a:xfrm>
          <a:prstGeom prst="rect">
            <a:avLst/>
          </a:prstGeom>
          <a:noFill/>
        </p:spPr>
        <p:txBody>
          <a:bodyPr wrap="square" lIns="0" rIns="0" tIns="0" bIns="0">
            <a:noAutofit/>
          </a:bodyPr>
          <a:lstStyle/>
          <a:p>
            <a:pPr>
              <a:lnSpc>
                <a:spcPct val="105000"/>
              </a:lnSpc>
              <a:defRPr sz="2600">
                <a:latin typeface="Roboto Mono"/>
              </a:defRPr>
            </a:pPr>
            <a:r>
              <a:rPr sz="2600" i="1">
                <a:solidFill>
                  <a:srgbClr val="B3BBB0"/>
                </a:solidFill>
                <a:latin typeface="Roboto Mono"/>
              </a:rPr>
              <a:t>-- Looks right. Comes back empty.</a:t>
            </a:r>
          </a:p>
          <a:p>
            <a:pPr>
              <a:lnSpc>
                <a:spcPct val="105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inspection_id</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inspections</a:t>
            </a:r>
          </a:p>
          <a:p>
            <a:pPr>
              <a:lnSpc>
                <a:spcPct val="105000"/>
              </a:lnSpc>
              <a:defRPr sz="2600">
                <a:latin typeface="Roboto Mono"/>
              </a:defRPr>
            </a:pPr>
            <a:r>
              <a:rPr sz="2600" i="0">
                <a:solidFill>
                  <a:srgbClr val="EEBC32"/>
                </a:solidFill>
                <a:latin typeface="Roboto Mono"/>
              </a:rPr>
              <a:t>WHERE</a:t>
            </a:r>
            <a:r>
              <a:rPr sz="2600" i="0">
                <a:solidFill>
                  <a:srgbClr val="FFFCF7"/>
                </a:solidFill>
                <a:latin typeface="Roboto Mono"/>
              </a:rPr>
              <a:t> </a:t>
            </a:r>
            <a:r>
              <a:rPr sz="2600" i="0">
                <a:solidFill>
                  <a:srgbClr val="FFFCF7"/>
                </a:solidFill>
                <a:latin typeface="Roboto Mono"/>
              </a:rPr>
              <a:t>grade</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NULL</a:t>
            </a:r>
            <a:r>
              <a:rPr sz="2600" i="0">
                <a:solidFill>
                  <a:srgbClr val="FFFCF7"/>
                </a:solidFill>
                <a:latin typeface="Roboto Mono"/>
              </a:rPr>
              <a:t>;</a:t>
            </a:r>
          </a:p>
          <a:p>
            <a:pPr>
              <a:lnSpc>
                <a:spcPct val="105000"/>
              </a:lnSpc>
              <a:defRPr sz="2600">
                <a:latin typeface="Roboto Mono"/>
              </a:defRPr>
            </a:pPr>
          </a:p>
          <a:p>
            <a:pPr>
              <a:lnSpc>
                <a:spcPct val="105000"/>
              </a:lnSpc>
              <a:defRPr sz="2600">
                <a:latin typeface="Roboto Mono"/>
              </a:defRPr>
            </a:pPr>
            <a:r>
              <a:rPr sz="2600" i="1">
                <a:solidFill>
                  <a:srgbClr val="B3BBB0"/>
                </a:solidFill>
                <a:latin typeface="Roboto Mono"/>
              </a:rPr>
              <a:t>-- The real way to ask the question:</a:t>
            </a:r>
          </a:p>
          <a:p>
            <a:pPr>
              <a:lnSpc>
                <a:spcPct val="105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inspection_id</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inspections</a:t>
            </a:r>
          </a:p>
          <a:p>
            <a:pPr>
              <a:lnSpc>
                <a:spcPct val="105000"/>
              </a:lnSpc>
              <a:defRPr sz="2600">
                <a:latin typeface="Roboto Mono"/>
              </a:defRPr>
            </a:pPr>
            <a:r>
              <a:rPr sz="2600" i="0">
                <a:solidFill>
                  <a:srgbClr val="EEBC32"/>
                </a:solidFill>
                <a:latin typeface="Roboto Mono"/>
              </a:rPr>
              <a:t>WHERE</a:t>
            </a:r>
            <a:r>
              <a:rPr sz="2600" i="0">
                <a:solidFill>
                  <a:srgbClr val="FFFCF7"/>
                </a:solidFill>
                <a:latin typeface="Roboto Mono"/>
              </a:rPr>
              <a:t> </a:t>
            </a:r>
            <a:r>
              <a:rPr sz="2600" i="0">
                <a:solidFill>
                  <a:srgbClr val="FFFCF7"/>
                </a:solidFill>
                <a:latin typeface="Roboto Mono"/>
              </a:rPr>
              <a:t>grade</a:t>
            </a:r>
            <a:r>
              <a:rPr sz="2600" i="0">
                <a:solidFill>
                  <a:srgbClr val="FFFCF7"/>
                </a:solidFill>
                <a:latin typeface="Roboto Mono"/>
              </a:rPr>
              <a:t> </a:t>
            </a:r>
            <a:r>
              <a:rPr sz="2600" i="0">
                <a:solidFill>
                  <a:srgbClr val="EEBC32"/>
                </a:solidFill>
                <a:latin typeface="Roboto Mono"/>
              </a:rPr>
              <a:t>IS</a:t>
            </a:r>
            <a:r>
              <a:rPr sz="2600" i="0">
                <a:solidFill>
                  <a:srgbClr val="FFFCF7"/>
                </a:solidFill>
                <a:latin typeface="Roboto Mono"/>
              </a:rPr>
              <a:t> </a:t>
            </a:r>
            <a:r>
              <a:rPr sz="2600" i="0">
                <a:solidFill>
                  <a:srgbClr val="EEBC32"/>
                </a:solidFill>
                <a:latin typeface="Roboto Mono"/>
              </a:rPr>
              <a:t>NULL</a:t>
            </a:r>
            <a:r>
              <a:rPr sz="2600" i="0">
                <a:solidFill>
                  <a:srgbClr val="FFFCF7"/>
                </a:solidFill>
                <a:latin typeface="Roboto Mono"/>
              </a:rPr>
              <a:t>;</a:t>
            </a:r>
          </a:p>
          <a:p>
            <a:pPr>
              <a:lnSpc>
                <a:spcPct val="105000"/>
              </a:lnSpc>
              <a:defRPr sz="2600">
                <a:latin typeface="Roboto Mono"/>
              </a:defRPr>
            </a:pPr>
          </a:p>
        </p:txBody>
      </p:sp>
      <p:sp>
        <p:nvSpPr>
          <p:cNvPr id="10" name="Rounded Rectangle 9"/>
          <p:cNvSpPr/>
          <p:nvPr/>
        </p:nvSpPr>
        <p:spPr>
          <a:xfrm>
            <a:off x="548640" y="4909820"/>
            <a:ext cx="11094415" cy="14452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09820"/>
            <a:ext cx="10637215" cy="14452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Three people replied "0, can't make it" to the group chat. Two never replied at all. You can't count the silent two as zeros - you genuinely don't know their answer.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COALESCE Picks the Fallback - </a:t>
            </a:r>
            <a:r>
              <a:rPr sz="3200" b="1" i="0" u="none">
                <a:solidFill>
                  <a:srgbClr val="264326"/>
                </a:solidFill>
                <a:latin typeface="Helvetica"/>
              </a:rPr>
              <a:t>You Pick the Meaning</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COALESCE</a:t>
            </a:r>
            <a:r>
              <a:rPr sz="2600" i="0">
                <a:solidFill>
                  <a:srgbClr val="FFFCF7"/>
                </a:solidFill>
                <a:latin typeface="Roboto Mono"/>
              </a:rPr>
              <a:t>(</a:t>
            </a:r>
            <a:r>
              <a:rPr sz="2600" i="0">
                <a:solidFill>
                  <a:srgbClr val="FFFCF7"/>
                </a:solidFill>
                <a:latin typeface="Roboto Mono"/>
              </a:rPr>
              <a:t>score</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0</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as_zero</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EEBC32"/>
                </a:solidFill>
                <a:latin typeface="Roboto Mono"/>
              </a:rPr>
              <a:t>COALESCE</a:t>
            </a:r>
            <a:r>
              <a:rPr sz="2600" i="0">
                <a:solidFill>
                  <a:srgbClr val="FFFCF7"/>
                </a:solidFill>
                <a:latin typeface="Roboto Mono"/>
              </a:rPr>
              <a:t>(</a:t>
            </a:r>
            <a:r>
              <a:rPr sz="2600" i="0">
                <a:solidFill>
                  <a:srgbClr val="FFFCF7"/>
                </a:solidFill>
                <a:latin typeface="Roboto Mono"/>
              </a:rPr>
              <a:t>grade</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'Not graded'</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as_label</a:t>
            </a:r>
          </a:p>
          <a:p>
            <a:pPr>
              <a:lnSpc>
                <a:spcPct val="120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20000"/>
              </a:lnSpc>
              <a:defRPr sz="2600">
                <a:latin typeface="Roboto Mono"/>
              </a:defRPr>
            </a:pP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20000"/>
              </a:lnSpc>
              <a:defRPr sz="2600">
                <a:latin typeface="Roboto Mono"/>
              </a:defRPr>
            </a:pP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inspection_id</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A lower </a:t>
            </a:r>
            <a:r>
              <a:rPr sz="3200" b="1" i="0" u="none">
                <a:solidFill>
                  <a:srgbClr val="261F1D"/>
                </a:solidFill>
                <a:latin typeface="Roboto Mono"/>
              </a:rPr>
              <a:t>score</a:t>
            </a:r>
            <a:r>
              <a:rPr sz="3200" b="1" i="0" u="none">
                <a:solidFill>
                  <a:srgbClr val="261F1D"/>
                </a:solidFill>
                <a:latin typeface="Helvetica"/>
              </a:rPr>
              <a:t> means a cleaner restaurant. Two inspections have no score yet. What does </a:t>
            </a:r>
            <a:r>
              <a:rPr sz="3200" b="1" i="0" u="none">
                <a:solidFill>
                  <a:srgbClr val="261F1D"/>
                </a:solidFill>
                <a:latin typeface="Roboto Mono"/>
              </a:rPr>
              <a:t>COALESCE(score, 0)</a:t>
            </a:r>
            <a:r>
              <a:rPr sz="3200" b="1" i="0" u="none">
                <a:solidFill>
                  <a:srgbClr val="261F1D"/>
                </a:solidFill>
                <a:latin typeface="Helvetica"/>
              </a:rPr>
              <a:t> do to the average?</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Nothing - averages skip it either way</a:t>
            </a:r>
          </a:p>
          <a:p>
            <a:pPr>
              <a:spcAft>
                <a:spcPts val="1000"/>
              </a:spcAft>
            </a:pPr>
            <a:r>
              <a:rPr sz="2600" b="0" i="0" u="none">
                <a:solidFill>
                  <a:srgbClr val="261F1D"/>
                </a:solidFill>
                <a:latin typeface="Helvetica"/>
              </a:rPr>
              <a:t>B.  Pulls it down, so the city looks cleaner</a:t>
            </a:r>
          </a:p>
          <a:p>
            <a:pPr>
              <a:spcAft>
                <a:spcPts val="1000"/>
              </a:spcAft>
            </a:pPr>
            <a:r>
              <a:rPr sz="2600" b="0" i="0" u="none">
                <a:solidFill>
                  <a:srgbClr val="261F1D"/>
                </a:solidFill>
                <a:latin typeface="Helvetica"/>
              </a:rPr>
              <a:t>C.  Pushes it up, so the city looks worse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Filling a Blank With Zero</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Pulls it down, so the city looks cleaner</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The real average of the two scored inspections is 9.50. Fill the two blanks with 0 and it drops to 4.75 - the city's food-safety record looks about twice as good, purely because two inspections have not been typed in yet. </a:t>
            </a:r>
            <a:r>
              <a:rPr sz="2600" b="0" i="0" u="none">
                <a:solidFill>
                  <a:srgbClr val="261F1D"/>
                </a:solidFill>
                <a:latin typeface="Roboto Mono"/>
              </a:rPr>
              <a:t>COALESCE</a:t>
            </a:r>
            <a:r>
              <a:rPr sz="2600" b="0" i="0" u="none">
                <a:solidFill>
                  <a:srgbClr val="261F1D"/>
                </a:solidFill>
                <a:latin typeface="Helvetica"/>
              </a:rPr>
              <a:t> never warns you about this. Choosing a fallback is a claim about what the missing data means, and here </a:t>
            </a:r>
            <a:r>
              <a:rPr sz="2600" b="0" i="0" u="none">
                <a:solidFill>
                  <a:srgbClr val="261F1D"/>
                </a:solidFill>
                <a:latin typeface="Roboto Mono"/>
              </a:rPr>
              <a:t>0</a:t>
            </a:r>
            <a:r>
              <a:rPr sz="2600" b="0" i="0" u="none">
                <a:solidFill>
                  <a:srgbClr val="261F1D"/>
                </a:solidFill>
                <a:latin typeface="Helvetica"/>
              </a:rPr>
              <a:t> claims a perfect inspection nobody performed.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Filling In What's Missing</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Storing an Answer Instead of Recomputing It</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Three tables joined and grouped on every page load is real work - unless you save the result.</a:t>
            </a:r>
          </a:p>
        </p:txBody>
      </p:sp>
      <p:pic>
        <p:nvPicPr>
          <p:cNvPr id="6" name="Picture 5" descr=""/>
          <p:cNvPicPr>
            <a:picLocks noChangeAspect="1"/>
          </p:cNvPicPr>
          <p:nvPr/>
        </p:nvPicPr>
        <p:blipFill>
          <a:blip r:embed="rId3"/>
          <a:stretch>
            <a:fillRect/>
          </a:stretch>
        </p:blipFill>
        <p:spPr>
          <a:xfrm>
            <a:off x="3093644" y="4937760"/>
            <a:ext cx="457200" cy="457200"/>
          </a:xfrm>
          <a:prstGeom prst="rect">
            <a:avLst/>
          </a:prstGeom>
        </p:spPr>
      </p:pic>
      <p:sp>
        <p:nvSpPr>
          <p:cNvPr id="7" name="TextBox 6"/>
          <p:cNvSpPr txBox="1"/>
          <p:nvPr/>
        </p:nvSpPr>
        <p:spPr>
          <a:xfrm>
            <a:off x="685800"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Create the view</a:t>
            </a:r>
          </a:p>
        </p:txBody>
      </p:sp>
      <p:pic>
        <p:nvPicPr>
          <p:cNvPr id="8" name="Picture 7" descr=""/>
          <p:cNvPicPr>
            <a:picLocks noChangeAspect="1"/>
          </p:cNvPicPr>
          <p:nvPr/>
        </p:nvPicPr>
        <p:blipFill>
          <a:blip r:embed="rId4"/>
          <a:stretch>
            <a:fillRect/>
          </a:stretch>
        </p:blipFill>
        <p:spPr>
          <a:xfrm>
            <a:off x="8640851" y="4937760"/>
            <a:ext cx="457200" cy="457200"/>
          </a:xfrm>
          <a:prstGeom prst="rect">
            <a:avLst/>
          </a:prstGeom>
        </p:spPr>
      </p:pic>
      <p:sp>
        <p:nvSpPr>
          <p:cNvPr id="9" name="TextBox 8"/>
          <p:cNvSpPr txBox="1"/>
          <p:nvPr/>
        </p:nvSpPr>
        <p:spPr>
          <a:xfrm>
            <a:off x="6233008"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Watch it go stale</a:t>
            </a:r>
          </a:p>
        </p:txBody>
      </p:sp>
      <p:cxnSp>
        <p:nvCxnSpPr>
          <p:cNvPr id="10" name="Connector 9"/>
          <p:cNvCxnSpPr/>
          <p:nvPr/>
        </p:nvCxnSpPr>
        <p:spPr>
          <a:xfrm>
            <a:off x="609584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A View Re-Runs; a </a:t>
            </a:r>
            <a:r>
              <a:rPr sz="3200" b="1" i="0" u="none">
                <a:solidFill>
                  <a:srgbClr val="264326"/>
                </a:solidFill>
                <a:latin typeface="Helvetica"/>
              </a:rPr>
              <a:t>Materialized</a:t>
            </a:r>
            <a:r>
              <a:rPr sz="3200" b="1" i="0" u="none">
                <a:solidFill>
                  <a:srgbClr val="261F1D"/>
                </a:solidFill>
                <a:latin typeface="Helvetica"/>
              </a:rPr>
              <a:t> View Remembers</a:t>
            </a:r>
          </a:p>
        </p:txBody>
      </p:sp>
      <p:sp>
        <p:nvSpPr>
          <p:cNvPr id="4" name="Rectangle 3"/>
          <p:cNvSpPr/>
          <p:nvPr/>
        </p:nvSpPr>
        <p:spPr>
          <a:xfrm>
            <a:off x="548640" y="1188720"/>
            <a:ext cx="5410048" cy="3611880"/>
          </a:xfrm>
          <a:prstGeom prst="rect">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777240" y="1371600"/>
            <a:ext cx="457200" cy="457200"/>
          </a:xfrm>
          <a:prstGeom prst="rect">
            <a:avLst/>
          </a:prstGeom>
        </p:spPr>
      </p:pic>
      <p:sp>
        <p:nvSpPr>
          <p:cNvPr id="6" name="TextBox 5"/>
          <p:cNvSpPr txBox="1"/>
          <p:nvPr/>
        </p:nvSpPr>
        <p:spPr>
          <a:xfrm>
            <a:off x="1371600"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VIEW</a:t>
            </a:r>
          </a:p>
        </p:txBody>
      </p:sp>
      <p:sp>
        <p:nvSpPr>
          <p:cNvPr id="7" name="TextBox 6"/>
          <p:cNvSpPr txBox="1"/>
          <p:nvPr/>
        </p:nvSpPr>
        <p:spPr>
          <a:xfrm>
            <a:off x="777240"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Stores only the query text</a:t>
            </a:r>
          </a:p>
          <a:p>
            <a:pPr>
              <a:spcAft>
                <a:spcPts val="1000"/>
              </a:spcAft>
            </a:pPr>
            <a:r>
              <a:rPr sz="2600">
                <a:solidFill>
                  <a:srgbClr val="261F1D"/>
                </a:solidFill>
                <a:latin typeface="Helvetica"/>
              </a:rPr>
              <a:t>•  </a:t>
            </a:r>
            <a:r>
              <a:rPr sz="2600" b="0" i="0" u="none">
                <a:solidFill>
                  <a:srgbClr val="261F1D"/>
                </a:solidFill>
                <a:latin typeface="Helvetica"/>
              </a:rPr>
              <a:t>Re-runs on every SELECT</a:t>
            </a:r>
          </a:p>
          <a:p>
            <a:pPr>
              <a:spcAft>
                <a:spcPts val="1000"/>
              </a:spcAft>
            </a:pPr>
            <a:r>
              <a:rPr sz="2600">
                <a:solidFill>
                  <a:srgbClr val="261F1D"/>
                </a:solidFill>
                <a:latin typeface="Helvetica"/>
              </a:rPr>
              <a:t>•  </a:t>
            </a:r>
            <a:r>
              <a:rPr sz="2600" b="0" i="0" u="none">
                <a:solidFill>
                  <a:srgbClr val="261F1D"/>
                </a:solidFill>
                <a:latin typeface="Helvetica"/>
              </a:rPr>
              <a:t>Always current, always costs</a:t>
            </a:r>
          </a:p>
        </p:txBody>
      </p:sp>
      <p:sp>
        <p:nvSpPr>
          <p:cNvPr id="8" name="Rectangle 7"/>
          <p:cNvSpPr/>
          <p:nvPr/>
        </p:nvSpPr>
        <p:spPr>
          <a:xfrm>
            <a:off x="6233008" y="1188720"/>
            <a:ext cx="5410048" cy="361188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
          <p:cNvPicPr>
            <a:picLocks noChangeAspect="1"/>
          </p:cNvPicPr>
          <p:nvPr/>
        </p:nvPicPr>
        <p:blipFill>
          <a:blip r:embed="rId4"/>
          <a:stretch>
            <a:fillRect/>
          </a:stretch>
        </p:blipFill>
        <p:spPr>
          <a:xfrm>
            <a:off x="6461608" y="1371600"/>
            <a:ext cx="457200" cy="457200"/>
          </a:xfrm>
          <a:prstGeom prst="rect">
            <a:avLst/>
          </a:prstGeom>
        </p:spPr>
      </p:pic>
      <p:sp>
        <p:nvSpPr>
          <p:cNvPr id="10" name="TextBox 9"/>
          <p:cNvSpPr txBox="1"/>
          <p:nvPr/>
        </p:nvSpPr>
        <p:spPr>
          <a:xfrm>
            <a:off x="7055968"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MATERIALIZED VIEW</a:t>
            </a:r>
          </a:p>
        </p:txBody>
      </p:sp>
      <p:sp>
        <p:nvSpPr>
          <p:cNvPr id="11" name="TextBox 10"/>
          <p:cNvSpPr txBox="1"/>
          <p:nvPr/>
        </p:nvSpPr>
        <p:spPr>
          <a:xfrm>
            <a:off x="6461608"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Stores the actual result rows</a:t>
            </a:r>
          </a:p>
          <a:p>
            <a:pPr>
              <a:spcAft>
                <a:spcPts val="1000"/>
              </a:spcAft>
            </a:pPr>
            <a:r>
              <a:rPr sz="2600">
                <a:solidFill>
                  <a:srgbClr val="261F1D"/>
                </a:solidFill>
                <a:latin typeface="Helvetica"/>
              </a:rPr>
              <a:t>•  </a:t>
            </a:r>
            <a:r>
              <a:rPr sz="2600" b="0" i="0" u="none">
                <a:solidFill>
                  <a:srgbClr val="261F1D"/>
                </a:solidFill>
                <a:latin typeface="Helvetica"/>
              </a:rPr>
              <a:t>Reads them straight back</a:t>
            </a:r>
          </a:p>
          <a:p>
            <a:pPr>
              <a:spcAft>
                <a:spcPts val="1000"/>
              </a:spcAft>
            </a:pPr>
            <a:r>
              <a:rPr sz="2600">
                <a:solidFill>
                  <a:srgbClr val="261F1D"/>
                </a:solidFill>
                <a:latin typeface="Helvetica"/>
              </a:rPr>
              <a:t>•  </a:t>
            </a:r>
            <a:r>
              <a:rPr sz="2600" b="0" i="0" u="none">
                <a:solidFill>
                  <a:srgbClr val="261F1D"/>
                </a:solidFill>
                <a:latin typeface="Helvetica"/>
              </a:rPr>
              <a:t>Stale until you REFRESH</a:t>
            </a:r>
          </a:p>
        </p:txBody>
      </p:sp>
      <p:cxnSp>
        <p:nvCxnSpPr>
          <p:cNvPr id="12" name="Connector 11"/>
          <p:cNvCxnSpPr/>
          <p:nvPr/>
        </p:nvCxnSpPr>
        <p:spPr>
          <a:xfrm>
            <a:off x="6095848" y="1188720"/>
            <a:ext cx="0" cy="3611880"/>
          </a:xfrm>
          <a:prstGeom prst="line">
            <a:avLst/>
          </a:prstGeom>
          <a:ln w="19050">
            <a:solidFill>
              <a:srgbClr val="E1E3E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983480"/>
            <a:ext cx="2926080" cy="411480"/>
          </a:xfrm>
          <a:prstGeom prst="rect">
            <a:avLst/>
          </a:prstGeom>
          <a:noFill/>
        </p:spPr>
        <p:txBody>
          <a:bodyPr wrap="square" anchor="t" lIns="0" rIns="0" tIns="0" bIns="0">
            <a:noAutofit/>
          </a:bodyPr>
          <a:lstStyle/>
          <a:p>
            <a:pPr algn="l"/>
            <a:r>
              <a:rPr sz="2600" b="1" i="0" u="none">
                <a:solidFill>
                  <a:srgbClr val="327A5F"/>
                </a:solidFill>
                <a:latin typeface="Helvetica"/>
              </a:rPr>
              <a:t>IN COMMON:</a:t>
            </a:r>
          </a:p>
        </p:txBody>
      </p:sp>
      <p:sp>
        <p:nvSpPr>
          <p:cNvPr id="14" name="TextBox 13"/>
          <p:cNvSpPr txBox="1"/>
          <p:nvPr/>
        </p:nvSpPr>
        <p:spPr>
          <a:xfrm>
            <a:off x="548640" y="5440680"/>
            <a:ext cx="11094415" cy="914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Both look like a table</a:t>
            </a:r>
          </a:p>
          <a:p>
            <a:pPr>
              <a:spcAft>
                <a:spcPts val="1000"/>
              </a:spcAft>
            </a:pPr>
            <a:r>
              <a:rPr sz="2600">
                <a:solidFill>
                  <a:srgbClr val="261F1D"/>
                </a:solidFill>
                <a:latin typeface="Helvetica"/>
              </a:rPr>
              <a:t>•  </a:t>
            </a:r>
            <a:r>
              <a:rPr sz="2600" b="0" i="0" u="none">
                <a:solidFill>
                  <a:srgbClr val="261F1D"/>
                </a:solidFill>
                <a:latin typeface="Helvetica"/>
              </a:rPr>
              <a:t>Both written once, reused often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Two Kinds of Saved Query</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Building the Materialized One</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The query we are about to store is one you have already written three times - only where its answer lives changes.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One Command Turns a Query Into </a:t>
            </a:r>
            <a:r>
              <a:rPr sz="3200" b="1" i="0" u="none">
                <a:solidFill>
                  <a:srgbClr val="264326"/>
                </a:solidFill>
                <a:latin typeface="Helvetica"/>
              </a:rPr>
              <a:t>Stored Rows</a:t>
            </a:r>
          </a:p>
        </p:txBody>
      </p:sp>
      <p:sp>
        <p:nvSpPr>
          <p:cNvPr id="4" name="Rounded Rectangle 3"/>
          <p:cNvSpPr/>
          <p:nvPr/>
        </p:nvSpPr>
        <p:spPr>
          <a:xfrm>
            <a:off x="548640" y="1005840"/>
            <a:ext cx="11094415" cy="376682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300786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CREATE</a:t>
            </a:r>
            <a:r>
              <a:rPr sz="2600" i="0">
                <a:solidFill>
                  <a:srgbClr val="FFFCF7"/>
                </a:solidFill>
                <a:latin typeface="Roboto Mono"/>
              </a:rPr>
              <a:t> </a:t>
            </a:r>
            <a:r>
              <a:rPr sz="2600" i="0">
                <a:solidFill>
                  <a:srgbClr val="FFFCF7"/>
                </a:solidFill>
                <a:latin typeface="Roboto Mono"/>
              </a:rPr>
              <a:t>MATERIALIZED</a:t>
            </a:r>
            <a:r>
              <a:rPr sz="2600" i="0">
                <a:solidFill>
                  <a:srgbClr val="FFFCF7"/>
                </a:solidFill>
                <a:latin typeface="Roboto Mono"/>
              </a:rPr>
              <a:t> </a:t>
            </a:r>
            <a:r>
              <a:rPr sz="2600" i="0">
                <a:solidFill>
                  <a:srgbClr val="EEBC32"/>
                </a:solidFill>
                <a:latin typeface="Roboto Mono"/>
              </a:rPr>
              <a:t>VIEW</a:t>
            </a:r>
            <a:r>
              <a:rPr sz="2600" i="0">
                <a:solidFill>
                  <a:srgbClr val="FFFCF7"/>
                </a:solidFill>
                <a:latin typeface="Roboto Mono"/>
              </a:rPr>
              <a:t> </a:t>
            </a:r>
            <a:r>
              <a:rPr sz="2600" i="0">
                <a:solidFill>
                  <a:srgbClr val="FFFCF7"/>
                </a:solidFill>
                <a:latin typeface="Roboto Mono"/>
              </a:rPr>
              <a:t>restaurant_totals</a:t>
            </a:r>
            <a:r>
              <a:rPr sz="2600" i="0">
                <a:solidFill>
                  <a:srgbClr val="FFFCF7"/>
                </a:solidFill>
                <a:latin typeface="Roboto Mono"/>
              </a:rPr>
              <a:t> </a:t>
            </a:r>
            <a:r>
              <a:rPr sz="2600" i="0">
                <a:solidFill>
                  <a:srgbClr val="EEBC32"/>
                </a:solidFill>
                <a:latin typeface="Roboto Mono"/>
              </a:rPr>
              <a:t>AS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tv</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a:t>
            </a:r>
          </a:p>
          <a:p>
            <a:pPr>
              <a:lnSpc>
                <a:spcPct val="105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restaurant_totals</a:t>
            </a:r>
            <a:r>
              <a:rPr sz="2600" i="0">
                <a:solidFill>
                  <a:srgbClr val="FFFCF7"/>
                </a:solidFill>
                <a:latin typeface="Roboto Mono"/>
              </a:rPr>
              <a:t> </a:t>
            </a: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 </a:t>
            </a:r>
            <a:r>
              <a:rPr sz="2600" i="0">
                <a:solidFill>
                  <a:srgbClr val="EEBC32"/>
                </a:solidFill>
                <a:latin typeface="Roboto Mono"/>
              </a:rPr>
              <a:t>DESC</a:t>
            </a:r>
            <a:r>
              <a:rPr sz="2600" i="0">
                <a:solidFill>
                  <a:srgbClr val="FFFCF7"/>
                </a:solidFill>
                <a:latin typeface="Roboto Mono"/>
              </a:rPr>
              <a:t>;</a:t>
            </a:r>
          </a:p>
          <a:p>
            <a:pPr>
              <a:lnSpc>
                <a:spcPct val="105000"/>
              </a:lnSpc>
              <a:defRPr sz="2600">
                <a:latin typeface="Roboto Mono"/>
              </a:defRPr>
            </a:pPr>
          </a:p>
        </p:txBody>
      </p:sp>
      <p:sp>
        <p:nvSpPr>
          <p:cNvPr id="10" name="Rounded Rectangle 9"/>
          <p:cNvSpPr/>
          <p:nvPr/>
        </p:nvSpPr>
        <p:spPr>
          <a:xfrm>
            <a:off x="548640" y="4909820"/>
            <a:ext cx="11094415" cy="14452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09820"/>
            <a:ext cx="10637215" cy="14452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screenshot of a live leaderboard opens instantly, but it froze the moment you took it. The live page is always current - it just has to be rebuilt every time you open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New Data Lands. The View </a:t>
            </a:r>
            <a:r>
              <a:rPr sz="3200" b="1" i="0" u="none">
                <a:solidFill>
                  <a:srgbClr val="264326"/>
                </a:solidFill>
                <a:latin typeface="Helvetica"/>
              </a:rPr>
              <a:t>Doesn't Move</a:t>
            </a:r>
            <a:r>
              <a:rPr sz="3200" b="1" i="0" u="none">
                <a:solidFill>
                  <a:srgbClr val="261F1D"/>
                </a:solidFill>
                <a:latin typeface="Helvetica"/>
              </a:rPr>
              <a:t>.</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INSERT</a:t>
            </a:r>
            <a:r>
              <a:rPr sz="2600" i="0">
                <a:solidFill>
                  <a:srgbClr val="FFFCF7"/>
                </a:solidFill>
                <a:latin typeface="Roboto Mono"/>
              </a:rPr>
              <a:t> </a:t>
            </a:r>
            <a:r>
              <a:rPr sz="2600" i="0">
                <a:solidFill>
                  <a:srgbClr val="EEBC32"/>
                </a:solidFill>
                <a:latin typeface="Roboto Mono"/>
              </a:rPr>
              <a:t>INTO</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EEBC32"/>
                </a:solidFill>
                <a:latin typeface="Roboto Mono"/>
              </a:rPr>
              <a:t>VALUES</a:t>
            </a:r>
          </a:p>
          <a:p>
            <a:pPr>
              <a:lnSpc>
                <a:spcPct val="120000"/>
              </a:lnSpc>
              <a:defRPr sz="2600">
                <a:latin typeface="Roboto Mono"/>
              </a:defRPr>
            </a:pPr>
            <a:r>
              <a:rPr sz="2600" i="0">
                <a:solidFill>
                  <a:srgbClr val="FFFCF7"/>
                </a:solidFill>
                <a:latin typeface="Roboto Mono"/>
              </a:rPr>
              <a:t>  </a:t>
            </a:r>
            <a:r>
              <a:rPr sz="2600" i="0">
                <a:solidFill>
                  <a:srgbClr val="FFFCF7"/>
                </a:solidFill>
                <a:latin typeface="Roboto Mono"/>
              </a:rPr>
              <a:t>(</a:t>
            </a:r>
            <a:r>
              <a:rPr sz="2600" i="0">
                <a:solidFill>
                  <a:srgbClr val="659B87"/>
                </a:solidFill>
                <a:latin typeface="Roboto Mono"/>
              </a:rPr>
              <a:t>5</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4</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'06D'</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'Food surface not clean'</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r>
              <a:rPr sz="2600" i="1">
                <a:solidFill>
                  <a:srgbClr val="B3BBB0"/>
                </a:solidFill>
                <a:latin typeface="Roboto Mono"/>
              </a:rPr>
              <a:t>-- Still says 3</a:t>
            </a:r>
          </a:p>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restaurant_totals</a:t>
            </a:r>
          </a:p>
          <a:p>
            <a:pPr>
              <a:lnSpc>
                <a:spcPct val="120000"/>
              </a:lnSpc>
              <a:defRPr sz="2600">
                <a:latin typeface="Roboto Mono"/>
              </a:defRPr>
            </a:pPr>
            <a:r>
              <a:rPr sz="2600" i="0">
                <a:solidFill>
                  <a:srgbClr val="EEBC32"/>
                </a:solidFill>
                <a:latin typeface="Roboto Mono"/>
              </a:rPr>
              <a:t>WHERE</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'Corner Bistro'</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REFRESH</a:t>
            </a:r>
            <a:r>
              <a:rPr sz="2600" i="0">
                <a:solidFill>
                  <a:srgbClr val="FFFCF7"/>
                </a:solidFill>
                <a:latin typeface="Roboto Mono"/>
              </a:rPr>
              <a:t> </a:t>
            </a:r>
            <a:r>
              <a:rPr sz="2600" i="0">
                <a:solidFill>
                  <a:srgbClr val="FFFCF7"/>
                </a:solidFill>
                <a:latin typeface="Roboto Mono"/>
              </a:rPr>
              <a:t>MATERIALIZED</a:t>
            </a:r>
            <a:r>
              <a:rPr sz="2600" i="0">
                <a:solidFill>
                  <a:srgbClr val="FFFCF7"/>
                </a:solidFill>
                <a:latin typeface="Roboto Mono"/>
              </a:rPr>
              <a:t> </a:t>
            </a:r>
            <a:r>
              <a:rPr sz="2600" i="0">
                <a:solidFill>
                  <a:srgbClr val="EEBC32"/>
                </a:solidFill>
                <a:latin typeface="Roboto Mono"/>
              </a:rPr>
              <a:t>VIEW</a:t>
            </a:r>
            <a:r>
              <a:rPr sz="2600" i="0">
                <a:solidFill>
                  <a:srgbClr val="FFFCF7"/>
                </a:solidFill>
                <a:latin typeface="Roboto Mono"/>
              </a:rPr>
              <a:t> </a:t>
            </a:r>
            <a:r>
              <a:rPr sz="2600" i="0">
                <a:solidFill>
                  <a:srgbClr val="FFFCF7"/>
                </a:solidFill>
                <a:latin typeface="Roboto Mono"/>
              </a:rPr>
              <a:t>restaurant_totals</a:t>
            </a:r>
            <a:r>
              <a:rPr sz="2600" i="0">
                <a:solidFill>
                  <a:srgbClr val="FFFCF7"/>
                </a:solidFill>
                <a:latin typeface="Roboto Mono"/>
              </a:rPr>
              <a:t>;</a:t>
            </a:r>
          </a:p>
          <a:p>
            <a:pPr>
              <a:lnSpc>
                <a:spcPct val="120000"/>
              </a:lnSpc>
              <a:defRPr sz="2600">
                <a:latin typeface="Roboto Mono"/>
              </a:defRPr>
            </a:pPr>
            <a:r>
              <a:rPr sz="2600" i="1">
                <a:solidFill>
                  <a:srgbClr val="B3BBB0"/>
                </a:solidFill>
                <a:latin typeface="Roboto Mono"/>
              </a:rPr>
              <a:t>-- Now says 4</a:t>
            </a:r>
          </a:p>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tv</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restaurant_totals</a:t>
            </a:r>
          </a:p>
          <a:p>
            <a:pPr>
              <a:lnSpc>
                <a:spcPct val="120000"/>
              </a:lnSpc>
              <a:defRPr sz="2600">
                <a:latin typeface="Roboto Mono"/>
              </a:defRPr>
            </a:pPr>
            <a:r>
              <a:rPr sz="2600" i="0">
                <a:solidFill>
                  <a:srgbClr val="EEBC32"/>
                </a:solidFill>
                <a:latin typeface="Roboto Mono"/>
              </a:rPr>
              <a:t>WHERE</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'Corner Bistro'</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Quick-fire: Your dashboard's view refreshes nightly at 2am. A violation is logged at 9am. What does the 10am dashboard show?</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The new violation, immediately</a:t>
            </a:r>
          </a:p>
          <a:p>
            <a:pPr>
              <a:spcAft>
                <a:spcPts val="1000"/>
              </a:spcAft>
            </a:pPr>
            <a:r>
              <a:rPr sz="2600" b="0" i="0" u="none">
                <a:solidFill>
                  <a:srgbClr val="261F1D"/>
                </a:solidFill>
                <a:latin typeface="Helvetica"/>
              </a:rPr>
              <a:t>B.  Last night's numbers, until tomorrow</a:t>
            </a:r>
          </a:p>
          <a:p>
            <a:pPr>
              <a:spcAft>
                <a:spcPts val="1000"/>
              </a:spcAft>
            </a:pPr>
            <a:r>
              <a:rPr sz="2600" b="0" i="0" u="none">
                <a:solidFill>
                  <a:srgbClr val="261F1D"/>
                </a:solidFill>
                <a:latin typeface="Helvetica"/>
              </a:rPr>
              <a:t>C.  An error, because the view is out of date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How Stale Is Too Stale?</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Last night's numbers, until tomorrow</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The view reports whatever it stored at its last refresh, and nothing in between changes that. So the 10am dashboard is showing a picture of the database as it looked at 2am - correct as of then, quietly wrong now. That gap is not a bug; it is the trade you agreed to when you chose a materialized view, and it is the thing to state plainly to whoever reads the dashboard.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Storing the Answer</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Asking Postgres What a Query Actually Costs</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We just traded freshness for speed - without ever measuring the speed we were buying.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A Query Plan Is Postgres </a:t>
            </a:r>
            <a:r>
              <a:rPr sz="3200" b="1" i="0" u="none">
                <a:solidFill>
                  <a:srgbClr val="264326"/>
                </a:solidFill>
                <a:latin typeface="Helvetica"/>
              </a:rPr>
              <a:t>Showing Its Work</a:t>
            </a:r>
          </a:p>
        </p:txBody>
      </p:sp>
      <p:sp>
        <p:nvSpPr>
          <p:cNvPr id="4" name="Rounded Rectangle 3"/>
          <p:cNvSpPr/>
          <p:nvPr/>
        </p:nvSpPr>
        <p:spPr>
          <a:xfrm>
            <a:off x="548640" y="167767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1906270"/>
            <a:ext cx="548640" cy="548640"/>
          </a:xfrm>
          <a:prstGeom prst="rect">
            <a:avLst/>
          </a:prstGeom>
        </p:spPr>
      </p:pic>
      <p:sp>
        <p:nvSpPr>
          <p:cNvPr id="6" name="TextBox 5"/>
          <p:cNvSpPr txBox="1"/>
          <p:nvPr/>
        </p:nvSpPr>
        <p:spPr>
          <a:xfrm>
            <a:off x="685800" y="263779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Seq Scan reads every row</a:t>
            </a:r>
          </a:p>
        </p:txBody>
      </p:sp>
      <p:sp>
        <p:nvSpPr>
          <p:cNvPr id="7" name="Rounded Rectangle 6"/>
          <p:cNvSpPr/>
          <p:nvPr/>
        </p:nvSpPr>
        <p:spPr>
          <a:xfrm>
            <a:off x="4322978" y="167767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1906270"/>
            <a:ext cx="548640" cy="548640"/>
          </a:xfrm>
          <a:prstGeom prst="rect">
            <a:avLst/>
          </a:prstGeom>
        </p:spPr>
      </p:pic>
      <p:sp>
        <p:nvSpPr>
          <p:cNvPr id="9" name="TextBox 8"/>
          <p:cNvSpPr txBox="1"/>
          <p:nvPr/>
        </p:nvSpPr>
        <p:spPr>
          <a:xfrm>
            <a:off x="4460138" y="263779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Guessed rows next to real rows</a:t>
            </a:r>
          </a:p>
        </p:txBody>
      </p:sp>
      <p:sp>
        <p:nvSpPr>
          <p:cNvPr id="10" name="Rounded Rectangle 9"/>
          <p:cNvSpPr/>
          <p:nvPr/>
        </p:nvSpPr>
        <p:spPr>
          <a:xfrm>
            <a:off x="8097317" y="167767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1906270"/>
            <a:ext cx="548640" cy="548640"/>
          </a:xfrm>
          <a:prstGeom prst="rect">
            <a:avLst/>
          </a:prstGeom>
        </p:spPr>
      </p:pic>
      <p:sp>
        <p:nvSpPr>
          <p:cNvPr id="12" name="TextBox 11"/>
          <p:cNvSpPr txBox="1"/>
          <p:nvPr/>
        </p:nvSpPr>
        <p:spPr>
          <a:xfrm>
            <a:off x="8234477" y="263779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Execution time, actually measured</a:t>
            </a:r>
          </a:p>
        </p:txBody>
      </p:sp>
      <p:sp>
        <p:nvSpPr>
          <p:cNvPr id="13" name="Rounded Rectangle 12"/>
          <p:cNvSpPr/>
          <p:nvPr/>
        </p:nvSpPr>
        <p:spPr>
          <a:xfrm>
            <a:off x="548640" y="4909820"/>
            <a:ext cx="11094415" cy="14452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909820"/>
            <a:ext cx="10637215" cy="14452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maps app shows the route it picked and a guessed arrival time. </a:t>
            </a:r>
            <a:r>
              <a:rPr sz="2600" b="0" i="0" u="none">
                <a:solidFill>
                  <a:srgbClr val="261F1D"/>
                </a:solidFill>
                <a:latin typeface="Roboto Mono"/>
              </a:rPr>
              <a:t>EXPLAIN ANALYZE</a:t>
            </a:r>
            <a:r>
              <a:rPr sz="2600" b="0" i="0" u="none">
                <a:solidFill>
                  <a:srgbClr val="261F1D"/>
                </a:solidFill>
                <a:latin typeface="Helvetica"/>
              </a:rPr>
              <a:t> shows the route plus the real time on the clock once you actually drove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What a Plan Shows You</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Reading Two Real Plans</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Start with a query small enough that its whole plan fits on one screen, then look at what the view changed.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Two Real Plans: </a:t>
            </a:r>
            <a:r>
              <a:rPr sz="3200" b="1" i="0" u="none">
                <a:solidFill>
                  <a:srgbClr val="264326"/>
                </a:solidFill>
                <a:latin typeface="Helvetica"/>
              </a:rPr>
              <a:t>Five Lines, Then Three</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1">
                <a:solidFill>
                  <a:srgbClr val="B3BBB0"/>
                </a:solidFill>
                <a:latin typeface="Roboto Mono"/>
              </a:rPr>
              <a:t>-- Start small: one table, one filter</a:t>
            </a:r>
          </a:p>
          <a:p>
            <a:pPr>
              <a:lnSpc>
                <a:spcPct val="120000"/>
              </a:lnSpc>
              <a:defRPr sz="2600">
                <a:latin typeface="Roboto Mono"/>
              </a:defRPr>
            </a:pPr>
            <a:r>
              <a:rPr sz="2600" i="0">
                <a:solidFill>
                  <a:srgbClr val="EEBC32"/>
                </a:solidFill>
                <a:latin typeface="Roboto Mono"/>
              </a:rPr>
              <a:t>EXPLAIN</a:t>
            </a:r>
            <a:r>
              <a:rPr sz="2600" i="0">
                <a:solidFill>
                  <a:srgbClr val="FFFCF7"/>
                </a:solidFill>
                <a:latin typeface="Roboto Mono"/>
              </a:rPr>
              <a:t> </a:t>
            </a:r>
            <a:r>
              <a:rPr sz="2600" i="0">
                <a:solidFill>
                  <a:srgbClr val="EEBC32"/>
                </a:solidFill>
                <a:latin typeface="Roboto Mono"/>
              </a:rPr>
              <a:t>ANALYZE</a:t>
            </a:r>
          </a:p>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20000"/>
              </a:lnSpc>
              <a:defRPr sz="2600">
                <a:latin typeface="Roboto Mono"/>
              </a:defRPr>
            </a:pPr>
            <a:r>
              <a:rPr sz="2600" i="0">
                <a:solidFill>
                  <a:srgbClr val="EEBC32"/>
                </a:solidFill>
                <a:latin typeface="Roboto Mono"/>
              </a:rPr>
              <a:t>WHERE</a:t>
            </a:r>
            <a:r>
              <a:rPr sz="2600" i="0">
                <a:solidFill>
                  <a:srgbClr val="FFFCF7"/>
                </a:solidFill>
                <a:latin typeface="Roboto Mono"/>
              </a:rPr>
              <a:t> </a:t>
            </a:r>
            <a:r>
              <a:rPr sz="2600" i="0">
                <a:solidFill>
                  <a:srgbClr val="FFFCF7"/>
                </a:solidFill>
                <a:latin typeface="Roboto Mono"/>
              </a:rPr>
              <a:t>boro</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'Brooklyn'</a:t>
            </a:r>
            <a:r>
              <a:rPr sz="2600" i="0">
                <a:solidFill>
                  <a:srgbClr val="FFFCF7"/>
                </a:solidFill>
                <a:latin typeface="Roboto Mono"/>
              </a:rPr>
              <a:t>;</a:t>
            </a:r>
          </a:p>
          <a:p>
            <a:pPr>
              <a:lnSpc>
                <a:spcPct val="120000"/>
              </a:lnSpc>
              <a:defRPr sz="2600">
                <a:latin typeface="Roboto Mono"/>
              </a:defRPr>
            </a:pPr>
          </a:p>
          <a:p>
            <a:pPr>
              <a:lnSpc>
                <a:spcPct val="120000"/>
              </a:lnSpc>
              <a:defRPr sz="2600">
                <a:latin typeface="Roboto Mono"/>
              </a:defRPr>
            </a:pPr>
            <a:r>
              <a:rPr sz="2600" i="1">
                <a:solidFill>
                  <a:srgbClr val="B3BBB0"/>
                </a:solidFill>
                <a:latin typeface="Roboto Mono"/>
              </a:rPr>
              <a:t>-- Now the view we built a moment ago</a:t>
            </a:r>
          </a:p>
          <a:p>
            <a:pPr>
              <a:lnSpc>
                <a:spcPct val="120000"/>
              </a:lnSpc>
              <a:defRPr sz="2600">
                <a:latin typeface="Roboto Mono"/>
              </a:defRPr>
            </a:pPr>
            <a:r>
              <a:rPr sz="2600" i="0">
                <a:solidFill>
                  <a:srgbClr val="EEBC32"/>
                </a:solidFill>
                <a:latin typeface="Roboto Mono"/>
              </a:rPr>
              <a:t>EXPLAIN</a:t>
            </a:r>
            <a:r>
              <a:rPr sz="2600" i="0">
                <a:solidFill>
                  <a:srgbClr val="FFFCF7"/>
                </a:solidFill>
                <a:latin typeface="Roboto Mono"/>
              </a:rPr>
              <a:t> </a:t>
            </a:r>
            <a:r>
              <a:rPr sz="2600" i="0">
                <a:solidFill>
                  <a:srgbClr val="EEBC32"/>
                </a:solidFill>
                <a:latin typeface="Roboto Mono"/>
              </a:rPr>
              <a:t>ANALYZE</a:t>
            </a: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restaurant_totals</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Every Plan Line </a:t>
            </a:r>
            <a:r>
              <a:rPr sz="3200" b="1" i="0" u="none">
                <a:solidFill>
                  <a:srgbClr val="264326"/>
                </a:solidFill>
                <a:latin typeface="Helvetica"/>
              </a:rPr>
              <a:t>Answers One Question</a:t>
            </a:r>
          </a:p>
        </p:txBody>
      </p:sp>
      <p:graphicFrame>
        <p:nvGraphicFramePr>
          <p:cNvPr id="4" name="Table 3"/>
          <p:cNvGraphicFramePr>
            <a:graphicFrameLocks noGrp="1"/>
          </p:cNvGraphicFramePr>
          <p:nvPr/>
        </p:nvGraphicFramePr>
        <p:xfrm>
          <a:off x="548640" y="2240280"/>
          <a:ext cx="11094415" cy="3017520"/>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Plan Line</a:t>
                      </a:r>
                    </a:p>
                  </a:txBody>
                  <a:tcPr marL="109728" marR="109728" marT="54864" marB="54864" anchor="ctr">
                    <a:solidFill>
                      <a:srgbClr val="264326"/>
                    </a:solidFill>
                  </a:tcPr>
                </a:tc>
                <a:tc>
                  <a:txBody>
                    <a:bodyPr wrap="square"/>
                    <a:lstStyle/>
                    <a:p>
                      <a:r>
                        <a:rPr sz="2600" b="1" i="0" u="none">
                          <a:solidFill>
                            <a:srgbClr val="FFFCF7"/>
                          </a:solidFill>
                          <a:latin typeface="Helvetica"/>
                        </a:rPr>
                        <a:t>What It Means</a:t>
                      </a:r>
                    </a:p>
                  </a:txBody>
                  <a:tcPr marL="109728" marR="109728" marT="54864" marB="54864" anchor="ctr">
                    <a:solidFill>
                      <a:srgbClr val="264326"/>
                    </a:solidFill>
                  </a:tcPr>
                </a:tc>
              </a:tr>
              <a:tr h="502920">
                <a:tc>
                  <a:txBody>
                    <a:bodyPr wrap="square"/>
                    <a:lstStyle/>
                    <a:p>
                      <a:r>
                        <a:rPr sz="2600" b="0" i="0" u="none">
                          <a:solidFill>
                            <a:srgbClr val="261F1D"/>
                          </a:solidFill>
                          <a:latin typeface="Roboto Mono"/>
                        </a:rPr>
                        <a:t>Seq Scan on restaurants</a:t>
                      </a:r>
                    </a:p>
                  </a:txBody>
                  <a:tcPr marL="109728" marR="109728" marT="54864" marB="54864" anchor="ctr">
                    <a:solidFill>
                      <a:srgbClr val="FFFCF7"/>
                    </a:solidFill>
                  </a:tcPr>
                </a:tc>
                <a:tc>
                  <a:txBody>
                    <a:bodyPr wrap="square"/>
                    <a:lstStyle/>
                    <a:p>
                      <a:r>
                        <a:rPr sz="2600" b="0" i="0" u="none">
                          <a:solidFill>
                            <a:srgbClr val="261F1D"/>
                          </a:solidFill>
                          <a:latin typeface="Helvetica"/>
                        </a:rPr>
                        <a:t>Read every row, no index</a:t>
                      </a:r>
                    </a:p>
                  </a:txBody>
                  <a:tcPr marL="109728" marR="109728" marT="54864" marB="54864" anchor="ctr">
                    <a:solidFill>
                      <a:srgbClr val="FFFCF7"/>
                    </a:solidFill>
                  </a:tcPr>
                </a:tc>
              </a:tr>
              <a:tr h="502920">
                <a:tc>
                  <a:txBody>
                    <a:bodyPr wrap="square"/>
                    <a:lstStyle/>
                    <a:p>
                      <a:r>
                        <a:rPr sz="2600" b="0" i="0" u="none">
                          <a:solidFill>
                            <a:srgbClr val="261F1D"/>
                          </a:solidFill>
                          <a:latin typeface="Roboto Mono"/>
                        </a:rPr>
                        <a:t>Filter: (boro = 'Brooklyn')</a:t>
                      </a:r>
                    </a:p>
                  </a:txBody>
                  <a:tcPr marL="109728" marR="109728" marT="54864" marB="54864" anchor="ctr">
                    <a:solidFill>
                      <a:srgbClr val="FFF6E4"/>
                    </a:solidFill>
                  </a:tcPr>
                </a:tc>
                <a:tc>
                  <a:txBody>
                    <a:bodyPr wrap="square"/>
                    <a:lstStyle/>
                    <a:p>
                      <a:r>
                        <a:rPr sz="2600" b="0" i="0" u="none">
                          <a:solidFill>
                            <a:srgbClr val="261F1D"/>
                          </a:solidFill>
                          <a:latin typeface="Helvetica"/>
                        </a:rPr>
                        <a:t>Then keep only the matches</a:t>
                      </a:r>
                    </a:p>
                  </a:txBody>
                  <a:tcPr marL="109728" marR="109728" marT="54864" marB="54864" anchor="ctr">
                    <a:solidFill>
                      <a:srgbClr val="FFF6E4"/>
                    </a:solidFill>
                  </a:tcPr>
                </a:tc>
              </a:tr>
              <a:tr h="502920">
                <a:tc>
                  <a:txBody>
                    <a:bodyPr wrap="square"/>
                    <a:lstStyle/>
                    <a:p>
                      <a:r>
                        <a:rPr sz="2600" b="0" i="0" u="none">
                          <a:solidFill>
                            <a:srgbClr val="261F1D"/>
                          </a:solidFill>
                          <a:latin typeface="Roboto Mono"/>
                        </a:rPr>
                        <a:t>Rows Removed by Filter: 4</a:t>
                      </a:r>
                    </a:p>
                  </a:txBody>
                  <a:tcPr marL="109728" marR="109728" marT="54864" marB="54864" anchor="ctr">
                    <a:solidFill>
                      <a:srgbClr val="FFFCF7"/>
                    </a:solidFill>
                  </a:tcPr>
                </a:tc>
                <a:tc>
                  <a:txBody>
                    <a:bodyPr wrap="square"/>
                    <a:lstStyle/>
                    <a:p>
                      <a:r>
                        <a:rPr sz="2600" b="0" i="0" u="none">
                          <a:solidFill>
                            <a:srgbClr val="261F1D"/>
                          </a:solidFill>
                          <a:latin typeface="Helvetica"/>
                        </a:rPr>
                        <a:t>4 rows read, then dropped</a:t>
                      </a:r>
                    </a:p>
                  </a:txBody>
                  <a:tcPr marL="109728" marR="109728" marT="54864" marB="54864" anchor="ctr">
                    <a:solidFill>
                      <a:srgbClr val="FFFCF7"/>
                    </a:solidFill>
                  </a:tcPr>
                </a:tc>
              </a:tr>
              <a:tr h="502920">
                <a:tc>
                  <a:txBody>
                    <a:bodyPr wrap="square"/>
                    <a:lstStyle/>
                    <a:p>
                      <a:r>
                        <a:rPr sz="2600" b="0" i="0" u="none">
                          <a:solidFill>
                            <a:srgbClr val="261F1D"/>
                          </a:solidFill>
                          <a:latin typeface="Roboto Mono"/>
                        </a:rPr>
                        <a:t>rows=4</a:t>
                      </a:r>
                      <a:r>
                        <a:rPr sz="2600" b="0" i="0" u="none">
                          <a:solidFill>
                            <a:srgbClr val="261F1D"/>
                          </a:solidFill>
                          <a:latin typeface="Helvetica"/>
                        </a:rPr>
                        <a:t> then </a:t>
                      </a:r>
                      <a:r>
                        <a:rPr sz="2600" b="0" i="0" u="none">
                          <a:solidFill>
                            <a:srgbClr val="261F1D"/>
                          </a:solidFill>
                          <a:latin typeface="Roboto Mono"/>
                        </a:rPr>
                        <a:t>rows=3</a:t>
                      </a:r>
                    </a:p>
                  </a:txBody>
                  <a:tcPr marL="109728" marR="109728" marT="54864" marB="54864" anchor="ctr">
                    <a:solidFill>
                      <a:srgbClr val="FFF6E4"/>
                    </a:solidFill>
                  </a:tcPr>
                </a:tc>
                <a:tc>
                  <a:txBody>
                    <a:bodyPr wrap="square"/>
                    <a:lstStyle/>
                    <a:p>
                      <a:r>
                        <a:rPr sz="2600" b="0" i="0" u="none">
                          <a:solidFill>
                            <a:srgbClr val="261F1D"/>
                          </a:solidFill>
                          <a:latin typeface="Helvetica"/>
                        </a:rPr>
                        <a:t>Guessed 4, really got 3</a:t>
                      </a:r>
                    </a:p>
                  </a:txBody>
                  <a:tcPr marL="109728" marR="109728" marT="54864" marB="54864" anchor="ctr">
                    <a:solidFill>
                      <a:srgbClr val="FFF6E4"/>
                    </a:solidFill>
                  </a:tcPr>
                </a:tc>
              </a:tr>
              <a:tr h="502920">
                <a:tc>
                  <a:txBody>
                    <a:bodyPr wrap="square"/>
                    <a:lstStyle/>
                    <a:p>
                      <a:r>
                        <a:rPr sz="2600" b="0" i="0" u="none">
                          <a:solidFill>
                            <a:srgbClr val="261F1D"/>
                          </a:solidFill>
                          <a:latin typeface="Roboto Mono"/>
                        </a:rPr>
                        <a:t>Execution Time</a:t>
                      </a:r>
                    </a:p>
                  </a:txBody>
                  <a:tcPr marL="109728" marR="109728" marT="54864" marB="54864" anchor="ctr">
                    <a:solidFill>
                      <a:srgbClr val="FFFCF7"/>
                    </a:solidFill>
                  </a:tcPr>
                </a:tc>
                <a:tc>
                  <a:txBody>
                    <a:bodyPr wrap="square"/>
                    <a:lstStyle/>
                    <a:p>
                      <a:r>
                        <a:rPr sz="2600" b="0" i="0" u="none">
                          <a:solidFill>
                            <a:srgbClr val="261F1D"/>
                          </a:solidFill>
                          <a:latin typeface="Helvetica"/>
                        </a:rPr>
                        <a:t>What the run actually cost</a:t>
                      </a:r>
                    </a:p>
                  </a:txBody>
                  <a:tcPr marL="109728" marR="109728" marT="54864" marB="54864" anchor="ctr">
                    <a:solidFill>
                      <a:srgbClr val="FFFCF7"/>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Interview-style: A dashboard query that used to take 2 seconds now takes 40. Walk through how you'd investigate, before changing anything.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What's the difference between a view and a materialized view, and when would you use each?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What's the difference between a view and a materialized view, and when would you use each?</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A view stores only the query text and re-runs every time; a materialized view stores the actual rows, reading back fast but staying stale until refreshed. The trade is freshness for speed. I built one over a three-table join for a nightly dashboard, refreshed on a schedule, since users needed instant loads and same-day accuracy wasn't required. So: plain view when current answers matter, materialized view when the query is expensive and you control freshness.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1741932"/>
          <a:ext cx="11094415" cy="4014216"/>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NULL</a:t>
                      </a:r>
                    </a:p>
                  </a:txBody>
                  <a:tcPr marL="109728" marR="109728" marT="54864" marB="54864" anchor="ctr">
                    <a:solidFill>
                      <a:srgbClr val="FFFCF7"/>
                    </a:solidFill>
                  </a:tcPr>
                </a:tc>
                <a:tc>
                  <a:txBody>
                    <a:bodyPr wrap="square"/>
                    <a:lstStyle/>
                    <a:p>
                      <a:r>
                        <a:rPr sz="2600" b="0" i="0" u="none">
                          <a:solidFill>
                            <a:srgbClr val="261F1D"/>
                          </a:solidFill>
                          <a:latin typeface="Helvetica"/>
                        </a:rPr>
                        <a:t>Unknown - not zero, not blank text</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COALESCE</a:t>
                      </a:r>
                    </a:p>
                  </a:txBody>
                  <a:tcPr marL="109728" marR="109728" marT="54864" marB="54864" anchor="ctr">
                    <a:solidFill>
                      <a:srgbClr val="FFF6E4"/>
                    </a:solidFill>
                  </a:tcPr>
                </a:tc>
                <a:tc>
                  <a:txBody>
                    <a:bodyPr wrap="square"/>
                    <a:lstStyle/>
                    <a:p>
                      <a:r>
                        <a:rPr sz="2600" b="0" i="0" u="none">
                          <a:solidFill>
                            <a:srgbClr val="261F1D"/>
                          </a:solidFill>
                          <a:latin typeface="Helvetica"/>
                        </a:rPr>
                        <a:t>Returns the first value that isn't NULL</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Materialized View</a:t>
                      </a:r>
                    </a:p>
                  </a:txBody>
                  <a:tcPr marL="109728" marR="109728" marT="54864" marB="54864" anchor="ctr">
                    <a:solidFill>
                      <a:srgbClr val="FFFCF7"/>
                    </a:solidFill>
                  </a:tcPr>
                </a:tc>
                <a:tc>
                  <a:txBody>
                    <a:bodyPr wrap="square"/>
                    <a:lstStyle/>
                    <a:p>
                      <a:r>
                        <a:rPr sz="2600" b="0" i="0" u="none">
                          <a:solidFill>
                            <a:srgbClr val="261F1D"/>
                          </a:solidFill>
                          <a:latin typeface="Helvetica"/>
                        </a:rPr>
                        <a:t>A query whose rows are stored, not rerun</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Query Plan</a:t>
                      </a:r>
                    </a:p>
                  </a:txBody>
                  <a:tcPr marL="109728" marR="109728" marT="54864" marB="54864" anchor="ctr">
                    <a:solidFill>
                      <a:srgbClr val="FFF6E4"/>
                    </a:solidFill>
                  </a:tcPr>
                </a:tc>
                <a:tc>
                  <a:txBody>
                    <a:bodyPr wrap="square"/>
                    <a:lstStyle/>
                    <a:p>
                      <a:r>
                        <a:rPr sz="2600" b="0" i="0" u="none">
                          <a:solidFill>
                            <a:srgbClr val="261F1D"/>
                          </a:solidFill>
                          <a:latin typeface="Helvetica"/>
                        </a:rPr>
                        <a:t>How Postgres decided to run your query</a:t>
                      </a:r>
                    </a:p>
                  </a:txBody>
                  <a:tcPr marL="109728" marR="109728" marT="54864" marB="54864" anchor="ctr">
                    <a:solidFill>
                      <a:srgbClr val="FFF6E4"/>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TextBox 3"/>
          <p:cNvSpPr txBox="1"/>
          <p:nvPr/>
        </p:nvSpPr>
        <p:spPr>
          <a:xfrm>
            <a:off x="548640" y="1188720"/>
            <a:ext cx="11094415" cy="4617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Roboto Mono"/>
              </a:rPr>
              <a:t>NULL</a:t>
            </a:r>
            <a:r>
              <a:rPr sz="2600" b="0" i="0" u="none">
                <a:solidFill>
                  <a:srgbClr val="261F1D"/>
                </a:solidFill>
                <a:latin typeface="Helvetica"/>
              </a:rPr>
              <a:t> is unknown, never zero</a:t>
            </a:r>
          </a:p>
          <a:p>
            <a:pPr>
              <a:spcAft>
                <a:spcPts val="1000"/>
              </a:spcAft>
            </a:pPr>
            <a:r>
              <a:rPr sz="2600">
                <a:solidFill>
                  <a:srgbClr val="261F1D"/>
                </a:solidFill>
                <a:latin typeface="Helvetica"/>
              </a:rPr>
              <a:t>•  </a:t>
            </a:r>
            <a:r>
              <a:rPr sz="2600" b="0" i="0" u="none">
                <a:solidFill>
                  <a:srgbClr val="261F1D"/>
                </a:solidFill>
                <a:latin typeface="Helvetica"/>
              </a:rPr>
              <a:t>A fallback is a claim you're making</a:t>
            </a:r>
          </a:p>
          <a:p>
            <a:pPr>
              <a:spcAft>
                <a:spcPts val="1000"/>
              </a:spcAft>
            </a:pPr>
            <a:r>
              <a:rPr sz="2600">
                <a:solidFill>
                  <a:srgbClr val="261F1D"/>
                </a:solidFill>
                <a:latin typeface="Helvetica"/>
              </a:rPr>
              <a:t>•  </a:t>
            </a:r>
            <a:r>
              <a:rPr sz="2600" b="0" i="0" u="none">
                <a:solidFill>
                  <a:srgbClr val="261F1D"/>
                </a:solidFill>
                <a:latin typeface="Roboto Mono"/>
              </a:rPr>
              <a:t>REFRESH</a:t>
            </a:r>
            <a:r>
              <a:rPr sz="2600" b="0" i="0" u="none">
                <a:solidFill>
                  <a:srgbClr val="261F1D"/>
                </a:solidFill>
                <a:latin typeface="Helvetica"/>
              </a:rPr>
              <a:t> or the view stays stale</a:t>
            </a:r>
          </a:p>
          <a:p>
            <a:pPr>
              <a:spcAft>
                <a:spcPts val="1000"/>
              </a:spcAft>
            </a:pPr>
            <a:r>
              <a:rPr sz="2600">
                <a:solidFill>
                  <a:srgbClr val="261F1D"/>
                </a:solidFill>
                <a:latin typeface="Helvetica"/>
              </a:rPr>
              <a:t>•  </a:t>
            </a:r>
            <a:r>
              <a:rPr sz="2600" b="0" i="0" u="none">
                <a:solidFill>
                  <a:srgbClr val="261F1D"/>
                </a:solidFill>
                <a:latin typeface="Helvetica"/>
              </a:rPr>
              <a:t>Answer it in SQL, not in pandas</a:t>
            </a:r>
          </a:p>
        </p:txBody>
      </p:sp>
      <p:sp>
        <p:nvSpPr>
          <p:cNvPr id="5" name="TextBox 4"/>
          <p:cNvSpPr txBox="1"/>
          <p:nvPr/>
        </p:nvSpPr>
        <p:spPr>
          <a:xfrm>
            <a:off x="548640" y="5852160"/>
            <a:ext cx="11094415" cy="457200"/>
          </a:xfrm>
          <a:prstGeom prst="rect">
            <a:avLst/>
          </a:prstGeom>
          <a:noFill/>
        </p:spPr>
        <p:txBody>
          <a:bodyPr wrap="square" anchor="t" lIns="0" rIns="0" tIns="0" bIns="0">
            <a:noAutofit/>
          </a:bodyPr>
          <a:lstStyle/>
          <a:p>
            <a:pPr algn="l"/>
            <a:r>
              <a:rPr sz="2600" b="1" i="0" u="none">
                <a:solidFill>
                  <a:srgbClr val="2274B5"/>
                </a:solidFill>
                <a:latin typeface="Helvetica"/>
                <a:hlinkClick r:id="rId3"/>
              </a:rPr>
              <a:t>Watch: Postgres Explain Explained (~~10 min)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4"/>
              </a:rPr>
              <a:t>Using EXPLAIN</a:t>
            </a:r>
          </a:p>
        </p:txBody>
      </p:sp>
      <p:sp>
        <p:nvSpPr>
          <p:cNvPr id="8" name="TextBox 7"/>
          <p:cNvSpPr txBox="1"/>
          <p:nvPr/>
        </p:nvSpPr>
        <p:spPr>
          <a:xfrm>
            <a:off x="1051560" y="2350008"/>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PostgreSQL  ·  DOCS  ·  ~12 min skim</a:t>
            </a:r>
          </a:p>
        </p:txBody>
      </p:sp>
      <p:sp>
        <p:nvSpPr>
          <p:cNvPr id="9" name="TextBox 8"/>
          <p:cNvSpPr txBox="1"/>
          <p:nvPr/>
        </p:nvSpPr>
        <p:spPr>
          <a:xfrm>
            <a:off x="1051560" y="2734056"/>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Worked examples behind every plan line you read</a:t>
            </a:r>
          </a:p>
        </p:txBody>
      </p:sp>
      <p:pic>
        <p:nvPicPr>
          <p:cNvPr id="10" name="Picture 9" descr=""/>
          <p:cNvPicPr>
            <a:picLocks noChangeAspect="1"/>
          </p:cNvPicPr>
          <p:nvPr/>
        </p:nvPicPr>
        <p:blipFill>
          <a:blip r:embed="rId5"/>
          <a:stretch>
            <a:fillRect/>
          </a:stretch>
        </p:blipFill>
        <p:spPr>
          <a:xfrm>
            <a:off x="548640" y="3364992"/>
            <a:ext cx="365760" cy="365760"/>
          </a:xfrm>
          <a:prstGeom prst="rect">
            <a:avLst/>
          </a:prstGeom>
        </p:spPr>
      </p:pic>
      <p:sp>
        <p:nvSpPr>
          <p:cNvPr id="11" name="TextBox 10"/>
          <p:cNvSpPr txBox="1"/>
          <p:nvPr/>
        </p:nvSpPr>
        <p:spPr>
          <a:xfrm>
            <a:off x="1051560" y="3346704"/>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Postgres Plan Visualizer</a:t>
            </a:r>
          </a:p>
        </p:txBody>
      </p:sp>
      <p:sp>
        <p:nvSpPr>
          <p:cNvPr id="12" name="TextBox 11"/>
          <p:cNvSpPr txBox="1"/>
          <p:nvPr/>
        </p:nvSpPr>
        <p:spPr>
          <a:xfrm>
            <a:off x="1051560" y="3730752"/>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Dalibo  ·  PRACTICE  ·  ~10 min hands-on</a:t>
            </a:r>
          </a:p>
        </p:txBody>
      </p:sp>
      <p:sp>
        <p:nvSpPr>
          <p:cNvPr id="13" name="TextBox 12"/>
          <p:cNvSpPr txBox="1"/>
          <p:nvPr/>
        </p:nvSpPr>
        <p:spPr>
          <a:xfrm>
            <a:off x="1051560" y="4114800"/>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Paste a plan, see it drawn as a tree</a:t>
            </a:r>
          </a:p>
        </p:txBody>
      </p:sp>
      <p:pic>
        <p:nvPicPr>
          <p:cNvPr id="14" name="Picture 13" descr=""/>
          <p:cNvPicPr>
            <a:picLocks noChangeAspect="1"/>
          </p:cNvPicPr>
          <p:nvPr/>
        </p:nvPicPr>
        <p:blipFill>
          <a:blip r:embed="rId7"/>
          <a:stretch>
            <a:fillRect/>
          </a:stretch>
        </p:blipFill>
        <p:spPr>
          <a:xfrm>
            <a:off x="548640" y="4745736"/>
            <a:ext cx="365760" cy="365760"/>
          </a:xfrm>
          <a:prstGeom prst="rect">
            <a:avLst/>
          </a:prstGeom>
        </p:spPr>
      </p:pic>
      <p:sp>
        <p:nvSpPr>
          <p:cNvPr id="15" name="TextBox 14"/>
          <p:cNvSpPr txBox="1"/>
          <p:nvPr/>
        </p:nvSpPr>
        <p:spPr>
          <a:xfrm>
            <a:off x="1051560" y="4727448"/>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8"/>
              </a:rPr>
              <a:t>How to Use COALESCE() in SQL</a:t>
            </a:r>
          </a:p>
        </p:txBody>
      </p:sp>
      <p:sp>
        <p:nvSpPr>
          <p:cNvPr id="16" name="TextBox 15"/>
          <p:cNvSpPr txBox="1"/>
          <p:nvPr/>
        </p:nvSpPr>
        <p:spPr>
          <a:xfrm>
            <a:off x="1051560" y="5111496"/>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LearnSQL.com  ·  READING  ·  ~7 min read</a:t>
            </a:r>
          </a:p>
        </p:txBody>
      </p:sp>
      <p:sp>
        <p:nvSpPr>
          <p:cNvPr id="17" name="TextBox 16"/>
          <p:cNvSpPr txBox="1"/>
          <p:nvPr/>
        </p:nvSpPr>
        <p:spPr>
          <a:xfrm>
            <a:off x="1051560" y="5495544"/>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Five real patterns for replacing NULLs usefully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