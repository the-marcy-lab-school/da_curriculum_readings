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Open by naming what today is not. There is no new keyword, no new installation, no new syntax to memorise. Everything on today's slides has already been taught. That usually gets a relieved laugh - follow it immediately with the harder truth: knowing three tools is not the same as knowing which one to reach for, and the second skill is the one that gets tested in a code review and in an interview.</a:t>
            </a:r>
          </a:p>
          <a:p/>
          <a:p>
            <a:r>
              <a:t>[SCRIPT] Say the day's shape out loud so nobody is waiting for new material. First half is one business question written two ways. Second half is a question that changes shape entirely. Last third is a decision routine you run with a partner and then write down.</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Read all three, then tie the third one to the project explicitly. The project hands over seven fixed business questions and asks for a written mapping of each one against the schema before any SQL gets written. That written justification is exactly the third objective, graded.</a:t>
            </a:r>
          </a:p>
          <a:p/>
          <a:p>
            <a:r>
              <a:t>[SCRIPT] Set the depth expectation honestly. Nobody is being asked to write faster SQL today. The skill being built is choosing and explaining, which is why the closing activity is a partner conversation and a written sentence, not another query.</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Names only for now, and one honest framing: all three of these have already been written in this room, they just have not been named yet. Point out that "subquery" gets used as though it were one thing, when it is really a family of three that behave quite differently.</a:t>
            </a:r>
          </a:p>
          <a:p/>
          <a:p>
            <a:r>
              <a:t>[MISCONCEPTIONS] The word "correlated" is the one that sounds statistical and is not. It just means the inner query refers to a column from the outer one, so its answer changes depending on which row you are looking at. Say that once now so the term is not a mystery when it arrives.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In person: show of hands for A, B, or C. Online: drop a letter in chat, then confirm out loud before advancing. Thirty seconds, no discussion - this is retrieval practice, not a debate.</a:t>
            </a:r>
          </a:p>
          <a:p/>
          <a:p>
            <a:r>
              <a:t>[SCRIPT] This is not warm-up trivia. Say the connection out loud before moving on: the whole second half of today turns on this one property. A question that needs every row kept has exactly one natural tool, and a question that wants rows collapsed has two others. Getting this recall wrong is how somebody picks the wrong tool for the rest of the module.</a:t>
            </a:r>
          </a:p>
          <a:p/>
          <a:p>
            <a:r>
              <a:t>[MISCONCEPTIONS] A few will answer A because both `GROUP BY` and a window function use aggregate-looking words like `AVG` and `COUNT`. The word is the same; what it does to the result set is opposite. Name that trap directly.</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answer: Keeps every row, adds a column</a:t>
            </a:r>
          </a:p>
          <a:p>
            <a:r>
              <a:t>Why: A window function computes across a set of rows related to the current row, but it does not group them into a single output row - every input row survives, with a new value sitting beside it. That difference is not trivia today. It is the single sharpest test for whether a window function is even a candidate for the question in front of you.</a:t>
            </a:r>
          </a:p>
          <a:p>
            <a:r>
              <a:t>Source: This module's own window-function lessons, not an external citation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[~9 min mark] Keep this to one beat. Terminals open now, not in five minutes - everything from here to the next section is typed along.</a:t>
            </a:r>
          </a:p>
          <a:p/>
          <a:p>
            <a:r>
              <a:t>[SCRIPT] Give the question before the code: which restaurants have more total violations than the citywide average? Ask the room to say, out loud, what the query needs to do twice. Somebody will get there: it has to know each restaurant's total, and it has to know the average of those totals.</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Before running it, ask the room to predict the row count. In person: fingers up. Online: a number in chat. Two rows come back - Corner Bistro with 4 and Green Leaf Cafe with 1, because the citywide average across all seven restaurants is about 0.71.</a:t>
            </a:r>
          </a:p>
          <a:p/>
          <a:p>
            <a:r>
              <a:t>[SCRIPT] This query is correct. Say that clearly and early, because the instinct in the room will be that something is wrong with it. Nothing is. It returns the right answer and it is the version a lot of working SQL actually looks like.</a:t>
            </a:r>
          </a:p>
          <a:p/>
          <a:p>
            <a:r>
              <a:t>[SCRIPT] Then make the cost visible rather than asserting it. Ask somebody to count how many times the three-table join appears. Twice, character for character. Ask what happens the day a fourth table joins the picture: you now have two places to edit, and one of them is buried five lines deep inside a `HAVING`.</a:t>
            </a:r>
          </a:p>
          <a:p/>
          <a:p>
            <a:r>
              <a:t>[MISCONCEPTIONS] Some will assume the repetition means the database really does the work twice, and that the query is therefore slow. That is not a safe claim - the planner is free to reorganise this, and on seven rows nothing is measurable either way. Keep the argument where it actually holds: this is about what a human has to maintain, not about speed.</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Run it, then put both queries side by side on screen if you can. Ask the room for one sentence describing what actually changed. In person: call on two. Online: chat, then read two out loud.</a:t>
            </a:r>
          </a:p>
          <a:p/>
          <a:p>
            <a:r>
              <a:t>[SCRIPT] Introduce the labelled-loop comparison before the formal wording. The point is not that the CTE is shorter - it is that the counting step now has a name, so it can be pointed at, checked on its own, and reused without being retyped.</a:t>
            </a:r>
          </a:p>
          <a:p/>
          <a:p>
            <a:r>
              <a:t>[SCRIPT] Demonstrate the checking part live, because it is the strongest argument and it takes ten seconds. Replace the final `SELECT` with `SELECT * FROM totals;` and run it. The middle step is now inspectable. There is no equivalent move on the nested version without surgery on the query.</a:t>
            </a:r>
          </a:p>
          <a:p/>
          <a:p>
            <a:r>
              <a:t>[SCRIPT] Tie it to the project's own spot-check requirement out loud. Every query handed in has to be checked against known values. A query whose middle step can be run by itself is a query that is genuinely checkable.</a:t>
            </a:r>
          </a:p>
          <a:p/>
          <a:p>
            <a:r>
              <a:t>[MISCONCEPTIONS] The most repeated stale claim about CTEs is that they are always computed and stored separately, and therefore always slower. In PostgreSQL that was true through version 11 and changed in version 12: a CTE that is non-recursive, side-effect-free and referenced only once is now folded into the surrounding query by default. `MATERIALIZED` and `NOT MATERIALIZED` are the keywords that override the decision either way. Worth being precise about today's own example: `totals` is referenced twice, so PostgreSQL still calculates it separately here - the version-12 change is about the single-reference case, not a blanket reversal.</a:t>
            </a:r>
          </a:p>
          <a:p/>
          <a:p>
            <a:r>
              <a:t>[MISCONCEPTIONS] Scope that claim to a named engine, always. It is not a fact about SQL. SQL Server never materialises a CTE at all and re-runs the defined query on every reference, and MySQL 8 merges them by default. "CTEs are slow" is the kind of confident, unscoped claim that falls apart in an interview the moment somebody asks which database.</a:t>
            </a:r>
          </a:p>
          <a:p/>
          <a:p>
            <a:r>
              <a:t>[SOURCES] PostgreSQL 12 release notes: "Allow common table expressions (CTEs) to be inlined into the outer query... Previously, CTEs were never inlined and were always evaluated before the rest of the query." PostgreSQL "WITH Queries" documentation: a side-effect-free non-recursive `WITH` query "can be folded into the parent query," and "by default, this happens if the parent query references the `WITH` query just once, but not if it references the `WITH` query more than once." Microsoft Learn, "WITH common_table_expression": "Query results from common table expressions aren't materialized. Each outer reference to the named result set requires the defined query to be re-executed." MySQL 8.4 manual: the optimizer "avoids unnecessary materialization whenever possible."</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Point at the previous slide's query while you walk this. The `(SELECT AVG(tv) ...)` in the `HAVING` was a scalar subquery - one number. The `(SELECT ...) sub` was a derived table - a whole result, given a name and read like a table. Both were written in this room, neither was named until now.</a:t>
            </a:r>
          </a:p>
          <a:p/>
          <a:p>
            <a:r>
              <a:t>[SCRIPT] The correlated kind gets its definition here, but not its first code yet - it is the one that has not shown up in a query yet, and it does the moment a question stops collapsing rows. That is the next section.</a:t>
            </a:r>
          </a:p>
          <a:p/>
          <a:p>
            <a:r>
              <a:t>[MISCONCEPTIONS] "Derived table" sounds like something stored in the database. It is not - it exists only for the length of that one query, the same way a CTE does. The difference between the two is that a derived table is anonymous until you alias it and can only be used where it sits, while a CTE is named at the top and usable anywhere below.</a:t>
            </a:r>
          </a:p>
          <a:p/>
          <a:p>
            <a:r>
              <a:t>[SOURCES] PostgreSQL documentation, "Value Expressions": "A scalar subquery is an ordinary `SELECT` query in parentheses that returns exactly one row with one column." "Table Expressions": "Subqueries specifying a derived table must be enclosed in parentheses. They may be assigned a table alias name." One honest scoping note for anyone asked where these names come from: scalar subquery and derived table are PostgreSQL's own words, while correlated subquery is standard SQL vocabulary used across vendors and interviews but not defined under that name in PostgreSQL's documentation.</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Force the binary first, then get the reasoning. In person: stand up and move to one side of the room. Online: react with one of two emoji, or type A or B. Then ask two people who picked the CTE to say why in one sentence - and, more importantly, ask whether anybody can name a real case where the nested version is genuinely fine.</a:t>
            </a:r>
          </a:p>
          <a:p/>
          <a:p>
            <a:r>
              <a:t>[SCRIPT] The honest answer to that follow-up is yes, and it is worth landing. A one-off scalar subquery used exactly once, in a query nobody will ever reopen, is not a problem. A CTE around it adds three lines and buys nothing. The rule is not "CTE always" - the rule is that repetition and uninspectability are the costs you are weighing.</a:t>
            </a:r>
          </a:p>
          <a:p/>
          <a:p>
            <a:r>
              <a:t>[MISCONCEPTIONS] Expect somebody to argue the CTE is "more efficient." Push back gently: efficiency is not what was demonstrated. What was demonstrated is that one version can be checked a step at a time and the other cannot. Making a claim the evidence does not support is exactly what gets picked apart in a code review.</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[~24 min mark] Make the pivot explicit. So far both tools answered the same question and the choice was about maintenance. The next question cannot be answered by one of the three tools at all, and that is a different kind of decision.</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Introduce the box-score comparison before the formal wording. Ask the room which one a manager is asking for when they say "show me every restaurant next to its borough's average." A final score cannot answer that, because the individual lines are gone.</a:t>
            </a:r>
          </a:p>
          <a:p/>
          <a:p>
            <a:r>
              <a:t>[SCRIPT] Give the one-sentence test they will use for the rest of the module and in the project: read the business question and ask whether the answer has one row per group, or one row per original record. If the words "each," "every," or "alongside" appear, the rows are probably meant to survive.</a:t>
            </a:r>
          </a:p>
          <a:p/>
          <a:p>
            <a:r>
              <a:t>[SCRIPT] Name the cost of guessing wrong, since it is not obvious. Collapsing first and then trying to get the detail back means joining the original table in again, which is a second join and a second chance to duplicate rows - the exact silent bug this module has already warned about twice.</a:t>
            </a:r>
          </a:p>
          <a:p/>
          <a:p>
            <a:r>
              <a:t>[MISCONCEPTIONS] Fellows often assume a window function is an advanced or fancier `GROUP BY`, so it must be the better tool. It is not better or worse. It answers a differently shaped question, and using it where the answer really should collapse produces a result with repeated values that somebody then has to deduplicate by hand.</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Terminals open again. Warn the room that the first of these two queries is deliberately the long way round, and that both return exactly the same seven rows.</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Run it and read the seven rows. Every restaurant is still listed, and each one now carries its borough's average: Brooklyn 0.33, Manhattan 2.00, Queens 0.00. The rows survived, which is what the question asked for.</a:t>
            </a:r>
          </a:p>
          <a:p/>
          <a:p>
            <a:r>
              <a:t>[SCRIPT] Now point at what makes this the correlated kind, since it is the whole reason the term exists. The inner query mentions `totals.boro` - a column belonging to the outer query. It cannot be run on its own; paste it into `psql` by itself and it fails, because there is no outer row to point at. That dependency is the definition.</a:t>
            </a:r>
          </a:p>
          <a:p/>
          <a:p>
            <a:r>
              <a:t>[SCRIPT] Describe what that means in plain language rather than in performance terms: this is written as "for each row, go and work out that row's borough average." Conceptually it is one question asked seven times.</a:t>
            </a:r>
          </a:p>
          <a:p/>
          <a:p>
            <a:r>
              <a:t>[MISCONCEPTIONS] Do not let the room conclude the database literally runs it seven times. "Once per row" describes what the query *means*, not a measured cost - modern planners routinely rewrite a correlated subquery into a join instead. If somebody insists it must be slower, that is the perfect moment to reach for the tool from the previous lesson and settle it with evidence rather than opinion: put `EXPLAIN ANALYZE` in front of both versions and read the two plans. Being careful about the difference between what a query means and what it costs is itself the lesson.</a:t>
            </a:r>
          </a:p>
          <a:p/>
          <a:p>
            <a:r>
              <a:t>[SOURCES] PostgreSQL documentation, "Value Expressions," on scalar subqueries: the subquery "can refer to variables from the surrounding query, which will act as constants during any one evaluation of the subquery." Note what that does and does not say - it defines the per-evaluation semantics without promising a fixed number of evaluations. "Correlated subquery" is standard SQL terminology defined by other vendors' documentation; PostgreSQL's own docs describe the behaviour without using that label.</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Before hitting enter, have the room predict `b_avg` for Manhattan's two rows specifically - Corner Bistro has 4 violations and New Spot NYC has 0. In person: call on two people, one per row. Online: both answers in chat at once. The answer is 2.00 on both, and the surprise that the same number repeats is the point.</a:t>
            </a:r>
          </a:p>
          <a:p/>
          <a:p>
            <a:r>
              <a:t>[SCRIPT] Run it and put it next to the previous output. Identical seven rows, identical numbers. The two-line correlated subquery collapsed into a single expression, and the second read of `totals` disappeared entirely.</a:t>
            </a:r>
          </a:p>
          <a:p/>
          <a:p>
            <a:r>
              <a:t>[SCRIPT] Say why the number repeats, because it looks like a bug the first time. The average belongs to the partition, not to the row - every Manhattan row shows Manhattan's average. Nothing has been duplicated; the value is just shared.</a:t>
            </a:r>
          </a:p>
          <a:p/>
          <a:p>
            <a:r>
              <a:t>[SCRIPT] Land the decision rule while both outputs are on screen: when the answer needs every row kept *and* a group-level number sitting beside it, the window function is not a fancier option, it is the one built for the shape.</a:t>
            </a:r>
          </a:p>
          <a:p/>
          <a:p>
            <a:r>
              <a:t>[MISCONCEPTIONS] `PARTITION BY` reads like `GROUP BY` and does not behave like it. `GROUP BY boro` would have returned three rows. `PARTITION BY boro` returned all seven. Say both numbers out loud with both queries visible.</a:t>
            </a:r>
          </a:p>
          <a:p/>
          <a:p>
            <a:r>
              <a:t>[SOURCES] PostgreSQL documentation, "Window Functions": "window functions do not cause rows to become grouped into a single output row like non-window aggregate calls would. Instead, the rows retain their separate identities." This is standard SQL semantics, not a PostgreSQL-specific behaviour, so it is safe to state generally.</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Quick-fire round. In person: shout it out or hold up fingers for A, B, or C. Online: everyone types a letter at once, then reveal. Then run the failing query live so the actual error message lands.</a:t>
            </a:r>
          </a:p>
          <a:p/>
          <a:p>
            <a:r>
              <a:t>[SCRIPT] This is the same shape of mistake as trying to filter a `COUNT` in a `WHERE` clause earlier in this module, and it is worth naming the pattern rather than the two instances. Anything computed later in the query's own order of operations cannot be filtered earlier in it. The fix has been the same both times: give the computed thing a name, then filter the named thing.</a:t>
            </a:r>
          </a:p>
          <a:p/>
          <a:p>
            <a:r>
              <a:t>[SCRIPT] Point out that this is a real reason the tools combine rather than compete. A window function that needs filtering *requires* a CTE or a subquery around it. Choosing one tool rarely rules the others out.</a:t>
            </a:r>
          </a:p>
          <a:p/>
          <a:p>
            <a:r>
              <a:t>[MISCONCEPTIONS] Option B keeps coming back because the room remembers a query that ran and returned nothing. That was a comparison against an unknown value. This one is different: it never runs at all, and the error names the rule directly.</a:t>
            </a:r>
          </a:p>
          <a:p/>
          <a:p>
            <a:r>
              <a:t>[SOURCES] PostgreSQL documentation, "Window Functions": "Window functions are permitted only in the `SELECT` list and the `ORDER BY` clause of the query. They are forbidden elsewhere, such as in `GROUP BY`, `HAVING` and `WHERE` clauses. This is because they logically execute after the processing of those clauses." The docs also give the fix directly: "If there is a need to filter or group rows after the window calculations are performed, you can use a sub-select." A CTE does the same job and reads better, which is exactly this lesson's point.</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answer: Postgres refuses to run it</a:t>
            </a:r>
          </a:p>
          <a:p>
            <a:r>
              <a:t>Why: The real message is `window functions are not allowed in WHERE`. The reason is ordering: `WHERE` is applied before window functions are computed, so at the moment the filter runs the value does not exist yet. Referring to the output alias `b_avg` fails too, for the more ordinary reason that an alias is not visible in `WHERE` either. The fix is the same wrapper move used for top-N per group: put the window query in a CTE, then filter the CTE.</a:t>
            </a:r>
          </a:p>
          <a:p>
            <a:r>
              <a:t>Source: Real PostgreSQL 16 output from this lesson's own database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[~40 min mark] Name the shift. Up to now the instructor picked the tool. For the rest of the lesson the room picks, and has to justify the pick to somebody else. That is the graded skill.</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Walk the three rows against what the room actually ran. The scalar subquery in the `HAVING` was one value needed once, and it was fine there. The CTE earned its place the moment the same step was needed twice and needed checking. The window function was the only tool that could keep seven rows and add a group number.</a:t>
            </a:r>
          </a:p>
          <a:p/>
          <a:p>
            <a:r>
              <a:t>[SCRIPT] Say the honest limit of this table out loud. It is a starting point, not a rule that decides every case - plenty of real questions could reasonably go two ways, and an interviewer asking this is listening for reasoning, not for a memorised row.</a:t>
            </a:r>
          </a:p>
          <a:p/>
          <a:p>
            <a:r>
              <a:t>[MISCONCEPTIONS] Fellows read a table like this as mutually exclusive. It is not. Today's own window-function query sat inside a CTE, and filtering it would need a second one. The table names what each tool is *for*, not which other tools it forbids.</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Walk the four in order, and demonstrate them once on today's second question before handing them over. Rows: yes, every restaurant had to stay, so a window function is a candidate. Reuse: the totals step was needed twice, so a CTE earned its place. Inspect: yes, the counting step is the part most likely to be wrong. Reader: whoever picks this dashboard up next.</a:t>
            </a:r>
          </a:p>
          <a:p/>
          <a:p>
            <a:r>
              <a:t>[SCRIPT] Be clear that these are not scored and do not add up to an answer. They are prompts that make the reasoning sayable out loud, which is the actual thing being assessed - in the project's written mapping, and in an interview.</a:t>
            </a:r>
          </a:p>
          <a:p/>
          <a:p>
            <a:r>
              <a:t>[SCRIPT] Say which check people skip. It is almost always the last one. Rows, reuse and inspection are technical and get considered; who has to read the query afterwards is the one that quietly decides whether a codebase stays workable, and it is the one a working analyst is judged on.</a:t>
            </a:r>
          </a:p>
          <a:p/>
          <a:p>
            <a:r>
              <a:t>[MISCONCEPTIONS] A first pass often treats check 01 as the only one that matters, because it has the crispest answer. It is the strongest single signal, but two of today's queries kept every row and only one of them was a good idea - the other three checks are what separated them.</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Pairs, five minutes, on a shared board - a physical whiteboard, or a Padlet or Jamboard column per pair if the cohort is remote. Each pair writes exactly one sentence: the tool, and the check that decided it. Then read three of them out loud and let the room push back. The sentence being short is deliberate; the project asks for written justification, not an essay.</a:t>
            </a:r>
          </a:p>
          <a:p/>
          <a:p>
            <a:r>
              <a:t>[SCRIPT] The reasoning you are listening for: check 01 says the rows do *not* need to survive - the manager wants one row per borough, not per restaurant. That immediately makes a window function the wrong shape, even though the words "average" and "highest" make it sound like a ranking problem. A CTE that counts per restaurant, then averages per borough, then orders and limits is the clean answer.</a:t>
            </a:r>
          </a:p>
          <a:p/>
          <a:p>
            <a:r>
              <a:t>[SCRIPT] This is deliberately the opposite shape from the code-along, and that is the trap being sprung. Expect several pairs to reach for a window function out of momentum. When that happens, do not correct it directly - ask them how many rows their answer returns, and let check 01 do the work.</a:t>
            </a:r>
          </a:p>
          <a:p/>
          <a:p>
            <a:r>
              <a:t>[MISCONCEPTIONS] Some pairs will argue for a window function because "top three" sounds like ranking. Ranking what, though? The boroughs, which do not exist as rows until something collapses the restaurants first. That ordering is the insight.</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In person: sixty seconds silent, then sixty seconds in pairs with one person playing the manager, then cold-call one pair to perform it. Online: silent minute, then breakout pairs or chat, then unmute one pair. The role-play matters - the failure mode only shows up when somebody is actually listening as a non-technical person.</a:t>
            </a:r>
          </a:p>
          <a:p/>
          <a:p>
            <a:r>
              <a:t>[TECHNIQUE] Use Teach-Back - Audience, Simplify, Analogy, Check. This is an "explain it to a non-technical stakeholder" question wearing a SQL costume, and the failure mode is answering it as though the manager were another analyst. Nothing in a strong answer needs the words CTE, subquery or window function at all.</a:t>
            </a:r>
          </a:p>
          <a:p/>
          <a:p>
            <a:r>
              <a:t>[SCRIPT] Target shape. Audience: this person cares about whether the number is trustworthy and whether the dashboard keeps working, not about syntax. Simplify: the query still gives the same answer, it is just written so the middle step can be checked on its own. Analogy: showing your working on a calculation rather than only the final number. Check: offer a specific follow-up, something like "happy to walk through the piece that changed if that would help."</a:t>
            </a:r>
          </a:p>
          <a:p/>
          <a:p>
            <a:r>
              <a:t>[SCRIPT] Coach one specific move: lead with the business reason, not the technical one. "It gives the same answer, and now we can prove it" is a far stronger opening than "it is more readable," because readability is a developer value and provability is a manager's.</a:t>
            </a:r>
          </a:p>
          <a:p/>
          <a:p>
            <a:r>
              <a:t>[MISCONCEPTIONS] The most common weak answer defines a CTE. That is answering a different question - the manager did not ask what a CTE is, they asked why time was spent on something that already worked.</a:t>
            </a:r>
          </a:p>
          <a:p/>
          <a:p>
            <a:r>
              <a:t>[SOURCES] Be precise about what is verified here, because the honesty matters more than the pitch. The *archetype* - "tell me about a time you explained a complex analysis or a technical trade-off to a non-technical stakeholder" - is one of the two best-attested behavioural questions in data-analyst interview banks (loopcv's data-analyst behavioural guide names it as one of the two most common; Dataquest covers the same competency in its presenting-to-leadership and explaining-p-values questions). The specific query-rewrite scenario above is a realistic instance built for today's content, not a quoted question. Say it that way to the room: expect the question type, not this exact wording.</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[TECHNIQUE] Use PREP - Point, Reason, Example, Point. This is a definitional question and the failure mode is reciting every fact a candidate knows about both. State the difference in one sentence, say why it matters, ground it in something actually built, then close on a decision rule an interviewer can act on.</a:t>
            </a:r>
          </a:p>
          <a:p/>
          <a:p>
            <a:r>
              <a:t>[SCRIPT] Have one Fellow attempt it cold. Listen for whether the Example step is real. Everyone in the room genuinely has one after today, and using it is what separates this from a memorised definition.</a:t>
            </a:r>
          </a:p>
          <a:p/>
          <a:p>
            <a:r>
              <a:t>[SCRIPT] Name what the question is really testing, because it is not vocabulary. Dataquest's own commentary on this exact question says interviewers want to see code other people can understand, not just code that works - so an answer that never mentions the next reader has missed the point, however technically correct it is.</a:t>
            </a:r>
          </a:p>
          <a:p/>
          <a:p>
            <a:r>
              <a:t>[MISCONCEPTIONS] Fellows sometimes answer with a performance claim - "CTEs are slower" or "subqueries are faster." Coach them off it. If performance genuinely comes up, the strong move is to name the engine and the version, and to say you would check the plan rather than assert a rule.</a:t>
            </a:r>
          </a:p>
          <a:p/>
          <a:p>
            <a:r>
              <a:t>[SOURCES] Verified as genuinely and commonly asked of data analysts specifically: it is question 6 in Dataquest's "40+ Data Analyst Interview Questions and Answers," appears verbatim as "When should one use a CTE over a subquery?" in StrataScratch's SQL interview guide, and DataLemur maintains a whole tutorial page plus a tagged practice bank on the comparison. Unlike the view-versus-materialized-view question from the previous lesson, this one is squarely analyst-facing, not analytics-engineer-leaning.</a:t>
            </a:r>
          </a:p>
          <a:p/>
          <a:p/>
          <a:p>
            <a:r>
              <a:t>Short answers:</a:t>
            </a:r>
          </a:p>
          <a:p/>
          <a:p>
            <a:r>
              <a:t>Q: What's the difference between a CTE and a subquery, and when would you use each?</a:t>
            </a:r>
          </a:p>
          <a:p>
            <a:r>
              <a:t>A: Both hold an intermediate result, so a read-only query returns the same rows either way - the difference is a CTE is named and can be reused and inspected, while a subquery is anonymous. That matters because the next person maintaining it has to check the middle step, not the final number. I once rewrote a query that repeated the same count twice, naming it once so it could run on its own. So: a subquery for one value needed once, a CTE once a step is reused or inspected.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Quick pass through all three. Spend the extra beat on correlated, since it is the one that names a real dependency rather than a shape - and it is the one most likely to come up by name in an interview.</a:t>
            </a:r>
          </a:p>
          <a:p/>
          <a:p>
            <a:r>
              <a:t>[SCRIPT] Ask the room which of the three appeared in today's very first query. Two of them did. That callback is worth making explicit, because it shows the vocabulary is describing things they were already writing.</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Close on the through-line: all three tools were correct today. Nothing was chosen because the others were broken. That is what makes this a judgment lesson rather than a syntax lesson, and it is why the deliverable is a written sentence rather than a query.</a:t>
            </a:r>
          </a:p>
          <a:p/>
          <a:p>
            <a:r>
              <a:t>[SCRIPT] Name the project tie directly. The project's questions each demand a specific technique, and the written mapping asks for each question to be walked against the schema *before* any `CREATE TABLE`. Today's four checks are exactly the routine to run while writing that document.</a:t>
            </a:r>
          </a:p>
          <a:p/>
          <a:p>
            <a:r>
              <a:t>[SCRIPT] The last card needs a real explanation rather than a throwaway. Several claims about these tools are true of one database and not another - whether a CTE is folded into the surrounding query is the clearest example. Naming the engine you mean is what separates a confident answer from an overreaching one, in a code review and in an interview.</a:t>
            </a:r>
          </a:p>
          <a:p/>
          <a:p>
            <a:r>
              <a:t>[MISCONCEPTIONS] Some will leave with "CTEs are the right answer" as the takeaway, because the CTE won two comparisons out of three today. Say plainly that it lost one - a scalar subquery used exactly once needs no wrapper - and that the checks, not the winner, are what transfers.</a:t>
            </a:r>
          </a:p>
          <a:p/>
          <a:p>
            <a:r>
              <a:t>[SCRIPT] The video is optional enrichment, not required viewing, and it needs an honest caveat if you point at it. It compares five ways of holding an intermediate result, which is genuinely today's shape of question - but it stops short of window functions, and being engine-agnostic it says nothing about the version-scoped inlining rule. Useful for the subquery-versus-CTE half only.</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Say the topic shift out loud rather than letting it be a surprise: next class's lab is a schema critique and read-only role setup, not another round of subquery-versus-CTE-versus-window-function. It circles back to this module's own earliest normalization and `psql` skills at full independence, which is deliberate spacing, not a detour.</a:t>
            </a:r>
          </a:p>
          <a:p/>
          <a:p>
            <a:r>
              <a:t>[SCRIPT] Today's own practice isn't skipped, it's just not a separate assignment - the four-check routine is exactly what the project's written business-question mapping asks for, so that mapping document is where today's skill actually gets exercised.</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All three are free and none needs an account. Point at the PostgreSQL page for anybody who wants the primary source behind today's version-scoped claim about CTEs, rather than taking it on trust from a slide.</a:t>
            </a:r>
          </a:p>
          <a:p/>
          <a:p>
            <a:r>
              <a:t>[SCRIPT] The practice site is the strongest pick for anyone who wants reps before the project. It runs real PostgreSQL in the browser, so the syntax matches what has been typed all module. Point specifically at its rolling-average and ranking questions, and at the one that deliberately asks for a second solution to a question already solved another way - that is exactly today's exercise shape, set by somebody else.</a:t>
            </a:r>
          </a:p>
          <a:p/>
          <a:p>
            <a:r>
              <a:t>[SCRIPT] The DataLemur article is written for interview prep specifically, so it pairs directly with today's interview-prep slide rather than repeating the lecture.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13.png"/><Relationship Id="rId7" Type="http://schemas.openxmlformats.org/officeDocument/2006/relationships/hyperlink" Target="https://www.youtube.com/watch?v=6RU6T8HKgYA" TargetMode="External"/><Relationship Id="rId8"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4.png"/><Relationship Id="rId4" Type="http://schemas.openxmlformats.org/officeDocument/2006/relationships/hyperlink" Target="https://www.postgresql.org/docs/current/queries-with.html" TargetMode="External"/><Relationship Id="rId5" Type="http://schemas.openxmlformats.org/officeDocument/2006/relationships/image" Target="../media/image15.png"/><Relationship Id="rId6" Type="http://schemas.openxmlformats.org/officeDocument/2006/relationships/hyperlink" Target="https://datalemur.com/sql-tutorial/sql-cte-subquery" TargetMode="External"/><Relationship Id="rId7" Type="http://schemas.openxmlformats.org/officeDocument/2006/relationships/image" Target="../media/image16.png"/><Relationship Id="rId8" Type="http://schemas.openxmlformats.org/officeDocument/2006/relationships/hyperlink" Target="https://pgexercises.com/questions/aggregates/" TargetMode="External"/><Relationship Id="rId9"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320040"/>
            <a:ext cx="11094415" cy="274320"/>
          </a:xfrm>
          <a:prstGeom prst="rect">
            <a:avLst/>
          </a:prstGeom>
          <a:noFill/>
        </p:spPr>
        <p:txBody>
          <a:bodyPr wrap="square" anchor="t" lIns="0" rIns="0" tIns="0" bIns="0">
            <a:noAutofit/>
          </a:bodyPr>
          <a:lstStyle/>
          <a:p>
            <a:pPr algn="l"/>
            <a:r>
              <a:rPr sz="2600" b="1" i="0" u="none">
                <a:solidFill>
                  <a:srgbClr val="FFFCF7"/>
                </a:solidFill>
                <a:latin typeface="Helvetica"/>
              </a:rPr>
              <a:t>THE MARCY LAB SCHOOL</a:t>
            </a:r>
          </a:p>
        </p:txBody>
      </p:sp>
      <p:sp>
        <p:nvSpPr>
          <p:cNvPr id="4" name="Rectangle 3"/>
          <p:cNvSpPr/>
          <p:nvPr/>
        </p:nvSpPr>
        <p:spPr>
          <a:xfrm>
            <a:off x="0" y="6748272"/>
            <a:ext cx="8534186" cy="54864"/>
          </a:xfrm>
          <a:prstGeom prst="rect">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286000"/>
            <a:ext cx="11094415" cy="1463040"/>
          </a:xfrm>
          <a:prstGeom prst="rect">
            <a:avLst/>
          </a:prstGeom>
          <a:noFill/>
        </p:spPr>
        <p:txBody>
          <a:bodyPr wrap="square" anchor="b" lIns="0" rIns="0" tIns="0" bIns="0">
            <a:noAutofit/>
          </a:bodyPr>
          <a:lstStyle/>
          <a:p>
            <a:pPr algn="l"/>
            <a:r>
              <a:rPr sz="4000" b="1" i="0" u="none">
                <a:solidFill>
                  <a:srgbClr val="EEBC32"/>
                </a:solidFill>
                <a:latin typeface="Helvetica"/>
              </a:rPr>
              <a:t>Subquery, CTE, or Window Function: </a:t>
            </a:r>
            <a:r>
              <a:rPr sz="4000" b="1" i="0" u="none">
                <a:solidFill>
                  <a:srgbClr val="264326"/>
                </a:solidFill>
                <a:latin typeface="Helvetica"/>
              </a:rPr>
              <a:t>Picking the Right Tool</a:t>
            </a:r>
          </a:p>
        </p:txBody>
      </p:sp>
      <p:sp>
        <p:nvSpPr>
          <p:cNvPr id="6" name="TextBox 5"/>
          <p:cNvSpPr txBox="1"/>
          <p:nvPr/>
        </p:nvSpPr>
        <p:spPr>
          <a:xfrm>
            <a:off x="548640" y="5943600"/>
            <a:ext cx="8229600" cy="457200"/>
          </a:xfrm>
          <a:prstGeom prst="rect">
            <a:avLst/>
          </a:prstGeom>
          <a:noFill/>
        </p:spPr>
        <p:txBody>
          <a:bodyPr wrap="square" anchor="t" lIns="0" rIns="0" tIns="0" bIns="0">
            <a:noAutofit/>
          </a:bodyPr>
          <a:lstStyle/>
          <a:p>
            <a:pPr algn="l"/>
            <a:r>
              <a:rPr sz="2600" b="0" i="0" u="none">
                <a:solidFill>
                  <a:srgbClr val="FFFCF7"/>
                </a:solidFill>
                <a:latin typeface="Helvetica"/>
              </a:rPr>
              <a:t>Module 3: SQL &amp; Relational Databases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By the End of Today, You'll Be Able To...</a:t>
            </a:r>
          </a:p>
        </p:txBody>
      </p:sp>
      <p:sp>
        <p:nvSpPr>
          <p:cNvPr id="4" name="Rounded Rectangle 3"/>
          <p:cNvSpPr/>
          <p:nvPr/>
        </p:nvSpPr>
        <p:spPr>
          <a:xfrm>
            <a:off x="548640" y="2468880"/>
            <a:ext cx="3545738" cy="2560320"/>
          </a:xfrm>
          <a:prstGeom prst="roundRect">
            <a:avLst>
              <a:gd name="adj" fmla="val 6000"/>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2047189" y="2697480"/>
            <a:ext cx="548640" cy="548640"/>
          </a:xfrm>
          <a:prstGeom prst="rect">
            <a:avLst/>
          </a:prstGeom>
        </p:spPr>
      </p:pic>
      <p:sp>
        <p:nvSpPr>
          <p:cNvPr id="6" name="TextBox 5"/>
          <p:cNvSpPr txBox="1"/>
          <p:nvPr/>
        </p:nvSpPr>
        <p:spPr>
          <a:xfrm>
            <a:off x="685800"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Answer one question two ways</a:t>
            </a:r>
          </a:p>
        </p:txBody>
      </p:sp>
      <p:sp>
        <p:nvSpPr>
          <p:cNvPr id="7" name="Rounded Rectangle 6"/>
          <p:cNvSpPr/>
          <p:nvPr/>
        </p:nvSpPr>
        <p:spPr>
          <a:xfrm>
            <a:off x="4322978" y="2468880"/>
            <a:ext cx="3545738" cy="25603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
          <p:cNvPicPr>
            <a:picLocks noChangeAspect="1"/>
          </p:cNvPicPr>
          <p:nvPr/>
        </p:nvPicPr>
        <p:blipFill>
          <a:blip r:embed="rId4"/>
          <a:stretch>
            <a:fillRect/>
          </a:stretch>
        </p:blipFill>
        <p:spPr>
          <a:xfrm>
            <a:off x="5821528" y="2697480"/>
            <a:ext cx="548640" cy="548640"/>
          </a:xfrm>
          <a:prstGeom prst="rect">
            <a:avLst/>
          </a:prstGeom>
        </p:spPr>
      </p:pic>
      <p:sp>
        <p:nvSpPr>
          <p:cNvPr id="9" name="TextBox 8"/>
          <p:cNvSpPr txBox="1"/>
          <p:nvPr/>
        </p:nvSpPr>
        <p:spPr>
          <a:xfrm>
            <a:off x="4460138"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Spot when every row matters</a:t>
            </a:r>
          </a:p>
        </p:txBody>
      </p:sp>
      <p:sp>
        <p:nvSpPr>
          <p:cNvPr id="10" name="Rounded Rectangle 9"/>
          <p:cNvSpPr/>
          <p:nvPr/>
        </p:nvSpPr>
        <p:spPr>
          <a:xfrm>
            <a:off x="8097317" y="2468880"/>
            <a:ext cx="3545738" cy="2560320"/>
          </a:xfrm>
          <a:prstGeom prst="roundRect">
            <a:avLst>
              <a:gd name="adj" fmla="val 6000"/>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
          <p:cNvPicPr>
            <a:picLocks noChangeAspect="1"/>
          </p:cNvPicPr>
          <p:nvPr/>
        </p:nvPicPr>
        <p:blipFill>
          <a:blip r:embed="rId5"/>
          <a:stretch>
            <a:fillRect/>
          </a:stretch>
        </p:blipFill>
        <p:spPr>
          <a:xfrm>
            <a:off x="9595866" y="2697480"/>
            <a:ext cx="548640" cy="548640"/>
          </a:xfrm>
          <a:prstGeom prst="rect">
            <a:avLst/>
          </a:prstGeom>
        </p:spPr>
      </p:pic>
      <p:sp>
        <p:nvSpPr>
          <p:cNvPr id="12" name="TextBox 11"/>
          <p:cNvSpPr txBox="1"/>
          <p:nvPr/>
        </p:nvSpPr>
        <p:spPr>
          <a:xfrm>
            <a:off x="8234477"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Pick a tool and defend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Key Terms You'll Know by the End of Today</a:t>
            </a:r>
          </a:p>
        </p:txBody>
      </p:sp>
      <p:sp>
        <p:nvSpPr>
          <p:cNvPr id="4" name="Rounded Rectangle 3"/>
          <p:cNvSpPr/>
          <p:nvPr/>
        </p:nvSpPr>
        <p:spPr>
          <a:xfrm>
            <a:off x="548640" y="2468880"/>
            <a:ext cx="3545738" cy="2560320"/>
          </a:xfrm>
          <a:prstGeom prst="roundRect">
            <a:avLst>
              <a:gd name="adj" fmla="val 6000"/>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2047189" y="2697480"/>
            <a:ext cx="548640" cy="548640"/>
          </a:xfrm>
          <a:prstGeom prst="rect">
            <a:avLst/>
          </a:prstGeom>
        </p:spPr>
      </p:pic>
      <p:sp>
        <p:nvSpPr>
          <p:cNvPr id="6" name="TextBox 5"/>
          <p:cNvSpPr txBox="1"/>
          <p:nvPr/>
        </p:nvSpPr>
        <p:spPr>
          <a:xfrm>
            <a:off x="685800"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Scalar Subquery</a:t>
            </a:r>
          </a:p>
        </p:txBody>
      </p:sp>
      <p:sp>
        <p:nvSpPr>
          <p:cNvPr id="7" name="Rounded Rectangle 6"/>
          <p:cNvSpPr/>
          <p:nvPr/>
        </p:nvSpPr>
        <p:spPr>
          <a:xfrm>
            <a:off x="4322978" y="2468880"/>
            <a:ext cx="3545738" cy="25603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
          <p:cNvPicPr>
            <a:picLocks noChangeAspect="1"/>
          </p:cNvPicPr>
          <p:nvPr/>
        </p:nvPicPr>
        <p:blipFill>
          <a:blip r:embed="rId4"/>
          <a:stretch>
            <a:fillRect/>
          </a:stretch>
        </p:blipFill>
        <p:spPr>
          <a:xfrm>
            <a:off x="5821528" y="2697480"/>
            <a:ext cx="548640" cy="548640"/>
          </a:xfrm>
          <a:prstGeom prst="rect">
            <a:avLst/>
          </a:prstGeom>
        </p:spPr>
      </p:pic>
      <p:sp>
        <p:nvSpPr>
          <p:cNvPr id="9" name="TextBox 8"/>
          <p:cNvSpPr txBox="1"/>
          <p:nvPr/>
        </p:nvSpPr>
        <p:spPr>
          <a:xfrm>
            <a:off x="4460138"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Derived Table</a:t>
            </a:r>
          </a:p>
        </p:txBody>
      </p:sp>
      <p:sp>
        <p:nvSpPr>
          <p:cNvPr id="10" name="Rounded Rectangle 9"/>
          <p:cNvSpPr/>
          <p:nvPr/>
        </p:nvSpPr>
        <p:spPr>
          <a:xfrm>
            <a:off x="8097317" y="2468880"/>
            <a:ext cx="3545738" cy="2560320"/>
          </a:xfrm>
          <a:prstGeom prst="roundRect">
            <a:avLst>
              <a:gd name="adj" fmla="val 6000"/>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
          <p:cNvPicPr>
            <a:picLocks noChangeAspect="1"/>
          </p:cNvPicPr>
          <p:nvPr/>
        </p:nvPicPr>
        <p:blipFill>
          <a:blip r:embed="rId5"/>
          <a:stretch>
            <a:fillRect/>
          </a:stretch>
        </p:blipFill>
        <p:spPr>
          <a:xfrm>
            <a:off x="9595866" y="2697480"/>
            <a:ext cx="548640" cy="548640"/>
          </a:xfrm>
          <a:prstGeom prst="rect">
            <a:avLst/>
          </a:prstGeom>
        </p:spPr>
      </p:pic>
      <p:sp>
        <p:nvSpPr>
          <p:cNvPr id="12" name="TextBox 11"/>
          <p:cNvSpPr txBox="1"/>
          <p:nvPr/>
        </p:nvSpPr>
        <p:spPr>
          <a:xfrm>
            <a:off x="8234477"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Correlated Subquery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CHECK FOR UNDERSTANDING</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Quick recall: </a:t>
            </a:r>
            <a:r>
              <a:rPr sz="3200" b="1" i="0" u="none">
                <a:solidFill>
                  <a:srgbClr val="261F1D"/>
                </a:solidFill>
                <a:latin typeface="Roboto Mono"/>
              </a:rPr>
              <a:t>GROUP BY</a:t>
            </a:r>
            <a:r>
              <a:rPr sz="3200" b="1" i="0" u="none">
                <a:solidFill>
                  <a:srgbClr val="261F1D"/>
                </a:solidFill>
                <a:latin typeface="Helvetica"/>
              </a:rPr>
              <a:t> hands back one row per group. What does a window function do to your row count?</a:t>
            </a:r>
          </a:p>
        </p:txBody>
      </p:sp>
      <p:sp>
        <p:nvSpPr>
          <p:cNvPr id="6" name="TextBox 5"/>
          <p:cNvSpPr txBox="1"/>
          <p:nvPr/>
        </p:nvSpPr>
        <p:spPr>
          <a:xfrm>
            <a:off x="822960" y="3291840"/>
            <a:ext cx="10545775" cy="2560320"/>
          </a:xfrm>
          <a:prstGeom prst="rect">
            <a:avLst/>
          </a:prstGeom>
          <a:noFill/>
        </p:spPr>
        <p:txBody>
          <a:bodyPr wrap="square" lIns="0" rIns="0" tIns="0" bIns="0">
            <a:noAutofit/>
          </a:bodyPr>
          <a:lstStyle/>
          <a:p>
            <a:pPr>
              <a:spcAft>
                <a:spcPts val="1000"/>
              </a:spcAft>
            </a:pPr>
            <a:r>
              <a:rPr sz="2600" b="0" i="0" u="none">
                <a:solidFill>
                  <a:srgbClr val="261F1D"/>
                </a:solidFill>
                <a:latin typeface="Helvetica"/>
              </a:rPr>
              <a:t>A.  Collapses it the same way</a:t>
            </a:r>
          </a:p>
          <a:p>
            <a:pPr>
              <a:spcAft>
                <a:spcPts val="1000"/>
              </a:spcAft>
            </a:pPr>
            <a:r>
              <a:rPr sz="2600" b="0" i="0" u="none">
                <a:solidFill>
                  <a:srgbClr val="261F1D"/>
                </a:solidFill>
                <a:latin typeface="Helvetica"/>
              </a:rPr>
              <a:t>B.  Keeps every row, adds a column</a:t>
            </a:r>
          </a:p>
          <a:p>
            <a:pPr>
              <a:spcAft>
                <a:spcPts val="1000"/>
              </a:spcAft>
            </a:pPr>
            <a:r>
              <a:rPr sz="2600" b="0" i="0" u="none">
                <a:solidFill>
                  <a:srgbClr val="261F1D"/>
                </a:solidFill>
                <a:latin typeface="Helvetica"/>
              </a:rPr>
              <a:t>C.  Keeps every row, drops a column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EEC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66928"/>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566928"/>
          </a:xfrm>
          <a:prstGeom prst="rect">
            <a:avLst/>
          </a:prstGeom>
          <a:noFill/>
        </p:spPr>
        <p:txBody>
          <a:bodyPr wrap="square" anchor="ctr" lIns="0" rIns="0" tIns="0" bIns="0">
            <a:noAutofit/>
          </a:bodyPr>
          <a:lstStyle/>
          <a:p>
            <a:pPr algn="l"/>
            <a:r>
              <a:rPr sz="2600" b="1" i="0" u="none">
                <a:solidFill>
                  <a:srgbClr val="261F1D"/>
                </a:solidFill>
                <a:latin typeface="Helvetica"/>
              </a:rPr>
              <a:t>Answer Key: Warm-Up: What a Window Function Keeps</a:t>
            </a:r>
          </a:p>
        </p:txBody>
      </p:sp>
      <p:sp>
        <p:nvSpPr>
          <p:cNvPr id="5" name="TextBox 4"/>
          <p:cNvSpPr txBox="1"/>
          <p:nvPr/>
        </p:nvSpPr>
        <p:spPr>
          <a:xfrm>
            <a:off x="548640" y="1389888"/>
            <a:ext cx="11094415" cy="914400"/>
          </a:xfrm>
          <a:prstGeom prst="rect">
            <a:avLst/>
          </a:prstGeom>
          <a:noFill/>
        </p:spPr>
        <p:txBody>
          <a:bodyPr wrap="square" anchor="t" lIns="0" rIns="0" tIns="0" bIns="0">
            <a:noAutofit/>
          </a:bodyPr>
          <a:lstStyle/>
          <a:p>
            <a:pPr algn="l"/>
            <a:r>
              <a:rPr sz="3200" b="1" i="0" u="none">
                <a:solidFill>
                  <a:srgbClr val="261F1D"/>
                </a:solidFill>
                <a:latin typeface="Helvetica"/>
              </a:rPr>
              <a:t>Correct answer: Keeps every row, adds a column</a:t>
            </a:r>
          </a:p>
        </p:txBody>
      </p:sp>
      <p:sp>
        <p:nvSpPr>
          <p:cNvPr id="6" name="TextBox 5"/>
          <p:cNvSpPr txBox="1"/>
          <p:nvPr/>
        </p:nvSpPr>
        <p:spPr>
          <a:xfrm>
            <a:off x="548640" y="2487168"/>
            <a:ext cx="11094415" cy="2286000"/>
          </a:xfrm>
          <a:prstGeom prst="rect">
            <a:avLst/>
          </a:prstGeom>
          <a:noFill/>
        </p:spPr>
        <p:txBody>
          <a:bodyPr wrap="square" anchor="t" lIns="0" rIns="0" tIns="0" bIns="0">
            <a:noAutofit/>
          </a:bodyPr>
          <a:lstStyle/>
          <a:p>
            <a:pPr algn="l"/>
            <a:r>
              <a:rPr sz="2600" b="0" i="0" u="none">
                <a:solidFill>
                  <a:srgbClr val="261F1D"/>
                </a:solidFill>
                <a:latin typeface="Helvetica"/>
              </a:rPr>
              <a:t>A window function computes across a set of rows related to the current row, but it does not group them into a single output row - every input row survives, with a new value sitting beside it. That difference is not trivia today. It is the single sharpest test for whether a window function is even a candidate for the question in front of you.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Oval 2"/>
          <p:cNvSpPr/>
          <p:nvPr/>
        </p:nvSpPr>
        <p:spPr>
          <a:xfrm>
            <a:off x="5784037" y="556870"/>
            <a:ext cx="623621" cy="623621"/>
          </a:xfrm>
          <a:prstGeom prst="ellipse">
            <a:avLst/>
          </a:prstGeom>
          <a:solidFill>
            <a:srgbClr val="DEEAF4"/>
          </a:solidFill>
          <a:ln w="50800">
            <a:solidFill>
              <a:srgbClr val="2274B5"/>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5939942" y="712775"/>
            <a:ext cx="311810" cy="311810"/>
          </a:xfrm>
          <a:prstGeom prst="rect">
            <a:avLst/>
          </a:prstGeom>
        </p:spPr>
      </p:pic>
      <p:sp>
        <p:nvSpPr>
          <p:cNvPr id="5" name="TextBox 4"/>
          <p:cNvSpPr txBox="1"/>
          <p:nvPr/>
        </p:nvSpPr>
        <p:spPr>
          <a:xfrm>
            <a:off x="548640" y="150876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One Business Question</a:t>
            </a:r>
          </a:p>
        </p:txBody>
      </p:sp>
      <p:sp>
        <p:nvSpPr>
          <p:cNvPr id="6" name="TextBox 5"/>
          <p:cNvSpPr txBox="1"/>
          <p:nvPr/>
        </p:nvSpPr>
        <p:spPr>
          <a:xfrm>
            <a:off x="548640" y="260604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Code Along: The Same Answer, Two Ways</a:t>
            </a:r>
          </a:p>
        </p:txBody>
      </p:sp>
      <p:sp>
        <p:nvSpPr>
          <p:cNvPr id="7" name="TextBox 6"/>
          <p:cNvSpPr txBox="1"/>
          <p:nvPr/>
        </p:nvSpPr>
        <p:spPr>
          <a:xfrm>
            <a:off x="548640" y="416052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Both queries return the identical two rows - what changes is how much the next person has to hold in their head.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Written Once, the Work Gets Done </a:t>
            </a:r>
            <a:r>
              <a:rPr sz="3200" b="1" i="0" u="none">
                <a:solidFill>
                  <a:srgbClr val="264326"/>
                </a:solidFill>
                <a:latin typeface="Helvetica"/>
              </a:rPr>
              <a:t>Twice</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psql</a:t>
            </a:r>
          </a:p>
        </p:txBody>
      </p:sp>
      <p:sp>
        <p:nvSpPr>
          <p:cNvPr id="9" name="TextBox 8"/>
          <p:cNvSpPr txBox="1"/>
          <p:nvPr/>
        </p:nvSpPr>
        <p:spPr>
          <a:xfrm>
            <a:off x="804672" y="1636776"/>
            <a:ext cx="10582351" cy="4590288"/>
          </a:xfrm>
          <a:prstGeom prst="rect">
            <a:avLst/>
          </a:prstGeom>
          <a:noFill/>
        </p:spPr>
        <p:txBody>
          <a:bodyPr wrap="square" lIns="0" rIns="0" tIns="0" bIns="0">
            <a:noAutofit/>
          </a:bodyPr>
          <a:lstStyle/>
          <a:p>
            <a:pPr>
              <a:lnSpc>
                <a:spcPct val="105000"/>
              </a:lnSpc>
              <a:defRPr sz="2600">
                <a:latin typeface="Roboto Mono"/>
              </a:defRPr>
            </a:pP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dba</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COUNT</a:t>
            </a:r>
            <a:r>
              <a:rPr sz="2600" i="0">
                <a:solidFill>
                  <a:srgbClr val="FFFCF7"/>
                </a:solidFill>
                <a:latin typeface="Roboto Mono"/>
              </a:rPr>
              <a:t>(</a:t>
            </a:r>
            <a:r>
              <a:rPr sz="2600" i="0">
                <a:solidFill>
                  <a:srgbClr val="FFFCF7"/>
                </a:solidFill>
                <a:latin typeface="Roboto Mono"/>
              </a:rPr>
              <a:t>violation_id</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tv</a:t>
            </a:r>
          </a:p>
          <a:p>
            <a:pPr>
              <a:lnSpc>
                <a:spcPct val="105000"/>
              </a:lnSpc>
              <a:defRPr sz="2600">
                <a:latin typeface="Roboto Mono"/>
              </a:defRPr>
            </a:pP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restaurants</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LEFT</a:t>
            </a:r>
            <a:r>
              <a:rPr sz="2600" i="0">
                <a:solidFill>
                  <a:srgbClr val="FFFCF7"/>
                </a:solidFill>
                <a:latin typeface="Roboto Mono"/>
              </a:rPr>
              <a:t> </a:t>
            </a:r>
            <a:r>
              <a:rPr sz="2600" i="0">
                <a:solidFill>
                  <a:srgbClr val="EEBC32"/>
                </a:solidFill>
                <a:latin typeface="Roboto Mono"/>
              </a:rPr>
              <a:t>JOIN</a:t>
            </a:r>
            <a:r>
              <a:rPr sz="2600" i="0">
                <a:solidFill>
                  <a:srgbClr val="FFFCF7"/>
                </a:solidFill>
                <a:latin typeface="Roboto Mono"/>
              </a:rPr>
              <a:t> </a:t>
            </a:r>
            <a:r>
              <a:rPr sz="2600" i="0">
                <a:solidFill>
                  <a:srgbClr val="FFFCF7"/>
                </a:solidFill>
                <a:latin typeface="Roboto Mono"/>
              </a:rPr>
              <a:t>inspections</a:t>
            </a:r>
            <a:r>
              <a:rPr sz="2600" i="0">
                <a:solidFill>
                  <a:srgbClr val="FFFCF7"/>
                </a:solidFill>
                <a:latin typeface="Roboto Mono"/>
              </a:rPr>
              <a:t> </a:t>
            </a:r>
            <a:r>
              <a:rPr sz="2600" i="0">
                <a:solidFill>
                  <a:srgbClr val="EEBC32"/>
                </a:solidFill>
                <a:latin typeface="Roboto Mono"/>
              </a:rPr>
              <a:t>USING</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camis</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LEFT</a:t>
            </a:r>
            <a:r>
              <a:rPr sz="2600" i="0">
                <a:solidFill>
                  <a:srgbClr val="FFFCF7"/>
                </a:solidFill>
                <a:latin typeface="Roboto Mono"/>
              </a:rPr>
              <a:t> </a:t>
            </a:r>
            <a:r>
              <a:rPr sz="2600" i="0">
                <a:solidFill>
                  <a:srgbClr val="EEBC32"/>
                </a:solidFill>
                <a:latin typeface="Roboto Mono"/>
              </a:rPr>
              <a:t>JOIN</a:t>
            </a:r>
            <a:r>
              <a:rPr sz="2600" i="0">
                <a:solidFill>
                  <a:srgbClr val="FFFCF7"/>
                </a:solidFill>
                <a:latin typeface="Roboto Mono"/>
              </a:rPr>
              <a:t> </a:t>
            </a:r>
            <a:r>
              <a:rPr sz="2600" i="0">
                <a:solidFill>
                  <a:srgbClr val="FFFCF7"/>
                </a:solidFill>
                <a:latin typeface="Roboto Mono"/>
              </a:rPr>
              <a:t>violations</a:t>
            </a:r>
            <a:r>
              <a:rPr sz="2600" i="0">
                <a:solidFill>
                  <a:srgbClr val="FFFCF7"/>
                </a:solidFill>
                <a:latin typeface="Roboto Mono"/>
              </a:rPr>
              <a:t> </a:t>
            </a:r>
            <a:r>
              <a:rPr sz="2600" i="0">
                <a:solidFill>
                  <a:srgbClr val="EEBC32"/>
                </a:solidFill>
                <a:latin typeface="Roboto Mono"/>
              </a:rPr>
              <a:t>USING</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inspection_id</a:t>
            </a:r>
            <a:r>
              <a:rPr sz="2600" i="0">
                <a:solidFill>
                  <a:srgbClr val="FFFCF7"/>
                </a:solidFill>
                <a:latin typeface="Roboto Mono"/>
              </a:rPr>
              <a:t>)</a:t>
            </a:r>
          </a:p>
          <a:p>
            <a:pPr>
              <a:lnSpc>
                <a:spcPct val="105000"/>
              </a:lnSpc>
              <a:defRPr sz="2600">
                <a:latin typeface="Roboto Mono"/>
              </a:defRPr>
            </a:pPr>
            <a:r>
              <a:rPr sz="2600" i="0">
                <a:solidFill>
                  <a:srgbClr val="EEBC32"/>
                </a:solidFill>
                <a:latin typeface="Roboto Mono"/>
              </a:rPr>
              <a:t>GROUP</a:t>
            </a:r>
            <a:r>
              <a:rPr sz="2600" i="0">
                <a:solidFill>
                  <a:srgbClr val="FFFCF7"/>
                </a:solidFill>
                <a:latin typeface="Roboto Mono"/>
              </a:rPr>
              <a:t> </a:t>
            </a:r>
            <a:r>
              <a:rPr sz="2600" i="0">
                <a:solidFill>
                  <a:srgbClr val="EEBC32"/>
                </a:solidFill>
                <a:latin typeface="Roboto Mono"/>
              </a:rPr>
              <a:t>BY</a:t>
            </a:r>
            <a:r>
              <a:rPr sz="2600" i="0">
                <a:solidFill>
                  <a:srgbClr val="FFFCF7"/>
                </a:solidFill>
                <a:latin typeface="Roboto Mono"/>
              </a:rPr>
              <a:t> </a:t>
            </a:r>
            <a:r>
              <a:rPr sz="2600" i="0">
                <a:solidFill>
                  <a:srgbClr val="FFFCF7"/>
                </a:solidFill>
                <a:latin typeface="Roboto Mono"/>
              </a:rPr>
              <a:t>dba</a:t>
            </a:r>
          </a:p>
          <a:p>
            <a:pPr>
              <a:lnSpc>
                <a:spcPct val="105000"/>
              </a:lnSpc>
              <a:defRPr sz="2600">
                <a:latin typeface="Roboto Mono"/>
              </a:defRPr>
            </a:pPr>
            <a:r>
              <a:rPr sz="2600" i="0">
                <a:solidFill>
                  <a:srgbClr val="EEBC32"/>
                </a:solidFill>
                <a:latin typeface="Roboto Mono"/>
              </a:rPr>
              <a:t>HAVING</a:t>
            </a:r>
            <a:r>
              <a:rPr sz="2600" i="0">
                <a:solidFill>
                  <a:srgbClr val="FFFCF7"/>
                </a:solidFill>
                <a:latin typeface="Roboto Mono"/>
              </a:rPr>
              <a:t> </a:t>
            </a:r>
            <a:r>
              <a:rPr sz="2600" i="0">
                <a:solidFill>
                  <a:srgbClr val="EEBC32"/>
                </a:solidFill>
                <a:latin typeface="Roboto Mono"/>
              </a:rPr>
              <a:t>COUNT</a:t>
            </a:r>
            <a:r>
              <a:rPr sz="2600" i="0">
                <a:solidFill>
                  <a:srgbClr val="FFFCF7"/>
                </a:solidFill>
                <a:latin typeface="Roboto Mono"/>
              </a:rPr>
              <a:t>(</a:t>
            </a:r>
            <a:r>
              <a:rPr sz="2600" i="0">
                <a:solidFill>
                  <a:srgbClr val="FFFCF7"/>
                </a:solidFill>
                <a:latin typeface="Roboto Mono"/>
              </a:rPr>
              <a:t>violation_id</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&gt;</a:t>
            </a:r>
            <a:r>
              <a:rPr sz="2600" i="0">
                <a:solidFill>
                  <a:srgbClr val="FFFCF7"/>
                </a:solidFill>
                <a:latin typeface="Roboto Mono"/>
              </a:rPr>
              <a:t> </a:t>
            </a:r>
            <a:r>
              <a:rPr sz="2600" i="0">
                <a:solidFill>
                  <a:srgbClr val="FFFCF7"/>
                </a:solidFill>
                <a:latin typeface="Roboto Mono"/>
              </a:rPr>
              <a:t>(</a:t>
            </a:r>
            <a:r>
              <a:rPr sz="2600" i="0">
                <a:solidFill>
                  <a:srgbClr val="EEBC32"/>
                </a:solidFill>
                <a:latin typeface="Roboto Mono"/>
              </a:rPr>
              <a:t>SELECT</a:t>
            </a:r>
            <a:r>
              <a:rPr sz="2600" i="0">
                <a:solidFill>
                  <a:srgbClr val="FFFCF7"/>
                </a:solidFill>
                <a:latin typeface="Roboto Mono"/>
              </a:rPr>
              <a:t> </a:t>
            </a:r>
            <a:r>
              <a:rPr sz="2600" i="0">
                <a:solidFill>
                  <a:srgbClr val="EEBC32"/>
                </a:solidFill>
                <a:latin typeface="Roboto Mono"/>
              </a:rPr>
              <a:t>AVG</a:t>
            </a:r>
            <a:r>
              <a:rPr sz="2600" i="0">
                <a:solidFill>
                  <a:srgbClr val="FFFCF7"/>
                </a:solidFill>
                <a:latin typeface="Roboto Mono"/>
              </a:rPr>
              <a:t>(</a:t>
            </a:r>
            <a:r>
              <a:rPr sz="2600" i="0">
                <a:solidFill>
                  <a:srgbClr val="FFFCF7"/>
                </a:solidFill>
                <a:latin typeface="Roboto Mono"/>
              </a:rPr>
              <a:t>tv</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SELECT</a:t>
            </a:r>
            <a:r>
              <a:rPr sz="2600" i="0">
                <a:solidFill>
                  <a:srgbClr val="FFFCF7"/>
                </a:solidFill>
                <a:latin typeface="Roboto Mono"/>
              </a:rPr>
              <a:t> </a:t>
            </a:r>
            <a:r>
              <a:rPr sz="2600" i="0">
                <a:solidFill>
                  <a:srgbClr val="EEBC32"/>
                </a:solidFill>
                <a:latin typeface="Roboto Mono"/>
              </a:rPr>
              <a:t>COUNT</a:t>
            </a:r>
            <a:r>
              <a:rPr sz="2600" i="0">
                <a:solidFill>
                  <a:srgbClr val="FFFCF7"/>
                </a:solidFill>
                <a:latin typeface="Roboto Mono"/>
              </a:rPr>
              <a:t>(</a:t>
            </a:r>
            <a:r>
              <a:rPr sz="2600" i="0">
                <a:solidFill>
                  <a:srgbClr val="FFFCF7"/>
                </a:solidFill>
                <a:latin typeface="Roboto Mono"/>
              </a:rPr>
              <a:t>violation_id</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tv</a:t>
            </a:r>
            <a:r>
              <a:rPr sz="2600" i="0">
                <a:solidFill>
                  <a:srgbClr val="FFFCF7"/>
                </a:solidFill>
                <a:latin typeface="Roboto Mono"/>
              </a:rPr>
              <a:t> </a:t>
            </a: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restaurants</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LEFT</a:t>
            </a:r>
            <a:r>
              <a:rPr sz="2600" i="0">
                <a:solidFill>
                  <a:srgbClr val="FFFCF7"/>
                </a:solidFill>
                <a:latin typeface="Roboto Mono"/>
              </a:rPr>
              <a:t> </a:t>
            </a:r>
            <a:r>
              <a:rPr sz="2600" i="0">
                <a:solidFill>
                  <a:srgbClr val="EEBC32"/>
                </a:solidFill>
                <a:latin typeface="Roboto Mono"/>
              </a:rPr>
              <a:t>JOIN</a:t>
            </a:r>
            <a:r>
              <a:rPr sz="2600" i="0">
                <a:solidFill>
                  <a:srgbClr val="FFFCF7"/>
                </a:solidFill>
                <a:latin typeface="Roboto Mono"/>
              </a:rPr>
              <a:t> </a:t>
            </a:r>
            <a:r>
              <a:rPr sz="2600" i="0">
                <a:solidFill>
                  <a:srgbClr val="FFFCF7"/>
                </a:solidFill>
                <a:latin typeface="Roboto Mono"/>
              </a:rPr>
              <a:t>inspections</a:t>
            </a:r>
            <a:r>
              <a:rPr sz="2600" i="0">
                <a:solidFill>
                  <a:srgbClr val="FFFCF7"/>
                </a:solidFill>
                <a:latin typeface="Roboto Mono"/>
              </a:rPr>
              <a:t> </a:t>
            </a:r>
            <a:r>
              <a:rPr sz="2600" i="0">
                <a:solidFill>
                  <a:srgbClr val="EEBC32"/>
                </a:solidFill>
                <a:latin typeface="Roboto Mono"/>
              </a:rPr>
              <a:t>USING</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camis</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LEFT</a:t>
            </a:r>
            <a:r>
              <a:rPr sz="2600" i="0">
                <a:solidFill>
                  <a:srgbClr val="FFFCF7"/>
                </a:solidFill>
                <a:latin typeface="Roboto Mono"/>
              </a:rPr>
              <a:t> </a:t>
            </a:r>
            <a:r>
              <a:rPr sz="2600" i="0">
                <a:solidFill>
                  <a:srgbClr val="EEBC32"/>
                </a:solidFill>
                <a:latin typeface="Roboto Mono"/>
              </a:rPr>
              <a:t>JOIN</a:t>
            </a:r>
            <a:r>
              <a:rPr sz="2600" i="0">
                <a:solidFill>
                  <a:srgbClr val="FFFCF7"/>
                </a:solidFill>
                <a:latin typeface="Roboto Mono"/>
              </a:rPr>
              <a:t> </a:t>
            </a:r>
            <a:r>
              <a:rPr sz="2600" i="0">
                <a:solidFill>
                  <a:srgbClr val="FFFCF7"/>
                </a:solidFill>
                <a:latin typeface="Roboto Mono"/>
              </a:rPr>
              <a:t>violations</a:t>
            </a:r>
            <a:r>
              <a:rPr sz="2600" i="0">
                <a:solidFill>
                  <a:srgbClr val="FFFCF7"/>
                </a:solidFill>
                <a:latin typeface="Roboto Mono"/>
              </a:rPr>
              <a:t> </a:t>
            </a:r>
            <a:r>
              <a:rPr sz="2600" i="0">
                <a:solidFill>
                  <a:srgbClr val="EEBC32"/>
                </a:solidFill>
                <a:latin typeface="Roboto Mono"/>
              </a:rPr>
              <a:t>USING</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inspection_id</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GROUP</a:t>
            </a:r>
            <a:r>
              <a:rPr sz="2600" i="0">
                <a:solidFill>
                  <a:srgbClr val="FFFCF7"/>
                </a:solidFill>
                <a:latin typeface="Roboto Mono"/>
              </a:rPr>
              <a:t> </a:t>
            </a:r>
            <a:r>
              <a:rPr sz="2600" i="0">
                <a:solidFill>
                  <a:srgbClr val="EEBC32"/>
                </a:solidFill>
                <a:latin typeface="Roboto Mono"/>
              </a:rPr>
              <a:t>BY</a:t>
            </a:r>
            <a:r>
              <a:rPr sz="2600" i="0">
                <a:solidFill>
                  <a:srgbClr val="FFFCF7"/>
                </a:solidFill>
                <a:latin typeface="Roboto Mono"/>
              </a:rPr>
              <a:t> </a:t>
            </a:r>
            <a:r>
              <a:rPr sz="2600" i="0">
                <a:solidFill>
                  <a:srgbClr val="FFFCF7"/>
                </a:solidFill>
                <a:latin typeface="Roboto Mono"/>
              </a:rPr>
              <a:t>dba</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sub</a:t>
            </a:r>
            <a:r>
              <a:rPr sz="2600" i="0">
                <a:solidFill>
                  <a:srgbClr val="FFFCF7"/>
                </a:solidFill>
                <a:latin typeface="Roboto Mono"/>
              </a:rPr>
              <a:t>)</a:t>
            </a:r>
            <a:r>
              <a:rPr sz="2600" i="0">
                <a:solidFill>
                  <a:srgbClr val="FFFCF7"/>
                </a:solidFill>
                <a:latin typeface="Roboto Mono"/>
              </a:rPr>
              <a:t>;</a:t>
            </a:r>
          </a:p>
          <a:p>
            <a:pPr>
              <a:lnSpc>
                <a:spcPct val="105000"/>
              </a:lnSpc>
              <a:defRPr sz="2600">
                <a:latin typeface="Roboto Mono"/>
              </a:defRPr>
            </a:p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Name the Step Once, Then </a:t>
            </a:r>
            <a:r>
              <a:rPr sz="3200" b="1" i="0" u="none">
                <a:solidFill>
                  <a:srgbClr val="264326"/>
                </a:solidFill>
                <a:latin typeface="Helvetica"/>
              </a:rPr>
              <a:t>Use It Twice</a:t>
            </a:r>
          </a:p>
        </p:txBody>
      </p:sp>
      <p:sp>
        <p:nvSpPr>
          <p:cNvPr id="4" name="Rounded Rectangle 3"/>
          <p:cNvSpPr/>
          <p:nvPr/>
        </p:nvSpPr>
        <p:spPr>
          <a:xfrm>
            <a:off x="548640" y="1005840"/>
            <a:ext cx="11094415" cy="376682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psql</a:t>
            </a:r>
          </a:p>
        </p:txBody>
      </p:sp>
      <p:sp>
        <p:nvSpPr>
          <p:cNvPr id="9" name="TextBox 8"/>
          <p:cNvSpPr txBox="1"/>
          <p:nvPr/>
        </p:nvSpPr>
        <p:spPr>
          <a:xfrm>
            <a:off x="804672" y="1636776"/>
            <a:ext cx="10582351" cy="3007868"/>
          </a:xfrm>
          <a:prstGeom prst="rect">
            <a:avLst/>
          </a:prstGeom>
          <a:noFill/>
        </p:spPr>
        <p:txBody>
          <a:bodyPr wrap="square" lIns="0" rIns="0" tIns="0" bIns="0">
            <a:noAutofit/>
          </a:bodyPr>
          <a:lstStyle/>
          <a:p>
            <a:pPr>
              <a:lnSpc>
                <a:spcPct val="105000"/>
              </a:lnSpc>
              <a:defRPr sz="2400">
                <a:latin typeface="Roboto Mono"/>
              </a:defRPr>
            </a:pPr>
            <a:r>
              <a:rPr sz="2400" i="0">
                <a:solidFill>
                  <a:srgbClr val="EEBC32"/>
                </a:solidFill>
                <a:latin typeface="Roboto Mono"/>
              </a:rPr>
              <a:t>WITH</a:t>
            </a:r>
            <a:r>
              <a:rPr sz="2400" i="0">
                <a:solidFill>
                  <a:srgbClr val="FFFCF7"/>
                </a:solidFill>
                <a:latin typeface="Roboto Mono"/>
              </a:rPr>
              <a:t> </a:t>
            </a:r>
            <a:r>
              <a:rPr sz="2400" i="0">
                <a:solidFill>
                  <a:srgbClr val="FFFCF7"/>
                </a:solidFill>
                <a:latin typeface="Roboto Mono"/>
              </a:rPr>
              <a:t>totals</a:t>
            </a:r>
            <a:r>
              <a:rPr sz="2400" i="0">
                <a:solidFill>
                  <a:srgbClr val="FFFCF7"/>
                </a:solidFill>
                <a:latin typeface="Roboto Mono"/>
              </a:rPr>
              <a:t> </a:t>
            </a:r>
            <a:r>
              <a:rPr sz="2400" i="0">
                <a:solidFill>
                  <a:srgbClr val="EEBC32"/>
                </a:solidFill>
                <a:latin typeface="Roboto Mono"/>
              </a:rPr>
              <a:t>AS</a:t>
            </a:r>
            <a:r>
              <a:rPr sz="2400" i="0">
                <a:solidFill>
                  <a:srgbClr val="FFFCF7"/>
                </a:solidFill>
                <a:latin typeface="Roboto Mono"/>
              </a:rPr>
              <a:t> </a:t>
            </a:r>
            <a:r>
              <a:rPr sz="2400" i="0">
                <a:solidFill>
                  <a:srgbClr val="FFFCF7"/>
                </a:solidFill>
                <a:latin typeface="Roboto Mono"/>
              </a:rPr>
              <a:t>(</a:t>
            </a:r>
          </a:p>
          <a:p>
            <a:pPr>
              <a:lnSpc>
                <a:spcPct val="105000"/>
              </a:lnSpc>
              <a:defRPr sz="2400">
                <a:latin typeface="Roboto Mono"/>
              </a:defRPr>
            </a:pPr>
            <a:r>
              <a:rPr sz="2400" i="0">
                <a:solidFill>
                  <a:srgbClr val="FFFCF7"/>
                </a:solidFill>
                <a:latin typeface="Roboto Mono"/>
              </a:rPr>
              <a:t>  </a:t>
            </a:r>
            <a:r>
              <a:rPr sz="2400" i="0">
                <a:solidFill>
                  <a:srgbClr val="EEBC32"/>
                </a:solidFill>
                <a:latin typeface="Roboto Mono"/>
              </a:rPr>
              <a:t>SELECT</a:t>
            </a:r>
            <a:r>
              <a:rPr sz="2400" i="0">
                <a:solidFill>
                  <a:srgbClr val="FFFCF7"/>
                </a:solidFill>
                <a:latin typeface="Roboto Mono"/>
              </a:rPr>
              <a:t> </a:t>
            </a:r>
            <a:r>
              <a:rPr sz="2400" i="0">
                <a:solidFill>
                  <a:srgbClr val="FFFCF7"/>
                </a:solidFill>
                <a:latin typeface="Roboto Mono"/>
              </a:rPr>
              <a:t>dba</a:t>
            </a:r>
            <a:r>
              <a:rPr sz="2400" i="0">
                <a:solidFill>
                  <a:srgbClr val="FFFCF7"/>
                </a:solidFill>
                <a:latin typeface="Roboto Mono"/>
              </a:rPr>
              <a:t>,</a:t>
            </a:r>
            <a:r>
              <a:rPr sz="2400" i="0">
                <a:solidFill>
                  <a:srgbClr val="FFFCF7"/>
                </a:solidFill>
                <a:latin typeface="Roboto Mono"/>
              </a:rPr>
              <a:t> </a:t>
            </a:r>
            <a:r>
              <a:rPr sz="2400" i="0">
                <a:solidFill>
                  <a:srgbClr val="EEBC32"/>
                </a:solidFill>
                <a:latin typeface="Roboto Mono"/>
              </a:rPr>
              <a:t>COUNT</a:t>
            </a:r>
            <a:r>
              <a:rPr sz="2400" i="0">
                <a:solidFill>
                  <a:srgbClr val="FFFCF7"/>
                </a:solidFill>
                <a:latin typeface="Roboto Mono"/>
              </a:rPr>
              <a:t>(</a:t>
            </a:r>
            <a:r>
              <a:rPr sz="2400" i="0">
                <a:solidFill>
                  <a:srgbClr val="FFFCF7"/>
                </a:solidFill>
                <a:latin typeface="Roboto Mono"/>
              </a:rPr>
              <a:t>violation_id</a:t>
            </a:r>
            <a:r>
              <a:rPr sz="2400" i="0">
                <a:solidFill>
                  <a:srgbClr val="FFFCF7"/>
                </a:solidFill>
                <a:latin typeface="Roboto Mono"/>
              </a:rPr>
              <a:t>)</a:t>
            </a:r>
            <a:r>
              <a:rPr sz="2400" i="0">
                <a:solidFill>
                  <a:srgbClr val="FFFCF7"/>
                </a:solidFill>
                <a:latin typeface="Roboto Mono"/>
              </a:rPr>
              <a:t> </a:t>
            </a:r>
            <a:r>
              <a:rPr sz="2400" i="0">
                <a:solidFill>
                  <a:srgbClr val="FFFCF7"/>
                </a:solidFill>
                <a:latin typeface="Roboto Mono"/>
              </a:rPr>
              <a:t>tv</a:t>
            </a:r>
          </a:p>
          <a:p>
            <a:pPr>
              <a:lnSpc>
                <a:spcPct val="105000"/>
              </a:lnSpc>
              <a:defRPr sz="2400">
                <a:latin typeface="Roboto Mono"/>
              </a:defRPr>
            </a:pPr>
            <a:r>
              <a:rPr sz="2400" i="0">
                <a:solidFill>
                  <a:srgbClr val="FFFCF7"/>
                </a:solidFill>
                <a:latin typeface="Roboto Mono"/>
              </a:rPr>
              <a:t>  </a:t>
            </a:r>
            <a:r>
              <a:rPr sz="2400" i="0">
                <a:solidFill>
                  <a:srgbClr val="EEBC32"/>
                </a:solidFill>
                <a:latin typeface="Roboto Mono"/>
              </a:rPr>
              <a:t>FROM</a:t>
            </a:r>
            <a:r>
              <a:rPr sz="2400" i="0">
                <a:solidFill>
                  <a:srgbClr val="FFFCF7"/>
                </a:solidFill>
                <a:latin typeface="Roboto Mono"/>
              </a:rPr>
              <a:t> </a:t>
            </a:r>
            <a:r>
              <a:rPr sz="2400" i="0">
                <a:solidFill>
                  <a:srgbClr val="FFFCF7"/>
                </a:solidFill>
                <a:latin typeface="Roboto Mono"/>
              </a:rPr>
              <a:t>restaurants</a:t>
            </a:r>
          </a:p>
          <a:p>
            <a:pPr>
              <a:lnSpc>
                <a:spcPct val="105000"/>
              </a:lnSpc>
              <a:defRPr sz="2400">
                <a:latin typeface="Roboto Mono"/>
              </a:defRPr>
            </a:pPr>
            <a:r>
              <a:rPr sz="2400" i="0">
                <a:solidFill>
                  <a:srgbClr val="FFFCF7"/>
                </a:solidFill>
                <a:latin typeface="Roboto Mono"/>
              </a:rPr>
              <a:t>  </a:t>
            </a:r>
            <a:r>
              <a:rPr sz="2400" i="0">
                <a:solidFill>
                  <a:srgbClr val="EEBC32"/>
                </a:solidFill>
                <a:latin typeface="Roboto Mono"/>
              </a:rPr>
              <a:t>LEFT</a:t>
            </a:r>
            <a:r>
              <a:rPr sz="2400" i="0">
                <a:solidFill>
                  <a:srgbClr val="FFFCF7"/>
                </a:solidFill>
                <a:latin typeface="Roboto Mono"/>
              </a:rPr>
              <a:t> </a:t>
            </a:r>
            <a:r>
              <a:rPr sz="2400" i="0">
                <a:solidFill>
                  <a:srgbClr val="EEBC32"/>
                </a:solidFill>
                <a:latin typeface="Roboto Mono"/>
              </a:rPr>
              <a:t>JOIN</a:t>
            </a:r>
            <a:r>
              <a:rPr sz="2400" i="0">
                <a:solidFill>
                  <a:srgbClr val="FFFCF7"/>
                </a:solidFill>
                <a:latin typeface="Roboto Mono"/>
              </a:rPr>
              <a:t> </a:t>
            </a:r>
            <a:r>
              <a:rPr sz="2400" i="0">
                <a:solidFill>
                  <a:srgbClr val="FFFCF7"/>
                </a:solidFill>
                <a:latin typeface="Roboto Mono"/>
              </a:rPr>
              <a:t>inspections</a:t>
            </a:r>
            <a:r>
              <a:rPr sz="2400" i="0">
                <a:solidFill>
                  <a:srgbClr val="FFFCF7"/>
                </a:solidFill>
                <a:latin typeface="Roboto Mono"/>
              </a:rPr>
              <a:t> </a:t>
            </a:r>
            <a:r>
              <a:rPr sz="2400" i="0">
                <a:solidFill>
                  <a:srgbClr val="EEBC32"/>
                </a:solidFill>
                <a:latin typeface="Roboto Mono"/>
              </a:rPr>
              <a:t>USING</a:t>
            </a:r>
            <a:r>
              <a:rPr sz="2400" i="0">
                <a:solidFill>
                  <a:srgbClr val="FFFCF7"/>
                </a:solidFill>
                <a:latin typeface="Roboto Mono"/>
              </a:rPr>
              <a:t> </a:t>
            </a:r>
            <a:r>
              <a:rPr sz="2400" i="0">
                <a:solidFill>
                  <a:srgbClr val="FFFCF7"/>
                </a:solidFill>
                <a:latin typeface="Roboto Mono"/>
              </a:rPr>
              <a:t>(</a:t>
            </a:r>
            <a:r>
              <a:rPr sz="2400" i="0">
                <a:solidFill>
                  <a:srgbClr val="FFFCF7"/>
                </a:solidFill>
                <a:latin typeface="Roboto Mono"/>
              </a:rPr>
              <a:t>camis</a:t>
            </a:r>
            <a:r>
              <a:rPr sz="2400" i="0">
                <a:solidFill>
                  <a:srgbClr val="FFFCF7"/>
                </a:solidFill>
                <a:latin typeface="Roboto Mono"/>
              </a:rPr>
              <a:t>)</a:t>
            </a:r>
          </a:p>
          <a:p>
            <a:pPr>
              <a:lnSpc>
                <a:spcPct val="105000"/>
              </a:lnSpc>
              <a:defRPr sz="2400">
                <a:latin typeface="Roboto Mono"/>
              </a:defRPr>
            </a:pPr>
            <a:r>
              <a:rPr sz="2400" i="0">
                <a:solidFill>
                  <a:srgbClr val="FFFCF7"/>
                </a:solidFill>
                <a:latin typeface="Roboto Mono"/>
              </a:rPr>
              <a:t>  </a:t>
            </a:r>
            <a:r>
              <a:rPr sz="2400" i="0">
                <a:solidFill>
                  <a:srgbClr val="EEBC32"/>
                </a:solidFill>
                <a:latin typeface="Roboto Mono"/>
              </a:rPr>
              <a:t>LEFT</a:t>
            </a:r>
            <a:r>
              <a:rPr sz="2400" i="0">
                <a:solidFill>
                  <a:srgbClr val="FFFCF7"/>
                </a:solidFill>
                <a:latin typeface="Roboto Mono"/>
              </a:rPr>
              <a:t> </a:t>
            </a:r>
            <a:r>
              <a:rPr sz="2400" i="0">
                <a:solidFill>
                  <a:srgbClr val="EEBC32"/>
                </a:solidFill>
                <a:latin typeface="Roboto Mono"/>
              </a:rPr>
              <a:t>JOIN</a:t>
            </a:r>
            <a:r>
              <a:rPr sz="2400" i="0">
                <a:solidFill>
                  <a:srgbClr val="FFFCF7"/>
                </a:solidFill>
                <a:latin typeface="Roboto Mono"/>
              </a:rPr>
              <a:t> </a:t>
            </a:r>
            <a:r>
              <a:rPr sz="2400" i="0">
                <a:solidFill>
                  <a:srgbClr val="FFFCF7"/>
                </a:solidFill>
                <a:latin typeface="Roboto Mono"/>
              </a:rPr>
              <a:t>violations</a:t>
            </a:r>
            <a:r>
              <a:rPr sz="2400" i="0">
                <a:solidFill>
                  <a:srgbClr val="FFFCF7"/>
                </a:solidFill>
                <a:latin typeface="Roboto Mono"/>
              </a:rPr>
              <a:t> </a:t>
            </a:r>
            <a:r>
              <a:rPr sz="2400" i="0">
                <a:solidFill>
                  <a:srgbClr val="EEBC32"/>
                </a:solidFill>
                <a:latin typeface="Roboto Mono"/>
              </a:rPr>
              <a:t>USING</a:t>
            </a:r>
            <a:r>
              <a:rPr sz="2400" i="0">
                <a:solidFill>
                  <a:srgbClr val="FFFCF7"/>
                </a:solidFill>
                <a:latin typeface="Roboto Mono"/>
              </a:rPr>
              <a:t> </a:t>
            </a:r>
            <a:r>
              <a:rPr sz="2400" i="0">
                <a:solidFill>
                  <a:srgbClr val="FFFCF7"/>
                </a:solidFill>
                <a:latin typeface="Roboto Mono"/>
              </a:rPr>
              <a:t>(</a:t>
            </a:r>
            <a:r>
              <a:rPr sz="2400" i="0">
                <a:solidFill>
                  <a:srgbClr val="FFFCF7"/>
                </a:solidFill>
                <a:latin typeface="Roboto Mono"/>
              </a:rPr>
              <a:t>inspection_id</a:t>
            </a:r>
            <a:r>
              <a:rPr sz="2400" i="0">
                <a:solidFill>
                  <a:srgbClr val="FFFCF7"/>
                </a:solidFill>
                <a:latin typeface="Roboto Mono"/>
              </a:rPr>
              <a:t>)</a:t>
            </a:r>
          </a:p>
          <a:p>
            <a:pPr>
              <a:lnSpc>
                <a:spcPct val="105000"/>
              </a:lnSpc>
              <a:defRPr sz="2400">
                <a:latin typeface="Roboto Mono"/>
              </a:defRPr>
            </a:pPr>
            <a:r>
              <a:rPr sz="2400" i="0">
                <a:solidFill>
                  <a:srgbClr val="FFFCF7"/>
                </a:solidFill>
                <a:latin typeface="Roboto Mono"/>
              </a:rPr>
              <a:t>  </a:t>
            </a:r>
            <a:r>
              <a:rPr sz="2400" i="0">
                <a:solidFill>
                  <a:srgbClr val="EEBC32"/>
                </a:solidFill>
                <a:latin typeface="Roboto Mono"/>
              </a:rPr>
              <a:t>GROUP</a:t>
            </a:r>
            <a:r>
              <a:rPr sz="2400" i="0">
                <a:solidFill>
                  <a:srgbClr val="FFFCF7"/>
                </a:solidFill>
                <a:latin typeface="Roboto Mono"/>
              </a:rPr>
              <a:t> </a:t>
            </a:r>
            <a:r>
              <a:rPr sz="2400" i="0">
                <a:solidFill>
                  <a:srgbClr val="EEBC32"/>
                </a:solidFill>
                <a:latin typeface="Roboto Mono"/>
              </a:rPr>
              <a:t>BY</a:t>
            </a:r>
            <a:r>
              <a:rPr sz="2400" i="0">
                <a:solidFill>
                  <a:srgbClr val="FFFCF7"/>
                </a:solidFill>
                <a:latin typeface="Roboto Mono"/>
              </a:rPr>
              <a:t> </a:t>
            </a:r>
            <a:r>
              <a:rPr sz="2400" i="0">
                <a:solidFill>
                  <a:srgbClr val="FFFCF7"/>
                </a:solidFill>
                <a:latin typeface="Roboto Mono"/>
              </a:rPr>
              <a:t>dba</a:t>
            </a:r>
            <a:r>
              <a:rPr sz="2400" i="0">
                <a:solidFill>
                  <a:srgbClr val="FFFCF7"/>
                </a:solidFill>
                <a:latin typeface="Roboto Mono"/>
              </a:rPr>
              <a:t>)</a:t>
            </a:r>
          </a:p>
          <a:p>
            <a:pPr>
              <a:lnSpc>
                <a:spcPct val="105000"/>
              </a:lnSpc>
              <a:defRPr sz="2400">
                <a:latin typeface="Roboto Mono"/>
              </a:defRPr>
            </a:pPr>
            <a:r>
              <a:rPr sz="2400" i="0">
                <a:solidFill>
                  <a:srgbClr val="EEBC32"/>
                </a:solidFill>
                <a:latin typeface="Roboto Mono"/>
              </a:rPr>
              <a:t>SELECT</a:t>
            </a:r>
            <a:r>
              <a:rPr sz="2400" i="0">
                <a:solidFill>
                  <a:srgbClr val="FFFCF7"/>
                </a:solidFill>
                <a:latin typeface="Roboto Mono"/>
              </a:rPr>
              <a:t> </a:t>
            </a:r>
            <a:r>
              <a:rPr sz="2400" i="0">
                <a:solidFill>
                  <a:srgbClr val="FFFCF7"/>
                </a:solidFill>
                <a:latin typeface="Roboto Mono"/>
              </a:rPr>
              <a:t>dba</a:t>
            </a:r>
            <a:r>
              <a:rPr sz="2400" i="0">
                <a:solidFill>
                  <a:srgbClr val="FFFCF7"/>
                </a:solidFill>
                <a:latin typeface="Roboto Mono"/>
              </a:rPr>
              <a:t>,</a:t>
            </a:r>
            <a:r>
              <a:rPr sz="2400" i="0">
                <a:solidFill>
                  <a:srgbClr val="FFFCF7"/>
                </a:solidFill>
                <a:latin typeface="Roboto Mono"/>
              </a:rPr>
              <a:t> </a:t>
            </a:r>
            <a:r>
              <a:rPr sz="2400" i="0">
                <a:solidFill>
                  <a:srgbClr val="FFFCF7"/>
                </a:solidFill>
                <a:latin typeface="Roboto Mono"/>
              </a:rPr>
              <a:t>tv</a:t>
            </a:r>
            <a:r>
              <a:rPr sz="2400" i="0">
                <a:solidFill>
                  <a:srgbClr val="FFFCF7"/>
                </a:solidFill>
                <a:latin typeface="Roboto Mono"/>
              </a:rPr>
              <a:t> </a:t>
            </a:r>
            <a:r>
              <a:rPr sz="2400" i="0">
                <a:solidFill>
                  <a:srgbClr val="EEBC32"/>
                </a:solidFill>
                <a:latin typeface="Roboto Mono"/>
              </a:rPr>
              <a:t>FROM</a:t>
            </a:r>
            <a:r>
              <a:rPr sz="2400" i="0">
                <a:solidFill>
                  <a:srgbClr val="FFFCF7"/>
                </a:solidFill>
                <a:latin typeface="Roboto Mono"/>
              </a:rPr>
              <a:t> </a:t>
            </a:r>
            <a:r>
              <a:rPr sz="2400" i="0">
                <a:solidFill>
                  <a:srgbClr val="FFFCF7"/>
                </a:solidFill>
                <a:latin typeface="Roboto Mono"/>
              </a:rPr>
              <a:t>totals</a:t>
            </a:r>
          </a:p>
          <a:p>
            <a:pPr>
              <a:lnSpc>
                <a:spcPct val="105000"/>
              </a:lnSpc>
              <a:defRPr sz="2400">
                <a:latin typeface="Roboto Mono"/>
              </a:defRPr>
            </a:pPr>
            <a:r>
              <a:rPr sz="2400" i="0">
                <a:solidFill>
                  <a:srgbClr val="EEBC32"/>
                </a:solidFill>
                <a:latin typeface="Roboto Mono"/>
              </a:rPr>
              <a:t>WHERE</a:t>
            </a:r>
            <a:r>
              <a:rPr sz="2400" i="0">
                <a:solidFill>
                  <a:srgbClr val="FFFCF7"/>
                </a:solidFill>
                <a:latin typeface="Roboto Mono"/>
              </a:rPr>
              <a:t> </a:t>
            </a:r>
            <a:r>
              <a:rPr sz="2400" i="0">
                <a:solidFill>
                  <a:srgbClr val="FFFCF7"/>
                </a:solidFill>
                <a:latin typeface="Roboto Mono"/>
              </a:rPr>
              <a:t>tv</a:t>
            </a:r>
            <a:r>
              <a:rPr sz="2400" i="0">
                <a:solidFill>
                  <a:srgbClr val="FFFCF7"/>
                </a:solidFill>
                <a:latin typeface="Roboto Mono"/>
              </a:rPr>
              <a:t> </a:t>
            </a:r>
            <a:r>
              <a:rPr sz="2400" i="0">
                <a:solidFill>
                  <a:srgbClr val="FFFCF7"/>
                </a:solidFill>
                <a:latin typeface="Roboto Mono"/>
              </a:rPr>
              <a:t>&gt;</a:t>
            </a:r>
            <a:r>
              <a:rPr sz="2400" i="0">
                <a:solidFill>
                  <a:srgbClr val="FFFCF7"/>
                </a:solidFill>
                <a:latin typeface="Roboto Mono"/>
              </a:rPr>
              <a:t> </a:t>
            </a:r>
            <a:r>
              <a:rPr sz="2400" i="0">
                <a:solidFill>
                  <a:srgbClr val="FFFCF7"/>
                </a:solidFill>
                <a:latin typeface="Roboto Mono"/>
              </a:rPr>
              <a:t>(</a:t>
            </a:r>
            <a:r>
              <a:rPr sz="2400" i="0">
                <a:solidFill>
                  <a:srgbClr val="EEBC32"/>
                </a:solidFill>
                <a:latin typeface="Roboto Mono"/>
              </a:rPr>
              <a:t>SELECT</a:t>
            </a:r>
            <a:r>
              <a:rPr sz="2400" i="0">
                <a:solidFill>
                  <a:srgbClr val="FFFCF7"/>
                </a:solidFill>
                <a:latin typeface="Roboto Mono"/>
              </a:rPr>
              <a:t> </a:t>
            </a:r>
            <a:r>
              <a:rPr sz="2400" i="0">
                <a:solidFill>
                  <a:srgbClr val="EEBC32"/>
                </a:solidFill>
                <a:latin typeface="Roboto Mono"/>
              </a:rPr>
              <a:t>AVG</a:t>
            </a:r>
            <a:r>
              <a:rPr sz="2400" i="0">
                <a:solidFill>
                  <a:srgbClr val="FFFCF7"/>
                </a:solidFill>
                <a:latin typeface="Roboto Mono"/>
              </a:rPr>
              <a:t>(</a:t>
            </a:r>
            <a:r>
              <a:rPr sz="2400" i="0">
                <a:solidFill>
                  <a:srgbClr val="FFFCF7"/>
                </a:solidFill>
                <a:latin typeface="Roboto Mono"/>
              </a:rPr>
              <a:t>tv</a:t>
            </a:r>
            <a:r>
              <a:rPr sz="2400" i="0">
                <a:solidFill>
                  <a:srgbClr val="FFFCF7"/>
                </a:solidFill>
                <a:latin typeface="Roboto Mono"/>
              </a:rPr>
              <a:t>)</a:t>
            </a:r>
            <a:r>
              <a:rPr sz="2400" i="0">
                <a:solidFill>
                  <a:srgbClr val="FFFCF7"/>
                </a:solidFill>
                <a:latin typeface="Roboto Mono"/>
              </a:rPr>
              <a:t> </a:t>
            </a:r>
            <a:r>
              <a:rPr sz="2400" i="0">
                <a:solidFill>
                  <a:srgbClr val="EEBC32"/>
                </a:solidFill>
                <a:latin typeface="Roboto Mono"/>
              </a:rPr>
              <a:t>FROM</a:t>
            </a:r>
            <a:r>
              <a:rPr sz="2400" i="0">
                <a:solidFill>
                  <a:srgbClr val="FFFCF7"/>
                </a:solidFill>
                <a:latin typeface="Roboto Mono"/>
              </a:rPr>
              <a:t> </a:t>
            </a:r>
            <a:r>
              <a:rPr sz="2400" i="0">
                <a:solidFill>
                  <a:srgbClr val="FFFCF7"/>
                </a:solidFill>
                <a:latin typeface="Roboto Mono"/>
              </a:rPr>
              <a:t>totals</a:t>
            </a:r>
            <a:r>
              <a:rPr sz="2400" i="0">
                <a:solidFill>
                  <a:srgbClr val="FFFCF7"/>
                </a:solidFill>
                <a:latin typeface="Roboto Mono"/>
              </a:rPr>
              <a:t>)</a:t>
            </a:r>
            <a:r>
              <a:rPr sz="2400" i="0">
                <a:solidFill>
                  <a:srgbClr val="FFFCF7"/>
                </a:solidFill>
                <a:latin typeface="Roboto Mono"/>
              </a:rPr>
              <a:t>;</a:t>
            </a:r>
          </a:p>
          <a:p>
            <a:pPr>
              <a:lnSpc>
                <a:spcPct val="105000"/>
              </a:lnSpc>
              <a:defRPr sz="2400">
                <a:latin typeface="Roboto Mono"/>
              </a:defRPr>
            </a:pPr>
          </a:p>
        </p:txBody>
      </p:sp>
      <p:sp>
        <p:nvSpPr>
          <p:cNvPr id="10" name="Rounded Rectangle 9"/>
          <p:cNvSpPr/>
          <p:nvPr/>
        </p:nvSpPr>
        <p:spPr>
          <a:xfrm>
            <a:off x="548640" y="4909820"/>
            <a:ext cx="11094415" cy="1445260"/>
          </a:xfrm>
          <a:prstGeom prst="roundRect">
            <a:avLst>
              <a:gd name="adj" fmla="val 10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909820"/>
            <a:ext cx="10637215" cy="1445260"/>
          </a:xfrm>
          <a:prstGeom prst="rect">
            <a:avLst/>
          </a:prstGeom>
          <a:noFill/>
        </p:spPr>
        <p:txBody>
          <a:bodyPr wrap="square" anchor="ctr" lIns="0" rIns="0" tIns="0" bIns="0">
            <a:noAutofit/>
          </a:bodyPr>
          <a:lstStyle/>
          <a:p>
            <a:pPr algn="l"/>
            <a:r>
              <a:rPr sz="2600" b="1" i="0" u="none">
                <a:solidFill>
                  <a:srgbClr val="264326"/>
                </a:solidFill>
                <a:latin typeface="Helvetica"/>
              </a:rPr>
              <a:t>Analogy:</a:t>
            </a:r>
            <a:r>
              <a:rPr sz="2600" b="0" i="0" u="none">
                <a:solidFill>
                  <a:srgbClr val="261F1D"/>
                </a:solidFill>
                <a:latin typeface="Helvetica"/>
              </a:rPr>
              <a:t> A labelled loop in a beat can be soloed and listened to on its own. Bake the same sound straight into every bar and there is nothing left to solo.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You've Already Written </a:t>
            </a:r>
            <a:r>
              <a:rPr sz="3200" b="1" i="0" u="none">
                <a:solidFill>
                  <a:srgbClr val="264326"/>
                </a:solidFill>
                <a:latin typeface="Helvetica"/>
              </a:rPr>
              <a:t>Two of These Three</a:t>
            </a:r>
          </a:p>
        </p:txBody>
      </p:sp>
      <p:graphicFrame>
        <p:nvGraphicFramePr>
          <p:cNvPr id="4" name="Table 3"/>
          <p:cNvGraphicFramePr>
            <a:graphicFrameLocks noGrp="1"/>
          </p:cNvGraphicFramePr>
          <p:nvPr/>
        </p:nvGraphicFramePr>
        <p:xfrm>
          <a:off x="548640" y="2743200"/>
          <a:ext cx="11094415" cy="2011680"/>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Subquery Kind</a:t>
                      </a:r>
                    </a:p>
                  </a:txBody>
                  <a:tcPr marL="109728" marR="109728" marT="54864" marB="54864" anchor="ctr">
                    <a:solidFill>
                      <a:srgbClr val="264326"/>
                    </a:solidFill>
                  </a:tcPr>
                </a:tc>
                <a:tc>
                  <a:txBody>
                    <a:bodyPr wrap="square"/>
                    <a:lstStyle/>
                    <a:p>
                      <a:r>
                        <a:rPr sz="2600" b="1" i="0" u="none">
                          <a:solidFill>
                            <a:srgbClr val="FFFCF7"/>
                          </a:solidFill>
                          <a:latin typeface="Helvetica"/>
                        </a:rPr>
                        <a:t>What It Hands Back</a:t>
                      </a:r>
                    </a:p>
                  </a:txBody>
                  <a:tcPr marL="109728" marR="109728" marT="54864" marB="54864" anchor="ctr">
                    <a:solidFill>
                      <a:srgbClr val="264326"/>
                    </a:solidFill>
                  </a:tcPr>
                </a:tc>
              </a:tr>
              <a:tr h="502920">
                <a:tc>
                  <a:txBody>
                    <a:bodyPr wrap="square"/>
                    <a:lstStyle/>
                    <a:p>
                      <a:r>
                        <a:rPr sz="2600" b="0" i="0" u="none">
                          <a:solidFill>
                            <a:srgbClr val="261F1D"/>
                          </a:solidFill>
                          <a:latin typeface="Helvetica"/>
                        </a:rPr>
                        <a:t>Scalar</a:t>
                      </a:r>
                    </a:p>
                  </a:txBody>
                  <a:tcPr marL="109728" marR="109728" marT="54864" marB="54864" anchor="ctr">
                    <a:solidFill>
                      <a:srgbClr val="FFFCF7"/>
                    </a:solidFill>
                  </a:tcPr>
                </a:tc>
                <a:tc>
                  <a:txBody>
                    <a:bodyPr wrap="square"/>
                    <a:lstStyle/>
                    <a:p>
                      <a:r>
                        <a:rPr sz="2600" b="0" i="0" u="none">
                          <a:solidFill>
                            <a:srgbClr val="261F1D"/>
                          </a:solidFill>
                          <a:latin typeface="Helvetica"/>
                        </a:rPr>
                        <a:t>Exactly one single value</a:t>
                      </a:r>
                    </a:p>
                  </a:txBody>
                  <a:tcPr marL="109728" marR="109728" marT="54864" marB="54864" anchor="ctr">
                    <a:solidFill>
                      <a:srgbClr val="FFFCF7"/>
                    </a:solidFill>
                  </a:tcPr>
                </a:tc>
              </a:tr>
              <a:tr h="502920">
                <a:tc>
                  <a:txBody>
                    <a:bodyPr wrap="square"/>
                    <a:lstStyle/>
                    <a:p>
                      <a:r>
                        <a:rPr sz="2600" b="0" i="0" u="none">
                          <a:solidFill>
                            <a:srgbClr val="261F1D"/>
                          </a:solidFill>
                          <a:latin typeface="Helvetica"/>
                        </a:rPr>
                        <a:t>Derived table</a:t>
                      </a:r>
                    </a:p>
                  </a:txBody>
                  <a:tcPr marL="109728" marR="109728" marT="54864" marB="54864" anchor="ctr">
                    <a:solidFill>
                      <a:srgbClr val="FFF6E4"/>
                    </a:solidFill>
                  </a:tcPr>
                </a:tc>
                <a:tc>
                  <a:txBody>
                    <a:bodyPr wrap="square"/>
                    <a:lstStyle/>
                    <a:p>
                      <a:r>
                        <a:rPr sz="2600" b="0" i="0" u="none">
                          <a:solidFill>
                            <a:srgbClr val="261F1D"/>
                          </a:solidFill>
                          <a:latin typeface="Helvetica"/>
                        </a:rPr>
                        <a:t>A whole table, inside </a:t>
                      </a:r>
                      <a:r>
                        <a:rPr sz="2600" b="0" i="0" u="none">
                          <a:solidFill>
                            <a:srgbClr val="261F1D"/>
                          </a:solidFill>
                          <a:latin typeface="Roboto Mono"/>
                        </a:rPr>
                        <a:t>FROM</a:t>
                      </a:r>
                    </a:p>
                  </a:txBody>
                  <a:tcPr marL="109728" marR="109728" marT="54864" marB="54864" anchor="ctr">
                    <a:solidFill>
                      <a:srgbClr val="FFF6E4"/>
                    </a:solidFill>
                  </a:tcPr>
                </a:tc>
              </a:tr>
              <a:tr h="502920">
                <a:tc>
                  <a:txBody>
                    <a:bodyPr wrap="square"/>
                    <a:lstStyle/>
                    <a:p>
                      <a:r>
                        <a:rPr sz="2600" b="0" i="0" u="none">
                          <a:solidFill>
                            <a:srgbClr val="261F1D"/>
                          </a:solidFill>
                          <a:latin typeface="Helvetica"/>
                        </a:rPr>
                        <a:t>Correlated</a:t>
                      </a:r>
                    </a:p>
                  </a:txBody>
                  <a:tcPr marL="109728" marR="109728" marT="54864" marB="54864" anchor="ctr">
                    <a:solidFill>
                      <a:srgbClr val="FFFCF7"/>
                    </a:solidFill>
                  </a:tcPr>
                </a:tc>
                <a:tc>
                  <a:txBody>
                    <a:bodyPr wrap="square"/>
                    <a:lstStyle/>
                    <a:p>
                      <a:r>
                        <a:rPr sz="2600" b="0" i="0" u="none">
                          <a:solidFill>
                            <a:srgbClr val="261F1D"/>
                          </a:solidFill>
                          <a:latin typeface="Helvetica"/>
                        </a:rPr>
                        <a:t>One value, re-asked per row</a:t>
                      </a:r>
                    </a:p>
                  </a:txBody>
                  <a:tcPr marL="109728" marR="109728" marT="54864" marB="54864" anchor="ctr">
                    <a:solidFill>
                      <a:srgbClr val="FFFCF7"/>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WOULD YOU RATHER?</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Would you rather inherit the nested version or the CTE version from a teammate who has just left the company?</a:t>
            </a:r>
          </a:p>
        </p:txBody>
      </p:sp>
      <p:sp>
        <p:nvSpPr>
          <p:cNvPr id="6" name="TextBox 5"/>
          <p:cNvSpPr txBox="1"/>
          <p:nvPr/>
        </p:nvSpPr>
        <p:spPr>
          <a:xfrm>
            <a:off x="822960" y="3291840"/>
            <a:ext cx="10545775" cy="2560320"/>
          </a:xfrm>
          <a:prstGeom prst="rect">
            <a:avLst/>
          </a:prstGeom>
          <a:noFill/>
        </p:spPr>
        <p:txBody>
          <a:bodyPr wrap="square" lIns="0" rIns="0" tIns="0" bIns="0">
            <a:noAutofit/>
          </a:bodyPr>
          <a:lstStyle/>
          <a:p>
            <a:pPr>
              <a:spcAft>
                <a:spcPts val="1000"/>
              </a:spcAft>
            </a:pPr>
            <a:r>
              <a:rPr sz="2600" b="0" i="0" u="none">
                <a:solidFill>
                  <a:srgbClr val="261F1D"/>
                </a:solidFill>
                <a:latin typeface="Helvetica"/>
              </a:rPr>
              <a:t>A.  The nested subquery</a:t>
            </a:r>
          </a:p>
          <a:p>
            <a:pPr>
              <a:spcAft>
                <a:spcPts val="1000"/>
              </a:spcAft>
            </a:pPr>
            <a:r>
              <a:rPr sz="2600" b="0" i="0" u="none">
                <a:solidFill>
                  <a:srgbClr val="261F1D"/>
                </a:solidFill>
                <a:latin typeface="Helvetica"/>
              </a:rPr>
              <a:t>B.  The CTE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Same Rows, Different Readability</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When Collapsing Rows Is the Wrong Answer</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Readability was the only thing separating those two - now the question itself changes shape.</a:t>
            </a:r>
          </a:p>
        </p:txBody>
      </p:sp>
      <p:pic>
        <p:nvPicPr>
          <p:cNvPr id="6" name="Picture 5" descr=""/>
          <p:cNvPicPr>
            <a:picLocks noChangeAspect="1"/>
          </p:cNvPicPr>
          <p:nvPr/>
        </p:nvPicPr>
        <p:blipFill>
          <a:blip r:embed="rId3"/>
          <a:stretch>
            <a:fillRect/>
          </a:stretch>
        </p:blipFill>
        <p:spPr>
          <a:xfrm>
            <a:off x="3093644" y="4937760"/>
            <a:ext cx="457200" cy="457200"/>
          </a:xfrm>
          <a:prstGeom prst="rect">
            <a:avLst/>
          </a:prstGeom>
        </p:spPr>
      </p:pic>
      <p:sp>
        <p:nvSpPr>
          <p:cNvPr id="7" name="TextBox 6"/>
          <p:cNvSpPr txBox="1"/>
          <p:nvPr/>
        </p:nvSpPr>
        <p:spPr>
          <a:xfrm>
            <a:off x="685800" y="5532120"/>
            <a:ext cx="5272888" cy="594360"/>
          </a:xfrm>
          <a:prstGeom prst="rect">
            <a:avLst/>
          </a:prstGeom>
          <a:noFill/>
        </p:spPr>
        <p:txBody>
          <a:bodyPr wrap="square" anchor="t" lIns="0" rIns="0" tIns="0" bIns="0">
            <a:noAutofit/>
          </a:bodyPr>
          <a:lstStyle/>
          <a:p>
            <a:pPr algn="ctr"/>
            <a:r>
              <a:rPr sz="2600" b="1" i="0" u="none">
                <a:solidFill>
                  <a:srgbClr val="FFFCF7"/>
                </a:solidFill>
                <a:latin typeface="Helvetica"/>
              </a:rPr>
              <a:t>Every row survives</a:t>
            </a:r>
          </a:p>
        </p:txBody>
      </p:sp>
      <p:pic>
        <p:nvPicPr>
          <p:cNvPr id="8" name="Picture 7" descr=""/>
          <p:cNvPicPr>
            <a:picLocks noChangeAspect="1"/>
          </p:cNvPicPr>
          <p:nvPr/>
        </p:nvPicPr>
        <p:blipFill>
          <a:blip r:embed="rId4"/>
          <a:stretch>
            <a:fillRect/>
          </a:stretch>
        </p:blipFill>
        <p:spPr>
          <a:xfrm>
            <a:off x="8640851" y="4937760"/>
            <a:ext cx="457200" cy="457200"/>
          </a:xfrm>
          <a:prstGeom prst="rect">
            <a:avLst/>
          </a:prstGeom>
        </p:spPr>
      </p:pic>
      <p:sp>
        <p:nvSpPr>
          <p:cNvPr id="9" name="TextBox 8"/>
          <p:cNvSpPr txBox="1"/>
          <p:nvPr/>
        </p:nvSpPr>
        <p:spPr>
          <a:xfrm>
            <a:off x="6233008" y="5532120"/>
            <a:ext cx="5272888" cy="594360"/>
          </a:xfrm>
          <a:prstGeom prst="rect">
            <a:avLst/>
          </a:prstGeom>
          <a:noFill/>
        </p:spPr>
        <p:txBody>
          <a:bodyPr wrap="square" anchor="t" lIns="0" rIns="0" tIns="0" bIns="0">
            <a:noAutofit/>
          </a:bodyPr>
          <a:lstStyle/>
          <a:p>
            <a:pPr algn="ctr"/>
            <a:r>
              <a:rPr sz="2600" b="1" i="0" u="none">
                <a:solidFill>
                  <a:srgbClr val="FFFCF7"/>
                </a:solidFill>
                <a:latin typeface="Helvetica"/>
              </a:rPr>
              <a:t>A group number beside it</a:t>
            </a:r>
          </a:p>
        </p:txBody>
      </p:sp>
      <p:cxnSp>
        <p:nvCxnSpPr>
          <p:cNvPr id="10" name="Connector 9"/>
          <p:cNvCxnSpPr/>
          <p:nvPr/>
        </p:nvCxnSpPr>
        <p:spPr>
          <a:xfrm>
            <a:off x="6095848" y="4937760"/>
            <a:ext cx="0" cy="1188720"/>
          </a:xfrm>
          <a:prstGeom prst="line">
            <a:avLst/>
          </a:prstGeom>
          <a:ln w="19050">
            <a:solidFill>
              <a:srgbClr val="B3BBB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Some Questions </a:t>
            </a:r>
            <a:r>
              <a:rPr sz="3200" b="1" i="0" u="none">
                <a:solidFill>
                  <a:srgbClr val="264326"/>
                </a:solidFill>
                <a:latin typeface="Helvetica"/>
              </a:rPr>
              <a:t>Collapse Rows</a:t>
            </a:r>
            <a:r>
              <a:rPr sz="3200" b="1" i="0" u="none">
                <a:solidFill>
                  <a:srgbClr val="261F1D"/>
                </a:solidFill>
                <a:latin typeface="Helvetica"/>
              </a:rPr>
              <a:t>. Others Keep Them.</a:t>
            </a:r>
          </a:p>
        </p:txBody>
      </p:sp>
      <p:sp>
        <p:nvSpPr>
          <p:cNvPr id="4" name="TextBox 3"/>
          <p:cNvSpPr txBox="1"/>
          <p:nvPr/>
        </p:nvSpPr>
        <p:spPr>
          <a:xfrm>
            <a:off x="548640" y="1188720"/>
            <a:ext cx="11094415" cy="35382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Roboto Mono"/>
              </a:rPr>
              <a:t>GROUP BY</a:t>
            </a:r>
            <a:r>
              <a:rPr sz="2600" b="0" i="0" u="none">
                <a:solidFill>
                  <a:srgbClr val="261F1D"/>
                </a:solidFill>
                <a:latin typeface="Helvetica"/>
              </a:rPr>
              <a:t> returns one row per group</a:t>
            </a:r>
          </a:p>
          <a:p>
            <a:pPr>
              <a:spcAft>
                <a:spcPts val="1000"/>
              </a:spcAft>
            </a:pPr>
            <a:r>
              <a:rPr sz="2600">
                <a:solidFill>
                  <a:srgbClr val="261F1D"/>
                </a:solidFill>
                <a:latin typeface="Helvetica"/>
              </a:rPr>
              <a:t>•  </a:t>
            </a:r>
            <a:r>
              <a:rPr sz="2600" b="0" i="0" u="none">
                <a:solidFill>
                  <a:srgbClr val="261F1D"/>
                </a:solidFill>
                <a:latin typeface="Helvetica"/>
              </a:rPr>
              <a:t>A window function keeps every row</a:t>
            </a:r>
          </a:p>
          <a:p>
            <a:pPr>
              <a:spcAft>
                <a:spcPts val="1000"/>
              </a:spcAft>
            </a:pPr>
            <a:r>
              <a:rPr sz="2600">
                <a:solidFill>
                  <a:srgbClr val="261F1D"/>
                </a:solidFill>
                <a:latin typeface="Helvetica"/>
              </a:rPr>
              <a:t>•  </a:t>
            </a:r>
            <a:r>
              <a:rPr sz="2600" b="0" i="0" u="none">
                <a:solidFill>
                  <a:srgbClr val="261F1D"/>
                </a:solidFill>
                <a:latin typeface="Helvetica"/>
              </a:rPr>
              <a:t>Ask which shape the question needs</a:t>
            </a:r>
          </a:p>
          <a:p>
            <a:pPr>
              <a:spcAft>
                <a:spcPts val="1000"/>
              </a:spcAft>
            </a:pPr>
            <a:r>
              <a:rPr sz="2600">
                <a:solidFill>
                  <a:srgbClr val="261F1D"/>
                </a:solidFill>
                <a:latin typeface="Helvetica"/>
              </a:rPr>
              <a:t>•  </a:t>
            </a:r>
            <a:r>
              <a:rPr sz="2600" b="0" i="0" u="none">
                <a:solidFill>
                  <a:srgbClr val="261F1D"/>
                </a:solidFill>
                <a:latin typeface="Helvetica"/>
              </a:rPr>
              <a:t>The wrong shape means extra work later</a:t>
            </a:r>
          </a:p>
        </p:txBody>
      </p:sp>
      <p:sp>
        <p:nvSpPr>
          <p:cNvPr id="5" name="Rounded Rectangle 4"/>
          <p:cNvSpPr/>
          <p:nvPr/>
        </p:nvSpPr>
        <p:spPr>
          <a:xfrm>
            <a:off x="548640" y="4909820"/>
            <a:ext cx="11094415" cy="1445260"/>
          </a:xfrm>
          <a:prstGeom prst="roundRect">
            <a:avLst>
              <a:gd name="adj" fmla="val 10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4909820"/>
            <a:ext cx="10637215" cy="1445260"/>
          </a:xfrm>
          <a:prstGeom prst="rect">
            <a:avLst/>
          </a:prstGeom>
          <a:noFill/>
        </p:spPr>
        <p:txBody>
          <a:bodyPr wrap="square" anchor="ctr" lIns="0" rIns="0" tIns="0" bIns="0">
            <a:noAutofit/>
          </a:bodyPr>
          <a:lstStyle/>
          <a:p>
            <a:pPr algn="l"/>
            <a:r>
              <a:rPr sz="2600" b="1" i="0" u="none">
                <a:solidFill>
                  <a:srgbClr val="264326"/>
                </a:solidFill>
                <a:latin typeface="Helvetica"/>
              </a:rPr>
              <a:t>Analogy:</a:t>
            </a:r>
            <a:r>
              <a:rPr sz="2600" b="0" i="0" u="none">
                <a:solidFill>
                  <a:srgbClr val="261F1D"/>
                </a:solidFill>
                <a:latin typeface="Helvetica"/>
              </a:rPr>
              <a:t> A final score is one number for the whole roster. A box score keeps every player's line and still shows the team average beside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Oval 2"/>
          <p:cNvSpPr/>
          <p:nvPr/>
        </p:nvSpPr>
        <p:spPr>
          <a:xfrm>
            <a:off x="5784037" y="556870"/>
            <a:ext cx="623621" cy="623621"/>
          </a:xfrm>
          <a:prstGeom prst="ellipse">
            <a:avLst/>
          </a:prstGeom>
          <a:solidFill>
            <a:srgbClr val="DEEAF4"/>
          </a:solidFill>
          <a:ln w="50800">
            <a:solidFill>
              <a:srgbClr val="2274B5"/>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5939942" y="712775"/>
            <a:ext cx="311810" cy="311810"/>
          </a:xfrm>
          <a:prstGeom prst="rect">
            <a:avLst/>
          </a:prstGeom>
        </p:spPr>
      </p:pic>
      <p:sp>
        <p:nvSpPr>
          <p:cNvPr id="5" name="TextBox 4"/>
          <p:cNvSpPr txBox="1"/>
          <p:nvPr/>
        </p:nvSpPr>
        <p:spPr>
          <a:xfrm>
            <a:off x="548640" y="150876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Collapse or Keep</a:t>
            </a:r>
          </a:p>
        </p:txBody>
      </p:sp>
      <p:sp>
        <p:nvSpPr>
          <p:cNvPr id="6" name="TextBox 5"/>
          <p:cNvSpPr txBox="1"/>
          <p:nvPr/>
        </p:nvSpPr>
        <p:spPr>
          <a:xfrm>
            <a:off x="548640" y="260604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Code Along: Two Ways to Keep Every Row</a:t>
            </a:r>
          </a:p>
        </p:txBody>
      </p:sp>
      <p:sp>
        <p:nvSpPr>
          <p:cNvPr id="7" name="TextBox 6"/>
          <p:cNvSpPr txBox="1"/>
          <p:nvPr/>
        </p:nvSpPr>
        <p:spPr>
          <a:xfrm>
            <a:off x="548640" y="416052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A correlated subquery gets there honestly - it just re-asks the same question once for every single row.</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Right Answer, Asked </a:t>
            </a:r>
            <a:r>
              <a:rPr sz="3200" b="1" i="0" u="none">
                <a:solidFill>
                  <a:srgbClr val="264326"/>
                </a:solidFill>
                <a:latin typeface="Helvetica"/>
              </a:rPr>
              <a:t>Once Per Row</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psql</a:t>
            </a:r>
          </a:p>
        </p:txBody>
      </p:sp>
      <p:sp>
        <p:nvSpPr>
          <p:cNvPr id="9" name="TextBox 8"/>
          <p:cNvSpPr txBox="1"/>
          <p:nvPr/>
        </p:nvSpPr>
        <p:spPr>
          <a:xfrm>
            <a:off x="804672" y="1636776"/>
            <a:ext cx="10582351" cy="4590288"/>
          </a:xfrm>
          <a:prstGeom prst="rect">
            <a:avLst/>
          </a:prstGeom>
          <a:noFill/>
        </p:spPr>
        <p:txBody>
          <a:bodyPr wrap="square" lIns="0" rIns="0" tIns="0" bIns="0">
            <a:noAutofit/>
          </a:bodyPr>
          <a:lstStyle/>
          <a:p>
            <a:pPr>
              <a:lnSpc>
                <a:spcPct val="105000"/>
              </a:lnSpc>
              <a:defRPr sz="2600">
                <a:latin typeface="Roboto Mono"/>
              </a:defRPr>
            </a:pPr>
            <a:r>
              <a:rPr sz="2600" i="0">
                <a:solidFill>
                  <a:srgbClr val="EEBC32"/>
                </a:solidFill>
                <a:latin typeface="Roboto Mono"/>
              </a:rPr>
              <a:t>WITH</a:t>
            </a:r>
            <a:r>
              <a:rPr sz="2600" i="0">
                <a:solidFill>
                  <a:srgbClr val="FFFCF7"/>
                </a:solidFill>
                <a:latin typeface="Roboto Mono"/>
              </a:rPr>
              <a:t> </a:t>
            </a:r>
            <a:r>
              <a:rPr sz="2600" i="0">
                <a:solidFill>
                  <a:srgbClr val="FFFCF7"/>
                </a:solidFill>
                <a:latin typeface="Roboto Mono"/>
              </a:rPr>
              <a:t>totals</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dba</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boro</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COUNT</a:t>
            </a:r>
            <a:r>
              <a:rPr sz="2600" i="0">
                <a:solidFill>
                  <a:srgbClr val="FFFCF7"/>
                </a:solidFill>
                <a:latin typeface="Roboto Mono"/>
              </a:rPr>
              <a:t>(</a:t>
            </a:r>
            <a:r>
              <a:rPr sz="2600" i="0">
                <a:solidFill>
                  <a:srgbClr val="FFFCF7"/>
                </a:solidFill>
                <a:latin typeface="Roboto Mono"/>
              </a:rPr>
              <a:t>violation_id</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tv</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restaurants</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LEFT</a:t>
            </a:r>
            <a:r>
              <a:rPr sz="2600" i="0">
                <a:solidFill>
                  <a:srgbClr val="FFFCF7"/>
                </a:solidFill>
                <a:latin typeface="Roboto Mono"/>
              </a:rPr>
              <a:t> </a:t>
            </a:r>
            <a:r>
              <a:rPr sz="2600" i="0">
                <a:solidFill>
                  <a:srgbClr val="EEBC32"/>
                </a:solidFill>
                <a:latin typeface="Roboto Mono"/>
              </a:rPr>
              <a:t>JOIN</a:t>
            </a:r>
            <a:r>
              <a:rPr sz="2600" i="0">
                <a:solidFill>
                  <a:srgbClr val="FFFCF7"/>
                </a:solidFill>
                <a:latin typeface="Roboto Mono"/>
              </a:rPr>
              <a:t> </a:t>
            </a:r>
            <a:r>
              <a:rPr sz="2600" i="0">
                <a:solidFill>
                  <a:srgbClr val="FFFCF7"/>
                </a:solidFill>
                <a:latin typeface="Roboto Mono"/>
              </a:rPr>
              <a:t>inspections</a:t>
            </a:r>
            <a:r>
              <a:rPr sz="2600" i="0">
                <a:solidFill>
                  <a:srgbClr val="FFFCF7"/>
                </a:solidFill>
                <a:latin typeface="Roboto Mono"/>
              </a:rPr>
              <a:t> </a:t>
            </a:r>
            <a:r>
              <a:rPr sz="2600" i="0">
                <a:solidFill>
                  <a:srgbClr val="EEBC32"/>
                </a:solidFill>
                <a:latin typeface="Roboto Mono"/>
              </a:rPr>
              <a:t>USING</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camis</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LEFT</a:t>
            </a:r>
            <a:r>
              <a:rPr sz="2600" i="0">
                <a:solidFill>
                  <a:srgbClr val="FFFCF7"/>
                </a:solidFill>
                <a:latin typeface="Roboto Mono"/>
              </a:rPr>
              <a:t> </a:t>
            </a:r>
            <a:r>
              <a:rPr sz="2600" i="0">
                <a:solidFill>
                  <a:srgbClr val="EEBC32"/>
                </a:solidFill>
                <a:latin typeface="Roboto Mono"/>
              </a:rPr>
              <a:t>JOIN</a:t>
            </a:r>
            <a:r>
              <a:rPr sz="2600" i="0">
                <a:solidFill>
                  <a:srgbClr val="FFFCF7"/>
                </a:solidFill>
                <a:latin typeface="Roboto Mono"/>
              </a:rPr>
              <a:t> </a:t>
            </a:r>
            <a:r>
              <a:rPr sz="2600" i="0">
                <a:solidFill>
                  <a:srgbClr val="FFFCF7"/>
                </a:solidFill>
                <a:latin typeface="Roboto Mono"/>
              </a:rPr>
              <a:t>violations</a:t>
            </a:r>
            <a:r>
              <a:rPr sz="2600" i="0">
                <a:solidFill>
                  <a:srgbClr val="FFFCF7"/>
                </a:solidFill>
                <a:latin typeface="Roboto Mono"/>
              </a:rPr>
              <a:t> </a:t>
            </a:r>
            <a:r>
              <a:rPr sz="2600" i="0">
                <a:solidFill>
                  <a:srgbClr val="EEBC32"/>
                </a:solidFill>
                <a:latin typeface="Roboto Mono"/>
              </a:rPr>
              <a:t>USING</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inspection_id</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GROUP</a:t>
            </a:r>
            <a:r>
              <a:rPr sz="2600" i="0">
                <a:solidFill>
                  <a:srgbClr val="FFFCF7"/>
                </a:solidFill>
                <a:latin typeface="Roboto Mono"/>
              </a:rPr>
              <a:t> </a:t>
            </a:r>
            <a:r>
              <a:rPr sz="2600" i="0">
                <a:solidFill>
                  <a:srgbClr val="EEBC32"/>
                </a:solidFill>
                <a:latin typeface="Roboto Mono"/>
              </a:rPr>
              <a:t>BY</a:t>
            </a:r>
            <a:r>
              <a:rPr sz="2600" i="0">
                <a:solidFill>
                  <a:srgbClr val="FFFCF7"/>
                </a:solidFill>
                <a:latin typeface="Roboto Mono"/>
              </a:rPr>
              <a:t> </a:t>
            </a:r>
            <a:r>
              <a:rPr sz="2600" i="0">
                <a:solidFill>
                  <a:srgbClr val="FFFCF7"/>
                </a:solidFill>
                <a:latin typeface="Roboto Mono"/>
              </a:rPr>
              <a:t>dba</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boro</a:t>
            </a:r>
          </a:p>
          <a:p>
            <a:pPr>
              <a:lnSpc>
                <a:spcPct val="105000"/>
              </a:lnSpc>
              <a:defRPr sz="2600">
                <a:latin typeface="Roboto Mono"/>
              </a:defRPr>
            </a:pPr>
            <a:r>
              <a:rPr sz="2600" i="0">
                <a:solidFill>
                  <a:srgbClr val="FFFCF7"/>
                </a:solidFill>
                <a:latin typeface="Roboto Mono"/>
              </a:rPr>
              <a:t>)</a:t>
            </a:r>
          </a:p>
          <a:p>
            <a:pPr>
              <a:lnSpc>
                <a:spcPct val="105000"/>
              </a:lnSpc>
              <a:defRPr sz="2600">
                <a:latin typeface="Roboto Mono"/>
              </a:defRPr>
            </a:pP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dba</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boro</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tv</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FFFCF7"/>
                </a:solidFill>
                <a:latin typeface="Roboto Mono"/>
              </a:rPr>
              <a:t>(</a:t>
            </a: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ROUND</a:t>
            </a:r>
            <a:r>
              <a:rPr sz="2600" i="0">
                <a:solidFill>
                  <a:srgbClr val="FFFCF7"/>
                </a:solidFill>
                <a:latin typeface="Roboto Mono"/>
              </a:rPr>
              <a:t>(</a:t>
            </a:r>
            <a:r>
              <a:rPr sz="2600" i="0">
                <a:solidFill>
                  <a:srgbClr val="EEBC32"/>
                </a:solidFill>
                <a:latin typeface="Roboto Mono"/>
              </a:rPr>
              <a:t>AVG</a:t>
            </a:r>
            <a:r>
              <a:rPr sz="2600" i="0">
                <a:solidFill>
                  <a:srgbClr val="FFFCF7"/>
                </a:solidFill>
                <a:latin typeface="Roboto Mono"/>
              </a:rPr>
              <a:t>(</a:t>
            </a:r>
            <a:r>
              <a:rPr sz="2600" i="0">
                <a:solidFill>
                  <a:srgbClr val="FFFCF7"/>
                </a:solidFill>
                <a:latin typeface="Roboto Mono"/>
              </a:rPr>
              <a:t>t2</a:t>
            </a:r>
            <a:r>
              <a:rPr sz="2600" i="0">
                <a:solidFill>
                  <a:srgbClr val="FFFCF7"/>
                </a:solidFill>
                <a:latin typeface="Roboto Mono"/>
              </a:rPr>
              <a:t>.</a:t>
            </a:r>
            <a:r>
              <a:rPr sz="2600" i="0">
                <a:solidFill>
                  <a:srgbClr val="FFFCF7"/>
                </a:solidFill>
                <a:latin typeface="Roboto Mono"/>
              </a:rPr>
              <a:t>tv</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659B87"/>
                </a:solidFill>
                <a:latin typeface="Roboto Mono"/>
              </a:rPr>
              <a:t>2</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totals</a:t>
            </a:r>
            <a:r>
              <a:rPr sz="2600" i="0">
                <a:solidFill>
                  <a:srgbClr val="FFFCF7"/>
                </a:solidFill>
                <a:latin typeface="Roboto Mono"/>
              </a:rPr>
              <a:t> </a:t>
            </a:r>
            <a:r>
              <a:rPr sz="2600" i="0">
                <a:solidFill>
                  <a:srgbClr val="FFFCF7"/>
                </a:solidFill>
                <a:latin typeface="Roboto Mono"/>
              </a:rPr>
              <a:t>t2</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WHERE</a:t>
            </a:r>
            <a:r>
              <a:rPr sz="2600" i="0">
                <a:solidFill>
                  <a:srgbClr val="FFFCF7"/>
                </a:solidFill>
                <a:latin typeface="Roboto Mono"/>
              </a:rPr>
              <a:t> </a:t>
            </a:r>
            <a:r>
              <a:rPr sz="2600" i="0">
                <a:solidFill>
                  <a:srgbClr val="FFFCF7"/>
                </a:solidFill>
                <a:latin typeface="Roboto Mono"/>
              </a:rPr>
              <a:t>t2</a:t>
            </a:r>
            <a:r>
              <a:rPr sz="2600" i="0">
                <a:solidFill>
                  <a:srgbClr val="FFFCF7"/>
                </a:solidFill>
                <a:latin typeface="Roboto Mono"/>
              </a:rPr>
              <a:t>.</a:t>
            </a:r>
            <a:r>
              <a:rPr sz="2600" i="0">
                <a:solidFill>
                  <a:srgbClr val="FFFCF7"/>
                </a:solidFill>
                <a:latin typeface="Roboto Mono"/>
              </a:rPr>
              <a:t>boro</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totals</a:t>
            </a:r>
            <a:r>
              <a:rPr sz="2600" i="0">
                <a:solidFill>
                  <a:srgbClr val="FFFCF7"/>
                </a:solidFill>
                <a:latin typeface="Roboto Mono"/>
              </a:rPr>
              <a:t>.</a:t>
            </a:r>
            <a:r>
              <a:rPr sz="2600" i="0">
                <a:solidFill>
                  <a:srgbClr val="FFFCF7"/>
                </a:solidFill>
                <a:latin typeface="Roboto Mono"/>
              </a:rPr>
              <a:t>boro</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b_avg</a:t>
            </a:r>
          </a:p>
          <a:p>
            <a:pPr>
              <a:lnSpc>
                <a:spcPct val="105000"/>
              </a:lnSpc>
              <a:defRPr sz="2600">
                <a:latin typeface="Roboto Mono"/>
              </a:defRPr>
            </a:pP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totals</a:t>
            </a:r>
            <a:r>
              <a:rPr sz="2600" i="0">
                <a:solidFill>
                  <a:srgbClr val="FFFCF7"/>
                </a:solidFill>
                <a:latin typeface="Roboto Mono"/>
              </a:rPr>
              <a:t> </a:t>
            </a:r>
            <a:r>
              <a:rPr sz="2600" i="0">
                <a:solidFill>
                  <a:srgbClr val="EEBC32"/>
                </a:solidFill>
                <a:latin typeface="Roboto Mono"/>
              </a:rPr>
              <a:t>ORDER</a:t>
            </a:r>
            <a:r>
              <a:rPr sz="2600" i="0">
                <a:solidFill>
                  <a:srgbClr val="FFFCF7"/>
                </a:solidFill>
                <a:latin typeface="Roboto Mono"/>
              </a:rPr>
              <a:t> </a:t>
            </a:r>
            <a:r>
              <a:rPr sz="2600" i="0">
                <a:solidFill>
                  <a:srgbClr val="EEBC32"/>
                </a:solidFill>
                <a:latin typeface="Roboto Mono"/>
              </a:rPr>
              <a:t>BY</a:t>
            </a:r>
            <a:r>
              <a:rPr sz="2600" i="0">
                <a:solidFill>
                  <a:srgbClr val="FFFCF7"/>
                </a:solidFill>
                <a:latin typeface="Roboto Mono"/>
              </a:rPr>
              <a:t> </a:t>
            </a:r>
            <a:r>
              <a:rPr sz="2600" i="0">
                <a:solidFill>
                  <a:srgbClr val="FFFCF7"/>
                </a:solidFill>
                <a:latin typeface="Roboto Mono"/>
              </a:rPr>
              <a:t>boro</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tv</a:t>
            </a:r>
            <a:r>
              <a:rPr sz="2600" i="0">
                <a:solidFill>
                  <a:srgbClr val="FFFCF7"/>
                </a:solidFill>
                <a:latin typeface="Roboto Mono"/>
              </a:rPr>
              <a:t> </a:t>
            </a:r>
            <a:r>
              <a:rPr sz="2600" i="0">
                <a:solidFill>
                  <a:srgbClr val="EEBC32"/>
                </a:solidFill>
                <a:latin typeface="Roboto Mono"/>
              </a:rPr>
              <a:t>DESC</a:t>
            </a:r>
            <a:r>
              <a:rPr sz="2600" i="0">
                <a:solidFill>
                  <a:srgbClr val="FFFCF7"/>
                </a:solidFill>
                <a:latin typeface="Roboto Mono"/>
              </a:rPr>
              <a:t>;</a:t>
            </a:r>
          </a:p>
          <a:p>
            <a:pPr>
              <a:lnSpc>
                <a:spcPct val="105000"/>
              </a:lnSpc>
              <a:defRPr sz="2600">
                <a:latin typeface="Roboto Mono"/>
              </a:defRPr>
            </a:p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One Line Replaces the </a:t>
            </a:r>
            <a:r>
              <a:rPr sz="3200" b="1" i="0" u="none">
                <a:solidFill>
                  <a:srgbClr val="264326"/>
                </a:solidFill>
                <a:latin typeface="Helvetica"/>
              </a:rPr>
              <a:t>Whole Repeated Question</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psql</a:t>
            </a:r>
          </a:p>
        </p:txBody>
      </p:sp>
      <p:sp>
        <p:nvSpPr>
          <p:cNvPr id="9" name="TextBox 8"/>
          <p:cNvSpPr txBox="1"/>
          <p:nvPr/>
        </p:nvSpPr>
        <p:spPr>
          <a:xfrm>
            <a:off x="804672" y="1636776"/>
            <a:ext cx="10582351" cy="4590288"/>
          </a:xfrm>
          <a:prstGeom prst="rect">
            <a:avLst/>
          </a:prstGeom>
          <a:noFill/>
        </p:spPr>
        <p:txBody>
          <a:bodyPr wrap="square" lIns="0" rIns="0" tIns="0" bIns="0">
            <a:noAutofit/>
          </a:bodyPr>
          <a:lstStyle/>
          <a:p>
            <a:pPr>
              <a:lnSpc>
                <a:spcPct val="105000"/>
              </a:lnSpc>
              <a:defRPr sz="2600">
                <a:latin typeface="Roboto Mono"/>
              </a:defRPr>
            </a:pPr>
            <a:r>
              <a:rPr sz="2600" i="0">
                <a:solidFill>
                  <a:srgbClr val="EEBC32"/>
                </a:solidFill>
                <a:latin typeface="Roboto Mono"/>
              </a:rPr>
              <a:t>WITH</a:t>
            </a:r>
            <a:r>
              <a:rPr sz="2600" i="0">
                <a:solidFill>
                  <a:srgbClr val="FFFCF7"/>
                </a:solidFill>
                <a:latin typeface="Roboto Mono"/>
              </a:rPr>
              <a:t> </a:t>
            </a:r>
            <a:r>
              <a:rPr sz="2600" i="0">
                <a:solidFill>
                  <a:srgbClr val="FFFCF7"/>
                </a:solidFill>
                <a:latin typeface="Roboto Mono"/>
              </a:rPr>
              <a:t>totals</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dba</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boro</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COUNT</a:t>
            </a:r>
            <a:r>
              <a:rPr sz="2600" i="0">
                <a:solidFill>
                  <a:srgbClr val="FFFCF7"/>
                </a:solidFill>
                <a:latin typeface="Roboto Mono"/>
              </a:rPr>
              <a:t>(</a:t>
            </a:r>
            <a:r>
              <a:rPr sz="2600" i="0">
                <a:solidFill>
                  <a:srgbClr val="FFFCF7"/>
                </a:solidFill>
                <a:latin typeface="Roboto Mono"/>
              </a:rPr>
              <a:t>violation_id</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tv</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restaurants</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LEFT</a:t>
            </a:r>
            <a:r>
              <a:rPr sz="2600" i="0">
                <a:solidFill>
                  <a:srgbClr val="FFFCF7"/>
                </a:solidFill>
                <a:latin typeface="Roboto Mono"/>
              </a:rPr>
              <a:t> </a:t>
            </a:r>
            <a:r>
              <a:rPr sz="2600" i="0">
                <a:solidFill>
                  <a:srgbClr val="EEBC32"/>
                </a:solidFill>
                <a:latin typeface="Roboto Mono"/>
              </a:rPr>
              <a:t>JOIN</a:t>
            </a:r>
            <a:r>
              <a:rPr sz="2600" i="0">
                <a:solidFill>
                  <a:srgbClr val="FFFCF7"/>
                </a:solidFill>
                <a:latin typeface="Roboto Mono"/>
              </a:rPr>
              <a:t> </a:t>
            </a:r>
            <a:r>
              <a:rPr sz="2600" i="0">
                <a:solidFill>
                  <a:srgbClr val="FFFCF7"/>
                </a:solidFill>
                <a:latin typeface="Roboto Mono"/>
              </a:rPr>
              <a:t>inspections</a:t>
            </a:r>
            <a:r>
              <a:rPr sz="2600" i="0">
                <a:solidFill>
                  <a:srgbClr val="FFFCF7"/>
                </a:solidFill>
                <a:latin typeface="Roboto Mono"/>
              </a:rPr>
              <a:t> </a:t>
            </a:r>
            <a:r>
              <a:rPr sz="2600" i="0">
                <a:solidFill>
                  <a:srgbClr val="EEBC32"/>
                </a:solidFill>
                <a:latin typeface="Roboto Mono"/>
              </a:rPr>
              <a:t>USING</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camis</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LEFT</a:t>
            </a:r>
            <a:r>
              <a:rPr sz="2600" i="0">
                <a:solidFill>
                  <a:srgbClr val="FFFCF7"/>
                </a:solidFill>
                <a:latin typeface="Roboto Mono"/>
              </a:rPr>
              <a:t> </a:t>
            </a:r>
            <a:r>
              <a:rPr sz="2600" i="0">
                <a:solidFill>
                  <a:srgbClr val="EEBC32"/>
                </a:solidFill>
                <a:latin typeface="Roboto Mono"/>
              </a:rPr>
              <a:t>JOIN</a:t>
            </a:r>
            <a:r>
              <a:rPr sz="2600" i="0">
                <a:solidFill>
                  <a:srgbClr val="FFFCF7"/>
                </a:solidFill>
                <a:latin typeface="Roboto Mono"/>
              </a:rPr>
              <a:t> </a:t>
            </a:r>
            <a:r>
              <a:rPr sz="2600" i="0">
                <a:solidFill>
                  <a:srgbClr val="FFFCF7"/>
                </a:solidFill>
                <a:latin typeface="Roboto Mono"/>
              </a:rPr>
              <a:t>violations</a:t>
            </a:r>
            <a:r>
              <a:rPr sz="2600" i="0">
                <a:solidFill>
                  <a:srgbClr val="FFFCF7"/>
                </a:solidFill>
                <a:latin typeface="Roboto Mono"/>
              </a:rPr>
              <a:t> </a:t>
            </a:r>
            <a:r>
              <a:rPr sz="2600" i="0">
                <a:solidFill>
                  <a:srgbClr val="EEBC32"/>
                </a:solidFill>
                <a:latin typeface="Roboto Mono"/>
              </a:rPr>
              <a:t>USING</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inspection_id</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GROUP</a:t>
            </a:r>
            <a:r>
              <a:rPr sz="2600" i="0">
                <a:solidFill>
                  <a:srgbClr val="FFFCF7"/>
                </a:solidFill>
                <a:latin typeface="Roboto Mono"/>
              </a:rPr>
              <a:t> </a:t>
            </a:r>
            <a:r>
              <a:rPr sz="2600" i="0">
                <a:solidFill>
                  <a:srgbClr val="EEBC32"/>
                </a:solidFill>
                <a:latin typeface="Roboto Mono"/>
              </a:rPr>
              <a:t>BY</a:t>
            </a:r>
            <a:r>
              <a:rPr sz="2600" i="0">
                <a:solidFill>
                  <a:srgbClr val="FFFCF7"/>
                </a:solidFill>
                <a:latin typeface="Roboto Mono"/>
              </a:rPr>
              <a:t> </a:t>
            </a:r>
            <a:r>
              <a:rPr sz="2600" i="0">
                <a:solidFill>
                  <a:srgbClr val="FFFCF7"/>
                </a:solidFill>
                <a:latin typeface="Roboto Mono"/>
              </a:rPr>
              <a:t>dba</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boro</a:t>
            </a:r>
          </a:p>
          <a:p>
            <a:pPr>
              <a:lnSpc>
                <a:spcPct val="105000"/>
              </a:lnSpc>
              <a:defRPr sz="2600">
                <a:latin typeface="Roboto Mono"/>
              </a:defRPr>
            </a:pPr>
            <a:r>
              <a:rPr sz="2600" i="0">
                <a:solidFill>
                  <a:srgbClr val="FFFCF7"/>
                </a:solidFill>
                <a:latin typeface="Roboto Mono"/>
              </a:rPr>
              <a:t>)</a:t>
            </a:r>
          </a:p>
          <a:p>
            <a:pPr>
              <a:lnSpc>
                <a:spcPct val="105000"/>
              </a:lnSpc>
              <a:defRPr sz="2600">
                <a:latin typeface="Roboto Mono"/>
              </a:defRPr>
            </a:pP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dba</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boro</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tv</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FFFCF7"/>
                </a:solidFill>
                <a:latin typeface="Roboto Mono"/>
              </a:rPr>
              <a:t>ROUND</a:t>
            </a:r>
            <a:r>
              <a:rPr sz="2600" i="0">
                <a:solidFill>
                  <a:srgbClr val="FFFCF7"/>
                </a:solidFill>
                <a:latin typeface="Roboto Mono"/>
              </a:rPr>
              <a:t>(</a:t>
            </a:r>
            <a:r>
              <a:rPr sz="2600" i="0">
                <a:solidFill>
                  <a:srgbClr val="EEBC32"/>
                </a:solidFill>
                <a:latin typeface="Roboto Mono"/>
              </a:rPr>
              <a:t>AVG</a:t>
            </a:r>
            <a:r>
              <a:rPr sz="2600" i="0">
                <a:solidFill>
                  <a:srgbClr val="FFFCF7"/>
                </a:solidFill>
                <a:latin typeface="Roboto Mono"/>
              </a:rPr>
              <a:t>(</a:t>
            </a:r>
            <a:r>
              <a:rPr sz="2600" i="0">
                <a:solidFill>
                  <a:srgbClr val="FFFCF7"/>
                </a:solidFill>
                <a:latin typeface="Roboto Mono"/>
              </a:rPr>
              <a:t>tv</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OVER</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PARTITION</a:t>
            </a:r>
            <a:r>
              <a:rPr sz="2600" i="0">
                <a:solidFill>
                  <a:srgbClr val="FFFCF7"/>
                </a:solidFill>
                <a:latin typeface="Roboto Mono"/>
              </a:rPr>
              <a:t> </a:t>
            </a:r>
            <a:r>
              <a:rPr sz="2600" i="0">
                <a:solidFill>
                  <a:srgbClr val="EEBC32"/>
                </a:solidFill>
                <a:latin typeface="Roboto Mono"/>
              </a:rPr>
              <a:t>BY</a:t>
            </a:r>
            <a:r>
              <a:rPr sz="2600" i="0">
                <a:solidFill>
                  <a:srgbClr val="FFFCF7"/>
                </a:solidFill>
                <a:latin typeface="Roboto Mono"/>
              </a:rPr>
              <a:t> </a:t>
            </a:r>
            <a:r>
              <a:rPr sz="2600" i="0">
                <a:solidFill>
                  <a:srgbClr val="FFFCF7"/>
                </a:solidFill>
                <a:latin typeface="Roboto Mono"/>
              </a:rPr>
              <a:t>boro</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659B87"/>
                </a:solidFill>
                <a:latin typeface="Roboto Mono"/>
              </a:rPr>
              <a:t>2</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b_avg</a:t>
            </a:r>
          </a:p>
          <a:p>
            <a:pPr>
              <a:lnSpc>
                <a:spcPct val="105000"/>
              </a:lnSpc>
              <a:defRPr sz="2600">
                <a:latin typeface="Roboto Mono"/>
              </a:defRPr>
            </a:pP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totals</a:t>
            </a:r>
            <a:r>
              <a:rPr sz="2600" i="0">
                <a:solidFill>
                  <a:srgbClr val="FFFCF7"/>
                </a:solidFill>
                <a:latin typeface="Roboto Mono"/>
              </a:rPr>
              <a:t> </a:t>
            </a:r>
            <a:r>
              <a:rPr sz="2600" i="0">
                <a:solidFill>
                  <a:srgbClr val="EEBC32"/>
                </a:solidFill>
                <a:latin typeface="Roboto Mono"/>
              </a:rPr>
              <a:t>ORDER</a:t>
            </a:r>
            <a:r>
              <a:rPr sz="2600" i="0">
                <a:solidFill>
                  <a:srgbClr val="FFFCF7"/>
                </a:solidFill>
                <a:latin typeface="Roboto Mono"/>
              </a:rPr>
              <a:t> </a:t>
            </a:r>
            <a:r>
              <a:rPr sz="2600" i="0">
                <a:solidFill>
                  <a:srgbClr val="EEBC32"/>
                </a:solidFill>
                <a:latin typeface="Roboto Mono"/>
              </a:rPr>
              <a:t>BY</a:t>
            </a:r>
            <a:r>
              <a:rPr sz="2600" i="0">
                <a:solidFill>
                  <a:srgbClr val="FFFCF7"/>
                </a:solidFill>
                <a:latin typeface="Roboto Mono"/>
              </a:rPr>
              <a:t> </a:t>
            </a:r>
            <a:r>
              <a:rPr sz="2600" i="0">
                <a:solidFill>
                  <a:srgbClr val="FFFCF7"/>
                </a:solidFill>
                <a:latin typeface="Roboto Mono"/>
              </a:rPr>
              <a:t>boro</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tv</a:t>
            </a:r>
            <a:r>
              <a:rPr sz="2600" i="0">
                <a:solidFill>
                  <a:srgbClr val="FFFCF7"/>
                </a:solidFill>
                <a:latin typeface="Roboto Mono"/>
              </a:rPr>
              <a:t> </a:t>
            </a:r>
            <a:r>
              <a:rPr sz="2600" i="0">
                <a:solidFill>
                  <a:srgbClr val="EEBC32"/>
                </a:solidFill>
                <a:latin typeface="Roboto Mono"/>
              </a:rPr>
              <a:t>DESC</a:t>
            </a:r>
            <a:r>
              <a:rPr sz="2600" i="0">
                <a:solidFill>
                  <a:srgbClr val="FFFCF7"/>
                </a:solidFill>
                <a:latin typeface="Roboto Mono"/>
              </a:rPr>
              <a:t>;</a:t>
            </a:r>
          </a:p>
          <a:p>
            <a:pPr>
              <a:lnSpc>
                <a:spcPct val="105000"/>
              </a:lnSpc>
              <a:defRPr sz="2600">
                <a:latin typeface="Roboto Mono"/>
              </a:defRPr>
            </a:p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QUICK CHALLENGE</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Quick-fire: You try to keep only the rows above their borough average by adding a </a:t>
            </a:r>
            <a:r>
              <a:rPr sz="3200" b="1" i="0" u="none">
                <a:solidFill>
                  <a:srgbClr val="261F1D"/>
                </a:solidFill>
                <a:latin typeface="Roboto Mono"/>
              </a:rPr>
              <a:t>WHERE</a:t>
            </a:r>
            <a:r>
              <a:rPr sz="3200" b="1" i="0" u="none">
                <a:solidFill>
                  <a:srgbClr val="261F1D"/>
                </a:solidFill>
                <a:latin typeface="Helvetica"/>
              </a:rPr>
              <a:t> on that window value. What happens?</a:t>
            </a:r>
          </a:p>
        </p:txBody>
      </p:sp>
      <p:sp>
        <p:nvSpPr>
          <p:cNvPr id="6" name="TextBox 5"/>
          <p:cNvSpPr txBox="1"/>
          <p:nvPr/>
        </p:nvSpPr>
        <p:spPr>
          <a:xfrm>
            <a:off x="822960" y="3291840"/>
            <a:ext cx="10545775" cy="2560320"/>
          </a:xfrm>
          <a:prstGeom prst="rect">
            <a:avLst/>
          </a:prstGeom>
          <a:noFill/>
        </p:spPr>
        <p:txBody>
          <a:bodyPr wrap="square" lIns="0" rIns="0" tIns="0" bIns="0">
            <a:noAutofit/>
          </a:bodyPr>
          <a:lstStyle/>
          <a:p>
            <a:pPr>
              <a:spcAft>
                <a:spcPts val="1000"/>
              </a:spcAft>
            </a:pPr>
            <a:r>
              <a:rPr sz="2600" b="0" i="0" u="none">
                <a:solidFill>
                  <a:srgbClr val="261F1D"/>
                </a:solidFill>
                <a:latin typeface="Helvetica"/>
              </a:rPr>
              <a:t>A.  Manhattan's two rows come back</a:t>
            </a:r>
          </a:p>
          <a:p>
            <a:pPr>
              <a:spcAft>
                <a:spcPts val="1000"/>
              </a:spcAft>
            </a:pPr>
            <a:r>
              <a:rPr sz="2600" b="0" i="0" u="none">
                <a:solidFill>
                  <a:srgbClr val="261F1D"/>
                </a:solidFill>
                <a:latin typeface="Helvetica"/>
              </a:rPr>
              <a:t>B.  Nothing comes back at all</a:t>
            </a:r>
          </a:p>
          <a:p>
            <a:pPr>
              <a:spcAft>
                <a:spcPts val="1000"/>
              </a:spcAft>
            </a:pPr>
            <a:r>
              <a:rPr sz="2600" b="0" i="0" u="none">
                <a:solidFill>
                  <a:srgbClr val="261F1D"/>
                </a:solidFill>
                <a:latin typeface="Helvetica"/>
              </a:rPr>
              <a:t>C.  Postgres refuses to run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EEC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66928"/>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566928"/>
          </a:xfrm>
          <a:prstGeom prst="rect">
            <a:avLst/>
          </a:prstGeom>
          <a:noFill/>
        </p:spPr>
        <p:txBody>
          <a:bodyPr wrap="square" anchor="ctr" lIns="0" rIns="0" tIns="0" bIns="0">
            <a:noAutofit/>
          </a:bodyPr>
          <a:lstStyle/>
          <a:p>
            <a:pPr algn="l"/>
            <a:r>
              <a:rPr sz="2600" b="1" i="0" u="none">
                <a:solidFill>
                  <a:srgbClr val="261F1D"/>
                </a:solidFill>
                <a:latin typeface="Helvetica"/>
              </a:rPr>
              <a:t>Answer Key: Filtering on a Window Value</a:t>
            </a:r>
          </a:p>
        </p:txBody>
      </p:sp>
      <p:sp>
        <p:nvSpPr>
          <p:cNvPr id="5" name="TextBox 4"/>
          <p:cNvSpPr txBox="1"/>
          <p:nvPr/>
        </p:nvSpPr>
        <p:spPr>
          <a:xfrm>
            <a:off x="548640" y="1389888"/>
            <a:ext cx="11094415" cy="914400"/>
          </a:xfrm>
          <a:prstGeom prst="rect">
            <a:avLst/>
          </a:prstGeom>
          <a:noFill/>
        </p:spPr>
        <p:txBody>
          <a:bodyPr wrap="square" anchor="t" lIns="0" rIns="0" tIns="0" bIns="0">
            <a:noAutofit/>
          </a:bodyPr>
          <a:lstStyle/>
          <a:p>
            <a:pPr algn="l"/>
            <a:r>
              <a:rPr sz="3200" b="1" i="0" u="none">
                <a:solidFill>
                  <a:srgbClr val="261F1D"/>
                </a:solidFill>
                <a:latin typeface="Helvetica"/>
              </a:rPr>
              <a:t>Correct answer: Postgres refuses to run it</a:t>
            </a:r>
          </a:p>
        </p:txBody>
      </p:sp>
      <p:sp>
        <p:nvSpPr>
          <p:cNvPr id="6" name="TextBox 5"/>
          <p:cNvSpPr txBox="1"/>
          <p:nvPr/>
        </p:nvSpPr>
        <p:spPr>
          <a:xfrm>
            <a:off x="548640" y="2487168"/>
            <a:ext cx="11094415" cy="2286000"/>
          </a:xfrm>
          <a:prstGeom prst="rect">
            <a:avLst/>
          </a:prstGeom>
          <a:noFill/>
        </p:spPr>
        <p:txBody>
          <a:bodyPr wrap="square" anchor="t" lIns="0" rIns="0" tIns="0" bIns="0">
            <a:noAutofit/>
          </a:bodyPr>
          <a:lstStyle/>
          <a:p>
            <a:pPr algn="l"/>
            <a:r>
              <a:rPr sz="2600" b="0" i="0" u="none">
                <a:solidFill>
                  <a:srgbClr val="261F1D"/>
                </a:solidFill>
                <a:latin typeface="Helvetica"/>
              </a:rPr>
              <a:t>The real message is </a:t>
            </a:r>
            <a:r>
              <a:rPr sz="2600" b="0" i="0" u="none">
                <a:solidFill>
                  <a:srgbClr val="261F1D"/>
                </a:solidFill>
                <a:latin typeface="Roboto Mono"/>
              </a:rPr>
              <a:t>window functions are not allowed in WHERE</a:t>
            </a:r>
            <a:r>
              <a:rPr sz="2600" b="0" i="0" u="none">
                <a:solidFill>
                  <a:srgbClr val="261F1D"/>
                </a:solidFill>
                <a:latin typeface="Helvetica"/>
              </a:rPr>
              <a:t>. The reason is ordering: </a:t>
            </a:r>
            <a:r>
              <a:rPr sz="2600" b="0" i="0" u="none">
                <a:solidFill>
                  <a:srgbClr val="261F1D"/>
                </a:solidFill>
                <a:latin typeface="Roboto Mono"/>
              </a:rPr>
              <a:t>WHERE</a:t>
            </a:r>
            <a:r>
              <a:rPr sz="2600" b="0" i="0" u="none">
                <a:solidFill>
                  <a:srgbClr val="261F1D"/>
                </a:solidFill>
                <a:latin typeface="Helvetica"/>
              </a:rPr>
              <a:t> is applied before window functions are computed, so at the moment the filter runs the value does not exist yet. Referring to the output alias </a:t>
            </a:r>
            <a:r>
              <a:rPr sz="2600" b="0" i="0" u="none">
                <a:solidFill>
                  <a:srgbClr val="261F1D"/>
                </a:solidFill>
                <a:latin typeface="Roboto Mono"/>
              </a:rPr>
              <a:t>b_avg</a:t>
            </a:r>
            <a:r>
              <a:rPr sz="2600" b="0" i="0" u="none">
                <a:solidFill>
                  <a:srgbClr val="261F1D"/>
                </a:solidFill>
                <a:latin typeface="Helvetica"/>
              </a:rPr>
              <a:t> fails too, for the more ordinary reason that an alias is not visible in </a:t>
            </a:r>
            <a:r>
              <a:rPr sz="2600" b="0" i="0" u="none">
                <a:solidFill>
                  <a:srgbClr val="261F1D"/>
                </a:solidFill>
                <a:latin typeface="Roboto Mono"/>
              </a:rPr>
              <a:t>WHERE</a:t>
            </a:r>
            <a:r>
              <a:rPr sz="2600" b="0" i="0" u="none">
                <a:solidFill>
                  <a:srgbClr val="261F1D"/>
                </a:solidFill>
                <a:latin typeface="Helvetica"/>
              </a:rPr>
              <a:t> either. The fix is the same wrapper move used for top-N per group: put the window query in a CTE, then filter the CTE.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Oval 2"/>
          <p:cNvSpPr/>
          <p:nvPr/>
        </p:nvSpPr>
        <p:spPr>
          <a:xfrm>
            <a:off x="5784037" y="556870"/>
            <a:ext cx="623621" cy="623621"/>
          </a:xfrm>
          <a:prstGeom prst="ellipse">
            <a:avLst/>
          </a:prstGeom>
          <a:solidFill>
            <a:srgbClr val="DEEAF4"/>
          </a:solidFill>
          <a:ln w="50800">
            <a:solidFill>
              <a:srgbClr val="2274B5"/>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5939942" y="712775"/>
            <a:ext cx="311810" cy="311810"/>
          </a:xfrm>
          <a:prstGeom prst="rect">
            <a:avLst/>
          </a:prstGeom>
        </p:spPr>
      </p:pic>
      <p:sp>
        <p:nvSpPr>
          <p:cNvPr id="5" name="TextBox 4"/>
          <p:cNvSpPr txBox="1"/>
          <p:nvPr/>
        </p:nvSpPr>
        <p:spPr>
          <a:xfrm>
            <a:off x="548640" y="150876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Three Tools That All Work</a:t>
            </a:r>
          </a:p>
        </p:txBody>
      </p:sp>
      <p:sp>
        <p:nvSpPr>
          <p:cNvPr id="6" name="TextBox 5"/>
          <p:cNvSpPr txBox="1"/>
          <p:nvPr/>
        </p:nvSpPr>
        <p:spPr>
          <a:xfrm>
            <a:off x="548640" y="260604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Choosing One, and Saying Why</a:t>
            </a:r>
          </a:p>
        </p:txBody>
      </p:sp>
      <p:sp>
        <p:nvSpPr>
          <p:cNvPr id="7" name="TextBox 6"/>
          <p:cNvSpPr txBox="1"/>
          <p:nvPr/>
        </p:nvSpPr>
        <p:spPr>
          <a:xfrm>
            <a:off x="548640" y="416052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Every version today returned correct rows - so correctness is not actually what the choice is about.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Each Tool Answers a </a:t>
            </a:r>
            <a:r>
              <a:rPr sz="3200" b="1" i="0" u="none">
                <a:solidFill>
                  <a:srgbClr val="264326"/>
                </a:solidFill>
                <a:latin typeface="Helvetica"/>
              </a:rPr>
              <a:t>Different Shape</a:t>
            </a:r>
            <a:r>
              <a:rPr sz="3200" b="1" i="0" u="none">
                <a:solidFill>
                  <a:srgbClr val="261F1D"/>
                </a:solidFill>
                <a:latin typeface="Helvetica"/>
              </a:rPr>
              <a:t> of Question</a:t>
            </a:r>
          </a:p>
        </p:txBody>
      </p:sp>
      <p:graphicFrame>
        <p:nvGraphicFramePr>
          <p:cNvPr id="4" name="Table 3"/>
          <p:cNvGraphicFramePr>
            <a:graphicFrameLocks noGrp="1"/>
          </p:cNvGraphicFramePr>
          <p:nvPr/>
        </p:nvGraphicFramePr>
        <p:xfrm>
          <a:off x="548640" y="2743200"/>
          <a:ext cx="11094415" cy="2011680"/>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Tool</a:t>
                      </a:r>
                    </a:p>
                  </a:txBody>
                  <a:tcPr marL="109728" marR="109728" marT="54864" marB="54864" anchor="ctr">
                    <a:solidFill>
                      <a:srgbClr val="264326"/>
                    </a:solidFill>
                  </a:tcPr>
                </a:tc>
                <a:tc>
                  <a:txBody>
                    <a:bodyPr wrap="square"/>
                    <a:lstStyle/>
                    <a:p>
                      <a:r>
                        <a:rPr sz="2600" b="1" i="0" u="none">
                          <a:solidFill>
                            <a:srgbClr val="FFFCF7"/>
                          </a:solidFill>
                          <a:latin typeface="Helvetica"/>
                        </a:rPr>
                        <a:t>Reach For It When</a:t>
                      </a:r>
                    </a:p>
                  </a:txBody>
                  <a:tcPr marL="109728" marR="109728" marT="54864" marB="54864" anchor="ctr">
                    <a:solidFill>
                      <a:srgbClr val="264326"/>
                    </a:solidFill>
                  </a:tcPr>
                </a:tc>
              </a:tr>
              <a:tr h="502920">
                <a:tc>
                  <a:txBody>
                    <a:bodyPr wrap="square"/>
                    <a:lstStyle/>
                    <a:p>
                      <a:r>
                        <a:rPr sz="2600" b="0" i="0" u="none">
                          <a:solidFill>
                            <a:srgbClr val="261F1D"/>
                          </a:solidFill>
                          <a:latin typeface="Helvetica"/>
                        </a:rPr>
                        <a:t>Subquery</a:t>
                      </a:r>
                    </a:p>
                  </a:txBody>
                  <a:tcPr marL="109728" marR="109728" marT="54864" marB="54864" anchor="ctr">
                    <a:solidFill>
                      <a:srgbClr val="FFFCF7"/>
                    </a:solidFill>
                  </a:tcPr>
                </a:tc>
                <a:tc>
                  <a:txBody>
                    <a:bodyPr wrap="square"/>
                    <a:lstStyle/>
                    <a:p>
                      <a:r>
                        <a:rPr sz="2600" b="0" i="0" u="none">
                          <a:solidFill>
                            <a:srgbClr val="261F1D"/>
                          </a:solidFill>
                          <a:latin typeface="Helvetica"/>
                        </a:rPr>
                        <a:t>One value, needed once</a:t>
                      </a:r>
                    </a:p>
                  </a:txBody>
                  <a:tcPr marL="109728" marR="109728" marT="54864" marB="54864" anchor="ctr">
                    <a:solidFill>
                      <a:srgbClr val="FFFCF7"/>
                    </a:solidFill>
                  </a:tcPr>
                </a:tc>
              </a:tr>
              <a:tr h="502920">
                <a:tc>
                  <a:txBody>
                    <a:bodyPr wrap="square"/>
                    <a:lstStyle/>
                    <a:p>
                      <a:r>
                        <a:rPr sz="2600" b="0" i="0" u="none">
                          <a:solidFill>
                            <a:srgbClr val="261F1D"/>
                          </a:solidFill>
                          <a:latin typeface="Helvetica"/>
                        </a:rPr>
                        <a:t>CTE</a:t>
                      </a:r>
                    </a:p>
                  </a:txBody>
                  <a:tcPr marL="109728" marR="109728" marT="54864" marB="54864" anchor="ctr">
                    <a:solidFill>
                      <a:srgbClr val="FFF6E4"/>
                    </a:solidFill>
                  </a:tcPr>
                </a:tc>
                <a:tc>
                  <a:txBody>
                    <a:bodyPr wrap="square"/>
                    <a:lstStyle/>
                    <a:p>
                      <a:r>
                        <a:rPr sz="2600" b="0" i="0" u="none">
                          <a:solidFill>
                            <a:srgbClr val="261F1D"/>
                          </a:solidFill>
                          <a:latin typeface="Helvetica"/>
                        </a:rPr>
                        <a:t>A step you name and reuse</a:t>
                      </a:r>
                    </a:p>
                  </a:txBody>
                  <a:tcPr marL="109728" marR="109728" marT="54864" marB="54864" anchor="ctr">
                    <a:solidFill>
                      <a:srgbClr val="FFF6E4"/>
                    </a:solidFill>
                  </a:tcPr>
                </a:tc>
              </a:tr>
              <a:tr h="502920">
                <a:tc>
                  <a:txBody>
                    <a:bodyPr wrap="square"/>
                    <a:lstStyle/>
                    <a:p>
                      <a:r>
                        <a:rPr sz="2600" b="0" i="0" u="none">
                          <a:solidFill>
                            <a:srgbClr val="261F1D"/>
                          </a:solidFill>
                          <a:latin typeface="Helvetica"/>
                        </a:rPr>
                        <a:t>Window function</a:t>
                      </a:r>
                    </a:p>
                  </a:txBody>
                  <a:tcPr marL="109728" marR="109728" marT="54864" marB="54864" anchor="ctr">
                    <a:solidFill>
                      <a:srgbClr val="FFFCF7"/>
                    </a:solidFill>
                  </a:tcPr>
                </a:tc>
                <a:tc>
                  <a:txBody>
                    <a:bodyPr wrap="square"/>
                    <a:lstStyle/>
                    <a:p>
                      <a:r>
                        <a:rPr sz="2600" b="0" i="0" u="none">
                          <a:solidFill>
                            <a:srgbClr val="261F1D"/>
                          </a:solidFill>
                          <a:latin typeface="Helvetica"/>
                        </a:rPr>
                        <a:t>Every row stays, plus a number</a:t>
                      </a:r>
                    </a:p>
                  </a:txBody>
                  <a:tcPr marL="109728" marR="109728" marT="54864" marB="54864" anchor="ctr">
                    <a:solidFill>
                      <a:srgbClr val="FFFCF7"/>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Four Checks </a:t>
            </a:r>
            <a:r>
              <a:rPr sz="3200" b="1" i="0" u="none">
                <a:solidFill>
                  <a:srgbClr val="264326"/>
                </a:solidFill>
                <a:latin typeface="Helvetica"/>
              </a:rPr>
              <a:t>Before You Pick a Tool</a:t>
            </a:r>
          </a:p>
        </p:txBody>
      </p:sp>
      <p:sp>
        <p:nvSpPr>
          <p:cNvPr id="4" name="Rounded Rectangle 3"/>
          <p:cNvSpPr/>
          <p:nvPr/>
        </p:nvSpPr>
        <p:spPr>
          <a:xfrm>
            <a:off x="548640" y="1188720"/>
            <a:ext cx="2602154" cy="50749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17320"/>
            <a:ext cx="2236394" cy="777240"/>
          </a:xfrm>
          <a:prstGeom prst="rect">
            <a:avLst/>
          </a:prstGeom>
          <a:noFill/>
        </p:spPr>
        <p:txBody>
          <a:bodyPr wrap="square" anchor="t" lIns="0" rIns="0" tIns="0" bIns="0">
            <a:noAutofit/>
          </a:bodyPr>
          <a:lstStyle/>
          <a:p>
            <a:pPr algn="ctr"/>
            <a:r>
              <a:rPr sz="4400" b="1" i="0" u="none">
                <a:solidFill>
                  <a:srgbClr val="2F5A8B"/>
                </a:solidFill>
                <a:latin typeface="Helvetica"/>
              </a:rPr>
              <a:t>01</a:t>
            </a:r>
          </a:p>
        </p:txBody>
      </p:sp>
      <p:sp>
        <p:nvSpPr>
          <p:cNvPr id="6" name="TextBox 5"/>
          <p:cNvSpPr txBox="1"/>
          <p:nvPr/>
        </p:nvSpPr>
        <p:spPr>
          <a:xfrm>
            <a:off x="731520" y="2286000"/>
            <a:ext cx="2236394" cy="640080"/>
          </a:xfrm>
          <a:prstGeom prst="rect">
            <a:avLst/>
          </a:prstGeom>
          <a:noFill/>
        </p:spPr>
        <p:txBody>
          <a:bodyPr wrap="square" anchor="t" lIns="0" rIns="0" tIns="0" bIns="0">
            <a:noAutofit/>
          </a:bodyPr>
          <a:lstStyle/>
          <a:p>
            <a:pPr algn="ctr"/>
            <a:r>
              <a:rPr sz="2800" b="1" i="0" u="none">
                <a:solidFill>
                  <a:srgbClr val="261F1D"/>
                </a:solidFill>
                <a:latin typeface="Helvetica"/>
              </a:rPr>
              <a:t>Rows</a:t>
            </a:r>
          </a:p>
        </p:txBody>
      </p:sp>
      <p:sp>
        <p:nvSpPr>
          <p:cNvPr id="7" name="TextBox 6"/>
          <p:cNvSpPr txBox="1"/>
          <p:nvPr/>
        </p:nvSpPr>
        <p:spPr>
          <a:xfrm>
            <a:off x="731520" y="3017520"/>
            <a:ext cx="2236394" cy="3063240"/>
          </a:xfrm>
          <a:prstGeom prst="rect">
            <a:avLst/>
          </a:prstGeom>
          <a:noFill/>
        </p:spPr>
        <p:txBody>
          <a:bodyPr wrap="square" anchor="t" lIns="0" rIns="0" tIns="0" bIns="0">
            <a:noAutofit/>
          </a:bodyPr>
          <a:lstStyle/>
          <a:p>
            <a:pPr algn="ctr"/>
            <a:r>
              <a:rPr sz="2600" b="0" i="0" u="none">
                <a:solidFill>
                  <a:srgbClr val="261F1D"/>
                </a:solidFill>
                <a:latin typeface="Helvetica"/>
              </a:rPr>
              <a:t>Does every original row need to survive?</a:t>
            </a:r>
          </a:p>
        </p:txBody>
      </p:sp>
      <p:sp>
        <p:nvSpPr>
          <p:cNvPr id="8" name="Rounded Rectangle 7"/>
          <p:cNvSpPr/>
          <p:nvPr/>
        </p:nvSpPr>
        <p:spPr>
          <a:xfrm>
            <a:off x="3379394" y="1188720"/>
            <a:ext cx="2602154" cy="50749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62274" y="1417320"/>
            <a:ext cx="2236394" cy="777240"/>
          </a:xfrm>
          <a:prstGeom prst="rect">
            <a:avLst/>
          </a:prstGeom>
          <a:noFill/>
        </p:spPr>
        <p:txBody>
          <a:bodyPr wrap="square" anchor="t" lIns="0" rIns="0" tIns="0" bIns="0">
            <a:noAutofit/>
          </a:bodyPr>
          <a:lstStyle/>
          <a:p>
            <a:pPr algn="ctr"/>
            <a:r>
              <a:rPr sz="4400" b="1" i="0" u="none">
                <a:solidFill>
                  <a:srgbClr val="2F5A8B"/>
                </a:solidFill>
                <a:latin typeface="Helvetica"/>
              </a:rPr>
              <a:t>02</a:t>
            </a:r>
          </a:p>
        </p:txBody>
      </p:sp>
      <p:sp>
        <p:nvSpPr>
          <p:cNvPr id="10" name="TextBox 9"/>
          <p:cNvSpPr txBox="1"/>
          <p:nvPr/>
        </p:nvSpPr>
        <p:spPr>
          <a:xfrm>
            <a:off x="3562274" y="2286000"/>
            <a:ext cx="2236394" cy="640080"/>
          </a:xfrm>
          <a:prstGeom prst="rect">
            <a:avLst/>
          </a:prstGeom>
          <a:noFill/>
        </p:spPr>
        <p:txBody>
          <a:bodyPr wrap="square" anchor="t" lIns="0" rIns="0" tIns="0" bIns="0">
            <a:noAutofit/>
          </a:bodyPr>
          <a:lstStyle/>
          <a:p>
            <a:pPr algn="ctr"/>
            <a:r>
              <a:rPr sz="2800" b="1" i="0" u="none">
                <a:solidFill>
                  <a:srgbClr val="261F1D"/>
                </a:solidFill>
                <a:latin typeface="Helvetica"/>
              </a:rPr>
              <a:t>Reuse</a:t>
            </a:r>
          </a:p>
        </p:txBody>
      </p:sp>
      <p:sp>
        <p:nvSpPr>
          <p:cNvPr id="11" name="TextBox 10"/>
          <p:cNvSpPr txBox="1"/>
          <p:nvPr/>
        </p:nvSpPr>
        <p:spPr>
          <a:xfrm>
            <a:off x="3562274" y="3017520"/>
            <a:ext cx="2236394" cy="3063240"/>
          </a:xfrm>
          <a:prstGeom prst="rect">
            <a:avLst/>
          </a:prstGeom>
          <a:noFill/>
        </p:spPr>
        <p:txBody>
          <a:bodyPr wrap="square" anchor="t" lIns="0" rIns="0" tIns="0" bIns="0">
            <a:noAutofit/>
          </a:bodyPr>
          <a:lstStyle/>
          <a:p>
            <a:pPr algn="ctr"/>
            <a:r>
              <a:rPr sz="2600" b="0" i="0" u="none">
                <a:solidFill>
                  <a:srgbClr val="261F1D"/>
                </a:solidFill>
                <a:latin typeface="Helvetica"/>
              </a:rPr>
              <a:t>Is the same result needed more than once?</a:t>
            </a:r>
          </a:p>
        </p:txBody>
      </p:sp>
      <p:sp>
        <p:nvSpPr>
          <p:cNvPr id="12" name="Rounded Rectangle 11"/>
          <p:cNvSpPr/>
          <p:nvPr/>
        </p:nvSpPr>
        <p:spPr>
          <a:xfrm>
            <a:off x="6210148" y="1188720"/>
            <a:ext cx="2602154" cy="50749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3028" y="1417320"/>
            <a:ext cx="2236394" cy="777240"/>
          </a:xfrm>
          <a:prstGeom prst="rect">
            <a:avLst/>
          </a:prstGeom>
          <a:noFill/>
        </p:spPr>
        <p:txBody>
          <a:bodyPr wrap="square" anchor="t" lIns="0" rIns="0" tIns="0" bIns="0">
            <a:noAutofit/>
          </a:bodyPr>
          <a:lstStyle/>
          <a:p>
            <a:pPr algn="ctr"/>
            <a:r>
              <a:rPr sz="4400" b="1" i="0" u="none">
                <a:solidFill>
                  <a:srgbClr val="2F5A8B"/>
                </a:solidFill>
                <a:latin typeface="Helvetica"/>
              </a:rPr>
              <a:t>03</a:t>
            </a:r>
          </a:p>
        </p:txBody>
      </p:sp>
      <p:sp>
        <p:nvSpPr>
          <p:cNvPr id="14" name="TextBox 13"/>
          <p:cNvSpPr txBox="1"/>
          <p:nvPr/>
        </p:nvSpPr>
        <p:spPr>
          <a:xfrm>
            <a:off x="6393028" y="2286000"/>
            <a:ext cx="2236394" cy="640080"/>
          </a:xfrm>
          <a:prstGeom prst="rect">
            <a:avLst/>
          </a:prstGeom>
          <a:noFill/>
        </p:spPr>
        <p:txBody>
          <a:bodyPr wrap="square" anchor="t" lIns="0" rIns="0" tIns="0" bIns="0">
            <a:noAutofit/>
          </a:bodyPr>
          <a:lstStyle/>
          <a:p>
            <a:pPr algn="ctr"/>
            <a:r>
              <a:rPr sz="2800" b="1" i="0" u="none">
                <a:solidFill>
                  <a:srgbClr val="261F1D"/>
                </a:solidFill>
                <a:latin typeface="Helvetica"/>
              </a:rPr>
              <a:t>Inspect</a:t>
            </a:r>
          </a:p>
        </p:txBody>
      </p:sp>
      <p:sp>
        <p:nvSpPr>
          <p:cNvPr id="15" name="TextBox 14"/>
          <p:cNvSpPr txBox="1"/>
          <p:nvPr/>
        </p:nvSpPr>
        <p:spPr>
          <a:xfrm>
            <a:off x="6393028" y="3017520"/>
            <a:ext cx="2236394" cy="3063240"/>
          </a:xfrm>
          <a:prstGeom prst="rect">
            <a:avLst/>
          </a:prstGeom>
          <a:noFill/>
        </p:spPr>
        <p:txBody>
          <a:bodyPr wrap="square" anchor="t" lIns="0" rIns="0" tIns="0" bIns="0">
            <a:noAutofit/>
          </a:bodyPr>
          <a:lstStyle/>
          <a:p>
            <a:pPr algn="ctr"/>
            <a:r>
              <a:rPr sz="2600" b="0" i="0" u="none">
                <a:solidFill>
                  <a:srgbClr val="261F1D"/>
                </a:solidFill>
                <a:latin typeface="Helvetica"/>
              </a:rPr>
              <a:t>Do you need to check the middle step?</a:t>
            </a:r>
          </a:p>
        </p:txBody>
      </p:sp>
      <p:sp>
        <p:nvSpPr>
          <p:cNvPr id="16" name="Rounded Rectangle 15"/>
          <p:cNvSpPr/>
          <p:nvPr/>
        </p:nvSpPr>
        <p:spPr>
          <a:xfrm>
            <a:off x="9040901" y="1188720"/>
            <a:ext cx="2602154" cy="50749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23781" y="1417320"/>
            <a:ext cx="2236394" cy="777240"/>
          </a:xfrm>
          <a:prstGeom prst="rect">
            <a:avLst/>
          </a:prstGeom>
          <a:noFill/>
        </p:spPr>
        <p:txBody>
          <a:bodyPr wrap="square" anchor="t" lIns="0" rIns="0" tIns="0" bIns="0">
            <a:noAutofit/>
          </a:bodyPr>
          <a:lstStyle/>
          <a:p>
            <a:pPr algn="ctr"/>
            <a:r>
              <a:rPr sz="4400" b="1" i="0" u="none">
                <a:solidFill>
                  <a:srgbClr val="2F5A8B"/>
                </a:solidFill>
                <a:latin typeface="Helvetica"/>
              </a:rPr>
              <a:t>04</a:t>
            </a:r>
          </a:p>
        </p:txBody>
      </p:sp>
      <p:sp>
        <p:nvSpPr>
          <p:cNvPr id="18" name="TextBox 17"/>
          <p:cNvSpPr txBox="1"/>
          <p:nvPr/>
        </p:nvSpPr>
        <p:spPr>
          <a:xfrm>
            <a:off x="9223781" y="2286000"/>
            <a:ext cx="2236394" cy="640080"/>
          </a:xfrm>
          <a:prstGeom prst="rect">
            <a:avLst/>
          </a:prstGeom>
          <a:noFill/>
        </p:spPr>
        <p:txBody>
          <a:bodyPr wrap="square" anchor="t" lIns="0" rIns="0" tIns="0" bIns="0">
            <a:noAutofit/>
          </a:bodyPr>
          <a:lstStyle/>
          <a:p>
            <a:pPr algn="ctr"/>
            <a:r>
              <a:rPr sz="2800" b="1" i="0" u="none">
                <a:solidFill>
                  <a:srgbClr val="261F1D"/>
                </a:solidFill>
                <a:latin typeface="Helvetica"/>
              </a:rPr>
              <a:t>Reader</a:t>
            </a:r>
          </a:p>
        </p:txBody>
      </p:sp>
      <p:sp>
        <p:nvSpPr>
          <p:cNvPr id="19" name="TextBox 18"/>
          <p:cNvSpPr txBox="1"/>
          <p:nvPr/>
        </p:nvSpPr>
        <p:spPr>
          <a:xfrm>
            <a:off x="9223781" y="3017520"/>
            <a:ext cx="2236394" cy="3063240"/>
          </a:xfrm>
          <a:prstGeom prst="rect">
            <a:avLst/>
          </a:prstGeom>
          <a:noFill/>
        </p:spPr>
        <p:txBody>
          <a:bodyPr wrap="square" anchor="t" lIns="0" rIns="0" tIns="0" bIns="0">
            <a:noAutofit/>
          </a:bodyPr>
          <a:lstStyle/>
          <a:p>
            <a:pPr algn="ctr"/>
            <a:r>
              <a:rPr sz="2600" b="0" i="0" u="none">
                <a:solidFill>
                  <a:srgbClr val="261F1D"/>
                </a:solidFill>
                <a:latin typeface="Helvetica"/>
              </a:rPr>
              <a:t>Who reads this query after you do?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ADD TO THE BOARD</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With your partner: Your manager wants only the three boroughs with the highest average violation count. Run the four checks out loud, then write one sentence naming your tool and why.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TURN AND TALK</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Interview-style: Your product manager asks why you rewrote a query that already worked. Explain the rewrite to them, not to another analyst.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INTERVIEW PREP</a:t>
            </a:r>
          </a:p>
        </p:txBody>
      </p:sp>
      <p:sp>
        <p:nvSpPr>
          <p:cNvPr id="5" name="TextBox 4"/>
          <p:cNvSpPr txBox="1"/>
          <p:nvPr/>
        </p:nvSpPr>
        <p:spPr>
          <a:xfrm>
            <a:off x="548640" y="155448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Topics You Might Get Asked About</a:t>
            </a:r>
          </a:p>
        </p:txBody>
      </p:sp>
      <p:sp>
        <p:nvSpPr>
          <p:cNvPr id="6" name="TextBox 5"/>
          <p:cNvSpPr txBox="1"/>
          <p:nvPr/>
        </p:nvSpPr>
        <p:spPr>
          <a:xfrm>
            <a:off x="822960" y="2560320"/>
            <a:ext cx="10545775" cy="34747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What's the difference between a CTE and a subquery, and when would you use each?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4864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731520" y="548640"/>
            <a:ext cx="365760" cy="365760"/>
          </a:xfrm>
          <a:prstGeom prst="rect">
            <a:avLst/>
          </a:prstGeom>
        </p:spPr>
      </p:pic>
      <p:sp>
        <p:nvSpPr>
          <p:cNvPr id="5" name="TextBox 4"/>
          <p:cNvSpPr txBox="1"/>
          <p:nvPr/>
        </p:nvSpPr>
        <p:spPr>
          <a:xfrm>
            <a:off x="1234440" y="457200"/>
            <a:ext cx="10271455" cy="548640"/>
          </a:xfrm>
          <a:prstGeom prst="rect">
            <a:avLst/>
          </a:prstGeom>
          <a:noFill/>
        </p:spPr>
        <p:txBody>
          <a:bodyPr wrap="square" anchor="ctr" lIns="0" rIns="0" tIns="0" bIns="0">
            <a:noAutofit/>
          </a:bodyPr>
          <a:lstStyle/>
          <a:p>
            <a:pPr algn="l"/>
            <a:r>
              <a:rPr sz="2600" b="1" i="0" u="none">
                <a:solidFill>
                  <a:srgbClr val="261F1D"/>
                </a:solidFill>
                <a:latin typeface="Helvetica"/>
              </a:rPr>
              <a:t>INTERVIEW PREP</a:t>
            </a:r>
          </a:p>
        </p:txBody>
      </p:sp>
      <p:sp>
        <p:nvSpPr>
          <p:cNvPr id="6" name="TextBox 5"/>
          <p:cNvSpPr txBox="1"/>
          <p:nvPr/>
        </p:nvSpPr>
        <p:spPr>
          <a:xfrm>
            <a:off x="548640" y="1280160"/>
            <a:ext cx="11094415" cy="1188720"/>
          </a:xfrm>
          <a:prstGeom prst="rect">
            <a:avLst/>
          </a:prstGeom>
          <a:noFill/>
        </p:spPr>
        <p:txBody>
          <a:bodyPr wrap="square" anchor="t" lIns="0" rIns="0" tIns="0" bIns="0">
            <a:noAutofit/>
          </a:bodyPr>
          <a:lstStyle/>
          <a:p>
            <a:pPr algn="l"/>
            <a:r>
              <a:rPr sz="3200" b="1" i="0" u="none">
                <a:solidFill>
                  <a:srgbClr val="261F1D"/>
                </a:solidFill>
                <a:latin typeface="Helvetica"/>
              </a:rPr>
              <a:t>What's the difference between a CTE and a subquery, and when would you use each?</a:t>
            </a:r>
          </a:p>
        </p:txBody>
      </p:sp>
      <p:sp>
        <p:nvSpPr>
          <p:cNvPr id="7" name="Rounded Rectangle 6"/>
          <p:cNvSpPr/>
          <p:nvPr/>
        </p:nvSpPr>
        <p:spPr>
          <a:xfrm>
            <a:off x="548640" y="2743200"/>
            <a:ext cx="11094415" cy="361188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971800"/>
            <a:ext cx="10545775" cy="3154680"/>
          </a:xfrm>
          <a:prstGeom prst="rect">
            <a:avLst/>
          </a:prstGeom>
          <a:noFill/>
        </p:spPr>
        <p:txBody>
          <a:bodyPr wrap="square" anchor="t" lIns="0" rIns="0" tIns="0" bIns="0">
            <a:noAutofit/>
          </a:bodyPr>
          <a:lstStyle/>
          <a:p>
            <a:pPr algn="l"/>
            <a:r>
              <a:rPr sz="2600" b="1" i="0" u="none">
                <a:solidFill>
                  <a:srgbClr val="264326"/>
                </a:solidFill>
                <a:latin typeface="Helvetica"/>
              </a:rPr>
              <a:t>Answer:</a:t>
            </a:r>
            <a:r>
              <a:rPr sz="2600" b="0" i="0" u="none">
                <a:solidFill>
                  <a:srgbClr val="261F1D"/>
                </a:solidFill>
                <a:latin typeface="Helvetica"/>
              </a:rPr>
              <a:t> Both hold an intermediate result, so a read-only query returns the same rows either way - the difference is a CTE is named and can be reused and inspected, while a subquery is anonymous. That matters because the next person maintaining it has to check the middle step, not the final number. I once rewrote a query that repeated the same count twice, naming it once so it could run on its own. So: a subquery for one value needed once, a CTE once a step is reused or inspected.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Key Terms - Recap</a:t>
            </a:r>
          </a:p>
        </p:txBody>
      </p:sp>
      <p:graphicFrame>
        <p:nvGraphicFramePr>
          <p:cNvPr id="4" name="Table 3"/>
          <p:cNvGraphicFramePr>
            <a:graphicFrameLocks noGrp="1"/>
          </p:cNvGraphicFramePr>
          <p:nvPr/>
        </p:nvGraphicFramePr>
        <p:xfrm>
          <a:off x="548640" y="2368296"/>
          <a:ext cx="11094415" cy="2761488"/>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Term</a:t>
                      </a:r>
                    </a:p>
                  </a:txBody>
                  <a:tcPr marL="109728" marR="109728" marT="54864" marB="54864" anchor="ctr">
                    <a:solidFill>
                      <a:srgbClr val="264326"/>
                    </a:solidFill>
                  </a:tcPr>
                </a:tc>
                <a:tc>
                  <a:txBody>
                    <a:bodyPr wrap="square"/>
                    <a:lstStyle/>
                    <a:p>
                      <a:r>
                        <a:rPr sz="2600" b="1" i="0" u="none">
                          <a:solidFill>
                            <a:srgbClr val="FFFCF7"/>
                          </a:solidFill>
                          <a:latin typeface="Helvetica"/>
                        </a:rPr>
                        <a:t>Definition</a:t>
                      </a:r>
                    </a:p>
                  </a:txBody>
                  <a:tcPr marL="109728" marR="109728" marT="54864" marB="54864" anchor="ctr">
                    <a:solidFill>
                      <a:srgbClr val="264326"/>
                    </a:solidFill>
                  </a:tcPr>
                </a:tc>
              </a:tr>
              <a:tr h="877824">
                <a:tc>
                  <a:txBody>
                    <a:bodyPr wrap="square"/>
                    <a:lstStyle/>
                    <a:p>
                      <a:r>
                        <a:rPr sz="2600" b="0" i="0" u="none">
                          <a:solidFill>
                            <a:srgbClr val="261F1D"/>
                          </a:solidFill>
                          <a:latin typeface="Helvetica"/>
                        </a:rPr>
                        <a:t>Scalar subquery</a:t>
                      </a:r>
                    </a:p>
                  </a:txBody>
                  <a:tcPr marL="109728" marR="109728" marT="54864" marB="54864" anchor="ctr">
                    <a:solidFill>
                      <a:srgbClr val="FFFCF7"/>
                    </a:solidFill>
                  </a:tcPr>
                </a:tc>
                <a:tc>
                  <a:txBody>
                    <a:bodyPr wrap="square"/>
                    <a:lstStyle/>
                    <a:p>
                      <a:r>
                        <a:rPr sz="2600" b="0" i="0" u="none">
                          <a:solidFill>
                            <a:srgbClr val="261F1D"/>
                          </a:solidFill>
                          <a:latin typeface="Helvetica"/>
                        </a:rPr>
                        <a:t>A query returning one single value</a:t>
                      </a:r>
                    </a:p>
                  </a:txBody>
                  <a:tcPr marL="109728" marR="109728" marT="54864" marB="54864" anchor="ctr">
                    <a:solidFill>
                      <a:srgbClr val="FFFCF7"/>
                    </a:solidFill>
                  </a:tcPr>
                </a:tc>
              </a:tr>
              <a:tr h="502920">
                <a:tc>
                  <a:txBody>
                    <a:bodyPr wrap="square"/>
                    <a:lstStyle/>
                    <a:p>
                      <a:r>
                        <a:rPr sz="2600" b="0" i="0" u="none">
                          <a:solidFill>
                            <a:srgbClr val="261F1D"/>
                          </a:solidFill>
                          <a:latin typeface="Helvetica"/>
                        </a:rPr>
                        <a:t>Derived table</a:t>
                      </a:r>
                    </a:p>
                  </a:txBody>
                  <a:tcPr marL="109728" marR="109728" marT="54864" marB="54864" anchor="ctr">
                    <a:solidFill>
                      <a:srgbClr val="FFF6E4"/>
                    </a:solidFill>
                  </a:tcPr>
                </a:tc>
                <a:tc>
                  <a:txBody>
                    <a:bodyPr wrap="square"/>
                    <a:lstStyle/>
                    <a:p>
                      <a:r>
                        <a:rPr sz="2600" b="0" i="0" u="none">
                          <a:solidFill>
                            <a:srgbClr val="261F1D"/>
                          </a:solidFill>
                          <a:latin typeface="Helvetica"/>
                        </a:rPr>
                        <a:t>A named query inside </a:t>
                      </a:r>
                      <a:r>
                        <a:rPr sz="2600" b="0" i="0" u="none">
                          <a:solidFill>
                            <a:srgbClr val="261F1D"/>
                          </a:solidFill>
                          <a:latin typeface="Roboto Mono"/>
                        </a:rPr>
                        <a:t>FROM</a:t>
                      </a:r>
                    </a:p>
                  </a:txBody>
                  <a:tcPr marL="109728" marR="109728" marT="54864" marB="54864" anchor="ctr">
                    <a:solidFill>
                      <a:srgbClr val="FFF6E4"/>
                    </a:solidFill>
                  </a:tcPr>
                </a:tc>
              </a:tr>
              <a:tr h="877824">
                <a:tc>
                  <a:txBody>
                    <a:bodyPr wrap="square"/>
                    <a:lstStyle/>
                    <a:p>
                      <a:r>
                        <a:rPr sz="2600" b="0" i="0" u="none">
                          <a:solidFill>
                            <a:srgbClr val="261F1D"/>
                          </a:solidFill>
                          <a:latin typeface="Helvetica"/>
                        </a:rPr>
                        <a:t>Correlated subquery</a:t>
                      </a:r>
                    </a:p>
                  </a:txBody>
                  <a:tcPr marL="109728" marR="109728" marT="54864" marB="54864" anchor="ctr">
                    <a:solidFill>
                      <a:srgbClr val="FFFCF7"/>
                    </a:solidFill>
                  </a:tcPr>
                </a:tc>
                <a:tc>
                  <a:txBody>
                    <a:bodyPr wrap="square"/>
                    <a:lstStyle/>
                    <a:p>
                      <a:r>
                        <a:rPr sz="2600" b="0" i="0" u="none">
                          <a:solidFill>
                            <a:srgbClr val="261F1D"/>
                          </a:solidFill>
                          <a:latin typeface="Helvetica"/>
                        </a:rPr>
                        <a:t>Inner query using an outer column</a:t>
                      </a:r>
                    </a:p>
                  </a:txBody>
                  <a:tcPr marL="109728" marR="109728" marT="54864" marB="54864" anchor="ctr">
                    <a:solidFill>
                      <a:srgbClr val="FFFCF7"/>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6E4"/>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So far, we've covered...</a:t>
            </a:r>
          </a:p>
        </p:txBody>
      </p:sp>
      <p:sp>
        <p:nvSpPr>
          <p:cNvPr id="4" name="Rounded Rectangle 3"/>
          <p:cNvSpPr/>
          <p:nvPr/>
        </p:nvSpPr>
        <p:spPr>
          <a:xfrm>
            <a:off x="548640" y="2217420"/>
            <a:ext cx="2602154" cy="2560320"/>
          </a:xfrm>
          <a:prstGeom prst="roundRect">
            <a:avLst>
              <a:gd name="adj" fmla="val 6000"/>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1575397" y="2446020"/>
            <a:ext cx="548640" cy="548640"/>
          </a:xfrm>
          <a:prstGeom prst="rect">
            <a:avLst/>
          </a:prstGeom>
        </p:spPr>
      </p:pic>
      <p:sp>
        <p:nvSpPr>
          <p:cNvPr id="6" name="TextBox 5"/>
          <p:cNvSpPr txBox="1"/>
          <p:nvPr/>
        </p:nvSpPr>
        <p:spPr>
          <a:xfrm>
            <a:off x="685800" y="3177540"/>
            <a:ext cx="2327834" cy="1463040"/>
          </a:xfrm>
          <a:prstGeom prst="rect">
            <a:avLst/>
          </a:prstGeom>
          <a:noFill/>
        </p:spPr>
        <p:txBody>
          <a:bodyPr wrap="square" anchor="t" lIns="0" rIns="0" tIns="0" bIns="0">
            <a:noAutofit/>
          </a:bodyPr>
          <a:lstStyle/>
          <a:p>
            <a:pPr algn="ctr"/>
            <a:r>
              <a:rPr sz="2600" b="1" i="0" u="none">
                <a:solidFill>
                  <a:srgbClr val="261F1D"/>
                </a:solidFill>
                <a:latin typeface="Helvetica"/>
              </a:rPr>
              <a:t>Same rows, different maintenance</a:t>
            </a:r>
          </a:p>
        </p:txBody>
      </p:sp>
      <p:sp>
        <p:nvSpPr>
          <p:cNvPr id="7" name="Rounded Rectangle 6"/>
          <p:cNvSpPr/>
          <p:nvPr/>
        </p:nvSpPr>
        <p:spPr>
          <a:xfrm>
            <a:off x="3379394" y="2217420"/>
            <a:ext cx="2602154" cy="25603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
          <p:cNvPicPr>
            <a:picLocks noChangeAspect="1"/>
          </p:cNvPicPr>
          <p:nvPr/>
        </p:nvPicPr>
        <p:blipFill>
          <a:blip r:embed="rId4"/>
          <a:stretch>
            <a:fillRect/>
          </a:stretch>
        </p:blipFill>
        <p:spPr>
          <a:xfrm>
            <a:off x="4406151" y="2446020"/>
            <a:ext cx="548640" cy="548640"/>
          </a:xfrm>
          <a:prstGeom prst="rect">
            <a:avLst/>
          </a:prstGeom>
        </p:spPr>
      </p:pic>
      <p:sp>
        <p:nvSpPr>
          <p:cNvPr id="9" name="TextBox 8"/>
          <p:cNvSpPr txBox="1"/>
          <p:nvPr/>
        </p:nvSpPr>
        <p:spPr>
          <a:xfrm>
            <a:off x="3516554" y="3177540"/>
            <a:ext cx="2327834" cy="1463040"/>
          </a:xfrm>
          <a:prstGeom prst="rect">
            <a:avLst/>
          </a:prstGeom>
          <a:noFill/>
        </p:spPr>
        <p:txBody>
          <a:bodyPr wrap="square" anchor="t" lIns="0" rIns="0" tIns="0" bIns="0">
            <a:noAutofit/>
          </a:bodyPr>
          <a:lstStyle/>
          <a:p>
            <a:pPr algn="ctr"/>
            <a:r>
              <a:rPr sz="2600" b="1" i="0" u="none">
                <a:solidFill>
                  <a:srgbClr val="261F1D"/>
                </a:solidFill>
                <a:latin typeface="Helvetica"/>
              </a:rPr>
              <a:t>Collapse or keep every row</a:t>
            </a:r>
          </a:p>
        </p:txBody>
      </p:sp>
      <p:sp>
        <p:nvSpPr>
          <p:cNvPr id="10" name="Rounded Rectangle 9"/>
          <p:cNvSpPr/>
          <p:nvPr/>
        </p:nvSpPr>
        <p:spPr>
          <a:xfrm>
            <a:off x="6210148" y="2217420"/>
            <a:ext cx="2602154" cy="2560320"/>
          </a:xfrm>
          <a:prstGeom prst="roundRect">
            <a:avLst>
              <a:gd name="adj" fmla="val 6000"/>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
          <p:cNvPicPr>
            <a:picLocks noChangeAspect="1"/>
          </p:cNvPicPr>
          <p:nvPr/>
        </p:nvPicPr>
        <p:blipFill>
          <a:blip r:embed="rId5"/>
          <a:stretch>
            <a:fillRect/>
          </a:stretch>
        </p:blipFill>
        <p:spPr>
          <a:xfrm>
            <a:off x="7236904" y="2446020"/>
            <a:ext cx="548640" cy="548640"/>
          </a:xfrm>
          <a:prstGeom prst="rect">
            <a:avLst/>
          </a:prstGeom>
        </p:spPr>
      </p:pic>
      <p:sp>
        <p:nvSpPr>
          <p:cNvPr id="12" name="TextBox 11"/>
          <p:cNvSpPr txBox="1"/>
          <p:nvPr/>
        </p:nvSpPr>
        <p:spPr>
          <a:xfrm>
            <a:off x="6347308" y="3177540"/>
            <a:ext cx="2327834" cy="1463040"/>
          </a:xfrm>
          <a:prstGeom prst="rect">
            <a:avLst/>
          </a:prstGeom>
          <a:noFill/>
        </p:spPr>
        <p:txBody>
          <a:bodyPr wrap="square" anchor="t" lIns="0" rIns="0" tIns="0" bIns="0">
            <a:noAutofit/>
          </a:bodyPr>
          <a:lstStyle/>
          <a:p>
            <a:pPr algn="ctr"/>
            <a:r>
              <a:rPr sz="2600" b="1" i="0" u="none">
                <a:solidFill>
                  <a:srgbClr val="261F1D"/>
                </a:solidFill>
                <a:latin typeface="Helvetica"/>
              </a:rPr>
              <a:t>Four checks, then justify it</a:t>
            </a:r>
          </a:p>
        </p:txBody>
      </p:sp>
      <p:sp>
        <p:nvSpPr>
          <p:cNvPr id="13" name="Rounded Rectangle 12"/>
          <p:cNvSpPr/>
          <p:nvPr/>
        </p:nvSpPr>
        <p:spPr>
          <a:xfrm>
            <a:off x="9040901" y="2217420"/>
            <a:ext cx="2602154" cy="2560320"/>
          </a:xfrm>
          <a:prstGeom prst="roundRect">
            <a:avLst>
              <a:gd name="adj" fmla="val 6000"/>
            </a:avLst>
          </a:prstGeom>
          <a:solidFill>
            <a:srgbClr val="F7DFDF"/>
          </a:solidFill>
          <a:ln w="50800">
            <a:solidFill>
              <a:srgbClr val="C929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
          <p:cNvPicPr>
            <a:picLocks noChangeAspect="1"/>
          </p:cNvPicPr>
          <p:nvPr/>
        </p:nvPicPr>
        <p:blipFill>
          <a:blip r:embed="rId6"/>
          <a:stretch>
            <a:fillRect/>
          </a:stretch>
        </p:blipFill>
        <p:spPr>
          <a:xfrm>
            <a:off x="10067658" y="2446020"/>
            <a:ext cx="548640" cy="548640"/>
          </a:xfrm>
          <a:prstGeom prst="rect">
            <a:avLst/>
          </a:prstGeom>
        </p:spPr>
      </p:pic>
      <p:sp>
        <p:nvSpPr>
          <p:cNvPr id="15" name="TextBox 14"/>
          <p:cNvSpPr txBox="1"/>
          <p:nvPr/>
        </p:nvSpPr>
        <p:spPr>
          <a:xfrm>
            <a:off x="9178061" y="3177540"/>
            <a:ext cx="2327834" cy="1463040"/>
          </a:xfrm>
          <a:prstGeom prst="rect">
            <a:avLst/>
          </a:prstGeom>
          <a:noFill/>
        </p:spPr>
        <p:txBody>
          <a:bodyPr wrap="square" anchor="t" lIns="0" rIns="0" tIns="0" bIns="0">
            <a:noAutofit/>
          </a:bodyPr>
          <a:lstStyle/>
          <a:p>
            <a:pPr algn="ctr"/>
            <a:r>
              <a:rPr sz="2600" b="1" i="0" u="none">
                <a:solidFill>
                  <a:srgbClr val="261F1D"/>
                </a:solidFill>
                <a:latin typeface="Helvetica"/>
              </a:rPr>
              <a:t>Say which database you mean</a:t>
            </a:r>
          </a:p>
        </p:txBody>
      </p:sp>
      <p:sp>
        <p:nvSpPr>
          <p:cNvPr id="16" name="TextBox 15"/>
          <p:cNvSpPr txBox="1"/>
          <p:nvPr/>
        </p:nvSpPr>
        <p:spPr>
          <a:xfrm>
            <a:off x="548640" y="4960620"/>
            <a:ext cx="11094415" cy="457200"/>
          </a:xfrm>
          <a:prstGeom prst="rect">
            <a:avLst/>
          </a:prstGeom>
          <a:noFill/>
        </p:spPr>
        <p:txBody>
          <a:bodyPr wrap="square" anchor="t" lIns="0" rIns="0" tIns="0" bIns="0">
            <a:noAutofit/>
          </a:bodyPr>
          <a:lstStyle/>
          <a:p>
            <a:pPr algn="l"/>
            <a:r>
              <a:rPr sz="2600" b="1" i="0" u="none">
                <a:solidFill>
                  <a:srgbClr val="2274B5"/>
                </a:solidFill>
                <a:latin typeface="Helvetica"/>
                <a:hlinkClick r:id="rId7"/>
              </a:rPr>
              <a:t>Watch: Subquery vs CTE vs View vs Temp Table (~~10 min)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188720"/>
            <a:ext cx="11094415" cy="1005840"/>
          </a:xfrm>
          <a:prstGeom prst="rect">
            <a:avLst/>
          </a:prstGeom>
          <a:noFill/>
        </p:spPr>
        <p:txBody>
          <a:bodyPr wrap="square" anchor="t" lIns="0" rIns="0" tIns="0" bIns="0">
            <a:noAutofit/>
          </a:bodyPr>
          <a:lstStyle/>
          <a:p>
            <a:pPr algn="l"/>
            <a:r>
              <a:rPr sz="4000" b="1" i="0" u="none">
                <a:solidFill>
                  <a:srgbClr val="FFFCF7"/>
                </a:solidFill>
                <a:latin typeface="Helvetica"/>
              </a:rPr>
              <a:t>Before Next Class</a:t>
            </a:r>
          </a:p>
        </p:txBody>
      </p:sp>
      <p:sp>
        <p:nvSpPr>
          <p:cNvPr id="4" name="TextBox 3"/>
          <p:cNvSpPr txBox="1"/>
          <p:nvPr/>
        </p:nvSpPr>
        <p:spPr>
          <a:xfrm>
            <a:off x="548640" y="2651760"/>
            <a:ext cx="11094415" cy="2103120"/>
          </a:xfrm>
          <a:prstGeom prst="rect">
            <a:avLst/>
          </a:prstGeom>
          <a:noFill/>
        </p:spPr>
        <p:txBody>
          <a:bodyPr wrap="square" lIns="0" rIns="0" tIns="0" bIns="0">
            <a:noAutofit/>
          </a:bodyPr>
          <a:lstStyle/>
          <a:p>
            <a:pPr>
              <a:spcAft>
                <a:spcPts val="1000"/>
              </a:spcAft>
            </a:pPr>
            <a:r>
              <a:rPr sz="2600">
                <a:solidFill>
                  <a:srgbClr val="FFFCF7"/>
                </a:solidFill>
                <a:latin typeface="Helvetica"/>
              </a:rPr>
              <a:t>•  </a:t>
            </a:r>
            <a:r>
              <a:rPr sz="2600" b="0" i="0" u="none">
                <a:solidFill>
                  <a:srgbClr val="FFFCF7"/>
                </a:solidFill>
                <a:latin typeface="Helvetica"/>
              </a:rPr>
              <a:t>Today's practice lands in the project</a:t>
            </a:r>
          </a:p>
          <a:p>
            <a:pPr>
              <a:spcAft>
                <a:spcPts val="1000"/>
              </a:spcAft>
            </a:pPr>
            <a:r>
              <a:rPr sz="2600">
                <a:solidFill>
                  <a:srgbClr val="FFFCF7"/>
                </a:solidFill>
                <a:latin typeface="Helvetica"/>
              </a:rPr>
              <a:t>•  </a:t>
            </a:r>
            <a:r>
              <a:rPr sz="2600" b="0" i="0" u="none">
                <a:solidFill>
                  <a:srgbClr val="FFFCF7"/>
                </a:solidFill>
                <a:latin typeface="Helvetica"/>
              </a:rPr>
              <a:t>Next class: An independent schema critique lab</a:t>
            </a:r>
          </a:p>
          <a:p>
            <a:pPr>
              <a:spcAft>
                <a:spcPts val="1000"/>
              </a:spcAft>
            </a:pPr>
            <a:r>
              <a:rPr sz="2600">
                <a:solidFill>
                  <a:srgbClr val="FFFCF7"/>
                </a:solidFill>
                <a:latin typeface="Helvetica"/>
              </a:rPr>
              <a:t>•  </a:t>
            </a:r>
            <a:r>
              <a:rPr sz="2600" b="0" i="0" u="none">
                <a:solidFill>
                  <a:srgbClr val="FFFCF7"/>
                </a:solidFill>
                <a:latin typeface="Helvetica"/>
              </a:rPr>
              <a:t>Keep your database running</a:t>
            </a:r>
          </a:p>
        </p:txBody>
      </p:sp>
      <p:sp>
        <p:nvSpPr>
          <p:cNvPr id="5" name="TextBox 4"/>
          <p:cNvSpPr txBox="1"/>
          <p:nvPr/>
        </p:nvSpPr>
        <p:spPr>
          <a:xfrm>
            <a:off x="548640" y="5029200"/>
            <a:ext cx="11094415" cy="384048"/>
          </a:xfrm>
          <a:prstGeom prst="rect">
            <a:avLst/>
          </a:prstGeom>
          <a:noFill/>
        </p:spPr>
        <p:txBody>
          <a:bodyPr wrap="square" anchor="t" lIns="0" rIns="0" tIns="0" bIns="0">
            <a:noAutofit/>
          </a:bodyPr>
          <a:lstStyle/>
          <a:p>
            <a:pPr algn="l"/>
            <a:r>
              <a:rPr sz="2600" b="1" i="0" u="none">
                <a:solidFill>
                  <a:srgbClr val="EEBC32"/>
                </a:solidFill>
                <a:latin typeface="Helvetica"/>
              </a:rPr>
              <a:t>Exercise (Lab Plan): independent-schema-critique-role-setup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365760"/>
            <a:ext cx="11094415" cy="64008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65760"/>
            <a:ext cx="10545775" cy="640080"/>
          </a:xfrm>
          <a:prstGeom prst="rect">
            <a:avLst/>
          </a:prstGeom>
          <a:noFill/>
        </p:spPr>
        <p:txBody>
          <a:bodyPr wrap="square" anchor="ctr" lIns="0" rIns="0" tIns="0" bIns="0">
            <a:noAutofit/>
          </a:bodyPr>
          <a:lstStyle/>
          <a:p>
            <a:pPr algn="l"/>
            <a:r>
              <a:rPr sz="2600" b="1" i="0" u="none">
                <a:solidFill>
                  <a:srgbClr val="261F1D"/>
                </a:solidFill>
                <a:latin typeface="Helvetica"/>
              </a:rPr>
              <a:t>KEEP LEARNING</a:t>
            </a:r>
          </a:p>
        </p:txBody>
      </p:sp>
      <p:sp>
        <p:nvSpPr>
          <p:cNvPr id="5" name="TextBox 4"/>
          <p:cNvSpPr txBox="1"/>
          <p:nvPr/>
        </p:nvSpPr>
        <p:spPr>
          <a:xfrm>
            <a:off x="548640" y="123444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Where to Go From Here</a:t>
            </a:r>
          </a:p>
        </p:txBody>
      </p:sp>
      <p:pic>
        <p:nvPicPr>
          <p:cNvPr id="6" name="Picture 5" descr=""/>
          <p:cNvPicPr>
            <a:picLocks noChangeAspect="1"/>
          </p:cNvPicPr>
          <p:nvPr/>
        </p:nvPicPr>
        <p:blipFill>
          <a:blip r:embed="rId3"/>
          <a:stretch>
            <a:fillRect/>
          </a:stretch>
        </p:blipFill>
        <p:spPr>
          <a:xfrm>
            <a:off x="548640" y="1984248"/>
            <a:ext cx="365760" cy="365760"/>
          </a:xfrm>
          <a:prstGeom prst="rect">
            <a:avLst/>
          </a:prstGeom>
        </p:spPr>
      </p:pic>
      <p:sp>
        <p:nvSpPr>
          <p:cNvPr id="7" name="TextBox 6"/>
          <p:cNvSpPr txBox="1"/>
          <p:nvPr/>
        </p:nvSpPr>
        <p:spPr>
          <a:xfrm>
            <a:off x="1051560" y="1965960"/>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4"/>
              </a:rPr>
              <a:t>WITH Queries (Common Table Expressions)</a:t>
            </a:r>
          </a:p>
        </p:txBody>
      </p:sp>
      <p:sp>
        <p:nvSpPr>
          <p:cNvPr id="8" name="TextBox 7"/>
          <p:cNvSpPr txBox="1"/>
          <p:nvPr/>
        </p:nvSpPr>
        <p:spPr>
          <a:xfrm>
            <a:off x="1051560" y="2350008"/>
            <a:ext cx="10591495" cy="384048"/>
          </a:xfrm>
          <a:prstGeom prst="rect">
            <a:avLst/>
          </a:prstGeom>
          <a:noFill/>
        </p:spPr>
        <p:txBody>
          <a:bodyPr wrap="square" anchor="t" lIns="0" rIns="0" tIns="0" bIns="0">
            <a:noAutofit/>
          </a:bodyPr>
          <a:lstStyle/>
          <a:p>
            <a:pPr algn="l"/>
            <a:r>
              <a:rPr sz="2600" b="1" i="0" u="none">
                <a:solidFill>
                  <a:srgbClr val="327A5F"/>
                </a:solidFill>
                <a:latin typeface="Helvetica"/>
              </a:rPr>
              <a:t>PostgreSQL  ·  DOCS  ·  ~10 min read</a:t>
            </a:r>
          </a:p>
        </p:txBody>
      </p:sp>
      <p:sp>
        <p:nvSpPr>
          <p:cNvPr id="9" name="TextBox 8"/>
          <p:cNvSpPr txBox="1"/>
          <p:nvPr/>
        </p:nvSpPr>
        <p:spPr>
          <a:xfrm>
            <a:off x="1051560" y="2734056"/>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The real rules on CTE inlining and </a:t>
            </a:r>
            <a:r>
              <a:rPr sz="2600" b="0" i="0" u="none">
                <a:solidFill>
                  <a:srgbClr val="261F1D"/>
                </a:solidFill>
                <a:latin typeface="Roboto Mono"/>
              </a:rPr>
              <a:t>MATERIALIZED</a:t>
            </a:r>
          </a:p>
        </p:txBody>
      </p:sp>
      <p:pic>
        <p:nvPicPr>
          <p:cNvPr id="10" name="Picture 9" descr=""/>
          <p:cNvPicPr>
            <a:picLocks noChangeAspect="1"/>
          </p:cNvPicPr>
          <p:nvPr/>
        </p:nvPicPr>
        <p:blipFill>
          <a:blip r:embed="rId5"/>
          <a:stretch>
            <a:fillRect/>
          </a:stretch>
        </p:blipFill>
        <p:spPr>
          <a:xfrm>
            <a:off x="548640" y="3364992"/>
            <a:ext cx="365760" cy="365760"/>
          </a:xfrm>
          <a:prstGeom prst="rect">
            <a:avLst/>
          </a:prstGeom>
        </p:spPr>
      </p:pic>
      <p:sp>
        <p:nvSpPr>
          <p:cNvPr id="11" name="TextBox 10"/>
          <p:cNvSpPr txBox="1"/>
          <p:nvPr/>
        </p:nvSpPr>
        <p:spPr>
          <a:xfrm>
            <a:off x="1051560" y="3346704"/>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6"/>
              </a:rPr>
              <a:t>CTE vs. Subquery</a:t>
            </a:r>
          </a:p>
        </p:txBody>
      </p:sp>
      <p:sp>
        <p:nvSpPr>
          <p:cNvPr id="12" name="TextBox 11"/>
          <p:cNvSpPr txBox="1"/>
          <p:nvPr/>
        </p:nvSpPr>
        <p:spPr>
          <a:xfrm>
            <a:off x="1051560" y="3730752"/>
            <a:ext cx="10591495" cy="384048"/>
          </a:xfrm>
          <a:prstGeom prst="rect">
            <a:avLst/>
          </a:prstGeom>
          <a:noFill/>
        </p:spPr>
        <p:txBody>
          <a:bodyPr wrap="square" anchor="t" lIns="0" rIns="0" tIns="0" bIns="0">
            <a:noAutofit/>
          </a:bodyPr>
          <a:lstStyle/>
          <a:p>
            <a:pPr algn="l"/>
            <a:r>
              <a:rPr sz="2600" b="1" i="0" u="none">
                <a:solidFill>
                  <a:srgbClr val="327A5F"/>
                </a:solidFill>
                <a:latin typeface="Helvetica"/>
              </a:rPr>
              <a:t>DataLemur  ·  READING  ·  ~7 min read</a:t>
            </a:r>
          </a:p>
        </p:txBody>
      </p:sp>
      <p:sp>
        <p:nvSpPr>
          <p:cNvPr id="13" name="TextBox 12"/>
          <p:cNvSpPr txBox="1"/>
          <p:nvPr/>
        </p:nvSpPr>
        <p:spPr>
          <a:xfrm>
            <a:off x="1051560" y="4114800"/>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Decision guidance plus a worked ranking example</a:t>
            </a:r>
          </a:p>
        </p:txBody>
      </p:sp>
      <p:pic>
        <p:nvPicPr>
          <p:cNvPr id="14" name="Picture 13" descr=""/>
          <p:cNvPicPr>
            <a:picLocks noChangeAspect="1"/>
          </p:cNvPicPr>
          <p:nvPr/>
        </p:nvPicPr>
        <p:blipFill>
          <a:blip r:embed="rId7"/>
          <a:stretch>
            <a:fillRect/>
          </a:stretch>
        </p:blipFill>
        <p:spPr>
          <a:xfrm>
            <a:off x="548640" y="4745736"/>
            <a:ext cx="365760" cy="365760"/>
          </a:xfrm>
          <a:prstGeom prst="rect">
            <a:avLst/>
          </a:prstGeom>
        </p:spPr>
      </p:pic>
      <p:sp>
        <p:nvSpPr>
          <p:cNvPr id="15" name="TextBox 14"/>
          <p:cNvSpPr txBox="1"/>
          <p:nvPr/>
        </p:nvSpPr>
        <p:spPr>
          <a:xfrm>
            <a:off x="1051560" y="4727448"/>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8"/>
              </a:rPr>
              <a:t>PostgreSQL Exercises: Aggregates</a:t>
            </a:r>
          </a:p>
        </p:txBody>
      </p:sp>
      <p:sp>
        <p:nvSpPr>
          <p:cNvPr id="16" name="TextBox 15"/>
          <p:cNvSpPr txBox="1"/>
          <p:nvPr/>
        </p:nvSpPr>
        <p:spPr>
          <a:xfrm>
            <a:off x="1051560" y="5111496"/>
            <a:ext cx="10591495" cy="768096"/>
          </a:xfrm>
          <a:prstGeom prst="rect">
            <a:avLst/>
          </a:prstGeom>
          <a:noFill/>
        </p:spPr>
        <p:txBody>
          <a:bodyPr wrap="square" anchor="t" lIns="0" rIns="0" tIns="0" bIns="0">
            <a:noAutofit/>
          </a:bodyPr>
          <a:lstStyle/>
          <a:p>
            <a:pPr algn="l"/>
            <a:r>
              <a:rPr sz="2600" b="1" i="0" u="none">
                <a:solidFill>
                  <a:srgbClr val="327A5F"/>
                </a:solidFill>
                <a:latin typeface="Helvetica"/>
              </a:rPr>
              <a:t>Alisdair Owens, pgexercises.com  ·  PRACTICE  ·  ~25 min hands-on</a:t>
            </a:r>
          </a:p>
        </p:txBody>
      </p:sp>
      <p:sp>
        <p:nvSpPr>
          <p:cNvPr id="17" name="TextBox 16"/>
          <p:cNvSpPr txBox="1"/>
          <p:nvPr/>
        </p:nvSpPr>
        <p:spPr>
          <a:xfrm>
            <a:off x="1051560" y="5879592"/>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Browser-run drills mixing grouping and window functions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