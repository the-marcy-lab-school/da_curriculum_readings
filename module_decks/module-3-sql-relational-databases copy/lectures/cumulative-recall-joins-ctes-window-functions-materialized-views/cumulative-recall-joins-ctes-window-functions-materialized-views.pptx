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naming exactly what today is. There is no new keyword, no new installation, no new syntax. Everything on these slides has already been taught in this room. What is different is that nobody is going to tell you which tool to reach for, and nobody is going to tell you when an answer is wrong.</a:t>
            </a:r>
          </a:p>
          <a:p/>
          <a:p>
            <a:r>
              <a:t>[SCRIPT] Say the shape of the hour out loud. A fast warm-up on vocabulary. Then one rebuild from scratch. Then a stretch where every query runs clean and two of them lie to you. Then the routine you will use on every single query the project asks for.</a:t>
            </a:r>
          </a:p>
          <a:p/>
          <a:p>
            <a:r>
              <a:t>[SCRIPT] Set the stakes honestly and without overclaiming. The next stretch of class is a sprint where the work is graded on whether the queries are correct and whether you checked them, not on whether they ran. Today is the last time the room does that together.</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tie the last one straight to how the project is graded. The rubric asks for queries that were spot-checked against known values, and it treats a query that "looks right" but was never checked as a real miss, not a style preference. Objective three is that requirement, rehearsed.</a:t>
            </a:r>
          </a:p>
          <a:p/>
          <a:p>
            <a:r>
              <a:t>[SCRIPT] Name what is deliberately absent. There is no worked template today and no step-by-step walkthrough. That is the point of an independent practice day: the support fades right before the graded work starts, so the gap shows up here where it costs nothing.</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Point out that all three describe habits, not syntax, which is unusual for this module and deliberate. Everything else this module named was a keyword. These three are the practices that decide whether the keywords were used correctly.</a:t>
            </a:r>
          </a:p>
          <a:p/>
          <a:p>
            <a:r>
              <a:t>[MISCONCEPTIONS] The phrase "silent bug" confuses people who expect a bug to announce itself. Say it plainly once: a SQL error message is the easy case, because the database tells you. The dangerous case is the query that runs, returns rows, and is wrong, because nothing at all will tell you.</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Quick-fire round, thirty seconds, no discussion. In person: shout the letter out or hold up fingers for A, B or C. Online: everyone types a letter in chat at the same time, then reveal. Participation over correctness here.</a:t>
            </a:r>
          </a:p>
          <a:p/>
          <a:p>
            <a:r>
              <a:t>[SCRIPT] Say why this one opens the day rather than sitting anywhere else. It is the single rule that has come back in three different costumes this module: you cannot filter something that has not been computed yet. It shows up again the moment somebody tries to filter a window value later today.</a:t>
            </a:r>
          </a:p>
          <a:p/>
          <a:p>
            <a:r>
              <a:t>[MISCONCEPTIONS] The answer people reach for under time pressure is C, because both clauses "filter" and the words feel interchangeable. They are not interchangeable and they are not preferences. Each one is legal at exactly one point in the query's order of operations.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`HAVING` filters counts, `WHERE` filters columns</a:t>
            </a:r>
          </a:p>
          <a:p>
            <a:r>
              <a:t>Why: `WHERE` runs before the rows are grouped, so at that moment no `COUNT` exists yet to filter on. `HAVING` runs after grouping, which is why it can see the aggregate. Same underlying rule as the window-function filtering trap from the tool-choice lesson: anything computed later in the query's own order of operations cannot be filtered earlier in it.</a:t>
            </a:r>
          </a:p>
          <a:p>
            <a:r>
              <a:t>Source: This module's own aggregation lesson,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show of hands for A, B or C, then ask one person who picked B to say what a single row of each answer represents. Online: letters in chat, then unmute one Fellow for the same follow-up. Ninety seconds total.</a:t>
            </a:r>
          </a:p>
          <a:p/>
          <a:p>
            <a:r>
              <a:t>[SCRIPT] This is the reading skill the project actually tests. The seven business questions are handed over in plain English and each one is built to demand a specific technique, so the first move on every single one is this exact question: does a row of the answer stay a record, or become a group?</a:t>
            </a:r>
          </a:p>
          <a:p/>
          <a:p>
            <a:r>
              <a:t>[MISCONCEPTIONS] A lot of hands go up for "both," because "average" sounds like it must mean the same tool every time. Push back with the row-count test rather than with the definition: ask how many rows Ask 1's answer has, and how many rows Ask 2's answer has. Three versus seven settles it faster than any explanation.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Ask 2 only</a:t>
            </a:r>
          </a:p>
          <a:p>
            <a:r>
              <a:t>Why: Ask what one row of the answer represents. In Ask 1 a row is a borough, so the restaurants are meant to collapse and `GROUP BY` is the right shape. In Ask 2 a row is still a restaurant, and a group-level number has to ride along beside it, which is exactly what a window function is built for. The words "average" and "top" appear in both, so the giveaway is never the vocabulary. It is whether the original rows are supposed to survive.</a:t>
            </a:r>
          </a:p>
          <a:p>
            <a:r>
              <a:t>Source: This module's own window-function lessons, not an external citation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[~13 min mark] Terminals open now. Connect to the class database and leave it open, because everything from here to the wrap-up is typed live.</a:t>
            </a:r>
          </a:p>
          <a:p/>
          <a:p>
            <a:r>
              <a:t>[SCRIPT] Give the business question before any syntax and then stop talking: which restaurants have no violations recorded against them at all? Let the room sit with it for a beat. The interesting part is that the obvious query returns nothing, and figuring out why is the whole exercise.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Two blanks and a clause name. In person: three minutes at the keyboard, then call on somebody to read their line out. Online: three minutes, then paste your `JOIN` line in chat before anyone runs it. Ask for a predicted row count before enter gets pressed.</a:t>
            </a:r>
          </a:p>
          <a:p/>
          <a:p>
            <a:r>
              <a:t>[SCRIPT] Five rows come back: Flatbush Fry, Bayside Grill, New Spot NYC, Harbor Grill and Sunset Diner. Then swap the `violations` join to `INNER` live and run it again. Zero rows. That contrast is the whole slide, and it lands far harder from a real empty result than from any explanation.</a:t>
            </a:r>
          </a:p>
          <a:p/>
          <a:p>
            <a:r>
              <a:t>[SCRIPT] Say why `INNER` returns nothing, because the room will find it surprising: a restaurant with no violations has no matching violation row, so an inner join throws it away before `COUNT` ever sees it. The rows you are looking for are precisely the rows an inner join deletes.</a:t>
            </a:r>
          </a:p>
          <a:p/>
          <a:p>
            <a:r>
              <a:t>[MISCONCEPTIONS] A common wrong answer for the third blank is `WHERE`. It reads naturally and it fails, because the count does not exist yet at that point. This is the warm-up question arriving in real syntax two minutes later, which is exactly why the warm-up came first.</a:t>
            </a:r>
          </a:p>
          <a:p/>
          <a:p>
            <a:r>
              <a:t>[SOURCES] PostgreSQL documentation, "Table Expressions," on `LEFT OUTER JOIN`: for each row of the left-hand table, if no matching right-hand row exists, the joined row is still added "with null values in columns of T2." A `COUNT` of a nullable column ignores those nulls, which is why the count lands on zero rather than on one.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[~19 min mark] Make the pivot explicit before anything is typed. Up to now, a broken query announced itself with a red error message. For the rest of this section the database will cooperate fully and hand back a confident, wrong number.</a:t>
            </a:r>
          </a:p>
          <a:p/>
          <a:p>
            <a:r>
              <a:t>[SCRIPT] Warn the room that this is the single most-repeated mistake on this module's own project, and that it is worth more attention than any syntax on today's slides.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Before pressing enter, have everyone write down what they expect for Corner Bistro. In person: hold the number up on fingers. Online: numbers in chat at once. Then run it. Corner Bistro comes back as 4.</a:t>
            </a:r>
          </a:p>
          <a:p/>
          <a:p>
            <a:r>
              <a:t>[SCRIPT] Now ask the room to add every restaurant's count up out loud. They come to five - but the whole `inspections` table only holds four rows, across every restaurant in the database. The query threw no error, returned every restaurant, sorted nicely, and is wrong. Do not name the cause yet - the next slide asks the room to find it.</a:t>
            </a:r>
          </a:p>
          <a:p/>
          <a:p>
            <a:r>
              <a:t>[SCRIPT] Introduce the cookout comparison as a hint, not a reveal: counting who is coming to a cookout from group-chat replies, where one cousin who answers in two different chats gets counted twice. Let the room sit with that parallel rather than explaining it - the next slide is where the mechanism gets named.</a:t>
            </a:r>
          </a:p>
          <a:p/>
          <a:p>
            <a:r>
              <a:t>[SCRIPT] Say out loud that the fix is not a clever function. It is noticing at all. A wrong number that arrives quietly is only ever caught by somebody who was already checking. Do not explain why yet - hold the rest for after the next slide's reveal.</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show of hands, then ask whoever picked B to say which inspection had two violations. Online: letters in chat, then one Fellow unmutes for the same follow-up. Sixty seconds.</a:t>
            </a:r>
          </a:p>
          <a:p/>
          <a:p>
            <a:r>
              <a:t>[SCRIPT] This is the module's own most-repeated project mistake stated as a question, so give it a real beat rather than rushing to the fix. The rubric treats a join that silently duplicates rows as a genuine failure, and it is the failure that is hardest to see once the result is sitting in a spreadsheet.</a:t>
            </a:r>
          </a:p>
          <a:p/>
          <a:p>
            <a:r>
              <a:t>[MISCONCEPTIONS] Option A gets picked by people who remember that `LEFT JOIN` and `INNER JOIN` return different row counts and reach for the most recent join-related fact they hold. Name the distinction: that difference is about rows being dropped. This is about rows being multiplied, which is the opposite direction and a different mechanism. Prove it live if anyone doubts it: swap both joins to `INNER` and run it again - Corner Bistro still says 4, because the bug is joining a table you are not counting, not which join type was used.</a:t>
            </a:r>
          </a:p>
          <a:p/>
          <a:p>
            <a:r>
              <a:t>[MISCONCEPTIONS] Be careful not to say the database "got it wrong," because it did not. The joined result genuinely is one row per restaurant-inspection- violation combination, which is correct. What is wrong is the question asked of those rows: `COUNT(inspection_id)` reports on inspections while the rows are no longer one per inspection. "I asked the wrong question of the right rows" is the accurate framing, and it is the one that transfers.</a:t>
            </a:r>
          </a:p>
          <a:p/>
          <a:p>
            <a:r>
              <a:t>[SCRIPT] Say why this one is genuinely hard to spot, since it is the crux. Only an inspection with two or more violations inflates anything. Green Leaf Cafe's single inspection had one violation, so its count is perfectly correct. The number is wrong for some restaurants and right for others, which is exactly why glancing at the output does not catch it.</a:t>
            </a:r>
          </a:p>
          <a:p/>
          <a:p>
            <a:r>
              <a:t>[SCRIPT] Give the durable version of the fix for anyone who asks. The industry name for this is fan-out, and the reliable move is to aggregate the many-side first and then join the already-aggregated result. `COUNT(DISTINCT ...)` happens to patch a count, but it does nothing for a `SUM` of a duplicated amount column, which is the version of this bug that costs real money.</a:t>
            </a:r>
          </a:p>
          <a:p/>
          <a:p>
            <a:r>
              <a:t>[SOURCES] This is standard relational-join behaviour, not a PostgreSQL quirk - it behaves identically in MySQL, SQL Server, BigQuery and SQLite. PostgreSQL documentation, "Table Expressions," describes an inner join as producing every combination of rows that satisfies the join condition, so one left-hand row matched by three right-hand rows appears three times in the result. Google Cloud's Looker documentation names the effect directly: "Joins can cause fanout problems where rows are duplicated." Metabase Learn's "Debugging duplicated data in SQL query results" attributes it to joins that assume a one-to-one relationship where the data is really one-to-many.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Joining `violations` duplicated each inspection row</a:t>
            </a:r>
          </a:p>
          <a:p>
            <a:r>
              <a:t>Why: Joining `violations` in duplicates each inspection row once per violation attached to it, and `COUNT` faithfully counts the duplicates - the join did exactly what it was told, nobody told it the right thing. One inspection with two violations produces two joined rows, and `COUNT(inspection_id)` counts both of them. Corner Bistro genuinely had three inspections, and one of those carried two violations, so the count landed on four. Notice it was only wrong for that one restaurant: every other count in the result was correct, which is exactly why glancing at the output catches nothing. The rule worth carrying into the project: every extra table you join can multiply your rows, so counting anything after a join means asking what one row now represents.</a:t>
            </a:r>
          </a:p>
          <a:p>
            <a:r>
              <a:t>Source: Real PostgreSQL 16 output from this lesson's own database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Terminals stay open. Name the shift before typing: this one is not a bug to find, it is a real judgment call the query forces on you.</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Have Fellows write it before you show it, since every piece is already familiar. Three minutes. Then ask a harder question than the syntax one: is zero an honest fallback here? In person, turn and talk for sixty seconds. Online, one line in chat each.</a:t>
            </a:r>
          </a:p>
          <a:p/>
          <a:p>
            <a:r>
              <a:t>[SCRIPT] Four rows come back. Corner Bistro scores 12 and ranks first, Green Leaf Cafe scores 7 and ranks second, and two never-scored inspections both come back as 0 and tie at rank 3. The tie is worth pausing on, because `RANK` sharing a number for equal values is exactly the behaviour that surprised the room when ranking was first taught.</a:t>
            </a:r>
          </a:p>
          <a:p/>
          <a:p>
            <a:r>
              <a:t>[SCRIPT] Now the real point of the slide. `COALESCE` did not discover anything. It replaced an unknown with a number that a human chose, and here that choice quietly claims two inspections that were never scored had a perfect result. Nothing in the output flags that. It is a silent bug of a different kind: correct SQL, dishonest meaning.</a:t>
            </a:r>
          </a:p>
          <a:p/>
          <a:p>
            <a:r>
              <a:t>[MISCONCEPTIONS] This slide's own `JOIN` is a deliberate `INNER JOIN`, the only one in today's deck - every other query uses `LEFT JOIN`. A `LEFT JOIN` here would pull in the five never-inspected restaurants too, coalescing all of them to 0 and swelling the rank-3 tie from 2 rows to 7 - exactly the dishonesty this slide is warning against.</a:t>
            </a:r>
          </a:p>
          <a:p/>
          <a:p>
            <a:r>
              <a:t>[SCRIPT] Ask what a better fallback would be and let the room argue briefly. There is no single right answer, which is the lesson. Leaving the null in place and filtering those rows out is often the honest move. The project asks for a `COALESCE` query on a genuinely nullable column, so this decision is coming for everyone.</a:t>
            </a:r>
          </a:p>
          <a:p/>
          <a:p>
            <a:r>
              <a:t>[MISCONCEPTIONS] The most common reading is that `COALESCE` "fixes" missing data. It does not fix anything. It hides the gap behind a value you picked, and whether that is helpful or misleading depends entirely on what the column means.</a:t>
            </a:r>
          </a:p>
          <a:p/>
          <a:p>
            <a:r>
              <a:t>[SOURCES] PostgreSQL documentation, "Conditional Expressions": `COALESCE` "returns the first of its arguments that is not null," and is described as "often used to substitute a default value for null values when data is retrieved for display." Substituting for display is the documented purpose. Substituting before an average or a ranking is a modelling decision the documentation makes no claim about.</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Quick-fire, forty-five seconds. In person: fingers up for A, B or C. Online: letters in chat at once. Then run both versions live so the room sees zero rows and then two rows from what looks like the same question.</a:t>
            </a:r>
          </a:p>
          <a:p/>
          <a:p>
            <a:r>
              <a:t>[SCRIPT] This is the trap most likely to cost somebody an hour during the project, because there is nothing to debug. No error, no warning, just an empty result that reads like the honest answer to the question.</a:t>
            </a:r>
          </a:p>
          <a:p/>
          <a:p>
            <a:r>
              <a:t>[SCRIPT] Tie it back to the previous code-along explicitly. `COALESCE` was one way to deal with a missing value; `IS NULL` is how you find one in the first place. Reaching for `COALESCE` without ever checking how many nulls exist is how a fallback gets applied to far more rows than anyone intended.</a:t>
            </a:r>
          </a:p>
          <a:p/>
          <a:p>
            <a:r>
              <a:t>[MISCONCEPTIONS] Option B is picked more often than it should be, because an empty result feels like evidence that the rows are gone. Emphasise the distinction: an empty result set is not proof of absence. It is proof that nothing matched the condition you actually wrote.</a:t>
            </a:r>
          </a:p>
          <a:p/>
          <a:p>
            <a:r>
              <a:t>[SOURCES] PostgreSQL documentation, "Comparison Functions and Operators": "Ordinary comparison operators yield null (signifying "unknown"), not true or false, when either input is null. For example, `7 = NULL` yields null." The same page is unusually direct about the mistake itself: "Do not write `expression = NULL` because `NULL` is not equal to `NULL`. (The null value represents an unknown value, and it is not known whether two unknown values are equal.)" Be precise when saying this out loud: the comparison yields unknown, not false, and `WHERE` returns only rows where the condition is genuinely true.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Comparing `NULL` to anything, even with `&lt;&gt;`, is never true</a:t>
            </a:r>
          </a:p>
          <a:p>
            <a:r>
              <a:t>Why: `NULL` means unknown, so asking whether an unknown grade is not-equal to 'A' gives back unknown rather than true, and `WHERE` only keeps rows where the condition is genuinely true. The two ungraded inspections quietly vanish, even though "ungraded" is intuitively not "A". The correct clause adds `OR grade IS NULL` explicitly - `&lt;&gt;` and `=` both treat `NULL` the same way. This is the sharpest example of a silent bug in the whole module, because the query runs, the syntax is legal, and the smaller-than-expected result looks like a real finding, not a bug.</a:t>
            </a:r>
          </a:p>
          <a:p>
            <a:r>
              <a:t>Source: PostgreSQL documentation on comparison operators and null values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Sixty seconds silent, then pairs for sixty more, then cold-call one pair to narrate the investigation while a second Fellow adds a hypothesis they missed. In person: pairs face each other. Online: breakout pairs, then unmute.</a:t>
            </a:r>
          </a:p>
          <a:p/>
          <a:p>
            <a:r>
              <a:t>[TECHNIQUE] Use the Investigation Framework - Observation, Hypothesis, Evidence, Recommendation. This is a "why did the numbers disagree" question, and the interviewer is listening for a process, not a guess. A candidate who names several possible causes before picking one sounds far more senior than one who jumps straight to "my query is right."</a:t>
            </a:r>
          </a:p>
          <a:p/>
          <a:p>
            <a:r>
              <a:t>[SCRIPT] Target shape of a strong answer. Observation: confirm both numbers are real and ask exactly what each one measures - are they even answering the same question? Hypothesis: several, out loud - a join fanning rows out, a stale materialized view, a `NULL` silently dropped, a different date range. Evidence: today's own routine - pick a slice, work out the answer by hand, run each query against it, and see which one breaks. Recommendation: name the fix the evidence actually supports, and what you would re-check afterward to confirm it.</a:t>
            </a:r>
          </a:p>
          <a:p/>
          <a:p>
            <a:r>
              <a:t>[SCRIPT] Point out that today gave them the Evidence step for real, four times over. That is the part most candidates hand-wave, and it is the part they can now actually demonstrate with a real story.</a:t>
            </a:r>
          </a:p>
          <a:p/>
          <a:p>
            <a:r>
              <a:t>[MISCONCEPTIONS] The weak answer opens with a single confident cause. Listen for whether a Fellow confirms the disagreement is real and understands what both numbers measure before theorising about which one is wrong.</a:t>
            </a:r>
          </a:p>
          <a:p/>
          <a:p>
            <a:r>
              <a:t>[SOURCES] Verified as genuinely asked of data analysts, not only engineers: Resume Worded's data-analyst behavioural guide and Dataquest's SQL interview prep both carry a "numbers disagree, what do you do" cluster under this exact framing. Say the tier honestly to the room - this is a mid-level question, so handling it well here is a real, visible step up.</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[~40 min mark] Name the third and last failure mode of the day. A query can be written correctly, return the right answer, and still be wrong tomorrow, because somebody stored the answer instead of the question.</a:t>
            </a:r>
          </a:p>
          <a:p/>
          <a:p>
            <a:r>
              <a:t>[SCRIPT] Terminals open one more time. Flag before typing that this is the one code-along today that changes data, so it is not freely re-runnable the way the others are.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the first `SELECT` and the `INSERT`, then stop before the refresh. Ask the room to predict what the view says now. In person: hands up for "1" or "2". Online: the number in chat. Most of the room says 2. It says 1.</a:t>
            </a:r>
          </a:p>
          <a:p/>
          <a:p>
            <a:r>
              <a:t>[SCRIPT] Name the column list on the `INSERT` before running it: naming columns explicitly instead of relying on their physical order is the same habit as everything else today - don't trust something you never checked.</a:t>
            </a:r>
          </a:p>
          <a:p/>
          <a:p>
            <a:r>
              <a:t>[SCRIPT] That gap is the whole slide. A materialized view stores rows, not a live question, so new data underneath it changes nothing at all until somebody runs `REFRESH`. Then run the refresh and read it again: 2.</a:t>
            </a:r>
          </a:p>
          <a:p/>
          <a:p>
            <a:r>
              <a:t>[SCRIPT] Connect it to the honest version of the tradeoff rather than making the view sound broken. It is fast precisely because the answer is already computed. Speed and freshness are the two ends of that trade, and choosing a view means choosing to manage the freshness yourself.</a:t>
            </a:r>
          </a:p>
          <a:p/>
          <a:p>
            <a:r>
              <a:t>[SCRIPT] Name where this bites in the project. The final questions have to be answered against the view rather than recomputed from the base tables, which means the refresh has to have happened after the data was loaded. A stale view produces a confidently wrong answer with no error message.</a:t>
            </a:r>
          </a:p>
          <a:p/>
          <a:p>
            <a:r>
              <a:t>[MISCONCEPTIONS] Fellows regularly expect a materialized view to behave like an ordinary view and update itself. An ordinary view really does re-run its query every time. The word "materialized" is the entire difference, and it means the rows were made real and written down.</a:t>
            </a:r>
          </a:p>
          <a:p/>
          <a:p>
            <a:r>
              <a:t>[SOURCES] PostgreSQL documentation, "CREATE MATERIALIZED VIEW": the query "is executed and used to populate the view at the time the command is issued... and may be refreshed later using REFRESH MATERIALIZED VIEW." "REFRESH MATERIALIZED VIEW" adds that it "completely replaces the contents of a materialized view" and that "the old contents are discarded." The clearest statement of the tradeoff is in the "Materialized Views" chapter itself: "While access to the data stored in a materialized view is often much faster than accessing the underlying tables directly or through a view, the data is not always current."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Loop back explicitly to the fan-out count from earlier today, not the view that just went stale - the check about to run is the one that would have caught that inflated number in seconds.</a:t>
            </a:r>
          </a:p>
          <a:p/>
          <a:p>
            <a:r>
              <a:t>[SCRIPT] Terminals stay open. Frame the next two queries as the habit rather than the syntax: first establish a number you already trust, then compare the query against it. That order matters, and doing it backwards is how a wrong answer gets rationalised.</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the first query, write the number on the board or pin it in chat, and leave it visible. Then have Fellows write the second query themselves before you show it. Two minutes. Ask them to add their own result column up out loud before anyone declares victory.</a:t>
            </a:r>
          </a:p>
          <a:p/>
          <a:p>
            <a:r>
              <a:t>[SCRIPT] The total is 4. The corrected breakdown gives Corner Bistro 3, Green Leaf Cafe 1, and zero for everyone else. Three plus one is four, so the breakdown reconciles against the total. The earlier version summed to five, which is the number that should have set off an alarm.</a:t>
            </a:r>
          </a:p>
          <a:p/>
          <a:p>
            <a:r>
              <a:t>[SCRIPT] Name the habit and give it the name from the key-terms slide. This is a row count check: add the breakdown back up and confirm it matches the source table's own total. It costs one query and about ten seconds, and it catches the single most common silent bug in this whole module.</a:t>
            </a:r>
          </a:p>
          <a:p/>
          <a:p>
            <a:r>
              <a:t>[SCRIPT] Point at the fix itself, since it is smaller than people expect. The only change is that `violations` is no longer joined. If you are not counting a table, do not bring it into the join.</a:t>
            </a:r>
          </a:p>
          <a:p/>
          <a:p>
            <a:r>
              <a:t>[MISCONCEPTIONS] Fellows sometimes conclude that the lesson is "never join three tables." That is not it - the fan-out demo earlier today joined all three correctly, right up until it counted a column from the wrong side of that join. The rule is narrower and more useful: know what one row represents after every join you add, and check the totals when you are counting.</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Pairs, six minutes, on a shared board: a physical whiteboard, or a Padlet or Jamboard column per pair for a remote cohort. Post three things and nothing else. One: the sample rows. Two: the number you expect. Three: the one query you would run. Then read two or three out loud and let the room stress-test them.</a:t>
            </a:r>
          </a:p>
          <a:p/>
          <a:p>
            <a:r>
              <a:t>[SCRIPT] This is deliberately a design task rather than a recall question, and it is the highest bar the room has been asked to clear this module. Nobody is being handed a scenario to analyse. They are inventing the test itself, which is exactly what the project asks for on every one of its questions. Do not reveal the four-step version yet - the next slide names what the room just built.</a:t>
            </a:r>
          </a:p>
          <a:p/>
          <a:p>
            <a:r>
              <a:t>[SCRIPT] Listen for the failure mode rather than for a right answer. A weak design says "run it and see if the numbers look reasonable," which is not a test at all because there is no stated expectation to fail against. A strong design commits to a specific number before the query runs.</a:t>
            </a:r>
          </a:p>
          <a:p/>
          <a:p>
            <a:r>
              <a:t>[SCRIPT] If a pair is stuck, give them one constraint rather than an answer: the sample has to be small enough to count on your fingers. That single limit usually unlocks it, because it forces them to pick a handful of rows they can reason about completely.</a:t>
            </a:r>
          </a:p>
          <a:p/>
          <a:p>
            <a:r>
              <a:t>[MISCONCEPTIONS] Several pairs will propose checking the query against another query. Push on that gently: if both queries share the same wrong join, they will agree with each other and both be wrong. The check has to come from outside the query, which usually means a human, a source file, or a row count.</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this as the pattern behind what pairs just designed, not a new idea. Most pairs will have reinvented three or four of these steps already - point at a real pair's own board and match it to the four labels here.</a:t>
            </a:r>
          </a:p>
          <a:p/>
          <a:p>
            <a:r>
              <a:t>[ACTIVITY] Walk the four steps against today's own inflated count, out loud, with the room supplying each step. The slice was the `inspections` table. The hand answer was four rows total. The query said five once the per-restaurant counts were added up. The comparison failed, and that failure was the finding.</a:t>
            </a:r>
          </a:p>
          <a:p/>
          <a:p>
            <a:r>
              <a:t>[SCRIPT] Introduce the tasting comparison before the formal name. The point is the size of the sample: the check only works because the slice is small enough that a human can genuinely know the answer without the database's help.</a:t>
            </a:r>
          </a:p>
          <a:p/>
          <a:p>
            <a:r>
              <a:t>[SCRIPT] Be specific about step two, because it is the one people skip. Working the answer out by hand has to happen before the query runs. Once a number is on screen it is remarkably hard to disagree with it, and a "check" done afterwards usually just confirms whatever the query said.</a:t>
            </a:r>
          </a:p>
          <a:p/>
          <a:p>
            <a:r>
              <a:t>[SCRIPT] Say what this costs and what it buys. It costs a couple of minutes per question. It is the difference between the rubric's strongest and weakest descriptions of the same query, and it is the habit that makes a junior analyst trusted with real work.</a:t>
            </a:r>
          </a:p>
          <a:p/>
          <a:p>
            <a:r>
              <a:t>[MISCONCEPTIONS] Fellows read step one as "test on a small table" and pick a slice at random. Random is not the same as known. The slice has to be one where you can state the expected answer with confidence before running anything.</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C.R.A.F.T. - Complete, Reasonable, Accurate, Fresh, Traceable. This is a "how do you know you can trust this" question, and the failure mode is answering it as a feeling rather than as a process. Five named checks turn a vague reassurance into something an interviewer can follow, and every one of them was demonstrated live today. The full version of each check, to coach a Fellow toward if their cold attempt is thin: Complete asks whether the row counts match the source; Reasonable asks whether the number survives a gut check against something already known; Accurate means spot-checking the query against a small hand-worked sample; Fresh asks when a stored view was last refreshed; Traceable asks whether someone else can re-run the query and land on the same answer.</a:t>
            </a:r>
          </a:p>
          <a:p/>
          <a:p>
            <a:r>
              <a:t>[SCRIPT] Have one Fellow attempt it cold, then ask the room which of the five checks would have caught today's inflated count. Complete, and it would have caught it in seconds. Grounding the framework in something the candidate actually did is what separates this from a memorised list.</a:t>
            </a:r>
          </a:p>
          <a:p/>
          <a:p>
            <a:r>
              <a:t>[SCRIPT] Coach one specific move: give a real example for at least one of the five rather than reciting all five abstractly. Everybody in this room now has a genuine story about a query that ran clean and returned a wrong number, and that story is worth more in an interview than the framework itself.</a:t>
            </a:r>
          </a:p>
          <a:p/>
          <a:p>
            <a:r>
              <a:t>[MISCONCEPTIONS] The weakest version of this answer is "I double-check my work." It sounds responsible and says nothing. Coach Fellows off it by asking the follow-up an interviewer will ask anyway: check it against what, exactly?</a:t>
            </a:r>
          </a:p>
          <a:p/>
          <a:p>
            <a:r>
              <a:t>[SOURCES] This wording is quoted verbatim, not paraphrased: BrainStation's data- analyst interview guide lists "How do you validate your data before presenting it?" and tags it entry level, which is exactly this cohort. The same archetype recurs across other named banks under different wording: DataCamp asks "How do you ensure data integrity and accuracy?", Zero To Mastery asks "How would you ensure data accuracy and consistency in a report?" and "What are some common data validation techniques you might use?", and Indeed asks "What is data validation? What methods can you use to validate data?". Worth knowing where it does not appear, so nobody oversells it: the SQL-puzzle platforms (DataLemur, StrataScratch) are code-challenge banks and carry no behavioural questions at all, so this is a question to expect from a hiring manager, not from a take-home.</a:t>
            </a:r>
          </a:p>
          <a:p/>
          <a:p/>
          <a:p>
            <a:r>
              <a:t>Short answers:</a:t>
            </a:r>
          </a:p>
          <a:p/>
          <a:p>
            <a:r>
              <a:t>Q: How do you validate your data before presenting it?</a:t>
            </a:r>
          </a:p>
          <a:p>
            <a:r>
              <a:t>A: I run five checks before I present a number: Complete (row counts match the source), Reasonable (survives a gut check), Accurate (spot-checked by hand), Fresh (view refreshed recently), Traceable (someone else can re-run it and match).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Quick pass through all three, and point at where each one showed up today. The row count check is the one that caught the inflated inspection number. The silent bug had three separate costumes: a duplicated row, an invented fallback, and a stale stored view.</a:t>
            </a:r>
          </a:p>
          <a:p/>
          <a:p>
            <a:r>
              <a:t>[SCRIPT] Say the honest framing on the way out. None of these three are SQL features and none of them will ever appear in a syntax reference. They are the habits that decide whether the syntax was used correctly, which is why they get named on the last day rather than the first.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Close on the through-line rather than on a list. Every query today ran without an error. Three of them were wrong anyway, in three different ways, and none of those ways involved syntax. That is the difference between finishing this module and being genuinely ready for the work it points at.</a:t>
            </a:r>
          </a:p>
          <a:p/>
          <a:p>
            <a:r>
              <a:t>[SCRIPT] Tie it to how the project is graded, plainly. The rubric asks for correct, spot-checked results, and it names trusting a query because it "looks right" as a real failure. The four-step routine on the earlier diagram is the answer to that requirement, on every one of the seven questions.</a:t>
            </a:r>
          </a:p>
          <a:p/>
          <a:p>
            <a:r>
              <a:t>[SCRIPT] Reconnect the whole module in one sentence, since this is the last time the room is together before the build. Everything from the first normalization conversation to the materialized view exists so that a business question can be answered from data you designed yourself, and answered in a way somebody else can check.</a:t>
            </a:r>
          </a:p>
          <a:p/>
          <a:p>
            <a:r>
              <a:t>[MISCONCEPTIONS] Some Fellows will leave thinking today was about being careful, as a personality trait. Say plainly that it is not about temperament. It is about running one extra query before you report a number, which is a mechanical habit anybody can build.</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 concrete about what the first sprint session actually asks for, because Fellows will assume it starts with SQL and it does not. It is setup and design: get PostgreSQL genuinely connecting, pick one domain, read all seven of that domain's business questions in full, and sketch the schema with every question walked against it before a single `CREATE TABLE` runs.</a:t>
            </a:r>
          </a:p>
          <a:p/>
          <a:p>
            <a:r>
              <a:t>[SCRIPT] Say why the design comes first, since it feels like a delay. A schema that cannot answer question six is much cheaper to find on paper than after the data is loaded. The written mapping is the same reading skill the room practised in today's opening question, applied to all seven at once.</a:t>
            </a:r>
          </a:p>
          <a:p/>
          <a:p>
            <a:r>
              <a:t>[SCRIPT] Remind them the class database stays useful. Nothing from the project runs against it, but it is the safest place to try a syntax idea before pointing it at their own new schema.</a:t>
            </a:r>
          </a:p>
          <a:p/>
          <a:p>
            <a:r>
              <a:t>[SCRIPT] Point at the sprint's own checklist for the day-by-day exit criteria rather than reading dates aloud, so the deck stays correct whenever this module runs.</a:t>
            </a:r>
          </a:p>
          <a:p/>
          <a:p>
            <a:r>
              <a:t>[SCRIPT] Name honestly that today only rehearsed half the sprint. The queries are the half this deck covers - the other half is graded too: the schema critique and read-only role from the independent lab, a written `EXPLAIN ANALYZE` assessment, and a reasoned comparison against a STAR schema. Each of those has its own prep in `PROJECT.md`; today's routine is what makes the query half trustworthy, not the whole deliverable.</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All three are free and none needs an account. Point at the Metabase article for anybody who wants the written version of today's inflated count - it walks the same one-to-many join chain and is the clearest explanation of it anywhere, video included.</a:t>
            </a:r>
          </a:p>
          <a:p/>
          <a:p>
            <a:r>
              <a:t>[SCRIPT] The PostgreSQL page is the primary source behind the stale-view demonstration, and it is honest about the tradeoff rather than selling the feature: stored data is much faster to read and is not always current.</a:t>
            </a:r>
          </a:p>
          <a:p/>
          <a:p>
            <a:r>
              <a:t>[SCRIPT] The practice challenge is the strongest pick for anybody who wants a real rep before the build starts. It hands over ten business questions against one small relational schema, which is the same shape as the project, and its browser editor runs PostgreSQL specifically, so the syntax matches what has been typed all module. One honest caveat to say out loud: the questions, schema and editor are free, but the author's own written solutions sit behind a paid course. Plenty of free community write-ups exist for anyone who gets genuinely stuck.</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7.png"/><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4.png"/><Relationship Id="rId7"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hyperlink" Target="https://www.metabase.com/learn/sql/debugging-sql/sql-logic-duplicated-data" TargetMode="External"/><Relationship Id="rId5" Type="http://schemas.openxmlformats.org/officeDocument/2006/relationships/image" Target="../media/image16.png"/><Relationship Id="rId6" Type="http://schemas.openxmlformats.org/officeDocument/2006/relationships/hyperlink" Target="https://www.postgresql.org/docs/current/rules-materializedviews.html" TargetMode="External"/><Relationship Id="rId7" Type="http://schemas.openxmlformats.org/officeDocument/2006/relationships/image" Target="../media/image17.png"/><Relationship Id="rId8" Type="http://schemas.openxmlformats.org/officeDocument/2006/relationships/hyperlink" Target="https://8weeksqlchallenge.com/case-study-1/" TargetMode="External"/><Relationship Id="rId9"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Joins, CTEs, Window Functions, Views: </a:t>
            </a:r>
            <a:r>
              <a:rPr sz="4000" b="1" i="0" u="none">
                <a:solidFill>
                  <a:srgbClr val="264326"/>
                </a:solidFill>
                <a:latin typeface="Helvetica"/>
              </a:rPr>
              <a:t>All From Memory</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Pick the tool the shape forces</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Spot a query that runs but lies</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Prove it before you trust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Spot-Check</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Silent Bug</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Row Count Check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Quick-fire: One clause filters raw column values, the other filters a </a:t>
            </a:r>
            <a:r>
              <a:rPr sz="3200" b="1" i="0" u="none">
                <a:solidFill>
                  <a:srgbClr val="261F1D"/>
                </a:solidFill>
                <a:latin typeface="Roboto Mono"/>
              </a:rPr>
              <a:t>COUNT</a:t>
            </a:r>
            <a:r>
              <a:rPr sz="3200" b="1" i="0" u="none">
                <a:solidFill>
                  <a:srgbClr val="261F1D"/>
                </a:solidFill>
                <a:latin typeface="Helvetica"/>
              </a:rPr>
              <a:t>. Which is which?</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a:t>
            </a:r>
            <a:r>
              <a:rPr sz="2600" b="0" i="0" u="none">
                <a:solidFill>
                  <a:srgbClr val="261F1D"/>
                </a:solidFill>
                <a:latin typeface="Roboto Mono"/>
              </a:rPr>
              <a:t>WHERE</a:t>
            </a:r>
            <a:r>
              <a:rPr sz="2600" b="0" i="0" u="none">
                <a:solidFill>
                  <a:srgbClr val="261F1D"/>
                </a:solidFill>
                <a:latin typeface="Helvetica"/>
              </a:rPr>
              <a:t> filters counts, </a:t>
            </a:r>
            <a:r>
              <a:rPr sz="2600" b="0" i="0" u="none">
                <a:solidFill>
                  <a:srgbClr val="261F1D"/>
                </a:solidFill>
                <a:latin typeface="Roboto Mono"/>
              </a:rPr>
              <a:t>HAVING</a:t>
            </a:r>
            <a:r>
              <a:rPr sz="2600" b="0" i="0" u="none">
                <a:solidFill>
                  <a:srgbClr val="261F1D"/>
                </a:solidFill>
                <a:latin typeface="Helvetica"/>
              </a:rPr>
              <a:t> filters columns</a:t>
            </a:r>
          </a:p>
          <a:p>
            <a:pPr>
              <a:spcAft>
                <a:spcPts val="1000"/>
              </a:spcAft>
            </a:pPr>
            <a:r>
              <a:rPr sz="2600" b="0" i="0" u="none">
                <a:solidFill>
                  <a:srgbClr val="261F1D"/>
                </a:solidFill>
                <a:latin typeface="Helvetica"/>
              </a:rPr>
              <a:t>B.  </a:t>
            </a:r>
            <a:r>
              <a:rPr sz="2600" b="0" i="0" u="none">
                <a:solidFill>
                  <a:srgbClr val="261F1D"/>
                </a:solidFill>
                <a:latin typeface="Roboto Mono"/>
              </a:rPr>
              <a:t>HAVING</a:t>
            </a:r>
            <a:r>
              <a:rPr sz="2600" b="0" i="0" u="none">
                <a:solidFill>
                  <a:srgbClr val="261F1D"/>
                </a:solidFill>
                <a:latin typeface="Helvetica"/>
              </a:rPr>
              <a:t> filters counts, </a:t>
            </a:r>
            <a:r>
              <a:rPr sz="2600" b="0" i="0" u="none">
                <a:solidFill>
                  <a:srgbClr val="261F1D"/>
                </a:solidFill>
                <a:latin typeface="Roboto Mono"/>
              </a:rPr>
              <a:t>WHERE</a:t>
            </a:r>
            <a:r>
              <a:rPr sz="2600" b="0" i="0" u="none">
                <a:solidFill>
                  <a:srgbClr val="261F1D"/>
                </a:solidFill>
                <a:latin typeface="Helvetica"/>
              </a:rPr>
              <a:t> filters columns</a:t>
            </a:r>
          </a:p>
          <a:p>
            <a:pPr>
              <a:spcAft>
                <a:spcPts val="1000"/>
              </a:spcAft>
            </a:pPr>
            <a:r>
              <a:rPr sz="2600" b="0" i="0" u="none">
                <a:solidFill>
                  <a:srgbClr val="261F1D"/>
                </a:solidFill>
                <a:latin typeface="Helvetica"/>
              </a:rPr>
              <a:t>C.  Either one works for both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Warm-Up: WHERE vs. HAVING</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a:t>
            </a:r>
            <a:r>
              <a:rPr sz="3200" b="1" i="0" u="none">
                <a:solidFill>
                  <a:srgbClr val="261F1D"/>
                </a:solidFill>
                <a:latin typeface="Roboto Mono"/>
              </a:rPr>
              <a:t>HAVING</a:t>
            </a:r>
            <a:r>
              <a:rPr sz="3200" b="1" i="0" u="none">
                <a:solidFill>
                  <a:srgbClr val="261F1D"/>
                </a:solidFill>
                <a:latin typeface="Helvetica"/>
              </a:rPr>
              <a:t> filters counts, </a:t>
            </a:r>
            <a:r>
              <a:rPr sz="3200" b="1" i="0" u="none">
                <a:solidFill>
                  <a:srgbClr val="261F1D"/>
                </a:solidFill>
                <a:latin typeface="Roboto Mono"/>
              </a:rPr>
              <a:t>WHERE</a:t>
            </a:r>
            <a:r>
              <a:rPr sz="3200" b="1" i="0" u="none">
                <a:solidFill>
                  <a:srgbClr val="261F1D"/>
                </a:solidFill>
                <a:latin typeface="Helvetica"/>
              </a:rPr>
              <a:t> filters columns</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Roboto Mono"/>
              </a:rPr>
              <a:t>WHERE</a:t>
            </a:r>
            <a:r>
              <a:rPr sz="2600" b="0" i="0" u="none">
                <a:solidFill>
                  <a:srgbClr val="261F1D"/>
                </a:solidFill>
                <a:latin typeface="Helvetica"/>
              </a:rPr>
              <a:t> runs before the rows are grouped, so at that moment no </a:t>
            </a:r>
            <a:r>
              <a:rPr sz="2600" b="0" i="0" u="none">
                <a:solidFill>
                  <a:srgbClr val="261F1D"/>
                </a:solidFill>
                <a:latin typeface="Roboto Mono"/>
              </a:rPr>
              <a:t>COUNT</a:t>
            </a:r>
            <a:r>
              <a:rPr sz="2600" b="0" i="0" u="none">
                <a:solidFill>
                  <a:srgbClr val="261F1D"/>
                </a:solidFill>
                <a:latin typeface="Helvetica"/>
              </a:rPr>
              <a:t> exists yet to filter on. </a:t>
            </a:r>
            <a:r>
              <a:rPr sz="2600" b="0" i="0" u="none">
                <a:solidFill>
                  <a:srgbClr val="261F1D"/>
                </a:solidFill>
                <a:latin typeface="Roboto Mono"/>
              </a:rPr>
              <a:t>HAVING</a:t>
            </a:r>
            <a:r>
              <a:rPr sz="2600" b="0" i="0" u="none">
                <a:solidFill>
                  <a:srgbClr val="261F1D"/>
                </a:solidFill>
                <a:latin typeface="Helvetica"/>
              </a:rPr>
              <a:t> runs after grouping, which is why it can see the aggregate. Same underlying rule as the window-function filtering trap from the tool-choice lesson: anything computed later in the query's own order of operations cannot be filtered earlier in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Two asks land. Ask 1: "Top 3 boroughs by average score." Ask 2: "Every restaurant listed beside its borough average." Which one forces a window function?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Ask 1 only</a:t>
            </a:r>
          </a:p>
          <a:p>
            <a:pPr>
              <a:spcAft>
                <a:spcPts val="1000"/>
              </a:spcAft>
            </a:pPr>
            <a:r>
              <a:rPr sz="2600" b="0" i="0" u="none">
                <a:solidFill>
                  <a:srgbClr val="261F1D"/>
                </a:solidFill>
                <a:latin typeface="Helvetica"/>
              </a:rPr>
              <a:t>B.  Ask 2 only</a:t>
            </a:r>
          </a:p>
          <a:p>
            <a:pPr>
              <a:spcAft>
                <a:spcPts val="1000"/>
              </a:spcAft>
            </a:pPr>
            <a:r>
              <a:rPr sz="2600" b="0" i="0" u="none">
                <a:solidFill>
                  <a:srgbClr val="261F1D"/>
                </a:solidFill>
                <a:latin typeface="Helvetica"/>
              </a:rPr>
              <a:t>C.  Both of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Which Shape Forces a Window Function</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Ask 2 only</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Ask what one row of the answer represents. In Ask 1 a row is a borough, so the restaurants are meant to collapse and </a:t>
            </a:r>
            <a:r>
              <a:rPr sz="2600" b="0" i="0" u="none">
                <a:solidFill>
                  <a:srgbClr val="261F1D"/>
                </a:solidFill>
                <a:latin typeface="Roboto Mono"/>
              </a:rPr>
              <a:t>GROUP BY</a:t>
            </a:r>
            <a:r>
              <a:rPr sz="2600" b="0" i="0" u="none">
                <a:solidFill>
                  <a:srgbClr val="261F1D"/>
                </a:solidFill>
                <a:latin typeface="Helvetica"/>
              </a:rPr>
              <a:t> is the right shape. In Ask 2 a row is still a restaurant, and a group-level number has to ride along beside it, which is exactly what a window function is built for. The words "average" and "top" appear in both, so the giveaway is never the vocabulary. It is whether the original rows are supposed to survive.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Vocabulary Recall</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Rebuild It Without a Template</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Naming the right tool is the easy half - now type it with nobody reading the answer out first.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Only </a:t>
            </a:r>
            <a:r>
              <a:rPr sz="3200" b="1" i="0" u="none">
                <a:solidFill>
                  <a:srgbClr val="261F1D"/>
                </a:solidFill>
                <a:latin typeface="Roboto Mono"/>
              </a:rPr>
              <a:t>LEFT JOIN</a:t>
            </a:r>
            <a:r>
              <a:rPr sz="3200" b="1" i="0" u="none">
                <a:solidFill>
                  <a:srgbClr val="261F1D"/>
                </a:solidFill>
                <a:latin typeface="Helvetica"/>
              </a:rPr>
              <a:t> Finds What </a:t>
            </a:r>
            <a:r>
              <a:rPr sz="3200" b="1" i="0" u="none">
                <a:solidFill>
                  <a:srgbClr val="264326"/>
                </a:solidFill>
                <a:latin typeface="Helvetica"/>
              </a:rPr>
              <a:t>Isn't There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1">
                <a:solidFill>
                  <a:srgbClr val="B3BBB0"/>
                </a:solidFill>
                <a:latin typeface="Roboto Mono"/>
              </a:rPr>
              <a:t>-- Which restaurants have no violations at all?</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tv</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20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p>
          <a:p>
            <a:pPr>
              <a:lnSpc>
                <a:spcPct val="120000"/>
              </a:lnSpc>
              <a:defRPr sz="2600">
                <a:latin typeface="Roboto Mono"/>
              </a:defRPr>
            </a:pPr>
            <a:r>
              <a:rPr sz="2600" i="0">
                <a:solidFill>
                  <a:srgbClr val="EEBC32"/>
                </a:solidFill>
                <a:latin typeface="Roboto Mono"/>
              </a:rPr>
              <a:t>HAVING</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violation_id</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0</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A Query That Works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A Query That Runs and Lies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Everything so far failed loudly when it was wrong - the next one succeeds quietly while being wrong.</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Rows quietly duplicated</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A count that proves it</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It Ran Clean. It's Also </a:t>
            </a:r>
            <a:r>
              <a:rPr sz="3200" b="1" i="0" u="none">
                <a:solidFill>
                  <a:srgbClr val="264326"/>
                </a:solidFill>
                <a:latin typeface="Helvetica"/>
              </a:rPr>
              <a:t>Wrong</a:t>
            </a:r>
            <a:r>
              <a:rPr sz="3200" b="1" i="0" u="none">
                <a:solidFill>
                  <a:srgbClr val="261F1D"/>
                </a:solidFill>
                <a:latin typeface="Helvetica"/>
              </a:rPr>
              <a:t>.</a:t>
            </a:r>
          </a:p>
        </p:txBody>
      </p:sp>
      <p:sp>
        <p:nvSpPr>
          <p:cNvPr id="4" name="Rounded Rectangle 3"/>
          <p:cNvSpPr/>
          <p:nvPr/>
        </p:nvSpPr>
        <p:spPr>
          <a:xfrm>
            <a:off x="548640" y="1005840"/>
            <a:ext cx="11094415" cy="37668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3007868"/>
          </a:xfrm>
          <a:prstGeom prst="rect">
            <a:avLst/>
          </a:prstGeom>
          <a:noFill/>
        </p:spPr>
        <p:txBody>
          <a:bodyPr wrap="square" lIns="0" rIns="0" tIns="0" bIns="0">
            <a:noAutofit/>
          </a:bodyPr>
          <a:lstStyle/>
          <a:p>
            <a:pPr>
              <a:lnSpc>
                <a:spcPct val="105000"/>
              </a:lnSpc>
              <a:defRPr sz="2600">
                <a:latin typeface="Roboto Mono"/>
              </a:defRPr>
            </a:pPr>
            <a:r>
              <a:rPr sz="2600" i="1">
                <a:solidFill>
                  <a:srgbClr val="B3BBB0"/>
                </a:solidFill>
                <a:latin typeface="Roboto Mono"/>
              </a:rPr>
              <a:t>-- How many inspections has each restaurant had?</a:t>
            </a:r>
          </a:p>
          <a:p>
            <a:pPr>
              <a:lnSpc>
                <a:spcPct val="105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insp</a:t>
            </a:r>
          </a:p>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05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violations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p>
          <a:p>
            <a:pPr>
              <a:lnSpc>
                <a:spcPct val="105000"/>
              </a:lnSpc>
              <a:defRPr sz="2600">
                <a:latin typeface="Roboto Mono"/>
              </a:defRPr>
            </a:pP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insp</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p>
          <a:p>
            <a:pPr>
              <a:lnSpc>
                <a:spcPct val="105000"/>
              </a:lnSpc>
              <a:defRPr sz="2600">
                <a:latin typeface="Roboto Mono"/>
              </a:defRPr>
            </a:pPr>
          </a:p>
        </p:txBody>
      </p:sp>
      <p:sp>
        <p:nvSpPr>
          <p:cNvPr id="10" name="Rounded Rectangle 9"/>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Counting who is coming to the cookout from group-chat replies. One cousin who answers in two different chats gets counted twice, and you buy for a crowd that never shows 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Your per-restaurant counts add up to 5, but the whole </a:t>
            </a:r>
            <a:r>
              <a:rPr sz="3200" b="1" i="0" u="none">
                <a:solidFill>
                  <a:srgbClr val="261F1D"/>
                </a:solidFill>
                <a:latin typeface="Roboto Mono"/>
              </a:rPr>
              <a:t>inspections</a:t>
            </a:r>
            <a:r>
              <a:rPr sz="3200" b="1" i="0" u="none">
                <a:solidFill>
                  <a:srgbClr val="261F1D"/>
                </a:solidFill>
                <a:latin typeface="Helvetica"/>
              </a:rPr>
              <a:t> table only holds 4 rows. What caused the inflated number?</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The </a:t>
            </a:r>
            <a:r>
              <a:rPr sz="2600" b="0" i="0" u="none">
                <a:solidFill>
                  <a:srgbClr val="261F1D"/>
                </a:solidFill>
                <a:latin typeface="Roboto Mono"/>
              </a:rPr>
              <a:t>LEFT JOIN</a:t>
            </a:r>
            <a:r>
              <a:rPr sz="2600" b="0" i="0" u="none">
                <a:solidFill>
                  <a:srgbClr val="261F1D"/>
                </a:solidFill>
                <a:latin typeface="Helvetica"/>
              </a:rPr>
              <a:t> dropped rows it should have kept</a:t>
            </a:r>
          </a:p>
          <a:p>
            <a:pPr>
              <a:spcAft>
                <a:spcPts val="1000"/>
              </a:spcAft>
            </a:pPr>
            <a:r>
              <a:rPr sz="2600" b="0" i="0" u="none">
                <a:solidFill>
                  <a:srgbClr val="261F1D"/>
                </a:solidFill>
                <a:latin typeface="Helvetica"/>
              </a:rPr>
              <a:t>B.  Joining </a:t>
            </a:r>
            <a:r>
              <a:rPr sz="2600" b="0" i="0" u="none">
                <a:solidFill>
                  <a:srgbClr val="261F1D"/>
                </a:solidFill>
                <a:latin typeface="Roboto Mono"/>
              </a:rPr>
              <a:t>violations</a:t>
            </a:r>
            <a:r>
              <a:rPr sz="2600" b="0" i="0" u="none">
                <a:solidFill>
                  <a:srgbClr val="261F1D"/>
                </a:solidFill>
                <a:latin typeface="Helvetica"/>
              </a:rPr>
              <a:t> duplicated each inspection row</a:t>
            </a:r>
          </a:p>
          <a:p>
            <a:pPr>
              <a:spcAft>
                <a:spcPts val="1000"/>
              </a:spcAft>
            </a:pPr>
            <a:r>
              <a:rPr sz="2600" b="0" i="0" u="none">
                <a:solidFill>
                  <a:srgbClr val="261F1D"/>
                </a:solidFill>
                <a:latin typeface="Helvetica"/>
              </a:rPr>
              <a:t>C.  </a:t>
            </a:r>
            <a:r>
              <a:rPr sz="2600" b="0" i="0" u="none">
                <a:solidFill>
                  <a:srgbClr val="261F1D"/>
                </a:solidFill>
                <a:latin typeface="Roboto Mono"/>
              </a:rPr>
              <a:t>COUNT</a:t>
            </a:r>
            <a:r>
              <a:rPr sz="2600" b="0" i="0" u="none">
                <a:solidFill>
                  <a:srgbClr val="261F1D"/>
                </a:solidFill>
                <a:latin typeface="Helvetica"/>
              </a:rPr>
              <a:t> can't be used on a joined column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Diagnosing an Inflated Count</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Joining </a:t>
            </a:r>
            <a:r>
              <a:rPr sz="3200" b="1" i="0" u="none">
                <a:solidFill>
                  <a:srgbClr val="261F1D"/>
                </a:solidFill>
                <a:latin typeface="Roboto Mono"/>
              </a:rPr>
              <a:t>violations</a:t>
            </a:r>
            <a:r>
              <a:rPr sz="3200" b="1" i="0" u="none">
                <a:solidFill>
                  <a:srgbClr val="261F1D"/>
                </a:solidFill>
                <a:latin typeface="Helvetica"/>
              </a:rPr>
              <a:t> duplicated each inspection row</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Joining </a:t>
            </a:r>
            <a:r>
              <a:rPr sz="2600" b="0" i="0" u="none">
                <a:solidFill>
                  <a:srgbClr val="261F1D"/>
                </a:solidFill>
                <a:latin typeface="Roboto Mono"/>
              </a:rPr>
              <a:t>violations</a:t>
            </a:r>
            <a:r>
              <a:rPr sz="2600" b="0" i="0" u="none">
                <a:solidFill>
                  <a:srgbClr val="261F1D"/>
                </a:solidFill>
                <a:latin typeface="Helvetica"/>
              </a:rPr>
              <a:t> in duplicates each inspection row once per violation attached to it, and </a:t>
            </a:r>
            <a:r>
              <a:rPr sz="2600" b="0" i="0" u="none">
                <a:solidFill>
                  <a:srgbClr val="261F1D"/>
                </a:solidFill>
                <a:latin typeface="Roboto Mono"/>
              </a:rPr>
              <a:t>COUNT</a:t>
            </a:r>
            <a:r>
              <a:rPr sz="2600" b="0" i="0" u="none">
                <a:solidFill>
                  <a:srgbClr val="261F1D"/>
                </a:solidFill>
                <a:latin typeface="Helvetica"/>
              </a:rPr>
              <a:t> faithfully counts the duplicates - the join did exactly what it was told, nobody told it the right thing. One inspection with two violations produces two joined rows, and </a:t>
            </a:r>
            <a:r>
              <a:rPr sz="2600" b="0" i="0" u="none">
                <a:solidFill>
                  <a:srgbClr val="261F1D"/>
                </a:solidFill>
                <a:latin typeface="Roboto Mono"/>
              </a:rPr>
              <a:t>COUNT(inspection_id)</a:t>
            </a:r>
            <a:r>
              <a:rPr sz="2600" b="0" i="0" u="none">
                <a:solidFill>
                  <a:srgbClr val="261F1D"/>
                </a:solidFill>
                <a:latin typeface="Helvetica"/>
              </a:rPr>
              <a:t> counts both of them. Corner Bistro genuinely had three inspections, and one of those carried two violations, so the count landed on four. Notice it was only wrong for that one restaurant: every other count in the result was correct, which is exactly why glancing at the output catches nothing. The rule worth carrying into the project: every extra table you join can multiply your rows, so counting anything after a join means asking what one row now represents.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Wrong for a Different Reason</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A Number You Invented, Not Found</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Fan-out is a query that ran clean and lied. This next one runs clean and asks you to pick a lie on purpose.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Roboto Mono"/>
              </a:rPr>
              <a:t>COALESCE</a:t>
            </a:r>
            <a:r>
              <a:rPr sz="3200" b="1" i="0" u="none">
                <a:solidFill>
                  <a:srgbClr val="261F1D"/>
                </a:solidFill>
                <a:latin typeface="Helvetica"/>
              </a:rPr>
              <a:t> Doesn't Find a Value - </a:t>
            </a:r>
            <a:r>
              <a:rPr sz="3200" b="1" i="0" u="none">
                <a:solidFill>
                  <a:srgbClr val="264326"/>
                </a:solidFill>
                <a:latin typeface="Helvetica"/>
              </a:rPr>
              <a:t>You Invent One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graded</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COALESCE</a:t>
            </a:r>
            <a:r>
              <a:rPr sz="2600" i="0">
                <a:solidFill>
                  <a:srgbClr val="FFFCF7"/>
                </a:solidFill>
                <a:latin typeface="Roboto Mono"/>
              </a:rPr>
              <a:t>(</a:t>
            </a:r>
            <a:r>
              <a:rPr sz="2600" i="0">
                <a:solidFill>
                  <a:srgbClr val="FFFCF7"/>
                </a:solidFill>
                <a:latin typeface="Roboto Mono"/>
              </a:rPr>
              <a:t>score</a:t>
            </a:r>
            <a:r>
              <a:rPr sz="2600" i="0">
                <a:solidFill>
                  <a:srgbClr val="FFFCF7"/>
                </a:solidFill>
                <a:latin typeface="Roboto Mono"/>
              </a:rPr>
              <a:t>,</a:t>
            </a:r>
            <a:r>
              <a:rPr sz="2600" i="0">
                <a:solidFill>
                  <a:srgbClr val="FFFCF7"/>
                </a:solidFill>
                <a:latin typeface="Roboto Mono"/>
              </a:rPr>
              <a:t> </a:t>
            </a:r>
            <a:r>
              <a:rPr sz="2600" i="0">
                <a:solidFill>
                  <a:srgbClr val="659B87"/>
                </a:solidFill>
                <a:latin typeface="Roboto Mono"/>
              </a:rPr>
              <a:t>0</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pts</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20000"/>
              </a:lnSpc>
              <a:defRPr sz="2600">
                <a:latin typeface="Roboto Mono"/>
              </a:defRPr>
            </a:pP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pts</a:t>
            </a:r>
            <a:r>
              <a:rPr sz="2600" i="0">
                <a:solidFill>
                  <a:srgbClr val="FFFCF7"/>
                </a:solidFill>
                <a:latin typeface="Roboto Mono"/>
              </a:rPr>
              <a:t>,</a:t>
            </a:r>
          </a:p>
          <a:p>
            <a:pPr>
              <a:lnSpc>
                <a:spcPct val="120000"/>
              </a:lnSpc>
              <a:defRPr sz="2600">
                <a:latin typeface="Roboto Mono"/>
              </a:defRPr>
            </a:pPr>
            <a:r>
              <a:rPr sz="2600" i="0">
                <a:solidFill>
                  <a:srgbClr val="FFFCF7"/>
                </a:solidFill>
                <a:latin typeface="Roboto Mono"/>
              </a:rPr>
              <a:t>  </a:t>
            </a:r>
            <a:r>
              <a:rPr sz="2600" i="0">
                <a:solidFill>
                  <a:srgbClr val="FFFCF7"/>
                </a:solidFill>
                <a:latin typeface="Roboto Mono"/>
              </a:rPr>
              <a:t>RANK</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OVER</a:t>
            </a:r>
            <a:r>
              <a:rPr sz="2600" i="0">
                <a:solidFill>
                  <a:srgbClr val="FFFCF7"/>
                </a:solidFill>
                <a:latin typeface="Roboto Mono"/>
              </a:rPr>
              <a:t> </a:t>
            </a:r>
            <a:r>
              <a:rPr sz="2600" i="0">
                <a:solidFill>
                  <a:srgbClr val="FFFCF7"/>
                </a:solidFill>
                <a:latin typeface="Roboto Mono"/>
              </a:rPr>
              <a:t>(</a:t>
            </a: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pts</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rnk</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graded</a:t>
            </a:r>
          </a:p>
          <a:p>
            <a:pPr>
              <a:lnSpc>
                <a:spcPct val="120000"/>
              </a:lnSpc>
              <a:defRPr sz="2600">
                <a:latin typeface="Roboto Mono"/>
              </a:defRPr>
            </a:pP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rnk</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You want every inspection that isn't grade A, so you filter on </a:t>
            </a:r>
            <a:r>
              <a:rPr sz="3200" b="1" i="0" u="none">
                <a:solidFill>
                  <a:srgbClr val="261F1D"/>
                </a:solidFill>
                <a:latin typeface="Roboto Mono"/>
              </a:rPr>
              <a:t>WHERE grade &lt;&gt; 'A'</a:t>
            </a:r>
            <a:r>
              <a:rPr sz="3200" b="1" i="0" u="none">
                <a:solidFill>
                  <a:srgbClr val="261F1D"/>
                </a:solidFill>
                <a:latin typeface="Helvetica"/>
              </a:rPr>
              <a:t>. It returns 1 row, not 3. Where did the other two go?</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Comparing </a:t>
            </a:r>
            <a:r>
              <a:rPr sz="2600" b="0" i="0" u="none">
                <a:solidFill>
                  <a:srgbClr val="261F1D"/>
                </a:solidFill>
                <a:latin typeface="Roboto Mono"/>
              </a:rPr>
              <a:t>NULL</a:t>
            </a:r>
            <a:r>
              <a:rPr sz="2600" b="0" i="0" u="none">
                <a:solidFill>
                  <a:srgbClr val="261F1D"/>
                </a:solidFill>
                <a:latin typeface="Helvetica"/>
              </a:rPr>
              <a:t> to anything, even with </a:t>
            </a:r>
            <a:r>
              <a:rPr sz="2600" b="0" i="0" u="none">
                <a:solidFill>
                  <a:srgbClr val="261F1D"/>
                </a:solidFill>
                <a:latin typeface="Roboto Mono"/>
              </a:rPr>
              <a:t>&lt;&gt;</a:t>
            </a:r>
            <a:r>
              <a:rPr sz="2600" b="0" i="0" u="none">
                <a:solidFill>
                  <a:srgbClr val="261F1D"/>
                </a:solidFill>
                <a:latin typeface="Helvetica"/>
              </a:rPr>
              <a:t>, is never true</a:t>
            </a:r>
          </a:p>
          <a:p>
            <a:pPr>
              <a:spcAft>
                <a:spcPts val="1000"/>
              </a:spcAft>
            </a:pPr>
            <a:r>
              <a:rPr sz="2600" b="0" i="0" u="none">
                <a:solidFill>
                  <a:srgbClr val="261F1D"/>
                </a:solidFill>
                <a:latin typeface="Helvetica"/>
              </a:rPr>
              <a:t>B.  The two ungraded rows were filtered out earlier</a:t>
            </a:r>
          </a:p>
          <a:p>
            <a:pPr>
              <a:spcAft>
                <a:spcPts val="1000"/>
              </a:spcAft>
            </a:pPr>
            <a:r>
              <a:rPr sz="2600" b="0" i="0" u="none">
                <a:solidFill>
                  <a:srgbClr val="261F1D"/>
                </a:solidFill>
                <a:latin typeface="Helvetica"/>
              </a:rPr>
              <a:t>C.  </a:t>
            </a:r>
            <a:r>
              <a:rPr sz="2600" b="0" i="0" u="none">
                <a:solidFill>
                  <a:srgbClr val="261F1D"/>
                </a:solidFill>
                <a:latin typeface="Roboto Mono"/>
              </a:rPr>
              <a:t>&lt;&gt;</a:t>
            </a:r>
            <a:r>
              <a:rPr sz="2600" b="0" i="0" u="none">
                <a:solidFill>
                  <a:srgbClr val="261F1D"/>
                </a:solidFill>
                <a:latin typeface="Helvetica"/>
              </a:rPr>
              <a:t> doesn't work on a text column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Why </a:t>
            </a:r>
            <a:r>
              <a:rPr sz="2600" b="1" i="0" u="none">
                <a:solidFill>
                  <a:srgbClr val="261F1D"/>
                </a:solidFill>
                <a:latin typeface="Roboto Mono"/>
              </a:rPr>
              <a:t>&lt;&gt; 'A'</a:t>
            </a:r>
            <a:r>
              <a:rPr sz="2600" b="1" i="0" u="none">
                <a:solidFill>
                  <a:srgbClr val="261F1D"/>
                </a:solidFill>
                <a:latin typeface="Helvetica"/>
              </a:rPr>
              <a:t> Loses the Ungraded Rows</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Comparing </a:t>
            </a:r>
            <a:r>
              <a:rPr sz="3200" b="1" i="0" u="none">
                <a:solidFill>
                  <a:srgbClr val="261F1D"/>
                </a:solidFill>
                <a:latin typeface="Roboto Mono"/>
              </a:rPr>
              <a:t>NULL</a:t>
            </a:r>
            <a:r>
              <a:rPr sz="3200" b="1" i="0" u="none">
                <a:solidFill>
                  <a:srgbClr val="261F1D"/>
                </a:solidFill>
                <a:latin typeface="Helvetica"/>
              </a:rPr>
              <a:t> to anything, even with </a:t>
            </a:r>
            <a:r>
              <a:rPr sz="3200" b="1" i="0" u="none">
                <a:solidFill>
                  <a:srgbClr val="261F1D"/>
                </a:solidFill>
                <a:latin typeface="Roboto Mono"/>
              </a:rPr>
              <a:t>&lt;&gt;</a:t>
            </a:r>
            <a:r>
              <a:rPr sz="3200" b="1" i="0" u="none">
                <a:solidFill>
                  <a:srgbClr val="261F1D"/>
                </a:solidFill>
                <a:latin typeface="Helvetica"/>
              </a:rPr>
              <a:t>, is never true</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Roboto Mono"/>
              </a:rPr>
              <a:t>NULL</a:t>
            </a:r>
            <a:r>
              <a:rPr sz="2600" b="0" i="0" u="none">
                <a:solidFill>
                  <a:srgbClr val="261F1D"/>
                </a:solidFill>
                <a:latin typeface="Helvetica"/>
              </a:rPr>
              <a:t> means unknown, so asking whether an unknown grade is not-equal to 'A' gives back unknown rather than true, and </a:t>
            </a:r>
            <a:r>
              <a:rPr sz="2600" b="0" i="0" u="none">
                <a:solidFill>
                  <a:srgbClr val="261F1D"/>
                </a:solidFill>
                <a:latin typeface="Roboto Mono"/>
              </a:rPr>
              <a:t>WHERE</a:t>
            </a:r>
            <a:r>
              <a:rPr sz="2600" b="0" i="0" u="none">
                <a:solidFill>
                  <a:srgbClr val="261F1D"/>
                </a:solidFill>
                <a:latin typeface="Helvetica"/>
              </a:rPr>
              <a:t> only keeps rows where the condition is genuinely true. The two ungraded inspections quietly vanish, even though "ungraded" is intuitively not "A". The correct clause adds </a:t>
            </a:r>
            <a:r>
              <a:rPr sz="2600" b="0" i="0" u="none">
                <a:solidFill>
                  <a:srgbClr val="261F1D"/>
                </a:solidFill>
                <a:latin typeface="Roboto Mono"/>
              </a:rPr>
              <a:t>OR grade IS NULL</a:t>
            </a:r>
            <a:r>
              <a:rPr sz="2600" b="0" i="0" u="none">
                <a:solidFill>
                  <a:srgbClr val="261F1D"/>
                </a:solidFill>
                <a:latin typeface="Helvetica"/>
              </a:rPr>
              <a:t> explicitly - </a:t>
            </a:r>
            <a:r>
              <a:rPr sz="2600" b="0" i="0" u="none">
                <a:solidFill>
                  <a:srgbClr val="261F1D"/>
                </a:solidFill>
                <a:latin typeface="Roboto Mono"/>
              </a:rPr>
              <a:t>&lt;&gt;</a:t>
            </a:r>
            <a:r>
              <a:rPr sz="2600" b="0" i="0" u="none">
                <a:solidFill>
                  <a:srgbClr val="261F1D"/>
                </a:solidFill>
                <a:latin typeface="Helvetica"/>
              </a:rPr>
              <a:t> and </a:t>
            </a:r>
            <a:r>
              <a:rPr sz="2600" b="0" i="0" u="none">
                <a:solidFill>
                  <a:srgbClr val="261F1D"/>
                </a:solidFill>
                <a:latin typeface="Roboto Mono"/>
              </a:rPr>
              <a:t>=</a:t>
            </a:r>
            <a:r>
              <a:rPr sz="2600" b="0" i="0" u="none">
                <a:solidFill>
                  <a:srgbClr val="261F1D"/>
                </a:solidFill>
                <a:latin typeface="Helvetica"/>
              </a:rPr>
              <a:t> both treat </a:t>
            </a:r>
            <a:r>
              <a:rPr sz="2600" b="0" i="0" u="none">
                <a:solidFill>
                  <a:srgbClr val="261F1D"/>
                </a:solidFill>
                <a:latin typeface="Roboto Mono"/>
              </a:rPr>
              <a:t>NULL</a:t>
            </a:r>
            <a:r>
              <a:rPr sz="2600" b="0" i="0" u="none">
                <a:solidFill>
                  <a:srgbClr val="261F1D"/>
                </a:solidFill>
                <a:latin typeface="Helvetica"/>
              </a:rPr>
              <a:t> the same way. This is the sharpest example of a silent bug in the whole module, because the query runs, the syntax is legal, and the smaller-than-expected result looks like a real finding, not a bug.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Your dashboard says one number and a stakeholder's own report says another. Walk me through what you'd do first.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Queries That Lie Once</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The Answer That Goes Stale</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Those queries were wrong the moment they ran - a stored answer starts out right and rots quietly afterwards.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A Stored View Keeps Answering From </a:t>
            </a:r>
            <a:r>
              <a:rPr sz="3200" b="1" i="0" u="none">
                <a:solidFill>
                  <a:srgbClr val="264326"/>
                </a:solidFill>
                <a:latin typeface="Helvetica"/>
              </a:rPr>
              <a:t>Before</a:t>
            </a:r>
          </a:p>
        </p:txBody>
      </p:sp>
      <p:sp>
        <p:nvSpPr>
          <p:cNvPr id="4" name="Rounded Rectangle 3"/>
          <p:cNvSpPr/>
          <p:nvPr/>
        </p:nvSpPr>
        <p:spPr>
          <a:xfrm>
            <a:off x="548640" y="1005840"/>
            <a:ext cx="11094415" cy="337312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2614168"/>
          </a:xfrm>
          <a:prstGeom prst="rect">
            <a:avLst/>
          </a:prstGeom>
          <a:noFill/>
        </p:spPr>
        <p:txBody>
          <a:bodyPr wrap="square" lIns="0" rIns="0" tIns="0" bIns="0">
            <a:noAutofit/>
          </a:bodyPr>
          <a:lstStyle/>
          <a:p>
            <a:pPr>
              <a:lnSpc>
                <a:spcPct val="105000"/>
              </a:lnSpc>
              <a:defRPr sz="2400">
                <a:latin typeface="Roboto Mono"/>
              </a:defRPr>
            </a:pPr>
            <a:r>
              <a:rPr sz="2400" i="1">
                <a:solidFill>
                  <a:srgbClr val="B3BBB0"/>
                </a:solidFill>
                <a:latin typeface="Roboto Mono"/>
              </a:rPr>
              <a:t>-- The stored view still says 1</a:t>
            </a:r>
          </a:p>
          <a:p>
            <a:pPr>
              <a:lnSpc>
                <a:spcPct val="105000"/>
              </a:lnSpc>
              <a:defRPr sz="2400">
                <a:latin typeface="Roboto Mono"/>
              </a:defRPr>
            </a:pPr>
            <a:r>
              <a:rPr sz="2400" i="0">
                <a:solidFill>
                  <a:srgbClr val="EEBC32"/>
                </a:solidFill>
                <a:latin typeface="Roboto Mono"/>
              </a:rPr>
              <a:t>SELECT</a:t>
            </a:r>
            <a:r>
              <a:rPr sz="2400" i="0">
                <a:solidFill>
                  <a:srgbClr val="FFFCF7"/>
                </a:solidFill>
                <a:latin typeface="Roboto Mono"/>
              </a:rPr>
              <a:t> </a:t>
            </a:r>
            <a:r>
              <a:rPr sz="2400" i="0">
                <a:solidFill>
                  <a:srgbClr val="FFFCF7"/>
                </a:solidFill>
                <a:latin typeface="Roboto Mono"/>
              </a:rPr>
              <a:t>tv</a:t>
            </a:r>
            <a:r>
              <a:rPr sz="2400" i="0">
                <a:solidFill>
                  <a:srgbClr val="FFFCF7"/>
                </a:solidFill>
                <a:latin typeface="Roboto Mono"/>
              </a:rPr>
              <a:t> </a:t>
            </a:r>
            <a:r>
              <a:rPr sz="2400" i="0">
                <a:solidFill>
                  <a:srgbClr val="EEBC32"/>
                </a:solidFill>
                <a:latin typeface="Roboto Mono"/>
              </a:rPr>
              <a:t>FROM</a:t>
            </a:r>
            <a:r>
              <a:rPr sz="2400" i="0">
                <a:solidFill>
                  <a:srgbClr val="FFFCF7"/>
                </a:solidFill>
                <a:latin typeface="Roboto Mono"/>
              </a:rPr>
              <a:t> </a:t>
            </a:r>
            <a:r>
              <a:rPr sz="2400" i="0">
                <a:solidFill>
                  <a:srgbClr val="FFFCF7"/>
                </a:solidFill>
                <a:latin typeface="Roboto Mono"/>
              </a:rPr>
              <a:t>restaurant_totals</a:t>
            </a:r>
          </a:p>
          <a:p>
            <a:pPr>
              <a:lnSpc>
                <a:spcPct val="105000"/>
              </a:lnSpc>
              <a:defRPr sz="2400">
                <a:latin typeface="Roboto Mono"/>
              </a:defRPr>
            </a:pPr>
            <a:r>
              <a:rPr sz="2400" i="0">
                <a:solidFill>
                  <a:srgbClr val="EEBC32"/>
                </a:solidFill>
                <a:latin typeface="Roboto Mono"/>
              </a:rPr>
              <a:t>WHERE</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8BAC9"/>
                </a:solidFill>
                <a:latin typeface="Roboto Mono"/>
              </a:rPr>
              <a:t>'Green Leaf Cafe'</a:t>
            </a:r>
            <a:r>
              <a:rPr sz="2400" i="0">
                <a:solidFill>
                  <a:srgbClr val="FFFCF7"/>
                </a:solidFill>
                <a:latin typeface="Roboto Mono"/>
              </a:rPr>
              <a:t>;</a:t>
            </a:r>
          </a:p>
          <a:p>
            <a:pPr>
              <a:lnSpc>
                <a:spcPct val="105000"/>
              </a:lnSpc>
              <a:defRPr sz="2400">
                <a:latin typeface="Roboto Mono"/>
              </a:defRPr>
            </a:pPr>
            <a:r>
              <a:rPr sz="2400" i="0">
                <a:solidFill>
                  <a:srgbClr val="EEBC32"/>
                </a:solidFill>
                <a:latin typeface="Roboto Mono"/>
              </a:rPr>
              <a:t>INSERT</a:t>
            </a:r>
            <a:r>
              <a:rPr sz="2400" i="0">
                <a:solidFill>
                  <a:srgbClr val="FFFCF7"/>
                </a:solidFill>
                <a:latin typeface="Roboto Mono"/>
              </a:rPr>
              <a:t> </a:t>
            </a:r>
            <a:r>
              <a:rPr sz="2400" i="0">
                <a:solidFill>
                  <a:srgbClr val="EEBC32"/>
                </a:solidFill>
                <a:latin typeface="Roboto Mono"/>
              </a:rPr>
              <a:t>INTO</a:t>
            </a:r>
            <a:r>
              <a:rPr sz="2400" i="0">
                <a:solidFill>
                  <a:srgbClr val="FFFCF7"/>
                </a:solidFill>
                <a:latin typeface="Roboto Mono"/>
              </a:rPr>
              <a:t> </a:t>
            </a:r>
            <a:r>
              <a:rPr sz="2400" i="0">
                <a:solidFill>
                  <a:srgbClr val="FFFCF7"/>
                </a:solidFill>
                <a:latin typeface="Roboto Mono"/>
              </a:rPr>
              <a:t>violations</a:t>
            </a:r>
          </a:p>
          <a:p>
            <a:pPr>
              <a:lnSpc>
                <a:spcPct val="105000"/>
              </a:lnSpc>
              <a:defRPr sz="2400">
                <a:latin typeface="Roboto Mono"/>
              </a:defRPr>
            </a:pP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violation_id</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inspection_id</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violation_code</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violation_description</a:t>
            </a:r>
            <a:r>
              <a:rPr sz="2400" i="0">
                <a:solidFill>
                  <a:srgbClr val="FFFCF7"/>
                </a:solidFill>
                <a:latin typeface="Roboto Mono"/>
              </a:rPr>
              <a:t>)</a:t>
            </a:r>
          </a:p>
          <a:p>
            <a:pPr>
              <a:lnSpc>
                <a:spcPct val="105000"/>
              </a:lnSpc>
              <a:defRPr sz="2400">
                <a:latin typeface="Roboto Mono"/>
              </a:defRPr>
            </a:pPr>
            <a:r>
              <a:rPr sz="2400" i="0">
                <a:solidFill>
                  <a:srgbClr val="EEBC32"/>
                </a:solidFill>
                <a:latin typeface="Roboto Mono"/>
              </a:rPr>
              <a:t>VALUES</a:t>
            </a:r>
            <a:r>
              <a:rPr sz="2400" i="0">
                <a:solidFill>
                  <a:srgbClr val="FFFCF7"/>
                </a:solidFill>
                <a:latin typeface="Roboto Mono"/>
              </a:rPr>
              <a:t> </a:t>
            </a:r>
            <a:r>
              <a:rPr sz="2400" i="0">
                <a:solidFill>
                  <a:srgbClr val="FFFCF7"/>
                </a:solidFill>
                <a:latin typeface="Roboto Mono"/>
              </a:rPr>
              <a:t>(</a:t>
            </a:r>
            <a:r>
              <a:rPr sz="2400" i="0">
                <a:solidFill>
                  <a:srgbClr val="659B87"/>
                </a:solidFill>
                <a:latin typeface="Roboto Mono"/>
              </a:rPr>
              <a:t>6</a:t>
            </a:r>
            <a:r>
              <a:rPr sz="2400" i="0">
                <a:solidFill>
                  <a:srgbClr val="FFFCF7"/>
                </a:solidFill>
                <a:latin typeface="Roboto Mono"/>
              </a:rPr>
              <a:t>,</a:t>
            </a:r>
            <a:r>
              <a:rPr sz="2400" i="0">
                <a:solidFill>
                  <a:srgbClr val="FFFCF7"/>
                </a:solidFill>
                <a:latin typeface="Roboto Mono"/>
              </a:rPr>
              <a:t> </a:t>
            </a:r>
            <a:r>
              <a:rPr sz="2400" i="0">
                <a:solidFill>
                  <a:srgbClr val="659B87"/>
                </a:solidFill>
                <a:latin typeface="Roboto Mono"/>
              </a:rPr>
              <a:t>2</a:t>
            </a:r>
            <a:r>
              <a:rPr sz="2400" i="0">
                <a:solidFill>
                  <a:srgbClr val="FFFCF7"/>
                </a:solidFill>
                <a:latin typeface="Roboto Mono"/>
              </a:rPr>
              <a:t>,</a:t>
            </a:r>
            <a:r>
              <a:rPr sz="2400" i="0">
                <a:solidFill>
                  <a:srgbClr val="FFFCF7"/>
                </a:solidFill>
                <a:latin typeface="Roboto Mono"/>
              </a:rPr>
              <a:t> </a:t>
            </a:r>
            <a:r>
              <a:rPr sz="2400" i="0">
                <a:solidFill>
                  <a:srgbClr val="F8BAC9"/>
                </a:solidFill>
                <a:latin typeface="Roboto Mono"/>
              </a:rPr>
              <a:t>'02B'</a:t>
            </a:r>
            <a:r>
              <a:rPr sz="2400" i="0">
                <a:solidFill>
                  <a:srgbClr val="FFFCF7"/>
                </a:solidFill>
                <a:latin typeface="Roboto Mono"/>
              </a:rPr>
              <a:t>,</a:t>
            </a:r>
            <a:r>
              <a:rPr sz="2400" i="0">
                <a:solidFill>
                  <a:srgbClr val="FFFCF7"/>
                </a:solidFill>
                <a:latin typeface="Roboto Mono"/>
              </a:rPr>
              <a:t> </a:t>
            </a:r>
            <a:r>
              <a:rPr sz="2400" i="0">
                <a:solidFill>
                  <a:srgbClr val="F8BAC9"/>
                </a:solidFill>
                <a:latin typeface="Roboto Mono"/>
              </a:rPr>
              <a:t>'Hot food held below 140F'</a:t>
            </a:r>
            <a:r>
              <a:rPr sz="2400" i="0">
                <a:solidFill>
                  <a:srgbClr val="FFFCF7"/>
                </a:solidFill>
                <a:latin typeface="Roboto Mono"/>
              </a:rPr>
              <a:t>)</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REFRESH</a:t>
            </a:r>
            <a:r>
              <a:rPr sz="2400" i="0">
                <a:solidFill>
                  <a:srgbClr val="FFFCF7"/>
                </a:solidFill>
                <a:latin typeface="Roboto Mono"/>
              </a:rPr>
              <a:t> </a:t>
            </a:r>
            <a:r>
              <a:rPr sz="2400" i="0">
                <a:solidFill>
                  <a:srgbClr val="FFFCF7"/>
                </a:solidFill>
                <a:latin typeface="Roboto Mono"/>
              </a:rPr>
              <a:t>MATERIALIZED</a:t>
            </a:r>
            <a:r>
              <a:rPr sz="2400" i="0">
                <a:solidFill>
                  <a:srgbClr val="FFFCF7"/>
                </a:solidFill>
                <a:latin typeface="Roboto Mono"/>
              </a:rPr>
              <a:t> </a:t>
            </a:r>
            <a:r>
              <a:rPr sz="2400" i="0">
                <a:solidFill>
                  <a:srgbClr val="EEBC32"/>
                </a:solidFill>
                <a:latin typeface="Roboto Mono"/>
              </a:rPr>
              <a:t>VIEW</a:t>
            </a:r>
            <a:r>
              <a:rPr sz="2400" i="0">
                <a:solidFill>
                  <a:srgbClr val="FFFCF7"/>
                </a:solidFill>
                <a:latin typeface="Roboto Mono"/>
              </a:rPr>
              <a:t> </a:t>
            </a:r>
            <a:r>
              <a:rPr sz="2400" i="0">
                <a:solidFill>
                  <a:srgbClr val="FFFCF7"/>
                </a:solidFill>
                <a:latin typeface="Roboto Mono"/>
              </a:rPr>
              <a:t>restaurant_totals</a:t>
            </a:r>
            <a:r>
              <a:rPr sz="2400" i="0">
                <a:solidFill>
                  <a:srgbClr val="FFFCF7"/>
                </a:solidFill>
                <a:latin typeface="Roboto Mono"/>
              </a:rPr>
              <a:t>;</a:t>
            </a:r>
          </a:p>
          <a:p>
            <a:pPr>
              <a:lnSpc>
                <a:spcPct val="105000"/>
              </a:lnSpc>
              <a:defRPr sz="2400">
                <a:latin typeface="Roboto Mono"/>
              </a:defRPr>
            </a:pPr>
            <a:r>
              <a:rPr sz="2400" i="1">
                <a:solidFill>
                  <a:srgbClr val="B3BBB0"/>
                </a:solidFill>
                <a:latin typeface="Roboto Mono"/>
              </a:rPr>
              <a:t>-- Now it says 2</a:t>
            </a:r>
          </a:p>
          <a:p>
            <a:pPr>
              <a:lnSpc>
                <a:spcPct val="105000"/>
              </a:lnSpc>
              <a:defRPr sz="2400">
                <a:latin typeface="Roboto Mono"/>
              </a:defRPr>
            </a:pPr>
            <a:r>
              <a:rPr sz="2400" i="0">
                <a:solidFill>
                  <a:srgbClr val="EEBC32"/>
                </a:solidFill>
                <a:latin typeface="Roboto Mono"/>
              </a:rPr>
              <a:t>SELECT</a:t>
            </a:r>
            <a:r>
              <a:rPr sz="2400" i="0">
                <a:solidFill>
                  <a:srgbClr val="FFFCF7"/>
                </a:solidFill>
                <a:latin typeface="Roboto Mono"/>
              </a:rPr>
              <a:t> </a:t>
            </a:r>
            <a:r>
              <a:rPr sz="2400" i="0">
                <a:solidFill>
                  <a:srgbClr val="FFFCF7"/>
                </a:solidFill>
                <a:latin typeface="Roboto Mono"/>
              </a:rPr>
              <a:t>tv</a:t>
            </a:r>
            <a:r>
              <a:rPr sz="2400" i="0">
                <a:solidFill>
                  <a:srgbClr val="FFFCF7"/>
                </a:solidFill>
                <a:latin typeface="Roboto Mono"/>
              </a:rPr>
              <a:t> </a:t>
            </a:r>
            <a:r>
              <a:rPr sz="2400" i="0">
                <a:solidFill>
                  <a:srgbClr val="EEBC32"/>
                </a:solidFill>
                <a:latin typeface="Roboto Mono"/>
              </a:rPr>
              <a:t>FROM</a:t>
            </a:r>
            <a:r>
              <a:rPr sz="2400" i="0">
                <a:solidFill>
                  <a:srgbClr val="FFFCF7"/>
                </a:solidFill>
                <a:latin typeface="Roboto Mono"/>
              </a:rPr>
              <a:t> </a:t>
            </a:r>
            <a:r>
              <a:rPr sz="2400" i="0">
                <a:solidFill>
                  <a:srgbClr val="FFFCF7"/>
                </a:solidFill>
                <a:latin typeface="Roboto Mono"/>
              </a:rPr>
              <a:t>restaurant_totals</a:t>
            </a:r>
          </a:p>
          <a:p>
            <a:pPr>
              <a:lnSpc>
                <a:spcPct val="105000"/>
              </a:lnSpc>
              <a:defRPr sz="2400">
                <a:latin typeface="Roboto Mono"/>
              </a:defRPr>
            </a:pPr>
            <a:r>
              <a:rPr sz="2400" i="0">
                <a:solidFill>
                  <a:srgbClr val="EEBC32"/>
                </a:solidFill>
                <a:latin typeface="Roboto Mono"/>
              </a:rPr>
              <a:t>WHERE</a:t>
            </a:r>
            <a:r>
              <a:rPr sz="2400" i="0">
                <a:solidFill>
                  <a:srgbClr val="FFFCF7"/>
                </a:solidFill>
                <a:latin typeface="Roboto Mono"/>
              </a:rPr>
              <a:t> </a:t>
            </a:r>
            <a:r>
              <a:rPr sz="2400" i="0">
                <a:solidFill>
                  <a:srgbClr val="FFFCF7"/>
                </a:solidFill>
                <a:latin typeface="Roboto Mono"/>
              </a:rPr>
              <a:t>dba</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8BAC9"/>
                </a:solidFill>
                <a:latin typeface="Roboto Mono"/>
              </a:rPr>
              <a:t>'Green Leaf Cafe'</a:t>
            </a:r>
            <a:r>
              <a:rPr sz="2400" i="0">
                <a:solidFill>
                  <a:srgbClr val="FFFCF7"/>
                </a:solidFill>
                <a:latin typeface="Roboto Mono"/>
              </a:rPr>
              <a:t>;</a:t>
            </a:r>
          </a:p>
          <a:p>
            <a:pPr>
              <a:lnSpc>
                <a:spcPct val="105000"/>
              </a:lnSpc>
              <a:defRPr sz="2400">
                <a:latin typeface="Roboto Mono"/>
              </a:defRPr>
            </a:pPr>
          </a:p>
        </p:txBody>
      </p:sp>
      <p:sp>
        <p:nvSpPr>
          <p:cNvPr id="10" name="Rounded Rectangle 9"/>
          <p:cNvSpPr/>
          <p:nvPr/>
        </p:nvSpPr>
        <p:spPr>
          <a:xfrm>
            <a:off x="548640" y="4516120"/>
            <a:ext cx="11094415" cy="18389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516120"/>
            <a:ext cx="10637215" cy="18389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printed newspaper is fast to read and correct as of press time - a new event doesn't rewrite it. A live news site is slower to load and always current, because it re-checks its sources every time.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A Confident Wrong Answer</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The Check That Catches It</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Nobody caught that by staring harder at the query - it took a number worked out somewhere else first.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One </a:t>
            </a:r>
            <a:r>
              <a:rPr sz="3200" b="1" i="0" u="none">
                <a:solidFill>
                  <a:srgbClr val="261F1D"/>
                </a:solidFill>
                <a:latin typeface="Roboto Mono"/>
              </a:rPr>
              <a:t>COUNT(*)</a:t>
            </a:r>
            <a:r>
              <a:rPr sz="3200" b="1" i="0" u="none">
                <a:solidFill>
                  <a:srgbClr val="261F1D"/>
                </a:solidFill>
                <a:latin typeface="Helvetica"/>
              </a:rPr>
              <a:t> Would Have </a:t>
            </a:r>
            <a:r>
              <a:rPr sz="3200" b="1" i="0" u="none">
                <a:solidFill>
                  <a:srgbClr val="264326"/>
                </a:solidFill>
                <a:latin typeface="Helvetica"/>
              </a:rPr>
              <a:t>Caught It in Seconds</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psql</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20000"/>
              </a:lnSpc>
              <a:defRPr sz="2600">
                <a:latin typeface="Roboto Mono"/>
              </a:defRPr>
            </a:pPr>
            <a:r>
              <a:rPr sz="2600" i="1">
                <a:solidFill>
                  <a:srgbClr val="B3BBB0"/>
                </a:solidFill>
                <a:latin typeface="Roboto Mono"/>
              </a:rPr>
              <a:t>-- The check: how many inspections exist at all?</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truth</a:t>
            </a:r>
            <a:r>
              <a:rPr sz="2600" i="0">
                <a:solidFill>
                  <a:srgbClr val="FFFCF7"/>
                </a:solidFill>
                <a:latin typeface="Roboto Mono"/>
              </a:rPr>
              <a:t> </a:t>
            </a: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a:t>
            </a:r>
          </a:p>
          <a:p>
            <a:pPr>
              <a:lnSpc>
                <a:spcPct val="120000"/>
              </a:lnSpc>
              <a:defRPr sz="2600">
                <a:latin typeface="Roboto Mono"/>
              </a:defRPr>
            </a:pPr>
          </a:p>
          <a:p>
            <a:pPr>
              <a:lnSpc>
                <a:spcPct val="120000"/>
              </a:lnSpc>
              <a:defRPr sz="2600">
                <a:latin typeface="Roboto Mono"/>
              </a:defRPr>
            </a:pPr>
            <a:r>
              <a:rPr sz="2600" i="1">
                <a:solidFill>
                  <a:srgbClr val="B3BBB0"/>
                </a:solidFill>
                <a:latin typeface="Roboto Mono"/>
              </a:rPr>
              <a:t>-- The fix: don't join what you aren't counting</a:t>
            </a:r>
          </a:p>
          <a:p>
            <a:pPr>
              <a:lnSpc>
                <a:spcPct val="120000"/>
              </a:lnSpc>
              <a:defRPr sz="2600">
                <a:latin typeface="Roboto Mono"/>
              </a:defRPr>
            </a:pPr>
            <a:r>
              <a:rPr sz="2600" i="0">
                <a:solidFill>
                  <a:srgbClr val="EEBC32"/>
                </a:solidFill>
                <a:latin typeface="Roboto Mono"/>
              </a:rPr>
              <a:t>SELECT</a:t>
            </a:r>
            <a:r>
              <a:rPr sz="2600" i="0">
                <a:solidFill>
                  <a:srgbClr val="FFFCF7"/>
                </a:solidFill>
                <a:latin typeface="Roboto Mono"/>
              </a:rPr>
              <a:t> </a:t>
            </a:r>
            <a:r>
              <a:rPr sz="2600" i="0">
                <a:solidFill>
                  <a:srgbClr val="FFFCF7"/>
                </a:solidFill>
                <a:latin typeface="Roboto Mono"/>
              </a:rPr>
              <a:t>dba</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COUNT</a:t>
            </a:r>
            <a:r>
              <a:rPr sz="2600" i="0">
                <a:solidFill>
                  <a:srgbClr val="FFFCF7"/>
                </a:solidFill>
                <a:latin typeface="Roboto Mono"/>
              </a:rPr>
              <a:t>(</a:t>
            </a:r>
            <a:r>
              <a:rPr sz="2600" i="0">
                <a:solidFill>
                  <a:srgbClr val="FFFCF7"/>
                </a:solidFill>
                <a:latin typeface="Roboto Mono"/>
              </a:rPr>
              <a:t>inspection_id</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insp</a:t>
            </a:r>
          </a:p>
          <a:p>
            <a:pPr>
              <a:lnSpc>
                <a:spcPct val="120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restaurants</a:t>
            </a:r>
          </a:p>
          <a:p>
            <a:pPr>
              <a:lnSpc>
                <a:spcPct val="120000"/>
              </a:lnSpc>
              <a:defRPr sz="2600">
                <a:latin typeface="Roboto Mono"/>
              </a:defRPr>
            </a:pPr>
            <a:r>
              <a:rPr sz="2600" i="0">
                <a:solidFill>
                  <a:srgbClr val="EEBC32"/>
                </a:solidFill>
                <a:latin typeface="Roboto Mono"/>
              </a:rPr>
              <a:t>LEFT</a:t>
            </a:r>
            <a:r>
              <a:rPr sz="2600" i="0">
                <a:solidFill>
                  <a:srgbClr val="FFFCF7"/>
                </a:solidFill>
                <a:latin typeface="Roboto Mono"/>
              </a:rPr>
              <a:t> </a:t>
            </a:r>
            <a:r>
              <a:rPr sz="2600" i="0">
                <a:solidFill>
                  <a:srgbClr val="EEBC32"/>
                </a:solidFill>
                <a:latin typeface="Roboto Mono"/>
              </a:rPr>
              <a:t>JOIN</a:t>
            </a:r>
            <a:r>
              <a:rPr sz="2600" i="0">
                <a:solidFill>
                  <a:srgbClr val="FFFCF7"/>
                </a:solidFill>
                <a:latin typeface="Roboto Mono"/>
              </a:rPr>
              <a:t> </a:t>
            </a:r>
            <a:r>
              <a:rPr sz="2600" i="0">
                <a:solidFill>
                  <a:srgbClr val="FFFCF7"/>
                </a:solidFill>
                <a:latin typeface="Roboto Mono"/>
              </a:rPr>
              <a:t>inspections</a:t>
            </a:r>
            <a:r>
              <a:rPr sz="2600" i="0">
                <a:solidFill>
                  <a:srgbClr val="FFFCF7"/>
                </a:solidFill>
                <a:latin typeface="Roboto Mono"/>
              </a:rPr>
              <a:t> </a:t>
            </a:r>
            <a:r>
              <a:rPr sz="2600" i="0">
                <a:solidFill>
                  <a:srgbClr val="EEBC32"/>
                </a:solidFill>
                <a:latin typeface="Roboto Mono"/>
              </a:rPr>
              <a:t>USING</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camis</a:t>
            </a:r>
            <a:r>
              <a:rPr sz="2600" i="0">
                <a:solidFill>
                  <a:srgbClr val="FFFCF7"/>
                </a:solidFill>
                <a:latin typeface="Roboto Mono"/>
              </a:rPr>
              <a:t>)</a:t>
            </a:r>
          </a:p>
          <a:p>
            <a:pPr>
              <a:lnSpc>
                <a:spcPct val="120000"/>
              </a:lnSpc>
              <a:defRPr sz="2600">
                <a:latin typeface="Roboto Mono"/>
              </a:defRPr>
            </a:pPr>
            <a:r>
              <a:rPr sz="2600" i="0">
                <a:solidFill>
                  <a:srgbClr val="EEBC32"/>
                </a:solidFill>
                <a:latin typeface="Roboto Mono"/>
              </a:rPr>
              <a:t>GROUP</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dba</a:t>
            </a:r>
          </a:p>
          <a:p>
            <a:pPr>
              <a:lnSpc>
                <a:spcPct val="120000"/>
              </a:lnSpc>
              <a:defRPr sz="2600">
                <a:latin typeface="Roboto Mono"/>
              </a:defRPr>
            </a:pPr>
            <a:r>
              <a:rPr sz="2600" i="0">
                <a:solidFill>
                  <a:srgbClr val="EEBC32"/>
                </a:solidFill>
                <a:latin typeface="Roboto Mono"/>
              </a:rPr>
              <a:t>ORDER</a:t>
            </a:r>
            <a:r>
              <a:rPr sz="2600" i="0">
                <a:solidFill>
                  <a:srgbClr val="FFFCF7"/>
                </a:solidFill>
                <a:latin typeface="Roboto Mono"/>
              </a:rPr>
              <a:t> </a:t>
            </a:r>
            <a:r>
              <a:rPr sz="2600" i="0">
                <a:solidFill>
                  <a:srgbClr val="EEBC32"/>
                </a:solidFill>
                <a:latin typeface="Roboto Mono"/>
              </a:rPr>
              <a:t>BY</a:t>
            </a:r>
            <a:r>
              <a:rPr sz="2600" i="0">
                <a:solidFill>
                  <a:srgbClr val="FFFCF7"/>
                </a:solidFill>
                <a:latin typeface="Roboto Mono"/>
              </a:rPr>
              <a:t> </a:t>
            </a:r>
            <a:r>
              <a:rPr sz="2600" i="0">
                <a:solidFill>
                  <a:srgbClr val="FFFCF7"/>
                </a:solidFill>
                <a:latin typeface="Roboto Mono"/>
              </a:rPr>
              <a:t>insp</a:t>
            </a:r>
            <a:r>
              <a:rPr sz="2600" i="0">
                <a:solidFill>
                  <a:srgbClr val="FFFCF7"/>
                </a:solidFill>
                <a:latin typeface="Roboto Mono"/>
              </a:rPr>
              <a:t> </a:t>
            </a:r>
            <a:r>
              <a:rPr sz="2600" i="0">
                <a:solidFill>
                  <a:srgbClr val="EEBC32"/>
                </a:solidFill>
                <a:latin typeface="Roboto Mono"/>
              </a:rPr>
              <a:t>DESC</a:t>
            </a:r>
            <a:r>
              <a:rPr sz="2600" i="0">
                <a:solidFill>
                  <a:srgbClr val="FFFCF7"/>
                </a:solidFill>
                <a:latin typeface="Roboto Mono"/>
              </a:rPr>
              <a:t>;</a:t>
            </a:r>
          </a:p>
          <a:p>
            <a:pPr>
              <a:lnSpc>
                <a:spcPct val="120000"/>
              </a:lnSpc>
              <a:defRPr sz="2600">
                <a:latin typeface="Roboto Mono"/>
              </a:defRPr>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ADD TO THE BOARD</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With your partner: Design the smallest test that would catch a wrong join before anyone else sees the result.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Four Steps Between a Query and </a:t>
            </a:r>
            <a:r>
              <a:rPr sz="3200" b="1" i="0" u="none">
                <a:solidFill>
                  <a:srgbClr val="264326"/>
                </a:solidFill>
                <a:latin typeface="Helvetica"/>
              </a:rPr>
              <a:t>Trusting It</a:t>
            </a:r>
          </a:p>
        </p:txBody>
      </p:sp>
      <p:sp>
        <p:nvSpPr>
          <p:cNvPr id="4" name="Oval 3"/>
          <p:cNvSpPr/>
          <p:nvPr/>
        </p:nvSpPr>
        <p:spPr>
          <a:xfrm>
            <a:off x="822960" y="16637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1</a:t>
            </a:r>
          </a:p>
        </p:txBody>
      </p:sp>
      <p:cxnSp>
        <p:nvCxnSpPr>
          <p:cNvPr id="5" name="Connector 4"/>
          <p:cNvCxnSpPr/>
          <p:nvPr/>
        </p:nvCxnSpPr>
        <p:spPr>
          <a:xfrm>
            <a:off x="1828800" y="216662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28067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Pick a Slice</a:t>
            </a:r>
          </a:p>
        </p:txBody>
      </p:sp>
      <p:sp>
        <p:nvSpPr>
          <p:cNvPr id="7" name="TextBox 6"/>
          <p:cNvSpPr txBox="1"/>
          <p:nvPr/>
        </p:nvSpPr>
        <p:spPr>
          <a:xfrm>
            <a:off x="822960" y="376682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Rows You Already Know</a:t>
            </a:r>
          </a:p>
        </p:txBody>
      </p:sp>
      <p:sp>
        <p:nvSpPr>
          <p:cNvPr id="8" name="Oval 7"/>
          <p:cNvSpPr/>
          <p:nvPr/>
        </p:nvSpPr>
        <p:spPr>
          <a:xfrm>
            <a:off x="4002938" y="16637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2</a:t>
            </a:r>
          </a:p>
        </p:txBody>
      </p:sp>
      <p:cxnSp>
        <p:nvCxnSpPr>
          <p:cNvPr id="9" name="Connector 8"/>
          <p:cNvCxnSpPr/>
          <p:nvPr/>
        </p:nvCxnSpPr>
        <p:spPr>
          <a:xfrm>
            <a:off x="5008778" y="2166620"/>
            <a:ext cx="2174139"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01936" y="28067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Answer It</a:t>
            </a:r>
          </a:p>
        </p:txBody>
      </p:sp>
      <p:sp>
        <p:nvSpPr>
          <p:cNvPr id="11" name="TextBox 10"/>
          <p:cNvSpPr txBox="1"/>
          <p:nvPr/>
        </p:nvSpPr>
        <p:spPr>
          <a:xfrm>
            <a:off x="3301936" y="376682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By Hand, Before SQL</a:t>
            </a:r>
          </a:p>
        </p:txBody>
      </p:sp>
      <p:sp>
        <p:nvSpPr>
          <p:cNvPr id="12" name="Oval 11"/>
          <p:cNvSpPr/>
          <p:nvPr/>
        </p:nvSpPr>
        <p:spPr>
          <a:xfrm>
            <a:off x="7182917" y="16637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3</a:t>
            </a:r>
          </a:p>
        </p:txBody>
      </p:sp>
      <p:cxnSp>
        <p:nvCxnSpPr>
          <p:cNvPr id="13" name="Connector 12"/>
          <p:cNvCxnSpPr/>
          <p:nvPr/>
        </p:nvCxnSpPr>
        <p:spPr>
          <a:xfrm>
            <a:off x="8188757" y="216662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481915" y="28067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Run It</a:t>
            </a:r>
          </a:p>
        </p:txBody>
      </p:sp>
      <p:sp>
        <p:nvSpPr>
          <p:cNvPr id="15" name="TextBox 14"/>
          <p:cNvSpPr txBox="1"/>
          <p:nvPr/>
        </p:nvSpPr>
        <p:spPr>
          <a:xfrm>
            <a:off x="6481915" y="376682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On That Same Slice</a:t>
            </a:r>
          </a:p>
        </p:txBody>
      </p:sp>
      <p:sp>
        <p:nvSpPr>
          <p:cNvPr id="16" name="Oval 15"/>
          <p:cNvSpPr/>
          <p:nvPr/>
        </p:nvSpPr>
        <p:spPr>
          <a:xfrm>
            <a:off x="10362895" y="166370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800" b="1">
                <a:solidFill>
                  <a:srgbClr val="FFFCF7"/>
                </a:solidFill>
                <a:latin typeface="Helvetica"/>
              </a:rPr>
              <a:t>4</a:t>
            </a:r>
          </a:p>
        </p:txBody>
      </p:sp>
      <p:sp>
        <p:nvSpPr>
          <p:cNvPr id="17" name="TextBox 16"/>
          <p:cNvSpPr txBox="1"/>
          <p:nvPr/>
        </p:nvSpPr>
        <p:spPr>
          <a:xfrm>
            <a:off x="8960891" y="280670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Compare</a:t>
            </a:r>
          </a:p>
        </p:txBody>
      </p:sp>
      <p:sp>
        <p:nvSpPr>
          <p:cNvPr id="18" name="TextBox 17"/>
          <p:cNvSpPr txBox="1"/>
          <p:nvPr/>
        </p:nvSpPr>
        <p:spPr>
          <a:xfrm>
            <a:off x="8960891" y="376682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Match, or Find Out Why</a:t>
            </a:r>
          </a:p>
        </p:txBody>
      </p:sp>
      <p:sp>
        <p:nvSpPr>
          <p:cNvPr id="19" name="Rounded Rectangle 18"/>
          <p:cNvSpPr/>
          <p:nvPr/>
        </p:nvSpPr>
        <p:spPr>
          <a:xfrm>
            <a:off x="548640" y="4909820"/>
            <a:ext cx="11094415" cy="14452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4909820"/>
            <a:ext cx="10637215" cy="14452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You taste one spoonful for seasoning before you serve forty plates. Nobody tastes the whole pot, and nobody serves it untasted either.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How do you validate your data before presenting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How do you validate your data before presenting it?</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I run five checks before I present a number: Complete (row counts match the source), Reasonable (survives a gut check), Accurate (spot-checked by hand), Fresh (view refreshed recently), Traceable (someone else can re-run it and match).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2555748"/>
          <a:ext cx="11094415" cy="238658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Spot-check</a:t>
                      </a:r>
                    </a:p>
                  </a:txBody>
                  <a:tcPr marL="109728" marR="109728" marT="54864" marB="54864" anchor="ctr">
                    <a:solidFill>
                      <a:srgbClr val="FFFCF7"/>
                    </a:solidFill>
                  </a:tcPr>
                </a:tc>
                <a:tc>
                  <a:txBody>
                    <a:bodyPr wrap="square"/>
                    <a:lstStyle/>
                    <a:p>
                      <a:r>
                        <a:rPr sz="2600" b="0" i="0" u="none">
                          <a:solidFill>
                            <a:srgbClr val="261F1D"/>
                          </a:solidFill>
                          <a:latin typeface="Helvetica"/>
                        </a:rPr>
                        <a:t>Compare against a hand-worked answer</a:t>
                      </a:r>
                    </a:p>
                  </a:txBody>
                  <a:tcPr marL="109728" marR="109728" marT="54864" marB="54864" anchor="ctr">
                    <a:solidFill>
                      <a:srgbClr val="FFFCF7"/>
                    </a:solidFill>
                  </a:tcPr>
                </a:tc>
              </a:tr>
              <a:tr h="502920">
                <a:tc>
                  <a:txBody>
                    <a:bodyPr wrap="square"/>
                    <a:lstStyle/>
                    <a:p>
                      <a:r>
                        <a:rPr sz="2600" b="0" i="0" u="none">
                          <a:solidFill>
                            <a:srgbClr val="261F1D"/>
                          </a:solidFill>
                          <a:latin typeface="Helvetica"/>
                        </a:rPr>
                        <a:t>Silent bug</a:t>
                      </a:r>
                    </a:p>
                  </a:txBody>
                  <a:tcPr marL="109728" marR="109728" marT="54864" marB="54864" anchor="ctr">
                    <a:solidFill>
                      <a:srgbClr val="FFF6E4"/>
                    </a:solidFill>
                  </a:tcPr>
                </a:tc>
                <a:tc>
                  <a:txBody>
                    <a:bodyPr wrap="square"/>
                    <a:lstStyle/>
                    <a:p>
                      <a:r>
                        <a:rPr sz="2600" b="0" i="0" u="none">
                          <a:solidFill>
                            <a:srgbClr val="261F1D"/>
                          </a:solidFill>
                          <a:latin typeface="Helvetica"/>
                        </a:rPr>
                        <a:t>Runs clean, returns wrong rows</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Row count check</a:t>
                      </a:r>
                    </a:p>
                  </a:txBody>
                  <a:tcPr marL="109728" marR="109728" marT="54864" marB="54864" anchor="ctr">
                    <a:solidFill>
                      <a:srgbClr val="FFFCF7"/>
                    </a:solidFill>
                  </a:tcPr>
                </a:tc>
                <a:tc>
                  <a:txBody>
                    <a:bodyPr wrap="square"/>
                    <a:lstStyle/>
                    <a:p>
                      <a:r>
                        <a:rPr sz="2600" b="0" i="0" u="none">
                          <a:solidFill>
                            <a:srgbClr val="261F1D"/>
                          </a:solidFill>
                          <a:latin typeface="Helvetica"/>
                        </a:rPr>
                        <a:t>Totals must add back up</a:t>
                      </a:r>
                    </a:p>
                  </a:txBody>
                  <a:tcPr marL="109728" marR="109728" marT="54864" marB="54864" anchor="ctr">
                    <a:solidFill>
                      <a:srgbClr val="FFFCF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Rounded Rectangle 3"/>
          <p:cNvSpPr/>
          <p:nvPr/>
        </p:nvSpPr>
        <p:spPr>
          <a:xfrm>
            <a:off x="548640" y="246888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697480"/>
            <a:ext cx="548640" cy="548640"/>
          </a:xfrm>
          <a:prstGeom prst="rect">
            <a:avLst/>
          </a:prstGeom>
        </p:spPr>
      </p:pic>
      <p:sp>
        <p:nvSpPr>
          <p:cNvPr id="6" name="TextBox 5"/>
          <p:cNvSpPr txBox="1"/>
          <p:nvPr/>
        </p:nvSpPr>
        <p:spPr>
          <a:xfrm>
            <a:off x="685800"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The shape picks the tool</a:t>
            </a:r>
          </a:p>
        </p:txBody>
      </p:sp>
      <p:sp>
        <p:nvSpPr>
          <p:cNvPr id="7" name="Rounded Rectangle 6"/>
          <p:cNvSpPr/>
          <p:nvPr/>
        </p:nvSpPr>
        <p:spPr>
          <a:xfrm>
            <a:off x="3379394" y="246888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697480"/>
            <a:ext cx="548640" cy="548640"/>
          </a:xfrm>
          <a:prstGeom prst="rect">
            <a:avLst/>
          </a:prstGeom>
        </p:spPr>
      </p:pic>
      <p:sp>
        <p:nvSpPr>
          <p:cNvPr id="9" name="TextBox 8"/>
          <p:cNvSpPr txBox="1"/>
          <p:nvPr/>
        </p:nvSpPr>
        <p:spPr>
          <a:xfrm>
            <a:off x="3516554"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Clean run, wrong answer</a:t>
            </a:r>
          </a:p>
        </p:txBody>
      </p:sp>
      <p:sp>
        <p:nvSpPr>
          <p:cNvPr id="10" name="Rounded Rectangle 9"/>
          <p:cNvSpPr/>
          <p:nvPr/>
        </p:nvSpPr>
        <p:spPr>
          <a:xfrm>
            <a:off x="6210148" y="246888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697480"/>
            <a:ext cx="548640" cy="548640"/>
          </a:xfrm>
          <a:prstGeom prst="rect">
            <a:avLst/>
          </a:prstGeom>
        </p:spPr>
      </p:pic>
      <p:sp>
        <p:nvSpPr>
          <p:cNvPr id="12" name="TextBox 11"/>
          <p:cNvSpPr txBox="1"/>
          <p:nvPr/>
        </p:nvSpPr>
        <p:spPr>
          <a:xfrm>
            <a:off x="6347308"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Check against known numbers</a:t>
            </a:r>
          </a:p>
        </p:txBody>
      </p:sp>
      <p:sp>
        <p:nvSpPr>
          <p:cNvPr id="13" name="Rounded Rectangle 12"/>
          <p:cNvSpPr/>
          <p:nvPr/>
        </p:nvSpPr>
        <p:spPr>
          <a:xfrm>
            <a:off x="9040901" y="246888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697480"/>
            <a:ext cx="548640" cy="548640"/>
          </a:xfrm>
          <a:prstGeom prst="rect">
            <a:avLst/>
          </a:prstGeom>
        </p:spPr>
      </p:pic>
      <p:sp>
        <p:nvSpPr>
          <p:cNvPr id="15" name="TextBox 14"/>
          <p:cNvSpPr txBox="1"/>
          <p:nvPr/>
        </p:nvSpPr>
        <p:spPr>
          <a:xfrm>
            <a:off x="9178061"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Stored answers go stale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the Sprint Starts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The first sprint day is design</a:t>
            </a:r>
          </a:p>
          <a:p>
            <a:pPr>
              <a:spcAft>
                <a:spcPts val="1000"/>
              </a:spcAft>
            </a:pPr>
            <a:r>
              <a:rPr sz="2600">
                <a:solidFill>
                  <a:srgbClr val="FFFCF7"/>
                </a:solidFill>
                <a:latin typeface="Helvetica"/>
              </a:rPr>
              <a:t>•  </a:t>
            </a:r>
            <a:r>
              <a:rPr sz="2600" b="0" i="0" u="none">
                <a:solidFill>
                  <a:srgbClr val="FFFCF7"/>
                </a:solidFill>
                <a:latin typeface="Helvetica"/>
              </a:rPr>
              <a:t>Read all seven questions first</a:t>
            </a:r>
          </a:p>
          <a:p>
            <a:pPr>
              <a:spcAft>
                <a:spcPts val="1000"/>
              </a:spcAft>
            </a:pPr>
            <a:r>
              <a:rPr sz="2600">
                <a:solidFill>
                  <a:srgbClr val="FFFCF7"/>
                </a:solidFill>
                <a:latin typeface="Helvetica"/>
              </a:rPr>
              <a:t>•  </a:t>
            </a:r>
            <a:r>
              <a:rPr sz="2600" b="0" i="0" u="none">
                <a:solidFill>
                  <a:srgbClr val="FFFCF7"/>
                </a:solidFill>
                <a:latin typeface="Helvetica"/>
              </a:rPr>
              <a:t>Keep your class database running</a:t>
            </a:r>
          </a:p>
        </p:txBody>
      </p:sp>
      <p:sp>
        <p:nvSpPr>
          <p:cNvPr id="5" name="TextBox 4"/>
          <p:cNvSpPr txBox="1"/>
          <p:nvPr/>
        </p:nvSpPr>
        <p:spPr>
          <a:xfrm>
            <a:off x="548640" y="502920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The Project: Design a Database, Answer Seven Questions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Debugging Duplicated Data in SQL Query Results</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Metabase Learn  ·  READING  ·  ~10 min read</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Traces duplicate rows back to a wrong join assumption</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PostgreSQL Docs: Materialized Views</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PostgreSQL  ·  DOCS  ·  ~7 min read</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Why stored view data goes stale until refreshed</a:t>
            </a:r>
          </a:p>
        </p:txBody>
      </p:sp>
      <p:pic>
        <p:nvPicPr>
          <p:cNvPr id="14" name="Picture 13" descr=""/>
          <p:cNvPicPr>
            <a:picLocks noChangeAspect="1"/>
          </p:cNvPicPr>
          <p:nvPr/>
        </p:nvPicPr>
        <p:blipFill>
          <a:blip r:embed="rId7"/>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8 Week SQL Challenge: Danny's Diner</a:t>
            </a:r>
          </a:p>
        </p:txBody>
      </p:sp>
      <p:sp>
        <p:nvSpPr>
          <p:cNvPr id="16" name="TextBox 15"/>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Danny Ma  ·  PRACTICE  ·  ~60-90 min hands-on</a:t>
            </a:r>
          </a:p>
        </p:txBody>
      </p:sp>
      <p:sp>
        <p:nvSpPr>
          <p:cNvPr id="17" name="TextBox 16"/>
          <p:cNvSpPr txBox="1"/>
          <p:nvPr/>
        </p:nvSpPr>
        <p:spPr>
          <a:xfrm>
            <a:off x="1051560" y="549554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Ten business questions on one messy relational schema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