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Frame this as the real tool day — yesterday was design vocabulary on paper, today it becomes a real, running database.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Read both out loud. Name explicitly: this is the exact sequence the project's own sprint later asks you to run again, unguided, in a few weeks.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Just names for now — real definitions and real typed examples for every one of these are coming.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[~1 min mark] Keep this brisk.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In person: a few quick shout-outs. Online: drop one sentence each in chat.</a:t>
            </a:r>
          </a:p>
          <a:p/>
          <a:p>
            <a:r>
              <a:t>[SCRIPT] Quick-fire — confirming yesterday's vocabulary is solid before typing it into a real table in a few minutes.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explicitly: `psql` is brand new today, but the terminal itself is not — same muscle memory from earlier modules, pointed at a new tool.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[SCOPE] Installing PostgreSQL itself isn't covered today — that's already handled by the project's own `GETTING_STARTED.md`. Today assumes `psql` is already installed and can connect; if anyone's setup isn't working, troubleshoot it 1-on-1, don't stall the room.</a:t>
            </a:r>
          </a:p>
          <a:p/>
          <a:p>
            <a:r>
              <a:t>[SCRIPT] Name who actually uses this: every data analyst and engineer who touches a real relational database runs raw SQL from a terminal at some point, even when a GUI tool exists too.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`\c` is a psql meta-command, not SQL itself — it switches which database your session is connected to. Run it together — the prompt itself changes from `postgres=#` to `nyc_restaurants=#` once `\c` succeeds. That prompt change is the real confirmation, not just "no error."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each constraint out loud as you type it: `PRIMARY KEY` is yesterday's own concept, now real syntax. `NOT NULL` is new today — a rule the database itself enforces on every insert, not just a suggestion.</a:t>
            </a:r>
          </a:p>
          <a:p/>
          <a:p>
            <a:r>
              <a:t>[MISCONCEPTIONS] A common assumption: constraints are optional "best practice," skippable under time pressure. They're the opposite — an active enforcement mechanism, not documentation.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One `INSERT` statement, 4 rows at once — point out the comma between each row's parentheses, a real, common typo spot.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each constraint again, fast: `PRIMARY KEY` and `REFERENCES` (a foreign key) are yesterday's own concepts as real syntax; `CHECK` is brand new — an allowed-values list the database itself enforces, same enforcement spirit as `NOT NULL`.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Point out `camis 1001` appears twice — one restaurant, two real inspections over time, exactly the one-to-many relationship this dataset's own `data/SOURCE.md` documents.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[TECHNIQUE] Use Query Walkthrough Method — a live SQL question should be answered the way you'd actually reason through it out loud, not just stated as a fact.</a:t>
            </a:r>
          </a:p>
          <a:p/>
          <a:p>
            <a:r>
              <a:t>[SCRIPT] Tie back explicitly to yesterday's library-card analogy — same idea, now the database itself enforces it instead of just being a design convention.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A foreign key — camis must already exist in restaurants</a:t>
            </a:r>
          </a:p>
          <a:p>
            <a:r>
              <a:t>Why: This is yesterday's foreign key definition, as real, enforced syntax — try inserting an inspection for a `camis` that doesn't exist in `restaurants` and PostgreSQL rejects it outright.</a:t>
            </a:r>
          </a:p>
          <a:p>
            <a:r>
              <a:t>Source: This module's own objective-2 definition,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all three in order — point out `WHERE` narrows the 4 rows down, and `ORDER BY` doesn't remove anything, only reorders.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Genuine prediction before running — the same "predict, then verify" habit from Module 2's own pandas filtering lesson, now on real SQL.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2</a:t>
            </a:r>
          </a:p>
          <a:p>
            <a:r>
              <a:t>Why: Green Leaf Cafe and Harbor Grill are the only two rows with `boro = 'Brooklyn'` — Corner Bistro (Manhattan) and Sunset Diner (Queens) are filtered out.</a:t>
            </a:r>
          </a:p>
          <a:p>
            <a:r>
              <a:t>Source: This lesson's own worked example,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it and let the real error print in full: `null value in column "dba" ... violates not-null constraint`. Name explicitly: this is the exact class of problem yesterday's case study was really about — a rule that catches bad data *on insert*, not luck, not a later cleanup pass.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No wrong answer up front, but land on the real point: app code can be bypassed (a script, a different app, a direct terminal fix) — a database-level constraint is enforced no matter how the bad insert was attempted. This isn't either/or in practice, but the database is the layer that can't be skipped.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[TECHNIQUE] Use Investigation Framework — this is a real "why did X happen, and how do you diagnose/prevent it" question, not a definition to recite.</a:t>
            </a:r>
          </a:p>
          <a:p/>
          <a:p>
            <a:r>
              <a:t>[SCRIPT] Have a Fellow attempt this cold first — the goal is naming *why* app-only validation has a real gap, not just that constraints are "good practice."</a:t>
            </a:r>
          </a:p>
          <a:p/>
          <a:p/>
          <a:p>
            <a:r>
              <a:t>Short answers:</a:t>
            </a:r>
          </a:p>
          <a:p/>
          <a:p>
            <a:r>
              <a:t>Q: A stray script inserted a row with a NULL email directly into the database, bypassing your app's own validation. How would you explain what should have caught this?</a:t>
            </a:r>
          </a:p>
          <a:p>
            <a:r>
              <a:t>A: Observation: The bad row bypassed the app's validation entirely. Hypothesis: App-layer checks were the only defense, so anything writing directly to the database walks right past them. Evidence: This is exactly why `NOT NULL`/`CHECK` constraints exist at the database level, enforced on every insert no matter what wrote it. Recommendation: Add the constraint at the schema level so this failure mode becomes structurally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Quick round-trip through all four terms — this is the exact vocabulary the project's own `schema.sql` and `role_setup.md` expect you to use correctly.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Close by naming the shift ahead: next class adds joins across tables. Today built exactly the two tables that join will connect. And name the project tie explicitly: this whole sequence, create, constrain, insert, query, is precisely what the project's own sprint later asks you to repeat on your own, unguided, on a dataset you choose yourself.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Give a specific heads-up: don't drop today's database — next class's join demo picks up exactly where this one left off. Name the project tie once more before dismissing: the sprint asks you to repeat this exact create-constrain-insert-query sequence on your own, on a dataset you pick yourself.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Point out the official docs specifically — knowing where to look up an exact constraint syntax is a real, permanent skill, not something to memorize once and forget.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hyperlink" Target="https://www.postgresql.org/docs/current/sql-createtable.html" TargetMode="External"/><Relationship Id="rId5" Type="http://schemas.openxmlformats.org/officeDocument/2006/relationships/image" Target="../media/image11.png"/><Relationship Id="rId6" Type="http://schemas.openxmlformats.org/officeDocument/2006/relationships/hyperlink" Target="https://sqlbolt.com/" TargetMode="External"/><Relationship Id="rId7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FFFCF7"/>
                </a:solidFill>
                <a:latin typeface="Helvetica"/>
              </a:rPr>
              <a:t>THE MARCY LAB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8534186" cy="54864"/>
          </a:xfrm>
          <a:prstGeom prst="rect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146304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EEBC32"/>
                </a:solidFill>
                <a:latin typeface="Helvetica"/>
              </a:rPr>
              <a:t>Your First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FFFCF7"/>
                </a:solidFill>
                <a:latin typeface="Helvetica"/>
              </a:rPr>
              <a:t>Module 3: SQL &amp; Relational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By the End of Today, You'll Be Able To...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74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Create a database and table, with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8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281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8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Write SELECT, WHERE, ORDER BY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You'll Know by the End of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74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psql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8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281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8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Constraints: NOT NULL,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Yesterday's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One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A fast recall check on yesterday's vocabulary, before today's real syntax 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TURN AND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Quick recall: What's the difference between a primary key and a foreign key, in one sentence each?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84037" y="556870"/>
            <a:ext cx="623621" cy="623621"/>
          </a:xfrm>
          <a:prstGeom prst="ellipse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42" y="712775"/>
            <a:ext cx="311810" cy="311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0876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Still Solid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Meet psql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Everything yesterday was on paper — today it becomes a real, running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psql: PostgreSQL's Own Command-Line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How you'll run every query this module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This module's first real installed tool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Setup itself isn't today's job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Tool, Introduced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Creating Your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The first real command of the module.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One Command Creates a Real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CREATE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DATABASE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nyc_restaurants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\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nyc_restaurants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Your First Table, With Real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CREATE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TABLE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INT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PRIMARY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KEY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TEXT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NOT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NULL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boro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TEXT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NOT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NULL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One INSERT, Four Rows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INSERT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INTO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boro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VALUES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1001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'Corner Bistro'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'Manhattan'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1002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'Green Leaf Cafe'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'Brooklyn'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1003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'Sunset Diner'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'Queens'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1004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'Harbor Grill'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'Brooklyn'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One Table,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A Second Table, With a Foreign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Yesterday's FK definition, as real syntax for the first time.</a:t>
            </a:r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644" y="493776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532120"/>
            <a:ext cx="527288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FFFCF7"/>
                </a:solidFill>
                <a:latin typeface="Helvetica"/>
              </a:rPr>
              <a:t>A Real Foreign Key</a:t>
            </a:r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851" y="493776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008" y="5532120"/>
            <a:ext cx="527288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FFFCF7"/>
                </a:solidFill>
                <a:latin typeface="Helvetica"/>
              </a:rPr>
              <a:t>A Real CHECK Constraint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8" y="4937760"/>
            <a:ext cx="0" cy="1188720"/>
          </a:xfrm>
          <a:prstGeom prst="line">
            <a:avLst/>
          </a:prstGeom>
          <a:ln w="19050">
            <a:solidFill>
              <a:srgbClr val="B3B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A Second Table: Foreign Key +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376682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30078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CREATE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TABLE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INT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PRIMARY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KEY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INT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REFERENCES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inspection_date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DATE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NOT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NULL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critical_flag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TEXT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CHECK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critical_flag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'Critical'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'Not Critical'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4909820"/>
            <a:ext cx="11094415" cy="1445260"/>
          </a:xfrm>
          <a:prstGeom prst="roundRect">
            <a:avLst>
              <a:gd name="adj" fmla="val 10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09820"/>
            <a:ext cx="10637215" cy="14452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Analogy: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A CHECK constraint is like a bouncer with a strict guest list — even if your app already validated the value, the database checks it again before letting the row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Same INSERT Pattern, a Second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INSERT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INTO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inspection_date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critical_flag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VALUES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1001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'2026-01-15'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'Critical'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2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1002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'2026-01-20'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'Not Critical'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3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1001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'2026-02-02'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'Not Critical'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QUICK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What does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REFERENCES restaurants(camis)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 actually create, and how would you explain it if asked live in an interview?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A foreign key — camis must already exist in restaurants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A copy of the restaurants table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Just a comment — it doesn't do anything real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Foreign Key, as Real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A foreign key — camis must already exist in restaurants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This is yesterday's foreign key definition, as real, enforced syntax — try inserting an inspection for a </a:t>
            </a:r>
            <a:r>
              <a:rPr sz="2600" b="0" i="0" u="none">
                <a:solidFill>
                  <a:srgbClr val="261F1D"/>
                </a:solidFill>
                <a:latin typeface="Roboto Mono"/>
              </a:rPr>
              <a:t>camis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that doesn't exist in </a:t>
            </a:r>
            <a:r>
              <a:rPr sz="2600" b="0" i="0" u="none">
                <a:solidFill>
                  <a:srgbClr val="261F1D"/>
                </a:solidFill>
                <a:latin typeface="Roboto Mono"/>
              </a:rPr>
              <a:t>restaurants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and PostgreSQL rejects it outright.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Two Tables,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Reading It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SELECT, WHERE, and ORDER BY — the first real queries of the module.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Reading It Back: SELECT, WHERE, ORDER BY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*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boro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WHERE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boro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'Brooklyn'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ORDER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Predict it: How many rows does the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WHERE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 query above return?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2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4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Predicting a WHERE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Green Leaf Cafe and Harbor Grill are the only two rows with </a:t>
            </a:r>
            <a:r>
              <a:rPr sz="2600" b="0" i="0" u="none">
                <a:solidFill>
                  <a:srgbClr val="261F1D"/>
                </a:solidFill>
                <a:latin typeface="Roboto Mono"/>
              </a:rPr>
              <a:t>boro = 'Brooklyn'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— Corner Bistro (Manhattan) and Sunset Diner (Queens) are filtered 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Reading,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Constraints Actually Protect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The payoff — watching a constraint reject bad data in real 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Constraints Actually Protect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INSERT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INTO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boro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VALUES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1005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'Manhattan'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Would you rather validate required fields only in your app's code, or also add a NOT NULL constraint at the database level?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Topics You Might Get Asked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45775" cy="3474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stray script inserted a row with a NULL email directly into the database, bypassing your app's own validation. How would you explain what should have caught this?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457200"/>
            <a:ext cx="1027145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A stray script inserted a row with a NULL email directly into the database, bypassing your app's own validation. How would you explain what should have caught this?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11094415" cy="260604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77640"/>
            <a:ext cx="10545775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Answer: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Observation: The bad row bypassed the app's validation entirely. Hypothesis: App-layer checks were the only defense, so anything writing directly to the database walks right past them. Evidence: This is exactly why </a:t>
            </a:r>
            <a:r>
              <a:rPr sz="2600" b="0" i="0" u="none">
                <a:solidFill>
                  <a:srgbClr val="261F1D"/>
                </a:solidFill>
                <a:latin typeface="Roboto Mono"/>
              </a:rPr>
              <a:t>NOT NULL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/</a:t>
            </a:r>
            <a:r>
              <a:rPr sz="2600" b="0" i="0" u="none">
                <a:solidFill>
                  <a:srgbClr val="261F1D"/>
                </a:solidFill>
                <a:latin typeface="Roboto Mono"/>
              </a:rPr>
              <a:t>CHECK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constraints exist at the database level, enforced on every insert no matter what wrote it. Recommendation: Add the constraint at the schema level so this failure mode becomes structurally impossible.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— Recap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16836"/>
          <a:ext cx="11094415" cy="3264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psql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PostgreSQL's command-line client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Constraint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rule the database itself enforces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NOT NULL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Requires a real value, always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CHECK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Restricts values to an allowed set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So Far, We've Covered...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real database, two real tables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NOT NULL, CHECK — enforced, not suggested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SELECT, WHERE, ORDER BY, for real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Before Next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No new exercise today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Next class: Joins, same two tables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Keep your database running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45775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Where to Go From Here</a:t>
            </a:r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4248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96596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4"/>
              </a:rPr>
              <a:t>PostgreSQL Tutorial: CREATE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10591495" cy="7680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PostgreSQL Global Development Group  ·  DOCS  ·  ~10 min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18104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The official, authoritative reference for every constraint type</a:t>
            </a:r>
          </a:p>
        </p:txBody>
      </p:sp>
      <p:pic>
        <p:nvPicPr>
          <p:cNvPr id="10" name="Picture 9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730752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6"/>
              </a:rPr>
              <a:t>SQLBolt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1480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SQLBolt  ·  PRACTICE  ·  ~20 min 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Free, bite-sized interactive SQL lessons and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