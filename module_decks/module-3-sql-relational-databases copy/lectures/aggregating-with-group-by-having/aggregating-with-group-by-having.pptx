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Frame this as the fix for a real problem the class is about to hit on purpose — not an abstract new topic.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Read both out loud. Name explicitly: this is the project's own Q3, for every single domain, no exceptions.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Just names for now — a real counting mistake, and its real fix, are both coming up in a few minutes.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[~1 min mark] Keep this brisk.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 In person: a couple of quick shout-outs. Online: drop one sentence in chat.</a:t>
            </a:r>
          </a:p>
          <a:p/>
          <a:p>
            <a:r>
              <a:t>[SCRIPT] Target idea: LEFT JOIN kept every restaurant, even the 3 with zero inspections, filling in NULL where INNER JOIN would have dropped them entirely. That exact behavior is what causes today's whole problem.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explicitly that this is a code-along.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Run it and confirm `INSERT 0 1`. Don't explain why yet — let the next slide's real number surprise the room first.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explicitly that this is a code-along.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Run it and let `7` print before saying anything. There are 5 real restaurants. This number is wrong, and the room should genuinely notice that before you explain why.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 In person: turn and talk, 60 seconds. Online: drop a guess in chat, then unmute 1-2 Fellows.</a:t>
            </a:r>
          </a:p>
          <a:p/>
          <a:p>
            <a:r>
              <a:t>[SCRIPT] Target idea: Corner Bistro's row got repeated once per inspection — 3 real inspections means 3 copies of the same restaurant in the joined result. `COUNT(*)` counted rows, not restaurants, and a one-to-many join makes those two things genuinely different.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explicitly: this is the exact class of mistake the project's own rubric grades as a real `sql`-skill failure, not a style nitpick — a join that inflates a count silently, with no error anywhere.</a:t>
            </a:r>
          </a:p>
          <a:p/>
          <a:p>
            <a:r>
              <a:t>[MISCONCEPTIONS] Fellows often assume a JOIN "duplicates data" as a bug. It doesn't — every one of those 3 rows is a real, correct inspection record. The mistake isn't the join, it's counting its raw rows as if they were counting restaurants.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explicitly that this is a code-along.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Run it: 5 rows, one per restaurant. Corner Bistro shows `3`, Green Leaf Cafe shows `1`, the other 3 show `0`. The row count that was wrong a minute ago is now genuinely correct.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Confirm out loud: this is the exact number `COUNT(*)` couldn't give you correctly a few minutes ago.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answer: 3</a:t>
            </a:r>
          </a:p>
          <a:p>
            <a:r>
              <a:t>Why: Corner Bistro has exactly 3 real inspection rows (2 from earlier, 1 just added) — GROUP BY collapses them into one row, and COUNT(i.inspection_id) correctly counts all 3.</a:t>
            </a:r>
          </a:p>
          <a:p>
            <a:r>
              <a:t>Source: This lesson's own worked example, not an external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[~20 min mark] Name explicitly: the next question is a real business question — "which restaurants have a real inspection history" — and it needs a tool WHERE genuinely cannot provide.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Walk the pipeline left to right: rows enter, WHERE filters first, GROUP BY collapses what's left, HAVING filters last. `COUNT(...)` doesn't exist yet at the point WHERE runs. There's nothing for it to check.</a:t>
            </a:r>
          </a:p>
          <a:p/>
          <a:p>
            <a:r>
              <a:t>[MISCONCEPTIONS] Believing WHERE can filter on an aggregated value like `COUNT(*)` — that's exactly what HAVING is for, and it's about to raise a real error to prove the point.</a:t>
            </a:r>
          </a:p>
          <a:p/>
          <a:p>
            <a:r>
              <a:t>[SOURCES] PostgreSQL's own documented query-execution order (FROM/ JOIN → WHERE → GROUP BY → HAVING → SELECT → ORDER BY) — see the official tutorial linked in this lesson's further_resources.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explicitly that this is a code-along.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Run it and let the real error print in full: `aggregate functions are not allowed in WHERE`. Name explicitly: this isn't a typo-shaped error — it's PostgreSQL confirming WHERE genuinely cannot do this, ever.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explicitly that this is a code-along.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Run it: exactly one row, Corner Bistro, `3`. Name explicitly: same condition as the broken query, just in the one clause that's actually allowed to see an aggregate.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This is the whole lesson's payoff moment: the exact filter that raised a real error under WHERE now runs cleanly under HAVING.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answer: 1</a:t>
            </a:r>
          </a:p>
          <a:p>
            <a:r>
              <a:t>Why: Only Corner Bistro has `num_inspections &gt;= 2` (it has 3) — Green Leaf Cafe has only 1, and the other 3 restaurants have 0, so HAVING filters all 4 of them out.</a:t>
            </a:r>
          </a:p>
          <a:p>
            <a:r>
              <a:t>Source: This lesson's own worked example, not an external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the real takeaway: WHERE and HAVING aren't interchangeable "filter" keywords — they run at genuinely different points in the query, and that order is the whole reason both exist.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 In person: turn and talk, 60 seconds. Online: drop a take in chat.</a:t>
            </a:r>
          </a:p>
          <a:p/>
          <a:p>
            <a:r>
              <a:t>[TECHNIQUE] Use QAR — the request as stated is genuinely underspecified (it names two clauses, not a real business question), the same shape as any vague "just add X" ask.</a:t>
            </a:r>
          </a:p>
          <a:p/>
          <a:p>
            <a:r>
              <a:t>[SCRIPT] Target idea: HAVING is only needed when the business question itself involves a threshold on the aggregate ("at least 2," "average above X"). A query that just reports every group's count, with no filter on that count, is a completely valid GROUP BY with no HAVING at all — the two aren't a required pair, HAVING is opt-in based on what's actually being asked.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[TECHNIQUE] Use Teach-Back — "what's the difference between X and Y" is a classic explain-it-simply interview question, not a story or an ambiguous ask.</a:t>
            </a:r>
          </a:p>
          <a:p/>
          <a:p>
            <a:r>
              <a:t>[SCRIPT] Have a Fellow attempt this cold first — the goal is a genuinely simple explanation, not a repeat of the formal definition.</a:t>
            </a:r>
          </a:p>
          <a:p/>
          <a:p/>
          <a:p>
            <a:r>
              <a:t>Short answers:</a:t>
            </a:r>
          </a:p>
          <a:p/>
          <a:p>
            <a:r>
              <a:t>Q: What's the actual difference between WHERE and HAVING?</a:t>
            </a:r>
          </a:p>
          <a:p>
            <a:r>
              <a:t>A: Audience: A junior analyst who's only used WHERE. Simplify: WHERE filters rows before grouping; HAVING filters whole groups after aggregation. Analogy: WHERE is picking ingredients before cooking; HAVING is judging the finished dish — you can't judge a dish that isn't cooked yet. Check: Could WHERE filter on COUNT(*) directly? No — COUNT(*) doesn't exist until grouping happens, which is exactly why HAVING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Quick round-trip through all three terms — this is exactly the vocabulary the project's own Q3 expects you to use correctly, for whichever domain you choose.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Close by naming the shift ahead: next class adds CTEs on top of exactly this GROUP BY pattern. And name the project tie explicitly: every domain's Q3 is today's own two-step pattern, on a schema you'll design yourself.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Give a specific heads-up: next class's CTE demo restructures exactly today's own GROUP BY query — don't drop `nyc_restaurants`. Name the project tie once more before dismissing: every domain's own Q3 is exactly today's GROUP BY + HAVING pattern, on your own schema.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Point out the W3Schools link specifically — its side-by- side WHERE/HAVING examples are a fast way to cement today's exact distinction before next class adds CTEs on top.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hyperlink" Target="https://www.postgresql.org/docs/current/tutorial-agg.html" TargetMode="External"/><Relationship Id="rId5" Type="http://schemas.openxmlformats.org/officeDocument/2006/relationships/image" Target="../media/image16.png"/><Relationship Id="rId6" Type="http://schemas.openxmlformats.org/officeDocument/2006/relationships/hyperlink" Target="https://www.w3schools.com/sql/sql_having.asp" TargetMode="External"/><Relationship Id="rId7" Type="http://schemas.openxmlformats.org/officeDocument/2006/relationships/image" Target="../media/image17.png"/><Relationship Id="rId8" Type="http://schemas.openxmlformats.org/officeDocument/2006/relationships/hyperlink" Target="https://sqlbolt.com/" TargetMode="External"/><Relationship Id="rId9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FFFCF7"/>
                </a:solidFill>
                <a:latin typeface="Helvetica"/>
              </a:rPr>
              <a:t>THE MARCY LAB SCHOOL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8534186" cy="54864"/>
          </a:xfrm>
          <a:prstGeom prst="rect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1094415" cy="146304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EEBC32"/>
                </a:solidFill>
                <a:latin typeface="Helvetica"/>
              </a:rPr>
              <a:t>Aggregating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FFFCF7"/>
                </a:solidFill>
                <a:latin typeface="Helvetica"/>
              </a:rPr>
              <a:t>Module 3: SQL &amp; Relational Databases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By the End of Today, You'll Be Able To...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468880"/>
            <a:ext cx="5432908" cy="2560320"/>
          </a:xfrm>
          <a:prstGeom prst="roundRect">
            <a:avLst>
              <a:gd name="adj" fmla="val 6000"/>
            </a:avLst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774" y="2697480"/>
            <a:ext cx="54864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429000"/>
            <a:ext cx="5158588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261F1D"/>
                </a:solidFill>
                <a:latin typeface="Helvetica"/>
              </a:rPr>
              <a:t>Aggregate rows correctly with GROUP BY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8" y="2468880"/>
            <a:ext cx="5432908" cy="2560320"/>
          </a:xfrm>
          <a:prstGeom prst="roundRect">
            <a:avLst>
              <a:gd name="adj" fmla="val 6000"/>
            </a:avLst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281" y="269748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47308" y="3429000"/>
            <a:ext cx="5158588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261F1D"/>
                </a:solidFill>
                <a:latin typeface="Helvetica"/>
              </a:rPr>
              <a:t>Filter an aggregate with HAVING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Key Terms You'll Know by the End of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468880"/>
            <a:ext cx="5432908" cy="2560320"/>
          </a:xfrm>
          <a:prstGeom prst="roundRect">
            <a:avLst>
              <a:gd name="adj" fmla="val 6000"/>
            </a:avLst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774" y="2697480"/>
            <a:ext cx="54864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429000"/>
            <a:ext cx="5158588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261F1D"/>
                </a:solidFill>
                <a:latin typeface="Helvetica"/>
              </a:rPr>
              <a:t>GROUP BY, aggregate 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8" y="2468880"/>
            <a:ext cx="5432908" cy="2560320"/>
          </a:xfrm>
          <a:prstGeom prst="roundRect">
            <a:avLst>
              <a:gd name="adj" fmla="val 6000"/>
            </a:avLst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281" y="269748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47308" y="3429000"/>
            <a:ext cx="5158588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261F1D"/>
                </a:solidFill>
                <a:latin typeface="Helvetica"/>
              </a:rPr>
              <a:t>HAVING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Yesterday's Two Join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One 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A fast recall check before today's rows get grouped instead of just joined.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TURN AND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Quick recall: Why did yesterday's LEFT JOIN return 6 rows when INNER JOIN only returned 3?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784037" y="556870"/>
            <a:ext cx="623621" cy="623621"/>
          </a:xfrm>
          <a:prstGeom prst="ellipse">
            <a:avLst/>
          </a:prstGeom>
          <a:solidFill>
            <a:srgbClr val="DEEAF4"/>
          </a:solidFill>
          <a:ln w="50800">
            <a:solidFill>
              <a:srgbClr val="2274B5"/>
            </a:solidFill>
          </a:ln>
          <a:effectLst>
            <a:outerShdw blurRad="152400" dist="50800" dir="2700000" rotWithShape="0">
              <a:srgbClr val="1A1A1A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942" y="712775"/>
            <a:ext cx="311810" cy="3118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50876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Still Solid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Code Along: One More Real Inspection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Picking up the same database, with one more real inspection added on purpose.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Reconnecting, Then Adding One More Inspection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94415" cy="5349240"/>
          </a:xfrm>
          <a:prstGeom prst="roundRect">
            <a:avLst>
              <a:gd name="adj" fmla="val 3500"/>
            </a:avLst>
          </a:prstGeom>
          <a:solidFill>
            <a:srgbClr val="26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97864"/>
            <a:ext cx="118872" cy="118872"/>
          </a:xfrm>
          <a:prstGeom prst="ellipse">
            <a:avLst/>
          </a:prstGeom>
          <a:solidFill>
            <a:srgbClr val="C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197864"/>
            <a:ext cx="118872" cy="118872"/>
          </a:xfrm>
          <a:prstGeom prst="ellipse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1197864"/>
            <a:ext cx="118872" cy="118872"/>
          </a:xfrm>
          <a:prstGeom prst="ellipse">
            <a:avLst/>
          </a:prstGeom>
          <a:solidFill>
            <a:srgbClr val="32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495" y="10058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600" b="0" i="0" u="none">
                <a:solidFill>
                  <a:srgbClr val="B3BBB0"/>
                </a:solidFill>
                <a:latin typeface="Roboto Mono"/>
              </a:rPr>
              <a:t>psql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36776"/>
            <a:ext cx="10582351" cy="45902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\</a:t>
            </a:r>
            <a:r>
              <a:rPr sz="2600" i="0">
                <a:solidFill>
                  <a:srgbClr val="EEBC32"/>
                </a:solidFill>
                <a:latin typeface="Roboto Mono"/>
              </a:rPr>
              <a:t>c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nyc_restaurants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INSERT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INTO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inspection_id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camis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inspection_date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critical_flag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VALUES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659B87"/>
                </a:solidFill>
                <a:latin typeface="Roboto Mono"/>
              </a:rPr>
              <a:t>4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659B87"/>
                </a:solidFill>
                <a:latin typeface="Roboto Mono"/>
              </a:rPr>
              <a:t>1001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'2026-02-10'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'Not Critical'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;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One More Row Added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Code Along: How Many Restaurants Is That, Really?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A naive count, on the exact join from yesterday.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How Many Restaurants Is That, Really?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94415" cy="5349240"/>
          </a:xfrm>
          <a:prstGeom prst="roundRect">
            <a:avLst>
              <a:gd name="adj" fmla="val 3500"/>
            </a:avLst>
          </a:prstGeom>
          <a:solidFill>
            <a:srgbClr val="26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97864"/>
            <a:ext cx="118872" cy="118872"/>
          </a:xfrm>
          <a:prstGeom prst="ellipse">
            <a:avLst/>
          </a:prstGeom>
          <a:solidFill>
            <a:srgbClr val="C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197864"/>
            <a:ext cx="118872" cy="118872"/>
          </a:xfrm>
          <a:prstGeom prst="ellipse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1197864"/>
            <a:ext cx="118872" cy="118872"/>
          </a:xfrm>
          <a:prstGeom prst="ellipse">
            <a:avLst/>
          </a:prstGeom>
          <a:solidFill>
            <a:srgbClr val="32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495" y="10058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600" b="0" i="0" u="none">
                <a:solidFill>
                  <a:srgbClr val="B3BBB0"/>
                </a:solidFill>
                <a:latin typeface="Roboto Mono"/>
              </a:rPr>
              <a:t>psql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36776"/>
            <a:ext cx="10582351" cy="45902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SELECT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COUNT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*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FROM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restaurants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LEFT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JOIN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ON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camis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=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camis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;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TURN AND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Discuss it: There are 5 real restaurants, but this query says 7. What actually happened?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COUNT(*) Counts Rows, Not Real-World Things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705295" cy="3538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COUNT is an aggregate function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A one-to-many JOIN repeats Corner Bistro 3x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COUNT(*) never knows the difference</a:t>
            </a:r>
          </a:p>
        </p:txBody>
      </p:sp>
      <p:sp>
        <p:nvSpPr>
          <p:cNvPr id="5" name="Oval 4"/>
          <p:cNvSpPr/>
          <p:nvPr/>
        </p:nvSpPr>
        <p:spPr>
          <a:xfrm>
            <a:off x="8611794" y="1869669"/>
            <a:ext cx="2222043" cy="2222043"/>
          </a:xfrm>
          <a:prstGeom prst="ellipse">
            <a:avLst/>
          </a:prstGeom>
          <a:solidFill>
            <a:srgbClr val="F7DFDF"/>
          </a:solidFill>
          <a:ln w="50800">
            <a:solidFill>
              <a:srgbClr val="C92929"/>
            </a:solidFill>
          </a:ln>
          <a:effectLst>
            <a:outerShdw blurRad="152400" dist="50800" dir="2700000" rotWithShape="0">
              <a:srgbClr val="1A1A1A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7304" y="2425179"/>
            <a:ext cx="1111021" cy="111102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909820"/>
            <a:ext cx="11094415" cy="1445260"/>
          </a:xfrm>
          <a:prstGeom prst="roundRect">
            <a:avLst>
              <a:gd name="adj" fmla="val 10000"/>
            </a:avLst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909820"/>
            <a:ext cx="10637215" cy="14452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4326"/>
                </a:solidFill>
                <a:latin typeface="Helvetica"/>
              </a:rPr>
              <a:t>Analogy: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 It's like counting raffle ticket stubs instead of counting people — one person holding 3 tickets shows up 3 times in the stub pile, even though only one real person is in the room.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The Real Problem, Named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Code Along: GROUP BY, Fixing the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Collapsing rows back to one per restaurant, before counting.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GROUP BY: One Row Per Restaurant, For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94415" cy="5349240"/>
          </a:xfrm>
          <a:prstGeom prst="roundRect">
            <a:avLst>
              <a:gd name="adj" fmla="val 3500"/>
            </a:avLst>
          </a:prstGeom>
          <a:solidFill>
            <a:srgbClr val="26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97864"/>
            <a:ext cx="118872" cy="118872"/>
          </a:xfrm>
          <a:prstGeom prst="ellipse">
            <a:avLst/>
          </a:prstGeom>
          <a:solidFill>
            <a:srgbClr val="C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197864"/>
            <a:ext cx="118872" cy="118872"/>
          </a:xfrm>
          <a:prstGeom prst="ellipse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1197864"/>
            <a:ext cx="118872" cy="118872"/>
          </a:xfrm>
          <a:prstGeom prst="ellipse">
            <a:avLst/>
          </a:prstGeom>
          <a:solidFill>
            <a:srgbClr val="32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495" y="10058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600" b="0" i="0" u="none">
                <a:solidFill>
                  <a:srgbClr val="B3BBB0"/>
                </a:solidFill>
                <a:latin typeface="Roboto Mono"/>
              </a:rPr>
              <a:t>psql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36776"/>
            <a:ext cx="10582351" cy="45902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SELECT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dba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COUNT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inspection_id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AS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num_inspections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FROM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restaurants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LEFT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JOIN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ON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camis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=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camis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GROUP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BY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dba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;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CHECK FOR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Predict it: After GROUP BY, what does Corner Bistro's </a:t>
            </a:r>
            <a:r>
              <a:rPr sz="3200" b="1" i="0" u="none">
                <a:solidFill>
                  <a:srgbClr val="261F1D"/>
                </a:solidFill>
                <a:latin typeface="Roboto Mono"/>
              </a:rPr>
              <a:t>num_inspections</a:t>
            </a:r>
            <a:r>
              <a:rPr sz="3200" b="1" i="0" u="none">
                <a:solidFill>
                  <a:srgbClr val="261F1D"/>
                </a:solidFill>
                <a:latin typeface="Helvetica"/>
              </a:rPr>
              <a:t> column actually show?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45775" cy="2560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A.  3</a:t>
            </a:r>
          </a:p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B.  1</a:t>
            </a:r>
          </a:p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C.  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C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566928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Answer Key: Predicting a GROUP BY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Correct answer: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87168"/>
            <a:ext cx="11094415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Corner Bistro has exactly 3 real inspection rows (2 from earlier, 1 just added) — GROUP BY collapses them into one row, and COUNT(i.inspection_id) correctly counts all 3.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Correctly Counted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Now, Filtering the Aggregate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Which restaurants actually have 2 or more inspections?</a:t>
            </a:r>
          </a:p>
        </p:txBody>
      </p:sp>
      <p:pic>
        <p:nvPicPr>
          <p:cNvPr id="6" name="Picture 5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644" y="493776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532120"/>
            <a:ext cx="5272888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FFFCF7"/>
                </a:solidFill>
                <a:latin typeface="Helvetica"/>
              </a:rPr>
              <a:t>WHERE Can't See COUNT()</a:t>
            </a:r>
          </a:p>
        </p:txBody>
      </p:sp>
      <p:pic>
        <p:nvPicPr>
          <p:cNvPr id="8" name="Picture 7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851" y="493776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33008" y="5532120"/>
            <a:ext cx="5272888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FFFCF7"/>
                </a:solidFill>
                <a:latin typeface="Helvetica"/>
              </a:rPr>
              <a:t>HAVING Filters After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848" y="4937760"/>
            <a:ext cx="0" cy="1188720"/>
          </a:xfrm>
          <a:prstGeom prst="line">
            <a:avLst/>
          </a:prstGeom>
          <a:ln w="19050">
            <a:solidFill>
              <a:srgbClr val="B3BB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WHERE Runs Before Grouping, HAVING Runs After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463040"/>
            <a:ext cx="1005840" cy="1005840"/>
          </a:xfrm>
          <a:prstGeom prst="ellipse">
            <a:avLst/>
          </a:prstGeom>
          <a:solidFill>
            <a:srgbClr val="264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74" y="1689354"/>
            <a:ext cx="553212" cy="553212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1828800" y="1965960"/>
            <a:ext cx="2174138" cy="0"/>
          </a:xfrm>
          <a:prstGeom prst="line">
            <a:avLst/>
          </a:prstGeom>
          <a:ln w="31750">
            <a:solidFill>
              <a:srgbClr val="2643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2606040"/>
            <a:ext cx="2407844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3000" b="1" i="0" u="none">
                <a:solidFill>
                  <a:srgbClr val="261F1D"/>
                </a:solidFill>
                <a:latin typeface="Helvetica"/>
              </a:rPr>
              <a:t>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2407844" cy="812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0" i="0" u="none">
                <a:solidFill>
                  <a:srgbClr val="261F1D"/>
                </a:solidFill>
                <a:latin typeface="Helvetica"/>
              </a:rPr>
              <a:t>Raw, Ungrouped</a:t>
            </a:r>
          </a:p>
        </p:txBody>
      </p:sp>
      <p:sp>
        <p:nvSpPr>
          <p:cNvPr id="9" name="Oval 8"/>
          <p:cNvSpPr/>
          <p:nvPr/>
        </p:nvSpPr>
        <p:spPr>
          <a:xfrm>
            <a:off x="4002938" y="1463040"/>
            <a:ext cx="1005840" cy="1005840"/>
          </a:xfrm>
          <a:prstGeom prst="ellipse">
            <a:avLst/>
          </a:prstGeom>
          <a:solidFill>
            <a:srgbClr val="264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252" y="1689354"/>
            <a:ext cx="553212" cy="553212"/>
          </a:xfrm>
          <a:prstGeom prst="rect">
            <a:avLst/>
          </a:prstGeom>
        </p:spPr>
      </p:pic>
      <p:cxnSp>
        <p:nvCxnSpPr>
          <p:cNvPr id="11" name="Connector 10"/>
          <p:cNvCxnSpPr/>
          <p:nvPr/>
        </p:nvCxnSpPr>
        <p:spPr>
          <a:xfrm>
            <a:off x="5008778" y="1965960"/>
            <a:ext cx="2174139" cy="0"/>
          </a:xfrm>
          <a:prstGeom prst="line">
            <a:avLst/>
          </a:prstGeom>
          <a:ln w="31750">
            <a:solidFill>
              <a:srgbClr val="2643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01936" y="2606040"/>
            <a:ext cx="2407844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3000" b="1" i="0" u="none">
                <a:solidFill>
                  <a:srgbClr val="261F1D"/>
                </a:solidFill>
                <a:latin typeface="Helvetica"/>
              </a:rPr>
              <a:t>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1936" y="3566160"/>
            <a:ext cx="2407844" cy="812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0" i="0" u="none">
                <a:solidFill>
                  <a:srgbClr val="261F1D"/>
                </a:solidFill>
                <a:latin typeface="Helvetica"/>
              </a:rPr>
              <a:t>Filters Rows First</a:t>
            </a:r>
          </a:p>
        </p:txBody>
      </p:sp>
      <p:sp>
        <p:nvSpPr>
          <p:cNvPr id="14" name="Oval 13"/>
          <p:cNvSpPr/>
          <p:nvPr/>
        </p:nvSpPr>
        <p:spPr>
          <a:xfrm>
            <a:off x="7182917" y="1463040"/>
            <a:ext cx="1005840" cy="1005840"/>
          </a:xfrm>
          <a:prstGeom prst="ellipse">
            <a:avLst/>
          </a:prstGeom>
          <a:solidFill>
            <a:srgbClr val="264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9231" y="1689354"/>
            <a:ext cx="553212" cy="553212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>
            <a:off x="8188757" y="1965960"/>
            <a:ext cx="2174138" cy="0"/>
          </a:xfrm>
          <a:prstGeom prst="line">
            <a:avLst/>
          </a:prstGeom>
          <a:ln w="31750">
            <a:solidFill>
              <a:srgbClr val="2643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81915" y="2606040"/>
            <a:ext cx="2407844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3000" b="1" i="0" u="none">
                <a:solidFill>
                  <a:srgbClr val="261F1D"/>
                </a:solidFill>
                <a:latin typeface="Helvetica"/>
              </a:rPr>
              <a:t>GROUP 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1915" y="3566160"/>
            <a:ext cx="2407844" cy="812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0" i="0" u="none">
                <a:solidFill>
                  <a:srgbClr val="261F1D"/>
                </a:solidFill>
                <a:latin typeface="Helvetica"/>
              </a:rPr>
              <a:t>Collapses Into Groups</a:t>
            </a:r>
          </a:p>
        </p:txBody>
      </p:sp>
      <p:sp>
        <p:nvSpPr>
          <p:cNvPr id="19" name="Oval 18"/>
          <p:cNvSpPr/>
          <p:nvPr/>
        </p:nvSpPr>
        <p:spPr>
          <a:xfrm>
            <a:off x="10362895" y="1463040"/>
            <a:ext cx="1005840" cy="1005840"/>
          </a:xfrm>
          <a:prstGeom prst="ellipse">
            <a:avLst/>
          </a:prstGeom>
          <a:solidFill>
            <a:srgbClr val="2643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9209" y="1689354"/>
            <a:ext cx="553212" cy="5532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60891" y="2606040"/>
            <a:ext cx="2407844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3000" b="1" i="0" u="none">
                <a:solidFill>
                  <a:srgbClr val="261F1D"/>
                </a:solidFill>
                <a:latin typeface="Helvetica"/>
              </a:rPr>
              <a:t>HAVING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0891" y="3566160"/>
            <a:ext cx="2407844" cy="812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0" i="0" u="none">
                <a:solidFill>
                  <a:srgbClr val="261F1D"/>
                </a:solidFill>
                <a:latin typeface="Helvetica"/>
              </a:rPr>
              <a:t>Filters Groups Last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16120"/>
            <a:ext cx="11094415" cy="1838960"/>
          </a:xfrm>
          <a:prstGeom prst="roundRect">
            <a:avLst>
              <a:gd name="adj" fmla="val 10000"/>
            </a:avLst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16120"/>
            <a:ext cx="10637215" cy="1838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4326"/>
                </a:solidFill>
                <a:latin typeface="Helvetica"/>
              </a:rPr>
              <a:t>Analogy: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 WHERE is picking which ingredients go in the pot before you cook. HAVING is tasting the finished dish and deciding if it's ready to serve — you can't taste a dish that hasn't been cooked yet.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The Real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Code Along: Breaking It on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Watching WHERE fail on an aggregate, for real.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WHERE Can't Filter an Aggregate — Watch It Fail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94415" cy="5349240"/>
          </a:xfrm>
          <a:prstGeom prst="roundRect">
            <a:avLst>
              <a:gd name="adj" fmla="val 3500"/>
            </a:avLst>
          </a:prstGeom>
          <a:solidFill>
            <a:srgbClr val="26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97864"/>
            <a:ext cx="118872" cy="118872"/>
          </a:xfrm>
          <a:prstGeom prst="ellipse">
            <a:avLst/>
          </a:prstGeom>
          <a:solidFill>
            <a:srgbClr val="C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197864"/>
            <a:ext cx="118872" cy="118872"/>
          </a:xfrm>
          <a:prstGeom prst="ellipse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1197864"/>
            <a:ext cx="118872" cy="118872"/>
          </a:xfrm>
          <a:prstGeom prst="ellipse">
            <a:avLst/>
          </a:prstGeom>
          <a:solidFill>
            <a:srgbClr val="32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495" y="10058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600" b="0" i="0" u="none">
                <a:solidFill>
                  <a:srgbClr val="B3BBB0"/>
                </a:solidFill>
                <a:latin typeface="Roboto Mono"/>
              </a:rPr>
              <a:t>psql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36776"/>
            <a:ext cx="10582351" cy="45902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SELECT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dba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COUNT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inspection_id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AS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num_inspections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FROM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restaurants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LEFT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JOIN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ON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camis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=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camis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WHERE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COUNT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inspection_id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&gt;</a:t>
            </a:r>
            <a:r>
              <a:rPr sz="2600" i="0">
                <a:solidFill>
                  <a:srgbClr val="FFFCF7"/>
                </a:solidFill>
                <a:latin typeface="Roboto Mono"/>
              </a:rPr>
              <a:t>=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659B87"/>
                </a:solidFill>
                <a:latin typeface="Roboto Mono"/>
              </a:rPr>
              <a:t>2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GROUP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BY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dba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;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The Error, 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Code Along: Fixing It With HAVING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The exact same condition, moved to the one clause that's allowed to use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HAVING: The Same Filter, In the Right Place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94415" cy="5349240"/>
          </a:xfrm>
          <a:prstGeom prst="roundRect">
            <a:avLst>
              <a:gd name="adj" fmla="val 3500"/>
            </a:avLst>
          </a:prstGeom>
          <a:solidFill>
            <a:srgbClr val="26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97864"/>
            <a:ext cx="118872" cy="118872"/>
          </a:xfrm>
          <a:prstGeom prst="ellipse">
            <a:avLst/>
          </a:prstGeom>
          <a:solidFill>
            <a:srgbClr val="C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197864"/>
            <a:ext cx="118872" cy="118872"/>
          </a:xfrm>
          <a:prstGeom prst="ellipse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1197864"/>
            <a:ext cx="118872" cy="118872"/>
          </a:xfrm>
          <a:prstGeom prst="ellipse">
            <a:avLst/>
          </a:prstGeom>
          <a:solidFill>
            <a:srgbClr val="32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495" y="10058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600" b="0" i="0" u="none">
                <a:solidFill>
                  <a:srgbClr val="B3BBB0"/>
                </a:solidFill>
                <a:latin typeface="Roboto Mono"/>
              </a:rPr>
              <a:t>psql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36776"/>
            <a:ext cx="10582351" cy="45902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SELECT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dba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COUNT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inspection_id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AS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num_inspections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FROM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restaurants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LEFT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JOIN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ON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camis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=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camis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GROUP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BY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dba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HAVING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COUNT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inspection_id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&gt;</a:t>
            </a:r>
            <a:r>
              <a:rPr sz="2600" i="0">
                <a:solidFill>
                  <a:srgbClr val="FFFCF7"/>
                </a:solidFill>
                <a:latin typeface="Roboto Mono"/>
              </a:rPr>
              <a:t>=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659B87"/>
                </a:solidFill>
                <a:latin typeface="Roboto Mono"/>
              </a:rPr>
              <a:t>2</a:t>
            </a:r>
            <a:r>
              <a:rPr sz="2600" i="0">
                <a:solidFill>
                  <a:srgbClr val="FFFCF7"/>
                </a:solidFill>
                <a:latin typeface="Roboto Mono"/>
              </a:rPr>
              <a:t>;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CHECK FOR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Predict it: How many rows does this HAVING query actually return?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45775" cy="2560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A.  1</a:t>
            </a:r>
          </a:p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B.  5</a:t>
            </a:r>
          </a:p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C.  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C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566928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Answer Key: Predicting a HAVING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Correct answer: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87168"/>
            <a:ext cx="11094415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Only Corner Bistro has </a:t>
            </a:r>
            <a:r>
              <a:rPr sz="2600" b="0" i="0" u="none">
                <a:solidFill>
                  <a:srgbClr val="261F1D"/>
                </a:solidFill>
                <a:latin typeface="Roboto Mono"/>
              </a:rPr>
              <a:t>num_inspections &gt;= 2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 (it has 3) — Green Leaf Cafe has only 1, and the other 3 restaurants have 0, so HAVING filters all 4 of them out.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Same Condition, One Clause Apart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10048" cy="3611880"/>
          </a:xfrm>
          <a:prstGeom prst="rect">
            <a:avLst/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1371600"/>
            <a:ext cx="435848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261F1D"/>
                </a:solidFill>
                <a:latin typeface="Helvetica"/>
              </a:rPr>
              <a:t>WHERE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952848" cy="2560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Filters rows, before grouping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Never sees an aggregate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A real error on COUNT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8" y="1188720"/>
            <a:ext cx="5410048" cy="3611880"/>
          </a:xfrm>
          <a:prstGeom prst="rect">
            <a:avLst/>
          </a:prstGeom>
          <a:solidFill>
            <a:srgbClr val="FECC5B"/>
          </a:solidFill>
          <a:ln w="50800">
            <a:solidFill>
              <a:srgbClr val="8367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608" y="137160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55968" y="1371600"/>
            <a:ext cx="435848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261F1D"/>
                </a:solidFill>
                <a:latin typeface="Helvetica"/>
              </a:rPr>
              <a:t>HAVING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8" y="2011680"/>
            <a:ext cx="4952848" cy="2560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Filters groups, after aggregating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Built to see an aggregate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Runs clean on COUNT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8" y="1188720"/>
            <a:ext cx="0" cy="3611880"/>
          </a:xfrm>
          <a:prstGeom prst="line">
            <a:avLst/>
          </a:prstGeom>
          <a:ln w="19050">
            <a:solidFill>
              <a:srgbClr val="E1E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98348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327A5F"/>
                </a:solidFill>
                <a:latin typeface="Helvetica"/>
              </a:rPr>
              <a:t>IN COMMON: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4068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Both narrow down which rows survive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TURN AND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A stakeholder asks for "a query with GROUP BY and HAVING" on this data. How would you respond in an interview setting?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INTERVIEW PREP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Topics You Might Get Asked About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545775" cy="34747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What's the actual difference between WHERE and HAVING?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3657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457200"/>
            <a:ext cx="10271455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INTERVIEW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What's the actual difference between WHERE and HAVING?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11094415" cy="3611880"/>
          </a:xfrm>
          <a:prstGeom prst="roundRect">
            <a:avLst>
              <a:gd name="adj" fmla="val 6000"/>
            </a:avLst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10545775" cy="3154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4326"/>
                </a:solidFill>
                <a:latin typeface="Helvetica"/>
              </a:rPr>
              <a:t>Answer: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 Audience: A junior analyst who's only used WHERE. Simplify: WHERE filters rows before grouping; HAVING filters whole groups after aggregation. Analogy: WHERE is picking ingredients before cooking; HAVING is judging the finished dish — you can't judge a dish that isn't cooked yet. Check: Could WHERE filter on COUNT(*) directly? No — COUNT(*) doesn't exist until grouping happens, which is exactly why HAVING exists.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Key Terms — Recap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180844"/>
          <a:ext cx="11094415" cy="3136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GROUP BY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One row per group, for aggregating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Aggregate function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One value computed from many rows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HAVING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Filters groups, after aggregation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So Far, We've Covered...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COUNT(*) on a join can overcount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GROUP BY fixes it, for real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HAVING filters what WHERE can't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18872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Before Next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2103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FFFCF7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FFFCF7"/>
                </a:solidFill>
                <a:latin typeface="Helvetica"/>
              </a:rPr>
              <a:t>No new exercise today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FFFCF7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FFFCF7"/>
                </a:solidFill>
                <a:latin typeface="Helvetica"/>
              </a:rPr>
              <a:t>Next class: CTEs, syntax and use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FFFCF7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FFFCF7"/>
                </a:solidFill>
                <a:latin typeface="Helvetica"/>
              </a:rPr>
              <a:t>Keep your database running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45775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KEEP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Where to Go From Here</a:t>
            </a:r>
          </a:p>
        </p:txBody>
      </p:sp>
      <p:pic>
        <p:nvPicPr>
          <p:cNvPr id="6" name="Picture 5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84248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965960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274B5"/>
                </a:solidFill>
                <a:latin typeface="Helvetica"/>
                <a:hlinkClick r:id="rId4"/>
              </a:rPr>
              <a:t>PostgreSQL Tutorial: Aggregate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50008"/>
            <a:ext cx="10591495" cy="7680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327A5F"/>
                </a:solidFill>
                <a:latin typeface="Helvetica"/>
              </a:rPr>
              <a:t>PostgreSQL Global Development Group  ·  DOCS  ·  ~8 min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18104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The official reference on GROUP BY and HAVING</a:t>
            </a:r>
          </a:p>
        </p:txBody>
      </p:sp>
      <p:pic>
        <p:nvPicPr>
          <p:cNvPr id="10" name="Picture 9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49040"/>
            <a:ext cx="36576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3730752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274B5"/>
                </a:solidFill>
                <a:latin typeface="Helvetica"/>
                <a:hlinkClick r:id="rId6"/>
              </a:rPr>
              <a:t>SQL HAVING Clause Explained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14800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327A5F"/>
                </a:solidFill>
                <a:latin typeface="Helvetica"/>
              </a:rPr>
              <a:t>W3Schools  ·  READING  ·  ~6 min 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98848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Short, example-driven WHERE-vs-HAVING breakdown</a:t>
            </a:r>
          </a:p>
        </p:txBody>
      </p:sp>
      <p:pic>
        <p:nvPicPr>
          <p:cNvPr id="14" name="Picture 13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129784"/>
            <a:ext cx="36576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1560" y="5111496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274B5"/>
                </a:solidFill>
                <a:latin typeface="Helvetica"/>
                <a:hlinkClick r:id="rId8"/>
              </a:rPr>
              <a:t>SQLBolt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495544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327A5F"/>
                </a:solidFill>
                <a:latin typeface="Helvetica"/>
              </a:rPr>
              <a:t>SQLBolt  ·  PRACTICE  ·  ~15 min hands-on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879592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The same free interactive lessons from earlier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