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this as the payoff of building two tables instead of one — today is the first time those two tables actually talk to each other in a query.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both out loud. Name explicitly: these are the project's own Q1 and Q2, for every single domain, no exceptions.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Just names for now — real, typed, verified examples for every one of these are coming.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 min mark] Keep this brisk.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a couple of quick shout-outs. Online: drop one sentence in chat.</a:t>
            </a:r>
          </a:p>
          <a:p/>
          <a:p>
            <a:r>
              <a:t>[SCRIPT] Quick-fire — target idea: every `camis` in `inspections` must already exist in `restaurants`. That's the exact fact today's join relies 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your data is still there — `psql` starts a new session each time, but the database itself persists on disk.</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confirm all 4 rows print — Corner Bistro, Green Leaf Cafe, Sunset Diner, Harbor Grill. Nothing was lost between sessions — this is exactly the check every future class session should open with, before assuming anything about the data's state.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this is the exact insert that failed yesterday, now complete. New Spot NYC just opened — real restaurants start with zero inspections, which is about to matter a lot in a few minutes.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Short beat before the concept.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Draw two tables on the board with a line connecting matching `camis` values — write `ON restaurants.camis = inspections.camis` next to the line. That line is literally what `ON` tells the database to look for.</a:t>
            </a:r>
          </a:p>
          <a:p/>
          <a:p>
            <a:r>
              <a:t>[MISCONCEPTIONS] A common assumption: a JOIN needs the column names to match exactly. They don't — `ON restaurants.camis = inspections.camis` would work identically even if the column were named `restaurant_id` in one table and `camis` in the other.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count the rows together before revealing the prediction question — this is worth a genuine pause.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3 restaurants exist with zero inspections, and none of them show up anywhere in this result — not even once. That's the setup for the whole rest of today.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3</a:t>
            </a:r>
          </a:p>
          <a:p>
            <a:r>
              <a:t>Why: Only Corner Bistro (2 inspections) and Green Leaf Cafe (1 inspection) have any real match — that's 3 total inspection rows. Sunset Diner, Harbor Grill, and New Spot NYC have zero inspections, so INNER JOIN drops them completely.</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[~20 min mark] Name explicitly: everything so far only showed restaurants that already had a match. LEFT JOIN is about to show what INNER JOIN was silently hiding.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Contrast directly with INNER JOIN's roll call: INNER JOIN only reads names that actually checked in — anyone absent is never mentioned at all. This is the module's own named misconception in action: the difference between INNER and LEFT JOIN is invisible on data with no gaps, and only shows up the moment a row genuinely has no match — exactly the kind of gap that's easy to miss until it costs something real.</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let the NULL rows print in full — Sunset Diner, Harbor Grill, and New Spot NYC all appear, with `NULL` in both the `inspection_date` and `critical_flag` columns.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the whole lesson's payoff moment: 3 vs. 6, same tables, same ON clause, one word different. Name it explicitly as real proof, not a rule to memorize.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6</a:t>
            </a:r>
          </a:p>
          <a:p>
            <a:r>
              <a:t>Why: The same 3 matched rows from INNER JOIN, plus 3 more — one per restaurant with zero inspections (Sunset Diner, Harbor Grill, New Spot NYC), each with NULL in the inspection columns. Same tables, same ON, a genuinely different row count.</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real risk explicitly: a report built on INNER JOIN can look complete and still be quietly missing exactly the rows that matter most — the ones with nothing to join to yet.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Tie back explicitly to this module's own opening case study: a PHE-style silent failure doesn't need a file to break — the wrong join can just as quietly drop real rows with zero errors printed anywhere.</a:t>
            </a:r>
          </a:p>
          <a:p/>
          <a:p>
            <a:r>
              <a:t>[MISCONCEPTIONS] Believing INNER JOIN and LEFT JOIN return the same rows whenever the data "looks complete" — the difference only shows up the moment a row genuinely has no match, which is exactly what makes it easy to miss until it's a real problem.</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exactly Sunset Diner, Harbor Grill, and New Spot NYC print. Name explicitly: this is a genuinely useful real-world query, not just a teaching demo — "which restaurants are we missing inspection data for" is a real operational question.</a:t>
            </a:r>
          </a:p>
          <a:p/>
          <a:p>
            <a:r>
              <a:t>[MISCONCEPTIONS] `WHERE i.inspection_id = NULL` looks reasonable but silently returns zero rows, always — `NULL` isn't a value comparisons can match against, so `=` never works on it. `IS NULL` is the only real way to check for a missing match, which is exactly why this specific query uses it.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 "which should you default to" is exactly the "state a position and justify it" shape PREP fits, not a story or an ambiguous ask.</a:t>
            </a:r>
          </a:p>
          <a:p/>
          <a:p>
            <a:r>
              <a:t>[SCRIPT] No wrong answer up front, but land on the real point: the right default depends on the actual business question — "only inspected restaurants" genuinely wants INNER JOIN; "every restaurant, including gaps" genuinely wants LEFT JOIN. The mistake isn't picking one, it's picking one without checking which question is actually being asked.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QAR — "which join should I use" is a genuinely underspecified question until the report's actual goal is known, the same shape as any vague "how would you improve X" interview ask.</a:t>
            </a:r>
          </a:p>
          <a:p/>
          <a:p>
            <a:r>
              <a:t>[SCRIPT] Have a Fellow attempt this cold first — the goal is naming the *clarifying question* first, not jumping straight to an answer.</a:t>
            </a:r>
          </a:p>
          <a:p/>
          <a:p/>
          <a:p>
            <a:r>
              <a:t>Short answers:</a:t>
            </a:r>
          </a:p>
          <a:p/>
          <a:p>
            <a:r>
              <a:t>Q: Which join should I use for this report?</a:t>
            </a:r>
          </a:p>
          <a:p>
            <a:r>
              <a:t>A: Question: I'd first ask what the report needs to show — every record regardless of a match, or only confirmed matches? That decides the join type. Assumption: Guessing wrong here likely means defaulting to INNER JOIN. Risk: INNER JOIN silently drops unmatched rows, no error or warning. If the report is meant to show gaps, like restaurants with no inspections, INNER JOIN would quietly hide exactly those rows.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round-trip through all four terms — this is exactly the vocabulary the project's own Q1 and Q2 expect you to use correctly, for whichever domain you choose.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by naming the shift ahead: next class adds GROUP BY and HAVING on top of what a join already returns. And name the project tie explicitly: every domain's Q1 and Q2 are exactly today's two query shapes, on a schema you'll design yourself.</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Give a specific heads-up: next class builds directly on today's join results — don't drop `nyc_restaurants`.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out the W3Schools link specifically — its side-by- side examples of every join type are a genuinely good way to cement INNER vs. LEFT before next class adds more syntax on top.</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hyperlink" Target="https://www.postgresql.org/docs/current/tutorial-join.html" TargetMode="External"/><Relationship Id="rId5" Type="http://schemas.openxmlformats.org/officeDocument/2006/relationships/image" Target="../media/image12.png"/><Relationship Id="rId6" Type="http://schemas.openxmlformats.org/officeDocument/2006/relationships/hyperlink" Target="https://www.w3schools.com/sql/sql_join.asp" TargetMode="External"/><Relationship Id="rId7" Type="http://schemas.openxmlformats.org/officeDocument/2006/relationships/image" Target="../media/image13.png"/><Relationship Id="rId8" Type="http://schemas.openxmlformats.org/officeDocument/2006/relationships/hyperlink" Target="https://sqlbolt.com/" TargetMode="External"/><Relationship Id="rId9"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Joins</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Combine two tables with INNER JOIN</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Include every row with LEFT JOIN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JOIN, INNER JOIN, LEFT JOIN</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Anti-join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Yesterday's Two Tables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One Quick Check</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fast recall check before today's tables start talking to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In yesterday's </a:t>
            </a:r>
            <a:r>
              <a:rPr sz="3200" b="1" i="0" u="none">
                <a:solidFill>
                  <a:srgbClr val="261F1D"/>
                </a:solidFill>
                <a:latin typeface="Roboto Mono"/>
              </a:rPr>
              <a:t>inspections</a:t>
            </a:r>
            <a:r>
              <a:rPr sz="3200" b="1" i="0" u="none">
                <a:solidFill>
                  <a:srgbClr val="261F1D"/>
                </a:solidFill>
                <a:latin typeface="Helvetica"/>
              </a:rPr>
              <a:t> table, what does </a:t>
            </a:r>
            <a:r>
              <a:rPr sz="3200" b="1" i="0" u="none">
                <a:solidFill>
                  <a:srgbClr val="261F1D"/>
                </a:solidFill>
                <a:latin typeface="Roboto Mono"/>
              </a:rPr>
              <a:t>camis INT REFERENCES restaurants(camis)</a:t>
            </a:r>
            <a:r>
              <a:rPr sz="3200" b="1" i="0" u="none">
                <a:solidFill>
                  <a:srgbClr val="261F1D"/>
                </a:solidFill>
                <a:latin typeface="Helvetica"/>
              </a:rPr>
              <a:t> actually enforce?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Still Solid</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Picking Up Where Yesterday Left Off</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Same database, same two tables — a fresh terminal session, not a fresh 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Reconnecting to Yesterday's Database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a:t>
            </a:r>
            <a:r>
              <a:rPr sz="2600" i="0">
                <a:solidFill>
                  <a:srgbClr val="EEBC32"/>
                </a:solidFill>
                <a:latin typeface="Roboto Mono"/>
              </a:rPr>
              <a:t>c</a:t>
            </a:r>
            <a:r>
              <a:rPr sz="2600" i="0">
                <a:solidFill>
                  <a:srgbClr val="FFFCF7"/>
                </a:solidFill>
                <a:latin typeface="Roboto Mono"/>
              </a:rPr>
              <a:t> </a:t>
            </a:r>
            <a:r>
              <a:rPr sz="2600" i="0">
                <a:solidFill>
                  <a:srgbClr val="FFFCF7"/>
                </a:solidFill>
                <a:latin typeface="Roboto Mono"/>
              </a:rPr>
              <a:t>nyc_restaurants</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Finishing What Yesterday Left Unfinished</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INSERT</a:t>
            </a:r>
            <a:r>
              <a:rPr sz="2600" i="0">
                <a:solidFill>
                  <a:srgbClr val="FFFCF7"/>
                </a:solidFill>
                <a:latin typeface="Roboto Mono"/>
              </a:rPr>
              <a:t> </a:t>
            </a:r>
            <a:r>
              <a:rPr sz="2600" i="0">
                <a:solidFill>
                  <a:srgbClr val="EEBC32"/>
                </a:solidFill>
                <a:latin typeface="Roboto Mono"/>
              </a:rPr>
              <a:t>INTO</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VALUES</a:t>
            </a: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1005</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'New Spot NYC'</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'Manhattan'</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Five Restaurants Now</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What a JOIN Actually Does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Two tables, one query — combining rows on a matching key.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JOIN Combines Rows That Share a Key</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Two tables, one query</a:t>
            </a:r>
          </a:p>
          <a:p>
            <a:pPr>
              <a:spcAft>
                <a:spcPts val="1000"/>
              </a:spcAft>
            </a:pPr>
            <a:r>
              <a:rPr sz="2600">
                <a:solidFill>
                  <a:srgbClr val="261F1D"/>
                </a:solidFill>
                <a:latin typeface="Helvetica"/>
              </a:rPr>
              <a:t>•  </a:t>
            </a:r>
            <a:r>
              <a:rPr sz="2600" b="0" i="0" u="none">
                <a:solidFill>
                  <a:srgbClr val="261F1D"/>
                </a:solidFill>
                <a:latin typeface="Helvetica"/>
              </a:rPr>
              <a:t>ON says which columns must match</a:t>
            </a:r>
          </a:p>
          <a:p>
            <a:pPr>
              <a:spcAft>
                <a:spcPts val="1000"/>
              </a:spcAft>
            </a:pPr>
            <a:r>
              <a:rPr sz="2600">
                <a:solidFill>
                  <a:srgbClr val="261F1D"/>
                </a:solidFill>
                <a:latin typeface="Helvetica"/>
              </a:rPr>
              <a:t>•  </a:t>
            </a:r>
            <a:r>
              <a:rPr sz="2600" b="0" i="0" u="none">
                <a:solidFill>
                  <a:srgbClr val="261F1D"/>
                </a:solidFill>
                <a:latin typeface="Helvetica"/>
              </a:rPr>
              <a:t>Matching rows, linked side by side</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Concept</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INNER JOIN</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The default join — only rows with a real match on both sides.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INNER JOIN: Only Real Matches</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inspection_date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critical_flag</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r</a:t>
            </a:r>
          </a:p>
          <a:p>
            <a:pPr>
              <a:lnSpc>
                <a:spcPct val="120000"/>
              </a:lnSpc>
              <a:defRPr sz="2600">
                <a:latin typeface="Roboto Mono"/>
              </a:defRPr>
            </a:pPr>
            <a:r>
              <a:rPr sz="2600" i="0">
                <a:solidFill>
                  <a:srgbClr val="EEBC32"/>
                </a:solidFill>
                <a:latin typeface="Roboto Mono"/>
              </a:rPr>
              <a:t>INNER</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 </a:t>
            </a:r>
            <a:r>
              <a:rPr sz="2600" i="0">
                <a:solidFill>
                  <a:srgbClr val="EEBC32"/>
                </a:solidFill>
                <a:latin typeface="Roboto Mono"/>
              </a:rPr>
              <a:t>ON</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How many rows does this </a:t>
            </a:r>
            <a:r>
              <a:rPr sz="3200" b="1" i="0" u="none">
                <a:solidFill>
                  <a:srgbClr val="261F1D"/>
                </a:solidFill>
                <a:latin typeface="Roboto Mono"/>
              </a:rPr>
              <a:t>INNER JOIN</a:t>
            </a:r>
            <a:r>
              <a:rPr sz="3200" b="1" i="0" u="none">
                <a:solidFill>
                  <a:srgbClr val="261F1D"/>
                </a:solidFill>
                <a:latin typeface="Helvetica"/>
              </a:rPr>
              <a:t> actually return?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3</a:t>
            </a:r>
          </a:p>
          <a:p>
            <a:pPr>
              <a:spcAft>
                <a:spcPts val="1000"/>
              </a:spcAft>
            </a:pPr>
            <a:r>
              <a:rPr sz="2600" b="0" i="0" u="none">
                <a:solidFill>
                  <a:srgbClr val="261F1D"/>
                </a:solidFill>
                <a:latin typeface="Helvetica"/>
              </a:rPr>
              <a:t>B.  5</a:t>
            </a:r>
          </a:p>
          <a:p>
            <a:pPr>
              <a:spcAft>
                <a:spcPts val="1000"/>
              </a:spcAft>
            </a:pPr>
            <a:r>
              <a:rPr sz="2600" b="0" i="0" u="none">
                <a:solidFill>
                  <a:srgbClr val="261F1D"/>
                </a:solidFill>
                <a:latin typeface="Helvetica"/>
              </a:rPr>
              <a:t>C.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Predicting an INNER JOIN Row Count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3</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Only Corner Bistro (2 inspections) and Green Leaf Cafe (1 inspection) have any real match — that's 3 total inspection rows. Sunset Diner, Harbor Grill, and New Spot NYC have zero inspections, so INNER JOIN drops them completely.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Only Matches, Confirmed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LEFT JOIN</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Every restaurant, whether or not it's ever been inspected.</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Every Left-Side Row</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NULLs Where Nothing Matches</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LEFT JOIN Keeps Every Row on the Left</a:t>
            </a:r>
          </a:p>
        </p:txBody>
      </p:sp>
      <p:sp>
        <p:nvSpPr>
          <p:cNvPr id="4" name="TextBox 3"/>
          <p:cNvSpPr txBox="1"/>
          <p:nvPr/>
        </p:nvSpPr>
        <p:spPr>
          <a:xfrm>
            <a:off x="548640" y="1188720"/>
            <a:ext cx="6705295" cy="31445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Every row from restaurants, always</a:t>
            </a:r>
          </a:p>
          <a:p>
            <a:pPr>
              <a:spcAft>
                <a:spcPts val="1000"/>
              </a:spcAft>
            </a:pPr>
            <a:r>
              <a:rPr sz="2600">
                <a:solidFill>
                  <a:srgbClr val="261F1D"/>
                </a:solidFill>
                <a:latin typeface="Helvetica"/>
              </a:rPr>
              <a:t>•  </a:t>
            </a:r>
            <a:r>
              <a:rPr sz="2600" b="0" i="0" u="none">
                <a:solidFill>
                  <a:srgbClr val="261F1D"/>
                </a:solidFill>
                <a:latin typeface="Helvetica"/>
              </a:rPr>
              <a:t>A real match, if one exists</a:t>
            </a:r>
          </a:p>
          <a:p>
            <a:pPr>
              <a:spcAft>
                <a:spcPts val="1000"/>
              </a:spcAft>
            </a:pPr>
            <a:r>
              <a:rPr sz="2600">
                <a:solidFill>
                  <a:srgbClr val="261F1D"/>
                </a:solidFill>
                <a:latin typeface="Helvetica"/>
              </a:rPr>
              <a:t>•  </a:t>
            </a:r>
            <a:r>
              <a:rPr sz="2600" b="0" i="0" u="none">
                <a:solidFill>
                  <a:srgbClr val="261F1D"/>
                </a:solidFill>
                <a:latin typeface="Helvetica"/>
              </a:rPr>
              <a:t>NULL columns, if it doesn't</a:t>
            </a:r>
          </a:p>
        </p:txBody>
      </p:sp>
      <p:sp>
        <p:nvSpPr>
          <p:cNvPr id="5" name="Oval 4"/>
          <p:cNvSpPr/>
          <p:nvPr/>
        </p:nvSpPr>
        <p:spPr>
          <a:xfrm>
            <a:off x="8733841" y="1794866"/>
            <a:ext cx="1977949" cy="1977949"/>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228328" y="2289353"/>
            <a:ext cx="988974" cy="988974"/>
          </a:xfrm>
          <a:prstGeom prst="rect">
            <a:avLst/>
          </a:prstGeom>
        </p:spPr>
      </p:pic>
      <p:sp>
        <p:nvSpPr>
          <p:cNvPr id="7" name="Rounded Rectangle 6"/>
          <p:cNvSpPr/>
          <p:nvPr/>
        </p:nvSpPr>
        <p:spPr>
          <a:xfrm>
            <a:off x="548640" y="4516120"/>
            <a:ext cx="11094415" cy="18389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516120"/>
            <a:ext cx="10637215" cy="18389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LEFT JOIN is like reading the full invite list at a reunion sign-in — every invited name gets read, even Uncle Jake who never showed, just with a blank next to his name instead of him vanishing from the list.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Concept</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LEFT JOIN</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word changes — everything else stays the same.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LEFT JOIN: Every Restaurant, Match or Not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inspection_date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critical_flag</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r</a:t>
            </a:r>
          </a:p>
          <a:p>
            <a:pPr>
              <a:lnSpc>
                <a:spcPct val="120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 </a:t>
            </a:r>
            <a:r>
              <a:rPr sz="2600" i="0">
                <a:solidFill>
                  <a:srgbClr val="EEBC32"/>
                </a:solidFill>
                <a:latin typeface="Roboto Mono"/>
              </a:rPr>
              <a:t>ON</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How many rows does this </a:t>
            </a:r>
            <a:r>
              <a:rPr sz="3200" b="1" i="0" u="none">
                <a:solidFill>
                  <a:srgbClr val="261F1D"/>
                </a:solidFill>
                <a:latin typeface="Roboto Mono"/>
              </a:rPr>
              <a:t>LEFT JOIN</a:t>
            </a:r>
            <a:r>
              <a:rPr sz="3200" b="1" i="0" u="none">
                <a:solidFill>
                  <a:srgbClr val="261F1D"/>
                </a:solidFill>
                <a:latin typeface="Helvetica"/>
              </a:rPr>
              <a:t> actually return?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6</a:t>
            </a:r>
          </a:p>
          <a:p>
            <a:pPr>
              <a:spcAft>
                <a:spcPts val="1000"/>
              </a:spcAft>
            </a:pPr>
            <a:r>
              <a:rPr sz="2600" b="0" i="0" u="none">
                <a:solidFill>
                  <a:srgbClr val="261F1D"/>
                </a:solidFill>
                <a:latin typeface="Helvetica"/>
              </a:rPr>
              <a:t>B.  3</a:t>
            </a:r>
          </a:p>
          <a:p>
            <a:pPr>
              <a:spcAft>
                <a:spcPts val="1000"/>
              </a:spcAft>
            </a:pPr>
            <a:r>
              <a:rPr sz="2600" b="0" i="0" u="none">
                <a:solidFill>
                  <a:srgbClr val="261F1D"/>
                </a:solidFill>
                <a:latin typeface="Helvetica"/>
              </a:rPr>
              <a:t>C.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Predicting a LEFT JOIN Row Count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6</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same 3 matched rows from INNER JOIN, plus 3 more — one per restaurant with zero inspections (Sunset Diner, Harbor Grill, New Spot NYC), each with NULL in the inspection columns. Same tables, same ON, a genuinely different row count.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3 Rows vs. 6 Rows, One Word Different</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INNER JOIN</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Only rows with a real match</a:t>
            </a:r>
          </a:p>
          <a:p>
            <a:pPr>
              <a:spcAft>
                <a:spcPts val="1000"/>
              </a:spcAft>
            </a:pPr>
            <a:r>
              <a:rPr sz="2600">
                <a:solidFill>
                  <a:srgbClr val="261F1D"/>
                </a:solidFill>
                <a:latin typeface="Helvetica"/>
              </a:rPr>
              <a:t>•  </a:t>
            </a:r>
            <a:r>
              <a:rPr sz="2600" b="0" i="0" u="none">
                <a:solidFill>
                  <a:srgbClr val="261F1D"/>
                </a:solidFill>
                <a:latin typeface="Helvetica"/>
              </a:rPr>
              <a:t>Silently drops the rest</a:t>
            </a:r>
          </a:p>
          <a:p>
            <a:pPr>
              <a:spcAft>
                <a:spcPts val="1000"/>
              </a:spcAft>
            </a:pPr>
            <a:r>
              <a:rPr sz="2600">
                <a:solidFill>
                  <a:srgbClr val="261F1D"/>
                </a:solidFill>
                <a:latin typeface="Helvetica"/>
              </a:rPr>
              <a:t>•  </a:t>
            </a:r>
            <a:r>
              <a:rPr sz="2600" b="0" i="0" u="none">
                <a:solidFill>
                  <a:srgbClr val="261F1D"/>
                </a:solidFill>
                <a:latin typeface="Helvetica"/>
              </a:rPr>
              <a:t>3 rows, on this data</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LEFT JOIN</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Every row from the left table</a:t>
            </a:r>
          </a:p>
          <a:p>
            <a:pPr>
              <a:spcAft>
                <a:spcPts val="1000"/>
              </a:spcAft>
            </a:pPr>
            <a:r>
              <a:rPr sz="2600">
                <a:solidFill>
                  <a:srgbClr val="261F1D"/>
                </a:solidFill>
                <a:latin typeface="Helvetica"/>
              </a:rPr>
              <a:t>•  </a:t>
            </a:r>
            <a:r>
              <a:rPr sz="2600" b="0" i="0" u="none">
                <a:solidFill>
                  <a:srgbClr val="261F1D"/>
                </a:solidFill>
                <a:latin typeface="Helvetica"/>
              </a:rPr>
              <a:t>NULL where nothing matches</a:t>
            </a:r>
          </a:p>
          <a:p>
            <a:pPr>
              <a:spcAft>
                <a:spcPts val="1000"/>
              </a:spcAft>
            </a:pPr>
            <a:r>
              <a:rPr sz="2600">
                <a:solidFill>
                  <a:srgbClr val="261F1D"/>
                </a:solidFill>
                <a:latin typeface="Helvetica"/>
              </a:rPr>
              <a:t>•  </a:t>
            </a:r>
            <a:r>
              <a:rPr sz="2600" b="0" i="0" u="none">
                <a:solidFill>
                  <a:srgbClr val="261F1D"/>
                </a:solidFill>
                <a:latin typeface="Helvetica"/>
              </a:rPr>
              <a:t>6 rows, same data</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Same tables, same ON clause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"Looks Complete" Is Not the Same as Complete</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INNER JOIN can hide real rows</a:t>
            </a:r>
          </a:p>
          <a:p>
            <a:pPr>
              <a:spcAft>
                <a:spcPts val="1000"/>
              </a:spcAft>
            </a:pPr>
            <a:r>
              <a:rPr sz="2600">
                <a:solidFill>
                  <a:srgbClr val="261F1D"/>
                </a:solidFill>
                <a:latin typeface="Helvetica"/>
              </a:rPr>
              <a:t>•  </a:t>
            </a:r>
            <a:r>
              <a:rPr sz="2600" b="0" i="0" u="none">
                <a:solidFill>
                  <a:srgbClr val="261F1D"/>
                </a:solidFill>
                <a:latin typeface="Helvetica"/>
              </a:rPr>
              <a:t>No error, no warning — just gone</a:t>
            </a:r>
          </a:p>
          <a:p>
            <a:pPr>
              <a:spcAft>
                <a:spcPts val="1000"/>
              </a:spcAft>
            </a:pPr>
            <a:r>
              <a:rPr sz="2600">
                <a:solidFill>
                  <a:srgbClr val="261F1D"/>
                </a:solidFill>
                <a:latin typeface="Helvetica"/>
              </a:rPr>
              <a:t>•  </a:t>
            </a:r>
            <a:r>
              <a:rPr sz="2600" b="0" i="0" u="none">
                <a:solidFill>
                  <a:srgbClr val="261F1D"/>
                </a:solidFill>
                <a:latin typeface="Helvetica"/>
              </a:rPr>
              <a:t>Only visible on unmatched data</a:t>
            </a:r>
          </a:p>
        </p:txBody>
      </p:sp>
      <p:sp>
        <p:nvSpPr>
          <p:cNvPr id="5" name="Oval 4"/>
          <p:cNvSpPr/>
          <p:nvPr/>
        </p:nvSpPr>
        <p:spPr>
          <a:xfrm>
            <a:off x="8532266" y="2581351"/>
            <a:ext cx="2381098" cy="2381098"/>
          </a:xfrm>
          <a:prstGeom prst="ellipse">
            <a:avLst/>
          </a:prstGeom>
          <a:solidFill>
            <a:srgbClr val="F7DFDF"/>
          </a:solidFill>
          <a:ln w="50800">
            <a:solidFill>
              <a:srgbClr val="C92929"/>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Real Risk, Named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Finding What's Missing</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Using LEFT JOIN on purpose, to find exactly what INNER JOIN hides.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Which Restaurants Have Never Been Inspected?</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dba</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r</a:t>
            </a:r>
          </a:p>
          <a:p>
            <a:pPr>
              <a:lnSpc>
                <a:spcPct val="120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 </a:t>
            </a:r>
            <a:r>
              <a:rPr sz="2600" i="0">
                <a:solidFill>
                  <a:srgbClr val="EEBC32"/>
                </a:solidFill>
                <a:latin typeface="Roboto Mono"/>
              </a:rPr>
              <a:t>ON</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camis</a:t>
            </a:r>
          </a:p>
          <a:p>
            <a:pPr>
              <a:lnSpc>
                <a:spcPct val="120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 </a:t>
            </a:r>
            <a:r>
              <a:rPr sz="2600" i="0">
                <a:solidFill>
                  <a:srgbClr val="EEBC32"/>
                </a:solidFill>
                <a:latin typeface="Roboto Mono"/>
              </a:rPr>
              <a:t>IS</a:t>
            </a:r>
            <a:r>
              <a:rPr sz="2600" i="0">
                <a:solidFill>
                  <a:srgbClr val="FFFCF7"/>
                </a:solidFill>
                <a:latin typeface="Roboto Mono"/>
              </a:rPr>
              <a:t> </a:t>
            </a:r>
            <a:r>
              <a:rPr sz="2600" i="0">
                <a:solidFill>
                  <a:srgbClr val="EEBC32"/>
                </a:solidFill>
                <a:latin typeface="Roboto Mono"/>
              </a:rPr>
              <a:t>NULL</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build every report with INNER JOIN by default, or LEFT JOIN by default? Defend your answer the way you would in an interview.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Which join should I use for this report?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685800"/>
          </a:xfrm>
          <a:prstGeom prst="rect">
            <a:avLst/>
          </a:prstGeom>
          <a:noFill/>
        </p:spPr>
        <p:txBody>
          <a:bodyPr wrap="square" anchor="t" lIns="0" rIns="0" tIns="0" bIns="0">
            <a:noAutofit/>
          </a:bodyPr>
          <a:lstStyle/>
          <a:p>
            <a:pPr algn="l"/>
            <a:r>
              <a:rPr sz="3200" b="1" i="0" u="none">
                <a:solidFill>
                  <a:srgbClr val="261F1D"/>
                </a:solidFill>
                <a:latin typeface="Helvetica"/>
              </a:rPr>
              <a:t>Which join should I use for this report?</a:t>
            </a:r>
          </a:p>
        </p:txBody>
      </p:sp>
      <p:sp>
        <p:nvSpPr>
          <p:cNvPr id="7" name="Rounded Rectangle 6"/>
          <p:cNvSpPr/>
          <p:nvPr/>
        </p:nvSpPr>
        <p:spPr>
          <a:xfrm>
            <a:off x="548640" y="2240280"/>
            <a:ext cx="11094415" cy="411480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10545775" cy="365760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Question: I'd first ask what the report needs to show — every record regardless of a match, or only confirmed matches? That decides the join type. Assumption: Guessing wrong here likely means defaulting to INNER JOIN. Risk: INNER JOIN silently drops unmatched rows, no error or warning. If the report is meant to show gaps, like restaurants with no inspections, INNER JOIN would quietly hide exactly those rows.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304288"/>
          <a:ext cx="11094415" cy="288950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JOIN</a:t>
                      </a:r>
                    </a:p>
                  </a:txBody>
                  <a:tcPr marL="109728" marR="109728" marT="54864" marB="54864" anchor="ctr">
                    <a:solidFill>
                      <a:srgbClr val="FFFCF7"/>
                    </a:solidFill>
                  </a:tcPr>
                </a:tc>
                <a:tc>
                  <a:txBody>
                    <a:bodyPr wrap="square"/>
                    <a:lstStyle/>
                    <a:p>
                      <a:r>
                        <a:rPr sz="2600" b="0" i="0" u="none">
                          <a:solidFill>
                            <a:srgbClr val="261F1D"/>
                          </a:solidFill>
                          <a:latin typeface="Helvetica"/>
                        </a:rPr>
                        <a:t>Combines rows on a matching key</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INNER JOIN</a:t>
                      </a:r>
                    </a:p>
                  </a:txBody>
                  <a:tcPr marL="109728" marR="109728" marT="54864" marB="54864" anchor="ctr">
                    <a:solidFill>
                      <a:srgbClr val="FFF6E4"/>
                    </a:solidFill>
                  </a:tcPr>
                </a:tc>
                <a:tc>
                  <a:txBody>
                    <a:bodyPr wrap="square"/>
                    <a:lstStyle/>
                    <a:p>
                      <a:r>
                        <a:rPr sz="2600" b="0" i="0" u="none">
                          <a:solidFill>
                            <a:srgbClr val="261F1D"/>
                          </a:solidFill>
                          <a:latin typeface="Helvetica"/>
                        </a:rPr>
                        <a:t>Only rows with a real match</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LEFT JOIN</a:t>
                      </a:r>
                    </a:p>
                  </a:txBody>
                  <a:tcPr marL="109728" marR="109728" marT="54864" marB="54864" anchor="ctr">
                    <a:solidFill>
                      <a:srgbClr val="FFFCF7"/>
                    </a:solidFill>
                  </a:tcPr>
                </a:tc>
                <a:tc>
                  <a:txBody>
                    <a:bodyPr wrap="square"/>
                    <a:lstStyle/>
                    <a:p>
                      <a:r>
                        <a:rPr sz="2600" b="0" i="0" u="none">
                          <a:solidFill>
                            <a:srgbClr val="261F1D"/>
                          </a:solidFill>
                          <a:latin typeface="Helvetica"/>
                        </a:rPr>
                        <a:t>Every left row, NULL if unmatched</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Anti-join</a:t>
                      </a:r>
                    </a:p>
                  </a:txBody>
                  <a:tcPr marL="109728" marR="109728" marT="54864" marB="54864" anchor="ctr">
                    <a:solidFill>
                      <a:srgbClr val="FFF6E4"/>
                    </a:solidFill>
                  </a:tcPr>
                </a:tc>
                <a:tc>
                  <a:txBody>
                    <a:bodyPr wrap="square"/>
                    <a:lstStyle/>
                    <a:p>
                      <a:r>
                        <a:rPr sz="2600" b="0" i="0" u="none">
                          <a:solidFill>
                            <a:srgbClr val="261F1D"/>
                          </a:solidFill>
                          <a:latin typeface="Helvetica"/>
                        </a:rPr>
                        <a:t>LEFT JOIN plus a NULL check</a:t>
                      </a:r>
                    </a:p>
                  </a:txBody>
                  <a:tcPr marL="109728" marR="109728" marT="54864" marB="54864" anchor="ctr">
                    <a:solidFill>
                      <a:srgbClr val="FFF6E4"/>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INNER JOIN: Only real matches</a:t>
            </a:r>
          </a:p>
          <a:p>
            <a:pPr>
              <a:spcAft>
                <a:spcPts val="1000"/>
              </a:spcAft>
            </a:pPr>
            <a:r>
              <a:rPr sz="2600">
                <a:solidFill>
                  <a:srgbClr val="261F1D"/>
                </a:solidFill>
                <a:latin typeface="Helvetica"/>
              </a:rPr>
              <a:t>•  </a:t>
            </a:r>
            <a:r>
              <a:rPr sz="2600" b="0" i="0" u="none">
                <a:solidFill>
                  <a:srgbClr val="261F1D"/>
                </a:solidFill>
                <a:latin typeface="Helvetica"/>
              </a:rPr>
              <a:t>LEFT JOIN: Every row, NULLs allowed</a:t>
            </a:r>
          </a:p>
          <a:p>
            <a:pPr>
              <a:spcAft>
                <a:spcPts val="1000"/>
              </a:spcAft>
            </a:pPr>
            <a:r>
              <a:rPr sz="2600">
                <a:solidFill>
                  <a:srgbClr val="261F1D"/>
                </a:solidFill>
                <a:latin typeface="Helvetica"/>
              </a:rPr>
              <a:t>•  </a:t>
            </a:r>
            <a:r>
              <a:rPr sz="2600" b="0" i="0" u="none">
                <a:solidFill>
                  <a:srgbClr val="261F1D"/>
                </a:solidFill>
                <a:latin typeface="Helvetica"/>
              </a:rPr>
              <a:t>3 rows vs. 6, proven for real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No new exercise today</a:t>
            </a:r>
          </a:p>
          <a:p>
            <a:pPr>
              <a:spcAft>
                <a:spcPts val="1000"/>
              </a:spcAft>
            </a:pPr>
            <a:r>
              <a:rPr sz="2600">
                <a:solidFill>
                  <a:srgbClr val="FFFCF7"/>
                </a:solidFill>
                <a:latin typeface="Helvetica"/>
              </a:rPr>
              <a:t>•  </a:t>
            </a:r>
            <a:r>
              <a:rPr sz="2600" b="0" i="0" u="none">
                <a:solidFill>
                  <a:srgbClr val="FFFCF7"/>
                </a:solidFill>
                <a:latin typeface="Helvetica"/>
              </a:rPr>
              <a:t>Next class: GROUP BY and HAVING</a:t>
            </a:r>
          </a:p>
          <a:p>
            <a:pPr>
              <a:spcAft>
                <a:spcPts val="1000"/>
              </a:spcAft>
            </a:pPr>
            <a:r>
              <a:rPr sz="2600">
                <a:solidFill>
                  <a:srgbClr val="FFFCF7"/>
                </a:solidFill>
                <a:latin typeface="Helvetica"/>
              </a:rPr>
              <a:t>•  </a:t>
            </a:r>
            <a:r>
              <a:rPr sz="2600" b="0" i="0" u="none">
                <a:solidFill>
                  <a:srgbClr val="FFFCF7"/>
                </a:solidFill>
                <a:latin typeface="Helvetica"/>
              </a:rPr>
              <a:t>Keep your database running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PostgreSQL Tutorial: JOIN</a:t>
            </a:r>
          </a:p>
        </p:txBody>
      </p:sp>
      <p:sp>
        <p:nvSpPr>
          <p:cNvPr id="8" name="TextBox 7"/>
          <p:cNvSpPr txBox="1"/>
          <p:nvPr/>
        </p:nvSpPr>
        <p:spPr>
          <a:xfrm>
            <a:off x="1051560" y="2350008"/>
            <a:ext cx="10591495" cy="768096"/>
          </a:xfrm>
          <a:prstGeom prst="rect">
            <a:avLst/>
          </a:prstGeom>
          <a:noFill/>
        </p:spPr>
        <p:txBody>
          <a:bodyPr wrap="square" anchor="t" lIns="0" rIns="0" tIns="0" bIns="0">
            <a:noAutofit/>
          </a:bodyPr>
          <a:lstStyle/>
          <a:p>
            <a:pPr algn="l"/>
            <a:r>
              <a:rPr sz="2600" b="1" i="0" u="none">
                <a:solidFill>
                  <a:srgbClr val="327A5F"/>
                </a:solidFill>
                <a:latin typeface="Helvetica"/>
              </a:rPr>
              <a:t>PostgreSQL Global Development Group  ·  DOCS  ·  ~8 min read</a:t>
            </a:r>
          </a:p>
        </p:txBody>
      </p:sp>
      <p:sp>
        <p:nvSpPr>
          <p:cNvPr id="9" name="TextBox 8"/>
          <p:cNvSpPr txBox="1"/>
          <p:nvPr/>
        </p:nvSpPr>
        <p:spPr>
          <a:xfrm>
            <a:off x="1051560" y="311810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official reference, straight from the source</a:t>
            </a:r>
          </a:p>
        </p:txBody>
      </p:sp>
      <p:pic>
        <p:nvPicPr>
          <p:cNvPr id="10" name="Picture 9" descr=""/>
          <p:cNvPicPr>
            <a:picLocks noChangeAspect="1"/>
          </p:cNvPicPr>
          <p:nvPr/>
        </p:nvPicPr>
        <p:blipFill>
          <a:blip r:embed="rId5"/>
          <a:stretch>
            <a:fillRect/>
          </a:stretch>
        </p:blipFill>
        <p:spPr>
          <a:xfrm>
            <a:off x="548640" y="3749040"/>
            <a:ext cx="365760" cy="365760"/>
          </a:xfrm>
          <a:prstGeom prst="rect">
            <a:avLst/>
          </a:prstGeom>
        </p:spPr>
      </p:pic>
      <p:sp>
        <p:nvSpPr>
          <p:cNvPr id="11" name="TextBox 10"/>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SQL Joins Explained</a:t>
            </a:r>
          </a:p>
        </p:txBody>
      </p:sp>
      <p:sp>
        <p:nvSpPr>
          <p:cNvPr id="12" name="TextBox 11"/>
          <p:cNvSpPr txBox="1"/>
          <p:nvPr/>
        </p:nvSpPr>
        <p:spPr>
          <a:xfrm>
            <a:off x="1051560" y="4114800"/>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W3Schools  ·  READING  ·  ~10 min read</a:t>
            </a:r>
          </a:p>
        </p:txBody>
      </p:sp>
      <p:sp>
        <p:nvSpPr>
          <p:cNvPr id="13" name="TextBox 12"/>
          <p:cNvSpPr txBox="1"/>
          <p:nvPr/>
        </p:nvSpPr>
        <p:spPr>
          <a:xfrm>
            <a:off x="1051560" y="4498848"/>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Clear breakdown of every join type, with real examples</a:t>
            </a:r>
          </a:p>
        </p:txBody>
      </p:sp>
      <p:pic>
        <p:nvPicPr>
          <p:cNvPr id="14" name="Picture 13" descr=""/>
          <p:cNvPicPr>
            <a:picLocks noChangeAspect="1"/>
          </p:cNvPicPr>
          <p:nvPr/>
        </p:nvPicPr>
        <p:blipFill>
          <a:blip r:embed="rId7"/>
          <a:stretch>
            <a:fillRect/>
          </a:stretch>
        </p:blipFill>
        <p:spPr>
          <a:xfrm>
            <a:off x="548640" y="5129784"/>
            <a:ext cx="365760" cy="365760"/>
          </a:xfrm>
          <a:prstGeom prst="rect">
            <a:avLst/>
          </a:prstGeom>
        </p:spPr>
      </p:pic>
      <p:sp>
        <p:nvSpPr>
          <p:cNvPr id="15" name="TextBox 14"/>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SQLBolt</a:t>
            </a:r>
          </a:p>
        </p:txBody>
      </p:sp>
      <p:sp>
        <p:nvSpPr>
          <p:cNvPr id="16" name="TextBox 15"/>
          <p:cNvSpPr txBox="1"/>
          <p:nvPr/>
        </p:nvSpPr>
        <p:spPr>
          <a:xfrm>
            <a:off x="1051560" y="5495544"/>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SQLBolt  ·  PRACTICE  ·  ~15 min hands-on</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same free interactive lessons from yesterday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