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Frame this as a readability upgrade, not a new capability — everything today's CTE does, a subquery could already do. The point is being able to trust what you wrote at a glance.</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Read both out loud. Name explicitly: the project's own rubric grades whether your CTE genuinely reads easier than the subquery it replaces — not just that one exists.</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Just names for now — a genuinely hard-to-read query is coming up in a few minutes, and you'll fix it yourself.</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[~1 min mark] Keep this brisk.</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In person: a couple of quick shout-outs. Online: drop one sentence in chat.</a:t>
            </a:r>
          </a:p>
          <a:p/>
          <a:p>
            <a:r>
              <a:t>[SCRIPT] Target idea: WHERE filters rows before GROUP BY ever runs, so the aggregate doesn't exist yet at the point WHERE checks it. Today's whole example leans on aggregates too, just nested instead of filtered.</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explicitly that this is a code-along.</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Run it and let the result print — 2 rows, Corner Bistro and Green Leaf Cafe. Then ask the room to actually read the query back out loud, start to finish. Watch how hard that is.</a:t>
            </a:r>
          </a:p>
          <a:p/>
          <a:p>
            <a:r>
              <a:t>[MISCONCEPTIONS] Fellows often assume "correct" and "readable" are the same thing. This query is completely correct — it's also genuinely hard to trust at a glance, which is a real, separate problem.</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In person: turn and talk, 60 seconds. Online: drop a take in chat.</a:t>
            </a:r>
          </a:p>
          <a:p/>
          <a:p>
            <a:r>
              <a:t>[SCRIPT] Target idea: the innermost subquery has to be read and understood *first*, then the one wrapping it, then the outer query — reasoning happens inside-out, backwards from how the eye actually scans the page top to bottom.</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Point at each step: the eye scans this query top to bottom, but the database has to reason about it right to left — innermost first. That mismatch is the real readability problem, not a vague "subqueries are confusing" feeling.</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explicitly: everything a CTE does, a subquery could already do. The only thing that changed is where the reasoning happens — named and up front, instead of buried inside parentheses.</a:t>
            </a:r>
          </a:p>
          <a:p/>
          <a:p>
            <a:r>
              <a:t>[MISCONCEPTIONS] Fellows sometimes assume a CTE is faster than a subquery. It isn't, reliably. The real win here is readability, not performance.</a:t>
            </a:r>
          </a:p>
          <a:p/>
          <a:p>
            <a:r>
              <a:t>[SOURCES] PostgreSQL's query planner treats a CTE and an equivalent subquery as performance-comparable in the general case (materialization behavior can differ). See the official WITH-queries docs linked in this lesson's further_resources.</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Point at each piece in order — this is the exact shape every CTE in this module will follow, simple or complex.</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explicitly that this is a code-along.</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Run it: 3 rows print, the same 3 "Not Critical" inspections you'd get from the plain WHERE version. Name explicitly: this alone doesn't need a CTE — it's here to isolate the bare syntax before the harder rewrite.</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Quick confirmation before moving to the harder rewrite — the syntax itself should feel solid by now.</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answer: 3</a:t>
            </a:r>
          </a:p>
          <a:p>
            <a:r>
              <a:t>Why: 3 of the 4 real inspection rows have `critical_flag = 'Not Critical'` — only the very first inspection (2026-01-15) was marked Critical.</a:t>
            </a:r>
          </a:p>
          <a:p>
            <a:r>
              <a:t>Source: This lesson's own worked example, not an external citation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explicitly that this is a code-along.</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Run it and let the same 2 rows print. Name explicitly: same answer, same underlying logic, and the query now reads in the exact order you'd explain it out loud.</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explicitly: this is the whole point proven concretely — rewriting as a CTE is a pure readability change, not a logic change.</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answer: Yes — Corner Bistro and Green Leaf Cafe, same as before</a:t>
            </a:r>
          </a:p>
          <a:p>
            <a:r>
              <a:t>Why: A CTE doesn't change what a query computes — it only changes how the query is organized on the page. Same restaurants, same average, same 2-row answer.</a:t>
            </a:r>
          </a:p>
          <a:p>
            <a:r>
              <a:t>Source: This lesson's own worked example, not an external citation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the real takeaway: this isn't "subqueries are wrong." It's that a CTE earns its place the moment a query gets nested enough to slow a reader down — exactly the judgment call the project's own rubric grades.</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[TECHNIQUE] Use PREP — "when would you choose X over Y" is exactly the state-a-position-and-justify shape PREP fits.</a:t>
            </a:r>
          </a:p>
          <a:p/>
          <a:p>
            <a:r>
              <a:t>[SCRIPT] No wrong answer up front, but land on the real point: a one-line subquery doesn't need a CTE — the project's own rubric specifically asks whether your CTE "genuinely improves readability," which means the call has to be judged case by case, not applied as a blanket rule.</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[TECHNIQUE] Use PREP again here — same "explain a concept and its tradeoff" shape as the CFU right before this slide, now as the formal model answer.</a:t>
            </a:r>
          </a:p>
          <a:p/>
          <a:p>
            <a:r>
              <a:t>[SCRIPT] Have a Fellow attempt this cold first — the goal is naming the actual *judgment call*, not reciting "CTEs are more readable."</a:t>
            </a:r>
          </a:p>
          <a:p/>
          <a:p/>
          <a:p>
            <a:r>
              <a:t>Short answers:</a:t>
            </a:r>
          </a:p>
          <a:p/>
          <a:p>
            <a:r>
              <a:t>Q: When would you choose a CTE over a subquery?</a:t>
            </a:r>
          </a:p>
          <a:p>
            <a:r>
              <a:t>A: Point: Reach for a CTE once nested logic forces a reader to work inside-out to follow it. Reason: A CTE names that logic and moves it to the top, so the query reads in the order you'd explain it aloud. Example: Today's rewrite kept the same answer and tables — only where the reasoning lives on the page changed. Point: For a simple subquery, a CTE adds a name without adding real clarity — the judgment call is whether naming it helps the next reader.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Quick round-trip through both terms — this is exactly the vocabulary the project's own Q4 expects you to use correctly.</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Close by naming the shift ahead: next class takes CTEs further — decomposing a real multi-table question with a peer, the harder rep this single-CTE day was deliberately keeping simple. Name the project tie explicitly: your own Q4 CTE gets graded on exactly today's own standard — does it genuinely read easier than the subquery it replaces.</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Give a specific heads-up: next class is collaborative — come ready to work through a harder multi-table question with a partner, building directly on today's own WITH syntax.</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Point out the official docs specifically — CTEs have real extra features (like recursive CTEs) this lesson doesn't cover, and the docs are where that depth actually lives.</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hyperlink" Target="https://www.postgresql.org/docs/current/queries-with.html" TargetMode="External"/><Relationship Id="rId5" Type="http://schemas.openxmlformats.org/officeDocument/2006/relationships/image" Target="../media/image11.png"/><Relationship Id="rId6" Type="http://schemas.openxmlformats.org/officeDocument/2006/relationships/hyperlink" Target="https://www.geeksforgeeks.org/sql/cte-in-sql/" TargetMode="External"/><Relationship Id="rId7" Type="http://schemas.openxmlformats.org/officeDocument/2006/relationships/image" Target="../media/image12.png"/><Relationship Id="rId8" Type="http://schemas.openxmlformats.org/officeDocument/2006/relationships/hyperlink" Target="https://sqlbolt.com/" TargetMode="External"/><Relationship Id="rId9"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320040"/>
            <a:ext cx="11094415" cy="274320"/>
          </a:xfrm>
          <a:prstGeom prst="rect">
            <a:avLst/>
          </a:prstGeom>
          <a:noFill/>
        </p:spPr>
        <p:txBody>
          <a:bodyPr wrap="square" anchor="t" lIns="0" rIns="0" tIns="0" bIns="0">
            <a:noAutofit/>
          </a:bodyPr>
          <a:lstStyle/>
          <a:p>
            <a:pPr algn="l"/>
            <a:r>
              <a:rPr sz="2600" b="1" i="0" u="none">
                <a:solidFill>
                  <a:srgbClr val="FFFCF7"/>
                </a:solidFill>
                <a:latin typeface="Helvetica"/>
              </a:rPr>
              <a:t>THE MARCY LAB SCHOOL</a:t>
            </a:r>
          </a:p>
        </p:txBody>
      </p:sp>
      <p:sp>
        <p:nvSpPr>
          <p:cNvPr id="4" name="Rectangle 3"/>
          <p:cNvSpPr/>
          <p:nvPr/>
        </p:nvSpPr>
        <p:spPr>
          <a:xfrm>
            <a:off x="0" y="6748272"/>
            <a:ext cx="8534186" cy="54864"/>
          </a:xfrm>
          <a:prstGeom prst="rect">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286000"/>
            <a:ext cx="11094415" cy="1463040"/>
          </a:xfrm>
          <a:prstGeom prst="rect">
            <a:avLst/>
          </a:prstGeom>
          <a:noFill/>
        </p:spPr>
        <p:txBody>
          <a:bodyPr wrap="square" anchor="b" lIns="0" rIns="0" tIns="0" bIns="0">
            <a:noAutofit/>
          </a:bodyPr>
          <a:lstStyle/>
          <a:p>
            <a:pPr algn="l"/>
            <a:r>
              <a:rPr sz="4000" b="1" i="0" u="none">
                <a:solidFill>
                  <a:srgbClr val="EEBC32"/>
                </a:solidFill>
                <a:latin typeface="Helvetica"/>
              </a:rPr>
              <a:t>CTEs I</a:t>
            </a:r>
          </a:p>
        </p:txBody>
      </p:sp>
      <p:sp>
        <p:nvSpPr>
          <p:cNvPr id="6" name="TextBox 5"/>
          <p:cNvSpPr txBox="1"/>
          <p:nvPr/>
        </p:nvSpPr>
        <p:spPr>
          <a:xfrm>
            <a:off x="548640" y="5943600"/>
            <a:ext cx="8229600" cy="457200"/>
          </a:xfrm>
          <a:prstGeom prst="rect">
            <a:avLst/>
          </a:prstGeom>
          <a:noFill/>
        </p:spPr>
        <p:txBody>
          <a:bodyPr wrap="square" anchor="t" lIns="0" rIns="0" tIns="0" bIns="0">
            <a:noAutofit/>
          </a:bodyPr>
          <a:lstStyle/>
          <a:p>
            <a:pPr algn="l"/>
            <a:r>
              <a:rPr sz="2600" b="0" i="0" u="none">
                <a:solidFill>
                  <a:srgbClr val="FFFCF7"/>
                </a:solidFill>
                <a:latin typeface="Helvetica"/>
              </a:rPr>
              <a:t>Module 3: SQL &amp; Relational Databases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By the End of Today, You'll Be Able To...</a:t>
            </a:r>
          </a:p>
        </p:txBody>
      </p:sp>
      <p:sp>
        <p:nvSpPr>
          <p:cNvPr id="4" name="Rounded Rectangle 3"/>
          <p:cNvSpPr/>
          <p:nvPr/>
        </p:nvSpPr>
        <p:spPr>
          <a:xfrm>
            <a:off x="548640" y="2468880"/>
            <a:ext cx="5432908" cy="2560320"/>
          </a:xfrm>
          <a:prstGeom prst="roundRect">
            <a:avLst>
              <a:gd name="adj" fmla="val 6000"/>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2990774" y="2697480"/>
            <a:ext cx="548640" cy="548640"/>
          </a:xfrm>
          <a:prstGeom prst="rect">
            <a:avLst/>
          </a:prstGeom>
        </p:spPr>
      </p:pic>
      <p:sp>
        <p:nvSpPr>
          <p:cNvPr id="6" name="TextBox 5"/>
          <p:cNvSpPr txBox="1"/>
          <p:nvPr/>
        </p:nvSpPr>
        <p:spPr>
          <a:xfrm>
            <a:off x="685800" y="3429000"/>
            <a:ext cx="5158588" cy="1463040"/>
          </a:xfrm>
          <a:prstGeom prst="rect">
            <a:avLst/>
          </a:prstGeom>
          <a:noFill/>
        </p:spPr>
        <p:txBody>
          <a:bodyPr wrap="square" anchor="t" lIns="0" rIns="0" tIns="0" bIns="0">
            <a:noAutofit/>
          </a:bodyPr>
          <a:lstStyle/>
          <a:p>
            <a:pPr algn="ctr"/>
            <a:r>
              <a:rPr sz="2600" b="1" i="0" u="none">
                <a:solidFill>
                  <a:srgbClr val="261F1D"/>
                </a:solidFill>
                <a:latin typeface="Helvetica"/>
              </a:rPr>
              <a:t>Write a CTE with WITH</a:t>
            </a:r>
          </a:p>
        </p:txBody>
      </p:sp>
      <p:sp>
        <p:nvSpPr>
          <p:cNvPr id="7" name="Rounded Rectangle 6"/>
          <p:cNvSpPr/>
          <p:nvPr/>
        </p:nvSpPr>
        <p:spPr>
          <a:xfrm>
            <a:off x="6210148" y="2468880"/>
            <a:ext cx="5432908" cy="25603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
          <p:cNvPicPr>
            <a:picLocks noChangeAspect="1"/>
          </p:cNvPicPr>
          <p:nvPr/>
        </p:nvPicPr>
        <p:blipFill>
          <a:blip r:embed="rId4"/>
          <a:stretch>
            <a:fillRect/>
          </a:stretch>
        </p:blipFill>
        <p:spPr>
          <a:xfrm>
            <a:off x="8652281" y="2697480"/>
            <a:ext cx="548640" cy="548640"/>
          </a:xfrm>
          <a:prstGeom prst="rect">
            <a:avLst/>
          </a:prstGeom>
        </p:spPr>
      </p:pic>
      <p:sp>
        <p:nvSpPr>
          <p:cNvPr id="9" name="TextBox 8"/>
          <p:cNvSpPr txBox="1"/>
          <p:nvPr/>
        </p:nvSpPr>
        <p:spPr>
          <a:xfrm>
            <a:off x="6347308" y="3429000"/>
            <a:ext cx="5158588" cy="1463040"/>
          </a:xfrm>
          <a:prstGeom prst="rect">
            <a:avLst/>
          </a:prstGeom>
          <a:noFill/>
        </p:spPr>
        <p:txBody>
          <a:bodyPr wrap="square" anchor="t" lIns="0" rIns="0" tIns="0" bIns="0">
            <a:noAutofit/>
          </a:bodyPr>
          <a:lstStyle/>
          <a:p>
            <a:pPr algn="ctr"/>
            <a:r>
              <a:rPr sz="2600" b="1" i="0" u="none">
                <a:solidFill>
                  <a:srgbClr val="261F1D"/>
                </a:solidFill>
                <a:latin typeface="Helvetica"/>
              </a:rPr>
              <a:t>Rewrite a subquery as a CTE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Key Terms You'll Know by the End of Today</a:t>
            </a:r>
          </a:p>
        </p:txBody>
      </p:sp>
      <p:sp>
        <p:nvSpPr>
          <p:cNvPr id="4" name="Rounded Rectangle 3"/>
          <p:cNvSpPr/>
          <p:nvPr/>
        </p:nvSpPr>
        <p:spPr>
          <a:xfrm>
            <a:off x="548640" y="2468880"/>
            <a:ext cx="5432908" cy="2560320"/>
          </a:xfrm>
          <a:prstGeom prst="roundRect">
            <a:avLst>
              <a:gd name="adj" fmla="val 6000"/>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2990774" y="2697480"/>
            <a:ext cx="548640" cy="548640"/>
          </a:xfrm>
          <a:prstGeom prst="rect">
            <a:avLst/>
          </a:prstGeom>
        </p:spPr>
      </p:pic>
      <p:sp>
        <p:nvSpPr>
          <p:cNvPr id="6" name="TextBox 5"/>
          <p:cNvSpPr txBox="1"/>
          <p:nvPr/>
        </p:nvSpPr>
        <p:spPr>
          <a:xfrm>
            <a:off x="685800" y="3429000"/>
            <a:ext cx="5158588" cy="1463040"/>
          </a:xfrm>
          <a:prstGeom prst="rect">
            <a:avLst/>
          </a:prstGeom>
          <a:noFill/>
        </p:spPr>
        <p:txBody>
          <a:bodyPr wrap="square" anchor="t" lIns="0" rIns="0" tIns="0" bIns="0">
            <a:noAutofit/>
          </a:bodyPr>
          <a:lstStyle/>
          <a:p>
            <a:pPr algn="ctr"/>
            <a:r>
              <a:rPr sz="2600" b="1" i="0" u="none">
                <a:solidFill>
                  <a:srgbClr val="261F1D"/>
                </a:solidFill>
                <a:latin typeface="Helvetica"/>
              </a:rPr>
              <a:t>CTE</a:t>
            </a:r>
          </a:p>
        </p:txBody>
      </p:sp>
      <p:sp>
        <p:nvSpPr>
          <p:cNvPr id="7" name="Rounded Rectangle 6"/>
          <p:cNvSpPr/>
          <p:nvPr/>
        </p:nvSpPr>
        <p:spPr>
          <a:xfrm>
            <a:off x="6210148" y="2468880"/>
            <a:ext cx="5432908" cy="25603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
          <p:cNvPicPr>
            <a:picLocks noChangeAspect="1"/>
          </p:cNvPicPr>
          <p:nvPr/>
        </p:nvPicPr>
        <p:blipFill>
          <a:blip r:embed="rId4"/>
          <a:stretch>
            <a:fillRect/>
          </a:stretch>
        </p:blipFill>
        <p:spPr>
          <a:xfrm>
            <a:off x="8652281" y="2697480"/>
            <a:ext cx="548640" cy="548640"/>
          </a:xfrm>
          <a:prstGeom prst="rect">
            <a:avLst/>
          </a:prstGeom>
        </p:spPr>
      </p:pic>
      <p:sp>
        <p:nvSpPr>
          <p:cNvPr id="9" name="TextBox 8"/>
          <p:cNvSpPr txBox="1"/>
          <p:nvPr/>
        </p:nvSpPr>
        <p:spPr>
          <a:xfrm>
            <a:off x="6347308" y="3429000"/>
            <a:ext cx="5158588" cy="1463040"/>
          </a:xfrm>
          <a:prstGeom prst="rect">
            <a:avLst/>
          </a:prstGeom>
          <a:noFill/>
        </p:spPr>
        <p:txBody>
          <a:bodyPr wrap="square" anchor="t" lIns="0" rIns="0" tIns="0" bIns="0">
            <a:noAutofit/>
          </a:bodyPr>
          <a:lstStyle/>
          <a:p>
            <a:pPr algn="ctr"/>
            <a:r>
              <a:rPr sz="2600" b="1" i="0" u="none">
                <a:solidFill>
                  <a:srgbClr val="261F1D"/>
                </a:solidFill>
                <a:latin typeface="Helvetica"/>
              </a:rPr>
              <a:t>WITH clause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Yesterday's Aggregates</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One Quick Check</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A fast recall check before today's rewrite starts.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TURN AND TALK</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Quick recall: Why did yesterday's WHERE clause raise a real error on COUNT(i.inspection_id)?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Oval 2"/>
          <p:cNvSpPr/>
          <p:nvPr/>
        </p:nvSpPr>
        <p:spPr>
          <a:xfrm>
            <a:off x="5784037" y="556870"/>
            <a:ext cx="623621" cy="623621"/>
          </a:xfrm>
          <a:prstGeom prst="ellipse">
            <a:avLst/>
          </a:prstGeom>
          <a:solidFill>
            <a:srgbClr val="DEEAF4"/>
          </a:solidFill>
          <a:ln w="50800">
            <a:solidFill>
              <a:srgbClr val="2274B5"/>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5939942" y="712775"/>
            <a:ext cx="311810" cy="311810"/>
          </a:xfrm>
          <a:prstGeom prst="rect">
            <a:avLst/>
          </a:prstGeom>
        </p:spPr>
      </p:pic>
      <p:sp>
        <p:nvSpPr>
          <p:cNvPr id="5" name="TextBox 4"/>
          <p:cNvSpPr txBox="1"/>
          <p:nvPr/>
        </p:nvSpPr>
        <p:spPr>
          <a:xfrm>
            <a:off x="548640" y="150876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Still Solid</a:t>
            </a:r>
          </a:p>
        </p:txBody>
      </p:sp>
      <p:sp>
        <p:nvSpPr>
          <p:cNvPr id="6" name="TextBox 5"/>
          <p:cNvSpPr txBox="1"/>
          <p:nvPr/>
        </p:nvSpPr>
        <p:spPr>
          <a:xfrm>
            <a:off x="548640" y="260604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Code Along: A Genuinely Hard Query</a:t>
            </a:r>
          </a:p>
        </p:txBody>
      </p:sp>
      <p:sp>
        <p:nvSpPr>
          <p:cNvPr id="7" name="TextBox 6"/>
          <p:cNvSpPr txBox="1"/>
          <p:nvPr/>
        </p:nvSpPr>
        <p:spPr>
          <a:xfrm>
            <a:off x="548640" y="416052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The exact same question yesterday's GROUP BY answered — now nested inside a subquery.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Which Restaurants Beat the Average — The Hard Way</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psql</a:t>
            </a:r>
          </a:p>
        </p:txBody>
      </p:sp>
      <p:sp>
        <p:nvSpPr>
          <p:cNvPr id="9" name="TextBox 8"/>
          <p:cNvSpPr txBox="1"/>
          <p:nvPr/>
        </p:nvSpPr>
        <p:spPr>
          <a:xfrm>
            <a:off x="804672" y="1636776"/>
            <a:ext cx="10582351" cy="4590288"/>
          </a:xfrm>
          <a:prstGeom prst="rect">
            <a:avLst/>
          </a:prstGeom>
          <a:noFill/>
        </p:spPr>
        <p:txBody>
          <a:bodyPr wrap="square" lIns="0" rIns="0" tIns="0" bIns="0">
            <a:noAutofit/>
          </a:bodyPr>
          <a:lstStyle/>
          <a:p>
            <a:pPr>
              <a:lnSpc>
                <a:spcPct val="105000"/>
              </a:lnSpc>
              <a:defRPr sz="2600">
                <a:latin typeface="Roboto Mono"/>
              </a:defRPr>
            </a:pP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a</a:t>
            </a:r>
            <a:r>
              <a:rPr sz="2600" i="0">
                <a:solidFill>
                  <a:srgbClr val="FFFCF7"/>
                </a:solidFill>
                <a:latin typeface="Roboto Mono"/>
              </a:rPr>
              <a:t>.</a:t>
            </a:r>
            <a:r>
              <a:rPr sz="2600" i="0">
                <a:solidFill>
                  <a:srgbClr val="FFFCF7"/>
                </a:solidFill>
                <a:latin typeface="Roboto Mono"/>
              </a:rPr>
              <a:t>dba</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COUNT</a:t>
            </a:r>
            <a:r>
              <a:rPr sz="2600" i="0">
                <a:solidFill>
                  <a:srgbClr val="FFFCF7"/>
                </a:solidFill>
                <a:latin typeface="Roboto Mono"/>
              </a:rPr>
              <a:t>(</a:t>
            </a:r>
            <a:r>
              <a:rPr sz="2600" i="0">
                <a:solidFill>
                  <a:srgbClr val="FFFCF7"/>
                </a:solidFill>
                <a:latin typeface="Roboto Mono"/>
              </a:rPr>
              <a:t>b</a:t>
            </a:r>
            <a:r>
              <a:rPr sz="2600" i="0">
                <a:solidFill>
                  <a:srgbClr val="FFFCF7"/>
                </a:solidFill>
                <a:latin typeface="Roboto Mono"/>
              </a:rPr>
              <a:t>.</a:t>
            </a:r>
            <a:r>
              <a:rPr sz="2600" i="0">
                <a:solidFill>
                  <a:srgbClr val="FFFCF7"/>
                </a:solidFill>
                <a:latin typeface="Roboto Mono"/>
              </a:rPr>
              <a:t>inspection_id</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ct</a:t>
            </a:r>
          </a:p>
          <a:p>
            <a:pPr>
              <a:lnSpc>
                <a:spcPct val="105000"/>
              </a:lnSpc>
              <a:defRPr sz="2600">
                <a:latin typeface="Roboto Mono"/>
              </a:defRPr>
            </a:pP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restaurants</a:t>
            </a:r>
            <a:r>
              <a:rPr sz="2600" i="0">
                <a:solidFill>
                  <a:srgbClr val="FFFCF7"/>
                </a:solidFill>
                <a:latin typeface="Roboto Mono"/>
              </a:rPr>
              <a:t> </a:t>
            </a:r>
            <a:r>
              <a:rPr sz="2600" i="0">
                <a:solidFill>
                  <a:srgbClr val="FFFCF7"/>
                </a:solidFill>
                <a:latin typeface="Roboto Mono"/>
              </a:rPr>
              <a:t>a</a:t>
            </a:r>
          </a:p>
          <a:p>
            <a:pPr>
              <a:lnSpc>
                <a:spcPct val="105000"/>
              </a:lnSpc>
              <a:defRPr sz="2600">
                <a:latin typeface="Roboto Mono"/>
              </a:defRPr>
            </a:pPr>
            <a:r>
              <a:rPr sz="2600" i="0">
                <a:solidFill>
                  <a:srgbClr val="EEBC32"/>
                </a:solidFill>
                <a:latin typeface="Roboto Mono"/>
              </a:rPr>
              <a:t>LEFT</a:t>
            </a:r>
            <a:r>
              <a:rPr sz="2600" i="0">
                <a:solidFill>
                  <a:srgbClr val="FFFCF7"/>
                </a:solidFill>
                <a:latin typeface="Roboto Mono"/>
              </a:rPr>
              <a:t> </a:t>
            </a:r>
            <a:r>
              <a:rPr sz="2600" i="0">
                <a:solidFill>
                  <a:srgbClr val="EEBC32"/>
                </a:solidFill>
                <a:latin typeface="Roboto Mono"/>
              </a:rPr>
              <a:t>JOIN</a:t>
            </a:r>
            <a:r>
              <a:rPr sz="2600" i="0">
                <a:solidFill>
                  <a:srgbClr val="FFFCF7"/>
                </a:solidFill>
                <a:latin typeface="Roboto Mono"/>
              </a:rPr>
              <a:t> </a:t>
            </a:r>
            <a:r>
              <a:rPr sz="2600" i="0">
                <a:solidFill>
                  <a:srgbClr val="FFFCF7"/>
                </a:solidFill>
                <a:latin typeface="Roboto Mono"/>
              </a:rPr>
              <a:t>inspections</a:t>
            </a:r>
            <a:r>
              <a:rPr sz="2600" i="0">
                <a:solidFill>
                  <a:srgbClr val="FFFCF7"/>
                </a:solidFill>
                <a:latin typeface="Roboto Mono"/>
              </a:rPr>
              <a:t> </a:t>
            </a:r>
            <a:r>
              <a:rPr sz="2600" i="0">
                <a:solidFill>
                  <a:srgbClr val="FFFCF7"/>
                </a:solidFill>
                <a:latin typeface="Roboto Mono"/>
              </a:rPr>
              <a:t>b</a:t>
            </a:r>
            <a:r>
              <a:rPr sz="2600" i="0">
                <a:solidFill>
                  <a:srgbClr val="FFFCF7"/>
                </a:solidFill>
                <a:latin typeface="Roboto Mono"/>
              </a:rPr>
              <a:t> </a:t>
            </a:r>
            <a:r>
              <a:rPr sz="2600" i="0">
                <a:solidFill>
                  <a:srgbClr val="EEBC32"/>
                </a:solidFill>
                <a:latin typeface="Roboto Mono"/>
              </a:rPr>
              <a:t>ON</a:t>
            </a:r>
            <a:r>
              <a:rPr sz="2600" i="0">
                <a:solidFill>
                  <a:srgbClr val="FFFCF7"/>
                </a:solidFill>
                <a:latin typeface="Roboto Mono"/>
              </a:rPr>
              <a:t> </a:t>
            </a:r>
            <a:r>
              <a:rPr sz="2600" i="0">
                <a:solidFill>
                  <a:srgbClr val="FFFCF7"/>
                </a:solidFill>
                <a:latin typeface="Roboto Mono"/>
              </a:rPr>
              <a:t>a</a:t>
            </a:r>
            <a:r>
              <a:rPr sz="2600" i="0">
                <a:solidFill>
                  <a:srgbClr val="FFFCF7"/>
                </a:solidFill>
                <a:latin typeface="Roboto Mono"/>
              </a:rPr>
              <a:t>.</a:t>
            </a:r>
            <a:r>
              <a:rPr sz="2600" i="0">
                <a:solidFill>
                  <a:srgbClr val="FFFCF7"/>
                </a:solidFill>
                <a:latin typeface="Roboto Mono"/>
              </a:rPr>
              <a:t>camis</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b</a:t>
            </a:r>
            <a:r>
              <a:rPr sz="2600" i="0">
                <a:solidFill>
                  <a:srgbClr val="FFFCF7"/>
                </a:solidFill>
                <a:latin typeface="Roboto Mono"/>
              </a:rPr>
              <a:t>.</a:t>
            </a:r>
            <a:r>
              <a:rPr sz="2600" i="0">
                <a:solidFill>
                  <a:srgbClr val="FFFCF7"/>
                </a:solidFill>
                <a:latin typeface="Roboto Mono"/>
              </a:rPr>
              <a:t>camis</a:t>
            </a:r>
          </a:p>
          <a:p>
            <a:pPr>
              <a:lnSpc>
                <a:spcPct val="105000"/>
              </a:lnSpc>
              <a:defRPr sz="2600">
                <a:latin typeface="Roboto Mono"/>
              </a:defRPr>
            </a:pPr>
            <a:r>
              <a:rPr sz="2600" i="0">
                <a:solidFill>
                  <a:srgbClr val="EEBC32"/>
                </a:solidFill>
                <a:latin typeface="Roboto Mono"/>
              </a:rPr>
              <a:t>GROUP</a:t>
            </a:r>
            <a:r>
              <a:rPr sz="2600" i="0">
                <a:solidFill>
                  <a:srgbClr val="FFFCF7"/>
                </a:solidFill>
                <a:latin typeface="Roboto Mono"/>
              </a:rPr>
              <a:t> </a:t>
            </a:r>
            <a:r>
              <a:rPr sz="2600" i="0">
                <a:solidFill>
                  <a:srgbClr val="EEBC32"/>
                </a:solidFill>
                <a:latin typeface="Roboto Mono"/>
              </a:rPr>
              <a:t>BY</a:t>
            </a:r>
            <a:r>
              <a:rPr sz="2600" i="0">
                <a:solidFill>
                  <a:srgbClr val="FFFCF7"/>
                </a:solidFill>
                <a:latin typeface="Roboto Mono"/>
              </a:rPr>
              <a:t> </a:t>
            </a:r>
            <a:r>
              <a:rPr sz="2600" i="0">
                <a:solidFill>
                  <a:srgbClr val="FFFCF7"/>
                </a:solidFill>
                <a:latin typeface="Roboto Mono"/>
              </a:rPr>
              <a:t>a</a:t>
            </a:r>
            <a:r>
              <a:rPr sz="2600" i="0">
                <a:solidFill>
                  <a:srgbClr val="FFFCF7"/>
                </a:solidFill>
                <a:latin typeface="Roboto Mono"/>
              </a:rPr>
              <a:t>.</a:t>
            </a:r>
            <a:r>
              <a:rPr sz="2600" i="0">
                <a:solidFill>
                  <a:srgbClr val="FFFCF7"/>
                </a:solidFill>
                <a:latin typeface="Roboto Mono"/>
              </a:rPr>
              <a:t>dba</a:t>
            </a:r>
          </a:p>
          <a:p>
            <a:pPr>
              <a:lnSpc>
                <a:spcPct val="105000"/>
              </a:lnSpc>
              <a:defRPr sz="2600">
                <a:latin typeface="Roboto Mono"/>
              </a:defRPr>
            </a:pPr>
            <a:r>
              <a:rPr sz="2600" i="0">
                <a:solidFill>
                  <a:srgbClr val="EEBC32"/>
                </a:solidFill>
                <a:latin typeface="Roboto Mono"/>
              </a:rPr>
              <a:t>HAVING</a:t>
            </a:r>
            <a:r>
              <a:rPr sz="2600" i="0">
                <a:solidFill>
                  <a:srgbClr val="FFFCF7"/>
                </a:solidFill>
                <a:latin typeface="Roboto Mono"/>
              </a:rPr>
              <a:t> </a:t>
            </a:r>
            <a:r>
              <a:rPr sz="2600" i="0">
                <a:solidFill>
                  <a:srgbClr val="EEBC32"/>
                </a:solidFill>
                <a:latin typeface="Roboto Mono"/>
              </a:rPr>
              <a:t>COUNT</a:t>
            </a:r>
            <a:r>
              <a:rPr sz="2600" i="0">
                <a:solidFill>
                  <a:srgbClr val="FFFCF7"/>
                </a:solidFill>
                <a:latin typeface="Roboto Mono"/>
              </a:rPr>
              <a:t>(</a:t>
            </a:r>
            <a:r>
              <a:rPr sz="2600" i="0">
                <a:solidFill>
                  <a:srgbClr val="FFFCF7"/>
                </a:solidFill>
                <a:latin typeface="Roboto Mono"/>
              </a:rPr>
              <a:t>b</a:t>
            </a:r>
            <a:r>
              <a:rPr sz="2600" i="0">
                <a:solidFill>
                  <a:srgbClr val="FFFCF7"/>
                </a:solidFill>
                <a:latin typeface="Roboto Mono"/>
              </a:rPr>
              <a:t>.</a:t>
            </a:r>
            <a:r>
              <a:rPr sz="2600" i="0">
                <a:solidFill>
                  <a:srgbClr val="FFFCF7"/>
                </a:solidFill>
                <a:latin typeface="Roboto Mono"/>
              </a:rPr>
              <a:t>inspection_id</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&gt;</a:t>
            </a:r>
            <a:r>
              <a:rPr sz="2600" i="0">
                <a:solidFill>
                  <a:srgbClr val="FFFCF7"/>
                </a:solidFill>
                <a:latin typeface="Roboto Mono"/>
              </a:rPr>
              <a:t> </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SELECT</a:t>
            </a:r>
            <a:r>
              <a:rPr sz="2600" i="0">
                <a:solidFill>
                  <a:srgbClr val="FFFCF7"/>
                </a:solidFill>
                <a:latin typeface="Roboto Mono"/>
              </a:rPr>
              <a:t> </a:t>
            </a:r>
            <a:r>
              <a:rPr sz="2600" i="0">
                <a:solidFill>
                  <a:srgbClr val="EEBC32"/>
                </a:solidFill>
                <a:latin typeface="Roboto Mono"/>
              </a:rPr>
              <a:t>AVG</a:t>
            </a:r>
            <a:r>
              <a:rPr sz="2600" i="0">
                <a:solidFill>
                  <a:srgbClr val="FFFCF7"/>
                </a:solidFill>
                <a:latin typeface="Roboto Mono"/>
              </a:rPr>
              <a:t>(</a:t>
            </a:r>
            <a:r>
              <a:rPr sz="2600" i="0">
                <a:solidFill>
                  <a:srgbClr val="FFFCF7"/>
                </a:solidFill>
                <a:latin typeface="Roboto Mono"/>
              </a:rPr>
              <a:t>ct</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SELECT</a:t>
            </a:r>
            <a:r>
              <a:rPr sz="2600" i="0">
                <a:solidFill>
                  <a:srgbClr val="FFFCF7"/>
                </a:solidFill>
                <a:latin typeface="Roboto Mono"/>
              </a:rPr>
              <a:t> </a:t>
            </a:r>
            <a:r>
              <a:rPr sz="2600" i="0">
                <a:solidFill>
                  <a:srgbClr val="EEBC32"/>
                </a:solidFill>
                <a:latin typeface="Roboto Mono"/>
              </a:rPr>
              <a:t>COUNT</a:t>
            </a:r>
            <a:r>
              <a:rPr sz="2600" i="0">
                <a:solidFill>
                  <a:srgbClr val="FFFCF7"/>
                </a:solidFill>
                <a:latin typeface="Roboto Mono"/>
              </a:rPr>
              <a:t>(</a:t>
            </a:r>
            <a:r>
              <a:rPr sz="2600" i="0">
                <a:solidFill>
                  <a:srgbClr val="FFFCF7"/>
                </a:solidFill>
                <a:latin typeface="Roboto Mono"/>
              </a:rPr>
              <a:t>d</a:t>
            </a:r>
            <a:r>
              <a:rPr sz="2600" i="0">
                <a:solidFill>
                  <a:srgbClr val="FFFCF7"/>
                </a:solidFill>
                <a:latin typeface="Roboto Mono"/>
              </a:rPr>
              <a:t>.</a:t>
            </a:r>
            <a:r>
              <a:rPr sz="2600" i="0">
                <a:solidFill>
                  <a:srgbClr val="FFFCF7"/>
                </a:solidFill>
                <a:latin typeface="Roboto Mono"/>
              </a:rPr>
              <a:t>inspection_id</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ct</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restaurants</a:t>
            </a:r>
            <a:r>
              <a:rPr sz="2600" i="0">
                <a:solidFill>
                  <a:srgbClr val="FFFCF7"/>
                </a:solidFill>
                <a:latin typeface="Roboto Mono"/>
              </a:rPr>
              <a:t> </a:t>
            </a:r>
            <a:r>
              <a:rPr sz="2600" i="0">
                <a:solidFill>
                  <a:srgbClr val="EEBC32"/>
                </a:solidFill>
                <a:latin typeface="Roboto Mono"/>
              </a:rPr>
              <a:t>c</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LEFT</a:t>
            </a:r>
            <a:r>
              <a:rPr sz="2600" i="0">
                <a:solidFill>
                  <a:srgbClr val="FFFCF7"/>
                </a:solidFill>
                <a:latin typeface="Roboto Mono"/>
              </a:rPr>
              <a:t> </a:t>
            </a:r>
            <a:r>
              <a:rPr sz="2600" i="0">
                <a:solidFill>
                  <a:srgbClr val="EEBC32"/>
                </a:solidFill>
                <a:latin typeface="Roboto Mono"/>
              </a:rPr>
              <a:t>JOIN</a:t>
            </a:r>
            <a:r>
              <a:rPr sz="2600" i="0">
                <a:solidFill>
                  <a:srgbClr val="FFFCF7"/>
                </a:solidFill>
                <a:latin typeface="Roboto Mono"/>
              </a:rPr>
              <a:t> </a:t>
            </a:r>
            <a:r>
              <a:rPr sz="2600" i="0">
                <a:solidFill>
                  <a:srgbClr val="FFFCF7"/>
                </a:solidFill>
                <a:latin typeface="Roboto Mono"/>
              </a:rPr>
              <a:t>inspections</a:t>
            </a:r>
            <a:r>
              <a:rPr sz="2600" i="0">
                <a:solidFill>
                  <a:srgbClr val="FFFCF7"/>
                </a:solidFill>
                <a:latin typeface="Roboto Mono"/>
              </a:rPr>
              <a:t> </a:t>
            </a:r>
            <a:r>
              <a:rPr sz="2600" i="0">
                <a:solidFill>
                  <a:srgbClr val="FFFCF7"/>
                </a:solidFill>
                <a:latin typeface="Roboto Mono"/>
              </a:rPr>
              <a:t>d</a:t>
            </a:r>
            <a:r>
              <a:rPr sz="2600" i="0">
                <a:solidFill>
                  <a:srgbClr val="FFFCF7"/>
                </a:solidFill>
                <a:latin typeface="Roboto Mono"/>
              </a:rPr>
              <a:t> </a:t>
            </a:r>
            <a:r>
              <a:rPr sz="2600" i="0">
                <a:solidFill>
                  <a:srgbClr val="EEBC32"/>
                </a:solidFill>
                <a:latin typeface="Roboto Mono"/>
              </a:rPr>
              <a:t>ON</a:t>
            </a:r>
            <a:r>
              <a:rPr sz="2600" i="0">
                <a:solidFill>
                  <a:srgbClr val="FFFCF7"/>
                </a:solidFill>
                <a:latin typeface="Roboto Mono"/>
              </a:rPr>
              <a:t> </a:t>
            </a:r>
            <a:r>
              <a:rPr sz="2600" i="0">
                <a:solidFill>
                  <a:srgbClr val="EEBC32"/>
                </a:solidFill>
                <a:latin typeface="Roboto Mono"/>
              </a:rPr>
              <a:t>c</a:t>
            </a:r>
            <a:r>
              <a:rPr sz="2600" i="0">
                <a:solidFill>
                  <a:srgbClr val="FFFCF7"/>
                </a:solidFill>
                <a:latin typeface="Roboto Mono"/>
              </a:rPr>
              <a:t>.</a:t>
            </a:r>
            <a:r>
              <a:rPr sz="2600" i="0">
                <a:solidFill>
                  <a:srgbClr val="FFFCF7"/>
                </a:solidFill>
                <a:latin typeface="Roboto Mono"/>
              </a:rPr>
              <a:t>camis</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d</a:t>
            </a:r>
            <a:r>
              <a:rPr sz="2600" i="0">
                <a:solidFill>
                  <a:srgbClr val="FFFCF7"/>
                </a:solidFill>
                <a:latin typeface="Roboto Mono"/>
              </a:rPr>
              <a:t>.</a:t>
            </a:r>
            <a:r>
              <a:rPr sz="2600" i="0">
                <a:solidFill>
                  <a:srgbClr val="FFFCF7"/>
                </a:solidFill>
                <a:latin typeface="Roboto Mono"/>
              </a:rPr>
              <a:t>camis</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GROUP</a:t>
            </a:r>
            <a:r>
              <a:rPr sz="2600" i="0">
                <a:solidFill>
                  <a:srgbClr val="FFFCF7"/>
                </a:solidFill>
                <a:latin typeface="Roboto Mono"/>
              </a:rPr>
              <a:t> </a:t>
            </a:r>
            <a:r>
              <a:rPr sz="2600" i="0">
                <a:solidFill>
                  <a:srgbClr val="EEBC32"/>
                </a:solidFill>
                <a:latin typeface="Roboto Mono"/>
              </a:rPr>
              <a:t>BY</a:t>
            </a:r>
            <a:r>
              <a:rPr sz="2600" i="0">
                <a:solidFill>
                  <a:srgbClr val="FFFCF7"/>
                </a:solidFill>
                <a:latin typeface="Roboto Mono"/>
              </a:rPr>
              <a:t> </a:t>
            </a:r>
            <a:r>
              <a:rPr sz="2600" i="0">
                <a:solidFill>
                  <a:srgbClr val="EEBC32"/>
                </a:solidFill>
                <a:latin typeface="Roboto Mono"/>
              </a:rPr>
              <a:t>c</a:t>
            </a:r>
            <a:r>
              <a:rPr sz="2600" i="0">
                <a:solidFill>
                  <a:srgbClr val="FFFCF7"/>
                </a:solidFill>
                <a:latin typeface="Roboto Mono"/>
              </a:rPr>
              <a:t>.</a:t>
            </a:r>
            <a:r>
              <a:rPr sz="2600" i="0">
                <a:solidFill>
                  <a:srgbClr val="FFFCF7"/>
                </a:solidFill>
                <a:latin typeface="Roboto Mono"/>
              </a:rPr>
              <a:t>dba</a:t>
            </a:r>
          </a:p>
          <a:p>
            <a:pPr>
              <a:lnSpc>
                <a:spcPct val="105000"/>
              </a:lnSpc>
              <a:defRPr sz="2600">
                <a:latin typeface="Roboto Mono"/>
              </a:defRPr>
            </a:pP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sub</a:t>
            </a:r>
            <a:r>
              <a:rPr sz="2600" i="0">
                <a:solidFill>
                  <a:srgbClr val="FFFCF7"/>
                </a:solidFill>
                <a:latin typeface="Roboto Mono"/>
              </a:rPr>
              <a:t>)</a:t>
            </a:r>
            <a:r>
              <a:rPr sz="2600" i="0">
                <a:solidFill>
                  <a:srgbClr val="FFFCF7"/>
                </a:solidFill>
                <a:latin typeface="Roboto Mono"/>
              </a:rPr>
              <a:t>;</a:t>
            </a:r>
          </a:p>
          <a:p>
            <a:pPr>
              <a:lnSpc>
                <a:spcPct val="105000"/>
              </a:lnSpc>
              <a:defRPr sz="2600">
                <a:latin typeface="Roboto Mono"/>
              </a:defRPr>
            </a:p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TURN AND TALK</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Discuss it: This query is 100% correct. What makes it hard to trust at a glance anyway?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Subqueries Evaluate Inside-Out</a:t>
            </a:r>
          </a:p>
        </p:txBody>
      </p:sp>
      <p:sp>
        <p:nvSpPr>
          <p:cNvPr id="4" name="Oval 3"/>
          <p:cNvSpPr/>
          <p:nvPr/>
        </p:nvSpPr>
        <p:spPr>
          <a:xfrm>
            <a:off x="822960" y="2377440"/>
            <a:ext cx="1005840" cy="1005840"/>
          </a:xfrm>
          <a:prstGeom prst="ellipse">
            <a:avLst/>
          </a:prstGeom>
          <a:solidFill>
            <a:srgbClr val="264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1049274" y="2603754"/>
            <a:ext cx="553212" cy="553212"/>
          </a:xfrm>
          <a:prstGeom prst="rect">
            <a:avLst/>
          </a:prstGeom>
        </p:spPr>
      </p:pic>
      <p:cxnSp>
        <p:nvCxnSpPr>
          <p:cNvPr id="6" name="Connector 5"/>
          <p:cNvCxnSpPr/>
          <p:nvPr/>
        </p:nvCxnSpPr>
        <p:spPr>
          <a:xfrm>
            <a:off x="1828800" y="2880360"/>
            <a:ext cx="3764128" cy="0"/>
          </a:xfrm>
          <a:prstGeom prst="line">
            <a:avLst/>
          </a:prstGeom>
          <a:ln w="31750">
            <a:solidFill>
              <a:srgbClr val="2643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22960" y="3520440"/>
            <a:ext cx="3286658" cy="914400"/>
          </a:xfrm>
          <a:prstGeom prst="rect">
            <a:avLst/>
          </a:prstGeom>
          <a:noFill/>
        </p:spPr>
        <p:txBody>
          <a:bodyPr wrap="square" anchor="t" lIns="0" rIns="0" tIns="0" bIns="0">
            <a:noAutofit/>
          </a:bodyPr>
          <a:lstStyle/>
          <a:p>
            <a:pPr algn="ctr"/>
            <a:r>
              <a:rPr sz="3000" b="1" i="0" u="none">
                <a:solidFill>
                  <a:srgbClr val="261F1D"/>
                </a:solidFill>
                <a:latin typeface="Helvetica"/>
              </a:rPr>
              <a:t>Innermost</a:t>
            </a:r>
          </a:p>
        </p:txBody>
      </p:sp>
      <p:sp>
        <p:nvSpPr>
          <p:cNvPr id="8" name="TextBox 7"/>
          <p:cNvSpPr txBox="1"/>
          <p:nvPr/>
        </p:nvSpPr>
        <p:spPr>
          <a:xfrm>
            <a:off x="822960" y="4480560"/>
            <a:ext cx="3286658" cy="1005840"/>
          </a:xfrm>
          <a:prstGeom prst="rect">
            <a:avLst/>
          </a:prstGeom>
          <a:noFill/>
        </p:spPr>
        <p:txBody>
          <a:bodyPr wrap="square" anchor="t" lIns="0" rIns="0" tIns="0" bIns="0">
            <a:noAutofit/>
          </a:bodyPr>
          <a:lstStyle/>
          <a:p>
            <a:pPr algn="ctr"/>
            <a:r>
              <a:rPr sz="2600" b="0" i="0" u="none">
                <a:solidFill>
                  <a:srgbClr val="261F1D"/>
                </a:solidFill>
                <a:latin typeface="Helvetica"/>
              </a:rPr>
              <a:t>Evaluated First</a:t>
            </a:r>
          </a:p>
        </p:txBody>
      </p:sp>
      <p:sp>
        <p:nvSpPr>
          <p:cNvPr id="9" name="Oval 8"/>
          <p:cNvSpPr/>
          <p:nvPr/>
        </p:nvSpPr>
        <p:spPr>
          <a:xfrm>
            <a:off x="5592928" y="2377440"/>
            <a:ext cx="1005840" cy="1005840"/>
          </a:xfrm>
          <a:prstGeom prst="ellipse">
            <a:avLst/>
          </a:prstGeom>
          <a:solidFill>
            <a:srgbClr val="264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
          <p:cNvPicPr>
            <a:picLocks noChangeAspect="1"/>
          </p:cNvPicPr>
          <p:nvPr/>
        </p:nvPicPr>
        <p:blipFill>
          <a:blip r:embed="rId3"/>
          <a:stretch>
            <a:fillRect/>
          </a:stretch>
        </p:blipFill>
        <p:spPr>
          <a:xfrm>
            <a:off x="5819242" y="2603754"/>
            <a:ext cx="553212" cy="553212"/>
          </a:xfrm>
          <a:prstGeom prst="rect">
            <a:avLst/>
          </a:prstGeom>
        </p:spPr>
      </p:pic>
      <p:cxnSp>
        <p:nvCxnSpPr>
          <p:cNvPr id="11" name="Connector 10"/>
          <p:cNvCxnSpPr/>
          <p:nvPr/>
        </p:nvCxnSpPr>
        <p:spPr>
          <a:xfrm>
            <a:off x="6598768" y="2880360"/>
            <a:ext cx="3764127" cy="0"/>
          </a:xfrm>
          <a:prstGeom prst="line">
            <a:avLst/>
          </a:prstGeom>
          <a:ln w="31750">
            <a:solidFill>
              <a:srgbClr val="2643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452518" y="3520440"/>
            <a:ext cx="3286658" cy="914400"/>
          </a:xfrm>
          <a:prstGeom prst="rect">
            <a:avLst/>
          </a:prstGeom>
          <a:noFill/>
        </p:spPr>
        <p:txBody>
          <a:bodyPr wrap="square" anchor="t" lIns="0" rIns="0" tIns="0" bIns="0">
            <a:noAutofit/>
          </a:bodyPr>
          <a:lstStyle/>
          <a:p>
            <a:pPr algn="ctr"/>
            <a:r>
              <a:rPr sz="3000" b="1" i="0" u="none">
                <a:solidFill>
                  <a:srgbClr val="261F1D"/>
                </a:solidFill>
                <a:latin typeface="Helvetica"/>
              </a:rPr>
              <a:t>Middle</a:t>
            </a:r>
          </a:p>
        </p:txBody>
      </p:sp>
      <p:sp>
        <p:nvSpPr>
          <p:cNvPr id="13" name="TextBox 12"/>
          <p:cNvSpPr txBox="1"/>
          <p:nvPr/>
        </p:nvSpPr>
        <p:spPr>
          <a:xfrm>
            <a:off x="4452518" y="4480560"/>
            <a:ext cx="3286658" cy="1005840"/>
          </a:xfrm>
          <a:prstGeom prst="rect">
            <a:avLst/>
          </a:prstGeom>
          <a:noFill/>
        </p:spPr>
        <p:txBody>
          <a:bodyPr wrap="square" anchor="t" lIns="0" rIns="0" tIns="0" bIns="0">
            <a:noAutofit/>
          </a:bodyPr>
          <a:lstStyle/>
          <a:p>
            <a:pPr algn="ctr"/>
            <a:r>
              <a:rPr sz="2600" b="0" i="0" u="none">
                <a:solidFill>
                  <a:srgbClr val="261F1D"/>
                </a:solidFill>
                <a:latin typeface="Helvetica"/>
              </a:rPr>
              <a:t>Wraps the First</a:t>
            </a:r>
          </a:p>
        </p:txBody>
      </p:sp>
      <p:sp>
        <p:nvSpPr>
          <p:cNvPr id="14" name="Oval 13"/>
          <p:cNvSpPr/>
          <p:nvPr/>
        </p:nvSpPr>
        <p:spPr>
          <a:xfrm>
            <a:off x="10362895" y="2377440"/>
            <a:ext cx="1005840" cy="1005840"/>
          </a:xfrm>
          <a:prstGeom prst="ellipse">
            <a:avLst/>
          </a:prstGeom>
          <a:solidFill>
            <a:srgbClr val="264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
          <p:cNvPicPr>
            <a:picLocks noChangeAspect="1"/>
          </p:cNvPicPr>
          <p:nvPr/>
        </p:nvPicPr>
        <p:blipFill>
          <a:blip r:embed="rId4"/>
          <a:stretch>
            <a:fillRect/>
          </a:stretch>
        </p:blipFill>
        <p:spPr>
          <a:xfrm>
            <a:off x="10589209" y="2603754"/>
            <a:ext cx="553212" cy="553212"/>
          </a:xfrm>
          <a:prstGeom prst="rect">
            <a:avLst/>
          </a:prstGeom>
        </p:spPr>
      </p:pic>
      <p:sp>
        <p:nvSpPr>
          <p:cNvPr id="16" name="TextBox 15"/>
          <p:cNvSpPr txBox="1"/>
          <p:nvPr/>
        </p:nvSpPr>
        <p:spPr>
          <a:xfrm>
            <a:off x="8082077" y="3520440"/>
            <a:ext cx="3286658" cy="914400"/>
          </a:xfrm>
          <a:prstGeom prst="rect">
            <a:avLst/>
          </a:prstGeom>
          <a:noFill/>
        </p:spPr>
        <p:txBody>
          <a:bodyPr wrap="square" anchor="t" lIns="0" rIns="0" tIns="0" bIns="0">
            <a:noAutofit/>
          </a:bodyPr>
          <a:lstStyle/>
          <a:p>
            <a:pPr algn="ctr"/>
            <a:r>
              <a:rPr sz="3000" b="1" i="0" u="none">
                <a:solidFill>
                  <a:srgbClr val="261F1D"/>
                </a:solidFill>
                <a:latin typeface="Helvetica"/>
              </a:rPr>
              <a:t>Outer Query</a:t>
            </a:r>
          </a:p>
        </p:txBody>
      </p:sp>
      <p:sp>
        <p:nvSpPr>
          <p:cNvPr id="17" name="TextBox 16"/>
          <p:cNvSpPr txBox="1"/>
          <p:nvPr/>
        </p:nvSpPr>
        <p:spPr>
          <a:xfrm>
            <a:off x="8082077" y="4480560"/>
            <a:ext cx="3286658" cy="1005840"/>
          </a:xfrm>
          <a:prstGeom prst="rect">
            <a:avLst/>
          </a:prstGeom>
          <a:noFill/>
        </p:spPr>
        <p:txBody>
          <a:bodyPr wrap="square" anchor="t" lIns="0" rIns="0" tIns="0" bIns="0">
            <a:noAutofit/>
          </a:bodyPr>
          <a:lstStyle/>
          <a:p>
            <a:pPr algn="ctr"/>
            <a:r>
              <a:rPr sz="2600" b="0" i="0" u="none">
                <a:solidFill>
                  <a:srgbClr val="261F1D"/>
                </a:solidFill>
                <a:latin typeface="Helvetica"/>
              </a:rPr>
              <a:t>Reads Last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A CTE Names a Result Set, Up Front</a:t>
            </a:r>
          </a:p>
        </p:txBody>
      </p:sp>
      <p:sp>
        <p:nvSpPr>
          <p:cNvPr id="4" name="TextBox 3"/>
          <p:cNvSpPr txBox="1"/>
          <p:nvPr/>
        </p:nvSpPr>
        <p:spPr>
          <a:xfrm>
            <a:off x="548640" y="1188720"/>
            <a:ext cx="6705295" cy="35382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CTE: A named, temporary result set</a:t>
            </a:r>
          </a:p>
          <a:p>
            <a:pPr>
              <a:spcAft>
                <a:spcPts val="1000"/>
              </a:spcAft>
            </a:pPr>
            <a:r>
              <a:rPr sz="2600">
                <a:solidFill>
                  <a:srgbClr val="261F1D"/>
                </a:solidFill>
                <a:latin typeface="Helvetica"/>
              </a:rPr>
              <a:t>•  </a:t>
            </a:r>
            <a:r>
              <a:rPr sz="2600" b="0" i="0" u="none">
                <a:solidFill>
                  <a:srgbClr val="261F1D"/>
                </a:solidFill>
                <a:latin typeface="Helvetica"/>
              </a:rPr>
              <a:t>Defined once, at the top</a:t>
            </a:r>
          </a:p>
          <a:p>
            <a:pPr>
              <a:spcAft>
                <a:spcPts val="1000"/>
              </a:spcAft>
            </a:pPr>
            <a:r>
              <a:rPr sz="2600">
                <a:solidFill>
                  <a:srgbClr val="261F1D"/>
                </a:solidFill>
                <a:latin typeface="Helvetica"/>
              </a:rPr>
              <a:t>•  </a:t>
            </a:r>
            <a:r>
              <a:rPr sz="2600" b="0" i="0" u="none">
                <a:solidFill>
                  <a:srgbClr val="261F1D"/>
                </a:solidFill>
                <a:latin typeface="Helvetica"/>
              </a:rPr>
              <a:t>Read top-to-bottom, not inside-out</a:t>
            </a:r>
          </a:p>
        </p:txBody>
      </p:sp>
      <p:sp>
        <p:nvSpPr>
          <p:cNvPr id="5" name="Oval 4"/>
          <p:cNvSpPr/>
          <p:nvPr/>
        </p:nvSpPr>
        <p:spPr>
          <a:xfrm>
            <a:off x="8611794" y="1869669"/>
            <a:ext cx="2222043" cy="2222043"/>
          </a:xfrm>
          <a:prstGeom prst="ellipse">
            <a:avLst/>
          </a:prstGeom>
          <a:solidFill>
            <a:srgbClr val="DEEAF4"/>
          </a:solidFill>
          <a:ln w="50800">
            <a:solidFill>
              <a:srgbClr val="2274B5"/>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
          <p:cNvPicPr>
            <a:picLocks noChangeAspect="1"/>
          </p:cNvPicPr>
          <p:nvPr/>
        </p:nvPicPr>
        <p:blipFill>
          <a:blip r:embed="rId3"/>
          <a:stretch>
            <a:fillRect/>
          </a:stretch>
        </p:blipFill>
        <p:spPr>
          <a:xfrm>
            <a:off x="9167304" y="2425179"/>
            <a:ext cx="1111021" cy="1111021"/>
          </a:xfrm>
          <a:prstGeom prst="rect">
            <a:avLst/>
          </a:prstGeom>
        </p:spPr>
      </p:pic>
      <p:sp>
        <p:nvSpPr>
          <p:cNvPr id="7" name="Rounded Rectangle 6"/>
          <p:cNvSpPr/>
          <p:nvPr/>
        </p:nvSpPr>
        <p:spPr>
          <a:xfrm>
            <a:off x="548640" y="4909820"/>
            <a:ext cx="11094415" cy="1445260"/>
          </a:xfrm>
          <a:prstGeom prst="roundRect">
            <a:avLst>
              <a:gd name="adj" fmla="val 10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909820"/>
            <a:ext cx="10637215" cy="1445260"/>
          </a:xfrm>
          <a:prstGeom prst="rect">
            <a:avLst/>
          </a:prstGeom>
          <a:noFill/>
        </p:spPr>
        <p:txBody>
          <a:bodyPr wrap="square" anchor="ctr" lIns="0" rIns="0" tIns="0" bIns="0">
            <a:noAutofit/>
          </a:bodyPr>
          <a:lstStyle/>
          <a:p>
            <a:pPr algn="l"/>
            <a:r>
              <a:rPr sz="2600" b="1" i="0" u="none">
                <a:solidFill>
                  <a:srgbClr val="264326"/>
                </a:solidFill>
                <a:latin typeface="Helvetica"/>
              </a:rPr>
              <a:t>Analogy:</a:t>
            </a:r>
            <a:r>
              <a:rPr sz="2600" b="0" i="0" u="none">
                <a:solidFill>
                  <a:srgbClr val="261F1D"/>
                </a:solidFill>
                <a:latin typeface="Helvetica"/>
              </a:rPr>
              <a:t> A CTE is like saving a loadout in a game — set it up once, under a name, then just call that name every time you need it, instead of reconfiguring everything from scratch.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Every WITH Clause Has the Same Four Pieces</a:t>
            </a:r>
          </a:p>
        </p:txBody>
      </p:sp>
      <p:graphicFrame>
        <p:nvGraphicFramePr>
          <p:cNvPr id="4" name="Table 3"/>
          <p:cNvGraphicFramePr>
            <a:graphicFrameLocks noGrp="1"/>
          </p:cNvGraphicFramePr>
          <p:nvPr/>
        </p:nvGraphicFramePr>
        <p:xfrm>
          <a:off x="548640" y="2491740"/>
          <a:ext cx="11094415" cy="2514600"/>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Piece</a:t>
                      </a:r>
                    </a:p>
                  </a:txBody>
                  <a:tcPr marL="109728" marR="109728" marT="54864" marB="54864" anchor="ctr">
                    <a:solidFill>
                      <a:srgbClr val="264326"/>
                    </a:solidFill>
                  </a:tcPr>
                </a:tc>
                <a:tc>
                  <a:txBody>
                    <a:bodyPr wrap="square"/>
                    <a:lstStyle/>
                    <a:p>
                      <a:r>
                        <a:rPr sz="2600" b="1" i="0" u="none">
                          <a:solidFill>
                            <a:srgbClr val="FFFCF7"/>
                          </a:solidFill>
                          <a:latin typeface="Helvetica"/>
                        </a:rPr>
                        <a:t>What It Does</a:t>
                      </a:r>
                    </a:p>
                  </a:txBody>
                  <a:tcPr marL="109728" marR="109728" marT="54864" marB="54864" anchor="ctr">
                    <a:solidFill>
                      <a:srgbClr val="264326"/>
                    </a:solidFill>
                  </a:tcPr>
                </a:tc>
              </a:tr>
              <a:tr h="502920">
                <a:tc>
                  <a:txBody>
                    <a:bodyPr wrap="square"/>
                    <a:lstStyle/>
                    <a:p>
                      <a:r>
                        <a:rPr sz="2600" b="0" i="0" u="none">
                          <a:solidFill>
                            <a:srgbClr val="261F1D"/>
                          </a:solidFill>
                          <a:latin typeface="Helvetica"/>
                        </a:rPr>
                        <a:t>WITH</a:t>
                      </a:r>
                    </a:p>
                  </a:txBody>
                  <a:tcPr marL="109728" marR="109728" marT="54864" marB="54864" anchor="ctr">
                    <a:solidFill>
                      <a:srgbClr val="FFFCF7"/>
                    </a:solidFill>
                  </a:tcPr>
                </a:tc>
                <a:tc>
                  <a:txBody>
                    <a:bodyPr wrap="square"/>
                    <a:lstStyle/>
                    <a:p>
                      <a:r>
                        <a:rPr sz="2600" b="0" i="0" u="none">
                          <a:solidFill>
                            <a:srgbClr val="261F1D"/>
                          </a:solidFill>
                          <a:latin typeface="Helvetica"/>
                        </a:rPr>
                        <a:t>Starts the CTE definition</a:t>
                      </a:r>
                    </a:p>
                  </a:txBody>
                  <a:tcPr marL="109728" marR="109728" marT="54864" marB="54864" anchor="ctr">
                    <a:solidFill>
                      <a:srgbClr val="FFFCF7"/>
                    </a:solidFill>
                  </a:tcPr>
                </a:tc>
              </a:tr>
              <a:tr h="502920">
                <a:tc>
                  <a:txBody>
                    <a:bodyPr wrap="square"/>
                    <a:lstStyle/>
                    <a:p>
                      <a:r>
                        <a:rPr sz="2600" b="0" i="0" u="none">
                          <a:solidFill>
                            <a:srgbClr val="261F1D"/>
                          </a:solidFill>
                          <a:latin typeface="Helvetica"/>
                        </a:rPr>
                        <a:t>inspection_counts</a:t>
                      </a:r>
                    </a:p>
                  </a:txBody>
                  <a:tcPr marL="109728" marR="109728" marT="54864" marB="54864" anchor="ctr">
                    <a:solidFill>
                      <a:srgbClr val="FFF6E4"/>
                    </a:solidFill>
                  </a:tcPr>
                </a:tc>
                <a:tc>
                  <a:txBody>
                    <a:bodyPr wrap="square"/>
                    <a:lstStyle/>
                    <a:p>
                      <a:r>
                        <a:rPr sz="2600" b="0" i="0" u="none">
                          <a:solidFill>
                            <a:srgbClr val="261F1D"/>
                          </a:solidFill>
                          <a:latin typeface="Helvetica"/>
                        </a:rPr>
                        <a:t>The name you choose</a:t>
                      </a:r>
                    </a:p>
                  </a:txBody>
                  <a:tcPr marL="109728" marR="109728" marT="54864" marB="54864" anchor="ctr">
                    <a:solidFill>
                      <a:srgbClr val="FFF6E4"/>
                    </a:solidFill>
                  </a:tcPr>
                </a:tc>
              </a:tr>
              <a:tr h="502920">
                <a:tc>
                  <a:txBody>
                    <a:bodyPr wrap="square"/>
                    <a:lstStyle/>
                    <a:p>
                      <a:r>
                        <a:rPr sz="2600" b="0" i="0" u="none">
                          <a:solidFill>
                            <a:srgbClr val="261F1D"/>
                          </a:solidFill>
                          <a:latin typeface="Helvetica"/>
                        </a:rPr>
                        <a:t>AS ( ... )</a:t>
                      </a:r>
                    </a:p>
                  </a:txBody>
                  <a:tcPr marL="109728" marR="109728" marT="54864" marB="54864" anchor="ctr">
                    <a:solidFill>
                      <a:srgbClr val="FFFCF7"/>
                    </a:solidFill>
                  </a:tcPr>
                </a:tc>
                <a:tc>
                  <a:txBody>
                    <a:bodyPr wrap="square"/>
                    <a:lstStyle/>
                    <a:p>
                      <a:r>
                        <a:rPr sz="2600" b="0" i="0" u="none">
                          <a:solidFill>
                            <a:srgbClr val="261F1D"/>
                          </a:solidFill>
                          <a:latin typeface="Helvetica"/>
                        </a:rPr>
                        <a:t>The query being named</a:t>
                      </a:r>
                    </a:p>
                  </a:txBody>
                  <a:tcPr marL="109728" marR="109728" marT="54864" marB="54864" anchor="ctr">
                    <a:solidFill>
                      <a:srgbClr val="FFFCF7"/>
                    </a:solidFill>
                  </a:tcPr>
                </a:tc>
              </a:tr>
              <a:tr h="502920">
                <a:tc>
                  <a:txBody>
                    <a:bodyPr wrap="square"/>
                    <a:lstStyle/>
                    <a:p>
                      <a:r>
                        <a:rPr sz="2600" b="0" i="0" u="none">
                          <a:solidFill>
                            <a:srgbClr val="261F1D"/>
                          </a:solidFill>
                          <a:latin typeface="Helvetica"/>
                        </a:rPr>
                        <a:t>Main SELECT</a:t>
                      </a:r>
                    </a:p>
                  </a:txBody>
                  <a:tcPr marL="109728" marR="109728" marT="54864" marB="54864" anchor="ctr">
                    <a:solidFill>
                      <a:srgbClr val="FFF6E4"/>
                    </a:solidFill>
                  </a:tcPr>
                </a:tc>
                <a:tc>
                  <a:txBody>
                    <a:bodyPr wrap="square"/>
                    <a:lstStyle/>
                    <a:p>
                      <a:r>
                        <a:rPr sz="2600" b="0" i="0" u="none">
                          <a:solidFill>
                            <a:srgbClr val="261F1D"/>
                          </a:solidFill>
                          <a:latin typeface="Helvetica"/>
                        </a:rPr>
                        <a:t>Uses the name like a table</a:t>
                      </a:r>
                    </a:p>
                  </a:txBody>
                  <a:tcPr marL="109728" marR="109728" marT="54864" marB="54864" anchor="ctr">
                    <a:solidFill>
                      <a:srgbClr val="FFF6E4"/>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The Shape</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Code Along: A CTE, By Itself First</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One small, real CTE — no rewrite yet, just the bare syntax.</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A CTE, By Itself First</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psql</a:t>
            </a:r>
          </a:p>
        </p:txBody>
      </p:sp>
      <p:sp>
        <p:nvSpPr>
          <p:cNvPr id="9" name="TextBox 8"/>
          <p:cNvSpPr txBox="1"/>
          <p:nvPr/>
        </p:nvSpPr>
        <p:spPr>
          <a:xfrm>
            <a:off x="804672" y="1636776"/>
            <a:ext cx="10582351" cy="4590288"/>
          </a:xfrm>
          <a:prstGeom prst="rect">
            <a:avLst/>
          </a:prstGeom>
          <a:noFill/>
        </p:spPr>
        <p:txBody>
          <a:bodyPr wrap="square" lIns="0" rIns="0" tIns="0" bIns="0">
            <a:noAutofit/>
          </a:bodyPr>
          <a:lstStyle/>
          <a:p>
            <a:pPr>
              <a:lnSpc>
                <a:spcPct val="120000"/>
              </a:lnSpc>
              <a:defRPr sz="2600">
                <a:latin typeface="Roboto Mono"/>
              </a:defRPr>
            </a:pPr>
            <a:r>
              <a:rPr sz="2600" i="0">
                <a:solidFill>
                  <a:srgbClr val="EEBC32"/>
                </a:solidFill>
                <a:latin typeface="Roboto Mono"/>
              </a:rPr>
              <a:t>WITH</a:t>
            </a:r>
            <a:r>
              <a:rPr sz="2600" i="0">
                <a:solidFill>
                  <a:srgbClr val="FFFCF7"/>
                </a:solidFill>
                <a:latin typeface="Roboto Mono"/>
              </a:rPr>
              <a:t> </a:t>
            </a:r>
            <a:r>
              <a:rPr sz="2600" i="0">
                <a:solidFill>
                  <a:srgbClr val="FFFCF7"/>
                </a:solidFill>
                <a:latin typeface="Roboto Mono"/>
              </a:rPr>
              <a:t>not_critical</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a:t>
            </a:r>
          </a:p>
          <a:p>
            <a:pPr>
              <a:lnSpc>
                <a:spcPct val="120000"/>
              </a:lnSpc>
              <a:defRPr sz="2600">
                <a:latin typeface="Roboto Mono"/>
              </a:defRPr>
            </a:pPr>
            <a:r>
              <a:rPr sz="2600" i="0">
                <a:solidFill>
                  <a:srgbClr val="FFFCF7"/>
                </a:solidFill>
                <a:latin typeface="Roboto Mono"/>
              </a:rPr>
              <a:t>  </a:t>
            </a: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inspections</a:t>
            </a:r>
            <a:r>
              <a:rPr sz="2600" i="0">
                <a:solidFill>
                  <a:srgbClr val="FFFCF7"/>
                </a:solidFill>
                <a:latin typeface="Roboto Mono"/>
              </a:rPr>
              <a:t> </a:t>
            </a:r>
            <a:r>
              <a:rPr sz="2600" i="0">
                <a:solidFill>
                  <a:srgbClr val="EEBC32"/>
                </a:solidFill>
                <a:latin typeface="Roboto Mono"/>
              </a:rPr>
              <a:t>WHERE</a:t>
            </a:r>
            <a:r>
              <a:rPr sz="2600" i="0">
                <a:solidFill>
                  <a:srgbClr val="FFFCF7"/>
                </a:solidFill>
                <a:latin typeface="Roboto Mono"/>
              </a:rPr>
              <a:t> </a:t>
            </a:r>
            <a:r>
              <a:rPr sz="2600" i="0">
                <a:solidFill>
                  <a:srgbClr val="FFFCF7"/>
                </a:solidFill>
                <a:latin typeface="Roboto Mono"/>
              </a:rPr>
              <a:t>critical_flag</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8BAC9"/>
                </a:solidFill>
                <a:latin typeface="Roboto Mono"/>
              </a:rPr>
              <a:t>'Not Critical'</a:t>
            </a:r>
          </a:p>
          <a:p>
            <a:pPr>
              <a:lnSpc>
                <a:spcPct val="120000"/>
              </a:lnSpc>
              <a:defRPr sz="2600">
                <a:latin typeface="Roboto Mono"/>
              </a:defRPr>
            </a:pPr>
            <a:r>
              <a:rPr sz="2600" i="0">
                <a:solidFill>
                  <a:srgbClr val="FFFCF7"/>
                </a:solidFill>
                <a:latin typeface="Roboto Mono"/>
              </a:rPr>
              <a:t>)</a:t>
            </a:r>
          </a:p>
          <a:p>
            <a:pPr>
              <a:lnSpc>
                <a:spcPct val="120000"/>
              </a:lnSpc>
              <a:defRPr sz="2600">
                <a:latin typeface="Roboto Mono"/>
              </a:defRPr>
            </a:pP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not_critical</a:t>
            </a:r>
            <a:r>
              <a:rPr sz="2600" i="0">
                <a:solidFill>
                  <a:srgbClr val="FFFCF7"/>
                </a:solidFill>
                <a:latin typeface="Roboto Mono"/>
              </a:rPr>
              <a:t>;</a:t>
            </a:r>
          </a:p>
          <a:p>
            <a:pPr>
              <a:lnSpc>
                <a:spcPct val="120000"/>
              </a:lnSpc>
              <a:defRPr sz="2600">
                <a:latin typeface="Roboto Mono"/>
              </a:defRPr>
            </a:p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CHECK FOR UNDERSTANDING</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Predict it: How many rows does </a:t>
            </a:r>
            <a:r>
              <a:rPr sz="3200" b="1" i="0" u="none">
                <a:solidFill>
                  <a:srgbClr val="261F1D"/>
                </a:solidFill>
                <a:latin typeface="Roboto Mono"/>
              </a:rPr>
              <a:t>not_critical</a:t>
            </a:r>
            <a:r>
              <a:rPr sz="3200" b="1" i="0" u="none">
                <a:solidFill>
                  <a:srgbClr val="261F1D"/>
                </a:solidFill>
                <a:latin typeface="Helvetica"/>
              </a:rPr>
              <a:t> actually return?</a:t>
            </a:r>
          </a:p>
        </p:txBody>
      </p:sp>
      <p:sp>
        <p:nvSpPr>
          <p:cNvPr id="6" name="TextBox 5"/>
          <p:cNvSpPr txBox="1"/>
          <p:nvPr/>
        </p:nvSpPr>
        <p:spPr>
          <a:xfrm>
            <a:off x="822960" y="3291840"/>
            <a:ext cx="10545775" cy="2560320"/>
          </a:xfrm>
          <a:prstGeom prst="rect">
            <a:avLst/>
          </a:prstGeom>
          <a:noFill/>
        </p:spPr>
        <p:txBody>
          <a:bodyPr wrap="square" lIns="0" rIns="0" tIns="0" bIns="0">
            <a:noAutofit/>
          </a:bodyPr>
          <a:lstStyle/>
          <a:p>
            <a:pPr>
              <a:spcAft>
                <a:spcPts val="1000"/>
              </a:spcAft>
            </a:pPr>
            <a:r>
              <a:rPr sz="2600" b="0" i="0" u="none">
                <a:solidFill>
                  <a:srgbClr val="261F1D"/>
                </a:solidFill>
                <a:latin typeface="Helvetica"/>
              </a:rPr>
              <a:t>A.  3</a:t>
            </a:r>
          </a:p>
          <a:p>
            <a:pPr>
              <a:spcAft>
                <a:spcPts val="1000"/>
              </a:spcAft>
            </a:pPr>
            <a:r>
              <a:rPr sz="2600" b="0" i="0" u="none">
                <a:solidFill>
                  <a:srgbClr val="261F1D"/>
                </a:solidFill>
                <a:latin typeface="Helvetica"/>
              </a:rPr>
              <a:t>B.  4</a:t>
            </a:r>
          </a:p>
          <a:p>
            <a:pPr>
              <a:spcAft>
                <a:spcPts val="1000"/>
              </a:spcAft>
            </a:pPr>
            <a:r>
              <a:rPr sz="2600" b="0" i="0" u="none">
                <a:solidFill>
                  <a:srgbClr val="261F1D"/>
                </a:solidFill>
                <a:latin typeface="Helvetica"/>
              </a:rPr>
              <a:t>C.  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EEC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66928"/>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28655" cy="566928"/>
          </a:xfrm>
          <a:prstGeom prst="rect">
            <a:avLst/>
          </a:prstGeom>
          <a:noFill/>
        </p:spPr>
        <p:txBody>
          <a:bodyPr wrap="square" anchor="ctr" lIns="0" rIns="0" tIns="0" bIns="0">
            <a:noAutofit/>
          </a:bodyPr>
          <a:lstStyle/>
          <a:p>
            <a:pPr algn="l"/>
            <a:r>
              <a:rPr sz="2600" b="1" i="0" u="none">
                <a:solidFill>
                  <a:srgbClr val="261F1D"/>
                </a:solidFill>
                <a:latin typeface="Helvetica"/>
              </a:rPr>
              <a:t>Answer Key: Predicting a Simple CTE's Row Count</a:t>
            </a:r>
          </a:p>
        </p:txBody>
      </p:sp>
      <p:sp>
        <p:nvSpPr>
          <p:cNvPr id="5" name="TextBox 4"/>
          <p:cNvSpPr txBox="1"/>
          <p:nvPr/>
        </p:nvSpPr>
        <p:spPr>
          <a:xfrm>
            <a:off x="548640" y="1389888"/>
            <a:ext cx="11094415" cy="914400"/>
          </a:xfrm>
          <a:prstGeom prst="rect">
            <a:avLst/>
          </a:prstGeom>
          <a:noFill/>
        </p:spPr>
        <p:txBody>
          <a:bodyPr wrap="square" anchor="t" lIns="0" rIns="0" tIns="0" bIns="0">
            <a:noAutofit/>
          </a:bodyPr>
          <a:lstStyle/>
          <a:p>
            <a:pPr algn="l"/>
            <a:r>
              <a:rPr sz="3200" b="1" i="0" u="none">
                <a:solidFill>
                  <a:srgbClr val="261F1D"/>
                </a:solidFill>
                <a:latin typeface="Helvetica"/>
              </a:rPr>
              <a:t>Correct answer: 3</a:t>
            </a:r>
          </a:p>
        </p:txBody>
      </p:sp>
      <p:sp>
        <p:nvSpPr>
          <p:cNvPr id="6" name="TextBox 5"/>
          <p:cNvSpPr txBox="1"/>
          <p:nvPr/>
        </p:nvSpPr>
        <p:spPr>
          <a:xfrm>
            <a:off x="548640" y="2487168"/>
            <a:ext cx="11094415" cy="2286000"/>
          </a:xfrm>
          <a:prstGeom prst="rect">
            <a:avLst/>
          </a:prstGeom>
          <a:noFill/>
        </p:spPr>
        <p:txBody>
          <a:bodyPr wrap="square" anchor="t" lIns="0" rIns="0" tIns="0" bIns="0">
            <a:noAutofit/>
          </a:bodyPr>
          <a:lstStyle/>
          <a:p>
            <a:pPr algn="l"/>
            <a:r>
              <a:rPr sz="2600" b="0" i="0" u="none">
                <a:solidFill>
                  <a:srgbClr val="261F1D"/>
                </a:solidFill>
                <a:latin typeface="Helvetica"/>
              </a:rPr>
              <a:t>3 of the 4 real inspection rows have </a:t>
            </a:r>
            <a:r>
              <a:rPr sz="2600" b="0" i="0" u="none">
                <a:solidFill>
                  <a:srgbClr val="261F1D"/>
                </a:solidFill>
                <a:latin typeface="Roboto Mono"/>
              </a:rPr>
              <a:t>critical_flag = 'Not Critical'</a:t>
            </a:r>
            <a:r>
              <a:rPr sz="2600" b="0" i="0" u="none">
                <a:solidFill>
                  <a:srgbClr val="261F1D"/>
                </a:solidFill>
                <a:latin typeface="Helvetica"/>
              </a:rPr>
              <a:t> — only the very first inspection (2026-01-15) was marked Critical.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The Bare Syntax, Solid</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Code Along: The Same Query, Named</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Same question, same answer, read top-to-bottom this time.</a:t>
            </a:r>
          </a:p>
        </p:txBody>
      </p:sp>
      <p:pic>
        <p:nvPicPr>
          <p:cNvPr id="6" name="Picture 5" descr=""/>
          <p:cNvPicPr>
            <a:picLocks noChangeAspect="1"/>
          </p:cNvPicPr>
          <p:nvPr/>
        </p:nvPicPr>
        <p:blipFill>
          <a:blip r:embed="rId3"/>
          <a:stretch>
            <a:fillRect/>
          </a:stretch>
        </p:blipFill>
        <p:spPr>
          <a:xfrm>
            <a:off x="3093644" y="4937760"/>
            <a:ext cx="457200" cy="457200"/>
          </a:xfrm>
          <a:prstGeom prst="rect">
            <a:avLst/>
          </a:prstGeom>
        </p:spPr>
      </p:pic>
      <p:sp>
        <p:nvSpPr>
          <p:cNvPr id="7" name="TextBox 6"/>
          <p:cNvSpPr txBox="1"/>
          <p:nvPr/>
        </p:nvSpPr>
        <p:spPr>
          <a:xfrm>
            <a:off x="685800" y="5532120"/>
            <a:ext cx="5272888" cy="594360"/>
          </a:xfrm>
          <a:prstGeom prst="rect">
            <a:avLst/>
          </a:prstGeom>
          <a:noFill/>
        </p:spPr>
        <p:txBody>
          <a:bodyPr wrap="square" anchor="t" lIns="0" rIns="0" tIns="0" bIns="0">
            <a:noAutofit/>
          </a:bodyPr>
          <a:lstStyle/>
          <a:p>
            <a:pPr algn="ctr"/>
            <a:r>
              <a:rPr sz="2600" b="1" i="0" u="none">
                <a:solidFill>
                  <a:srgbClr val="FFFCF7"/>
                </a:solidFill>
                <a:latin typeface="Helvetica"/>
              </a:rPr>
              <a:t>The Hard Way, Again</a:t>
            </a:r>
          </a:p>
        </p:txBody>
      </p:sp>
      <p:pic>
        <p:nvPicPr>
          <p:cNvPr id="8" name="Picture 7" descr=""/>
          <p:cNvPicPr>
            <a:picLocks noChangeAspect="1"/>
          </p:cNvPicPr>
          <p:nvPr/>
        </p:nvPicPr>
        <p:blipFill>
          <a:blip r:embed="rId4"/>
          <a:stretch>
            <a:fillRect/>
          </a:stretch>
        </p:blipFill>
        <p:spPr>
          <a:xfrm>
            <a:off x="8640851" y="4937760"/>
            <a:ext cx="457200" cy="457200"/>
          </a:xfrm>
          <a:prstGeom prst="rect">
            <a:avLst/>
          </a:prstGeom>
        </p:spPr>
      </p:pic>
      <p:sp>
        <p:nvSpPr>
          <p:cNvPr id="9" name="TextBox 8"/>
          <p:cNvSpPr txBox="1"/>
          <p:nvPr/>
        </p:nvSpPr>
        <p:spPr>
          <a:xfrm>
            <a:off x="6233008" y="5532120"/>
            <a:ext cx="5272888" cy="594360"/>
          </a:xfrm>
          <a:prstGeom prst="rect">
            <a:avLst/>
          </a:prstGeom>
          <a:noFill/>
        </p:spPr>
        <p:txBody>
          <a:bodyPr wrap="square" anchor="t" lIns="0" rIns="0" tIns="0" bIns="0">
            <a:noAutofit/>
          </a:bodyPr>
          <a:lstStyle/>
          <a:p>
            <a:pPr algn="ctr"/>
            <a:r>
              <a:rPr sz="2600" b="1" i="0" u="none">
                <a:solidFill>
                  <a:srgbClr val="FFFCF7"/>
                </a:solidFill>
                <a:latin typeface="Helvetica"/>
              </a:rPr>
              <a:t>Named, This Time</a:t>
            </a:r>
          </a:p>
        </p:txBody>
      </p:sp>
      <p:cxnSp>
        <p:nvCxnSpPr>
          <p:cNvPr id="10" name="Connector 9"/>
          <p:cNvCxnSpPr/>
          <p:nvPr/>
        </p:nvCxnSpPr>
        <p:spPr>
          <a:xfrm>
            <a:off x="6095848" y="4937760"/>
            <a:ext cx="0" cy="1188720"/>
          </a:xfrm>
          <a:prstGeom prst="line">
            <a:avLst/>
          </a:prstGeom>
          <a:ln w="19050">
            <a:solidFill>
              <a:srgbClr val="B3BBB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The Same Query, Rewritten as a CTE</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psql</a:t>
            </a:r>
          </a:p>
        </p:txBody>
      </p:sp>
      <p:sp>
        <p:nvSpPr>
          <p:cNvPr id="9" name="TextBox 8"/>
          <p:cNvSpPr txBox="1"/>
          <p:nvPr/>
        </p:nvSpPr>
        <p:spPr>
          <a:xfrm>
            <a:off x="804672" y="1636776"/>
            <a:ext cx="10582351" cy="4590288"/>
          </a:xfrm>
          <a:prstGeom prst="rect">
            <a:avLst/>
          </a:prstGeom>
          <a:noFill/>
        </p:spPr>
        <p:txBody>
          <a:bodyPr wrap="square" lIns="0" rIns="0" tIns="0" bIns="0">
            <a:noAutofit/>
          </a:bodyPr>
          <a:lstStyle/>
          <a:p>
            <a:pPr>
              <a:lnSpc>
                <a:spcPct val="105000"/>
              </a:lnSpc>
              <a:defRPr sz="2600">
                <a:latin typeface="Roboto Mono"/>
              </a:defRPr>
            </a:pPr>
            <a:r>
              <a:rPr sz="2600" i="0">
                <a:solidFill>
                  <a:srgbClr val="EEBC32"/>
                </a:solidFill>
                <a:latin typeface="Roboto Mono"/>
              </a:rPr>
              <a:t>WITH</a:t>
            </a:r>
            <a:r>
              <a:rPr sz="2600" i="0">
                <a:solidFill>
                  <a:srgbClr val="FFFCF7"/>
                </a:solidFill>
                <a:latin typeface="Roboto Mono"/>
              </a:rPr>
              <a:t> </a:t>
            </a:r>
            <a:r>
              <a:rPr sz="2600" i="0">
                <a:solidFill>
                  <a:srgbClr val="FFFCF7"/>
                </a:solidFill>
                <a:latin typeface="Roboto Mono"/>
              </a:rPr>
              <a:t>inspection_counts</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r</a:t>
            </a:r>
            <a:r>
              <a:rPr sz="2600" i="0">
                <a:solidFill>
                  <a:srgbClr val="FFFCF7"/>
                </a:solidFill>
                <a:latin typeface="Roboto Mono"/>
              </a:rPr>
              <a:t>.</a:t>
            </a:r>
            <a:r>
              <a:rPr sz="2600" i="0">
                <a:solidFill>
                  <a:srgbClr val="FFFCF7"/>
                </a:solidFill>
                <a:latin typeface="Roboto Mono"/>
              </a:rPr>
              <a:t>dba</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COUNT</a:t>
            </a:r>
            <a:r>
              <a:rPr sz="2600" i="0">
                <a:solidFill>
                  <a:srgbClr val="FFFCF7"/>
                </a:solidFill>
                <a:latin typeface="Roboto Mono"/>
              </a:rPr>
              <a:t>(</a:t>
            </a:r>
            <a:r>
              <a:rPr sz="2600" i="0">
                <a:solidFill>
                  <a:srgbClr val="FFFCF7"/>
                </a:solidFill>
                <a:latin typeface="Roboto Mono"/>
              </a:rPr>
              <a:t>i</a:t>
            </a:r>
            <a:r>
              <a:rPr sz="2600" i="0">
                <a:solidFill>
                  <a:srgbClr val="FFFCF7"/>
                </a:solidFill>
                <a:latin typeface="Roboto Mono"/>
              </a:rPr>
              <a:t>.</a:t>
            </a:r>
            <a:r>
              <a:rPr sz="2600" i="0">
                <a:solidFill>
                  <a:srgbClr val="FFFCF7"/>
                </a:solidFill>
                <a:latin typeface="Roboto Mono"/>
              </a:rPr>
              <a:t>inspection_id</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num_inspections</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restaurants</a:t>
            </a:r>
            <a:r>
              <a:rPr sz="2600" i="0">
                <a:solidFill>
                  <a:srgbClr val="FFFCF7"/>
                </a:solidFill>
                <a:latin typeface="Roboto Mono"/>
              </a:rPr>
              <a:t> </a:t>
            </a:r>
            <a:r>
              <a:rPr sz="2600" i="0">
                <a:solidFill>
                  <a:srgbClr val="FFFCF7"/>
                </a:solidFill>
                <a:latin typeface="Roboto Mono"/>
              </a:rPr>
              <a:t>r</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LEFT</a:t>
            </a:r>
            <a:r>
              <a:rPr sz="2600" i="0">
                <a:solidFill>
                  <a:srgbClr val="FFFCF7"/>
                </a:solidFill>
                <a:latin typeface="Roboto Mono"/>
              </a:rPr>
              <a:t> </a:t>
            </a:r>
            <a:r>
              <a:rPr sz="2600" i="0">
                <a:solidFill>
                  <a:srgbClr val="EEBC32"/>
                </a:solidFill>
                <a:latin typeface="Roboto Mono"/>
              </a:rPr>
              <a:t>JOIN</a:t>
            </a:r>
            <a:r>
              <a:rPr sz="2600" i="0">
                <a:solidFill>
                  <a:srgbClr val="FFFCF7"/>
                </a:solidFill>
                <a:latin typeface="Roboto Mono"/>
              </a:rPr>
              <a:t> </a:t>
            </a:r>
            <a:r>
              <a:rPr sz="2600" i="0">
                <a:solidFill>
                  <a:srgbClr val="FFFCF7"/>
                </a:solidFill>
                <a:latin typeface="Roboto Mono"/>
              </a:rPr>
              <a:t>inspections</a:t>
            </a:r>
            <a:r>
              <a:rPr sz="2600" i="0">
                <a:solidFill>
                  <a:srgbClr val="FFFCF7"/>
                </a:solidFill>
                <a:latin typeface="Roboto Mono"/>
              </a:rPr>
              <a:t> </a:t>
            </a:r>
            <a:r>
              <a:rPr sz="2600" i="0">
                <a:solidFill>
                  <a:srgbClr val="FFFCF7"/>
                </a:solidFill>
                <a:latin typeface="Roboto Mono"/>
              </a:rPr>
              <a:t>i</a:t>
            </a:r>
            <a:r>
              <a:rPr sz="2600" i="0">
                <a:solidFill>
                  <a:srgbClr val="FFFCF7"/>
                </a:solidFill>
                <a:latin typeface="Roboto Mono"/>
              </a:rPr>
              <a:t> </a:t>
            </a:r>
            <a:r>
              <a:rPr sz="2600" i="0">
                <a:solidFill>
                  <a:srgbClr val="EEBC32"/>
                </a:solidFill>
                <a:latin typeface="Roboto Mono"/>
              </a:rPr>
              <a:t>ON</a:t>
            </a:r>
            <a:r>
              <a:rPr sz="2600" i="0">
                <a:solidFill>
                  <a:srgbClr val="FFFCF7"/>
                </a:solidFill>
                <a:latin typeface="Roboto Mono"/>
              </a:rPr>
              <a:t> </a:t>
            </a:r>
            <a:r>
              <a:rPr sz="2600" i="0">
                <a:solidFill>
                  <a:srgbClr val="FFFCF7"/>
                </a:solidFill>
                <a:latin typeface="Roboto Mono"/>
              </a:rPr>
              <a:t>r</a:t>
            </a:r>
            <a:r>
              <a:rPr sz="2600" i="0">
                <a:solidFill>
                  <a:srgbClr val="FFFCF7"/>
                </a:solidFill>
                <a:latin typeface="Roboto Mono"/>
              </a:rPr>
              <a:t>.</a:t>
            </a:r>
            <a:r>
              <a:rPr sz="2600" i="0">
                <a:solidFill>
                  <a:srgbClr val="FFFCF7"/>
                </a:solidFill>
                <a:latin typeface="Roboto Mono"/>
              </a:rPr>
              <a:t>camis</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i</a:t>
            </a:r>
            <a:r>
              <a:rPr sz="2600" i="0">
                <a:solidFill>
                  <a:srgbClr val="FFFCF7"/>
                </a:solidFill>
                <a:latin typeface="Roboto Mono"/>
              </a:rPr>
              <a:t>.</a:t>
            </a:r>
            <a:r>
              <a:rPr sz="2600" i="0">
                <a:solidFill>
                  <a:srgbClr val="FFFCF7"/>
                </a:solidFill>
                <a:latin typeface="Roboto Mono"/>
              </a:rPr>
              <a:t>camis</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GROUP</a:t>
            </a:r>
            <a:r>
              <a:rPr sz="2600" i="0">
                <a:solidFill>
                  <a:srgbClr val="FFFCF7"/>
                </a:solidFill>
                <a:latin typeface="Roboto Mono"/>
              </a:rPr>
              <a:t> </a:t>
            </a:r>
            <a:r>
              <a:rPr sz="2600" i="0">
                <a:solidFill>
                  <a:srgbClr val="EEBC32"/>
                </a:solidFill>
                <a:latin typeface="Roboto Mono"/>
              </a:rPr>
              <a:t>BY</a:t>
            </a:r>
            <a:r>
              <a:rPr sz="2600" i="0">
                <a:solidFill>
                  <a:srgbClr val="FFFCF7"/>
                </a:solidFill>
                <a:latin typeface="Roboto Mono"/>
              </a:rPr>
              <a:t> </a:t>
            </a:r>
            <a:r>
              <a:rPr sz="2600" i="0">
                <a:solidFill>
                  <a:srgbClr val="FFFCF7"/>
                </a:solidFill>
                <a:latin typeface="Roboto Mono"/>
              </a:rPr>
              <a:t>r</a:t>
            </a:r>
            <a:r>
              <a:rPr sz="2600" i="0">
                <a:solidFill>
                  <a:srgbClr val="FFFCF7"/>
                </a:solidFill>
                <a:latin typeface="Roboto Mono"/>
              </a:rPr>
              <a:t>.</a:t>
            </a:r>
            <a:r>
              <a:rPr sz="2600" i="0">
                <a:solidFill>
                  <a:srgbClr val="FFFCF7"/>
                </a:solidFill>
                <a:latin typeface="Roboto Mono"/>
              </a:rPr>
              <a:t>dba</a:t>
            </a:r>
          </a:p>
          <a:p>
            <a:pPr>
              <a:lnSpc>
                <a:spcPct val="105000"/>
              </a:lnSpc>
              <a:defRPr sz="2600">
                <a:latin typeface="Roboto Mono"/>
              </a:defRPr>
            </a:pPr>
            <a:r>
              <a:rPr sz="2600" i="0">
                <a:solidFill>
                  <a:srgbClr val="FFFCF7"/>
                </a:solidFill>
                <a:latin typeface="Roboto Mono"/>
              </a:rPr>
              <a:t>)</a:t>
            </a:r>
          </a:p>
          <a:p>
            <a:pPr>
              <a:lnSpc>
                <a:spcPct val="105000"/>
              </a:lnSpc>
              <a:defRPr sz="2600">
                <a:latin typeface="Roboto Mono"/>
              </a:defRPr>
            </a:pP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dba</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num_inspections</a:t>
            </a:r>
          </a:p>
          <a:p>
            <a:pPr>
              <a:lnSpc>
                <a:spcPct val="105000"/>
              </a:lnSpc>
              <a:defRPr sz="2600">
                <a:latin typeface="Roboto Mono"/>
              </a:defRPr>
            </a:pP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inspection_counts</a:t>
            </a:r>
          </a:p>
          <a:p>
            <a:pPr>
              <a:lnSpc>
                <a:spcPct val="105000"/>
              </a:lnSpc>
              <a:defRPr sz="2600">
                <a:latin typeface="Roboto Mono"/>
              </a:defRPr>
            </a:pPr>
            <a:r>
              <a:rPr sz="2600" i="0">
                <a:solidFill>
                  <a:srgbClr val="EEBC32"/>
                </a:solidFill>
                <a:latin typeface="Roboto Mono"/>
              </a:rPr>
              <a:t>WHERE</a:t>
            </a:r>
            <a:r>
              <a:rPr sz="2600" i="0">
                <a:solidFill>
                  <a:srgbClr val="FFFCF7"/>
                </a:solidFill>
                <a:latin typeface="Roboto Mono"/>
              </a:rPr>
              <a:t> </a:t>
            </a:r>
            <a:r>
              <a:rPr sz="2600" i="0">
                <a:solidFill>
                  <a:srgbClr val="FFFCF7"/>
                </a:solidFill>
                <a:latin typeface="Roboto Mono"/>
              </a:rPr>
              <a:t>num_inspections</a:t>
            </a:r>
            <a:r>
              <a:rPr sz="2600" i="0">
                <a:solidFill>
                  <a:srgbClr val="FFFCF7"/>
                </a:solidFill>
                <a:latin typeface="Roboto Mono"/>
              </a:rPr>
              <a:t> </a:t>
            </a:r>
            <a:r>
              <a:rPr sz="2600" i="0">
                <a:solidFill>
                  <a:srgbClr val="FFFCF7"/>
                </a:solidFill>
                <a:latin typeface="Roboto Mono"/>
              </a:rPr>
              <a:t>&gt;</a:t>
            </a:r>
            <a:r>
              <a:rPr sz="2600" i="0">
                <a:solidFill>
                  <a:srgbClr val="FFFCF7"/>
                </a:solidFill>
                <a:latin typeface="Roboto Mono"/>
              </a:rPr>
              <a:t> </a:t>
            </a:r>
            <a:r>
              <a:rPr sz="2600" i="0">
                <a:solidFill>
                  <a:srgbClr val="FFFCF7"/>
                </a:solidFill>
                <a:latin typeface="Roboto Mono"/>
              </a:rPr>
              <a:t>(</a:t>
            </a:r>
            <a:r>
              <a:rPr sz="2600" i="0">
                <a:solidFill>
                  <a:srgbClr val="EEBC32"/>
                </a:solidFill>
                <a:latin typeface="Roboto Mono"/>
              </a:rPr>
              <a:t>SELECT</a:t>
            </a:r>
            <a:r>
              <a:rPr sz="2600" i="0">
                <a:solidFill>
                  <a:srgbClr val="FFFCF7"/>
                </a:solidFill>
                <a:latin typeface="Roboto Mono"/>
              </a:rPr>
              <a:t> </a:t>
            </a:r>
            <a:r>
              <a:rPr sz="2600" i="0">
                <a:solidFill>
                  <a:srgbClr val="EEBC32"/>
                </a:solidFill>
                <a:latin typeface="Roboto Mono"/>
              </a:rPr>
              <a:t>AVG</a:t>
            </a:r>
            <a:r>
              <a:rPr sz="2600" i="0">
                <a:solidFill>
                  <a:srgbClr val="FFFCF7"/>
                </a:solidFill>
                <a:latin typeface="Roboto Mono"/>
              </a:rPr>
              <a:t>(</a:t>
            </a:r>
            <a:r>
              <a:rPr sz="2600" i="0">
                <a:solidFill>
                  <a:srgbClr val="FFFCF7"/>
                </a:solidFill>
                <a:latin typeface="Roboto Mono"/>
              </a:rPr>
              <a:t>num_inspections</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inspection_counts</a:t>
            </a:r>
            <a:r>
              <a:rPr sz="2600" i="0">
                <a:solidFill>
                  <a:srgbClr val="FFFCF7"/>
                </a:solidFill>
                <a:latin typeface="Roboto Mono"/>
              </a:rPr>
              <a:t>)</a:t>
            </a:r>
            <a:r>
              <a:rPr sz="2600" i="0">
                <a:solidFill>
                  <a:srgbClr val="FFFCF7"/>
                </a:solidFill>
                <a:latin typeface="Roboto Mono"/>
              </a:rPr>
              <a:t>;</a:t>
            </a:r>
          </a:p>
          <a:p>
            <a:pPr>
              <a:lnSpc>
                <a:spcPct val="105000"/>
              </a:lnSpc>
              <a:defRPr sz="2600">
                <a:latin typeface="Roboto Mono"/>
              </a:defRPr>
            </a:p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CHECK FOR UNDERSTANDING</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Predict it: Does this CTE version return the same 2 restaurants as the nested subquery version?</a:t>
            </a:r>
          </a:p>
        </p:txBody>
      </p:sp>
      <p:sp>
        <p:nvSpPr>
          <p:cNvPr id="6" name="TextBox 5"/>
          <p:cNvSpPr txBox="1"/>
          <p:nvPr/>
        </p:nvSpPr>
        <p:spPr>
          <a:xfrm>
            <a:off x="822960" y="3291840"/>
            <a:ext cx="10545775" cy="2560320"/>
          </a:xfrm>
          <a:prstGeom prst="rect">
            <a:avLst/>
          </a:prstGeom>
          <a:noFill/>
        </p:spPr>
        <p:txBody>
          <a:bodyPr wrap="square" lIns="0" rIns="0" tIns="0" bIns="0">
            <a:noAutofit/>
          </a:bodyPr>
          <a:lstStyle/>
          <a:p>
            <a:pPr>
              <a:spcAft>
                <a:spcPts val="1000"/>
              </a:spcAft>
            </a:pPr>
            <a:r>
              <a:rPr sz="2600" b="0" i="0" u="none">
                <a:solidFill>
                  <a:srgbClr val="261F1D"/>
                </a:solidFill>
                <a:latin typeface="Helvetica"/>
              </a:rPr>
              <a:t>A.  Yes — Corner Bistro and Green Leaf Cafe, same as before</a:t>
            </a:r>
          </a:p>
          <a:p>
            <a:pPr>
              <a:spcAft>
                <a:spcPts val="1000"/>
              </a:spcAft>
            </a:pPr>
            <a:r>
              <a:rPr sz="2600" b="0" i="0" u="none">
                <a:solidFill>
                  <a:srgbClr val="261F1D"/>
                </a:solidFill>
                <a:latin typeface="Helvetica"/>
              </a:rPr>
              <a:t>B.  No — a CTE changes which rows qualify</a:t>
            </a:r>
          </a:p>
          <a:p>
            <a:pPr>
              <a:spcAft>
                <a:spcPts val="1000"/>
              </a:spcAft>
            </a:pPr>
            <a:r>
              <a:rPr sz="2600" b="0" i="0" u="none">
                <a:solidFill>
                  <a:srgbClr val="261F1D"/>
                </a:solidFill>
                <a:latin typeface="Helvetica"/>
              </a:rPr>
              <a:t>C.  There's no way to know without different data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EEC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66928"/>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28655" cy="566928"/>
          </a:xfrm>
          <a:prstGeom prst="rect">
            <a:avLst/>
          </a:prstGeom>
          <a:noFill/>
        </p:spPr>
        <p:txBody>
          <a:bodyPr wrap="square" anchor="ctr" lIns="0" rIns="0" tIns="0" bIns="0">
            <a:noAutofit/>
          </a:bodyPr>
          <a:lstStyle/>
          <a:p>
            <a:pPr algn="l"/>
            <a:r>
              <a:rPr sz="2600" b="1" i="0" u="none">
                <a:solidFill>
                  <a:srgbClr val="261F1D"/>
                </a:solidFill>
                <a:latin typeface="Helvetica"/>
              </a:rPr>
              <a:t>Answer Key: Confirming the Rewrite Matches</a:t>
            </a:r>
          </a:p>
        </p:txBody>
      </p:sp>
      <p:sp>
        <p:nvSpPr>
          <p:cNvPr id="5" name="TextBox 4"/>
          <p:cNvSpPr txBox="1"/>
          <p:nvPr/>
        </p:nvSpPr>
        <p:spPr>
          <a:xfrm>
            <a:off x="548640" y="1389888"/>
            <a:ext cx="11094415" cy="914400"/>
          </a:xfrm>
          <a:prstGeom prst="rect">
            <a:avLst/>
          </a:prstGeom>
          <a:noFill/>
        </p:spPr>
        <p:txBody>
          <a:bodyPr wrap="square" anchor="t" lIns="0" rIns="0" tIns="0" bIns="0">
            <a:noAutofit/>
          </a:bodyPr>
          <a:lstStyle/>
          <a:p>
            <a:pPr algn="l"/>
            <a:r>
              <a:rPr sz="3200" b="1" i="0" u="none">
                <a:solidFill>
                  <a:srgbClr val="261F1D"/>
                </a:solidFill>
                <a:latin typeface="Helvetica"/>
              </a:rPr>
              <a:t>Correct answer: Yes — Corner Bistro and Green Leaf Cafe, same as before</a:t>
            </a:r>
          </a:p>
        </p:txBody>
      </p:sp>
      <p:sp>
        <p:nvSpPr>
          <p:cNvPr id="6" name="TextBox 5"/>
          <p:cNvSpPr txBox="1"/>
          <p:nvPr/>
        </p:nvSpPr>
        <p:spPr>
          <a:xfrm>
            <a:off x="548640" y="2487168"/>
            <a:ext cx="11094415" cy="2286000"/>
          </a:xfrm>
          <a:prstGeom prst="rect">
            <a:avLst/>
          </a:prstGeom>
          <a:noFill/>
        </p:spPr>
        <p:txBody>
          <a:bodyPr wrap="square" anchor="t" lIns="0" rIns="0" tIns="0" bIns="0">
            <a:noAutofit/>
          </a:bodyPr>
          <a:lstStyle/>
          <a:p>
            <a:pPr algn="l"/>
            <a:r>
              <a:rPr sz="2600" b="0" i="0" u="none">
                <a:solidFill>
                  <a:srgbClr val="261F1D"/>
                </a:solidFill>
                <a:latin typeface="Helvetica"/>
              </a:rPr>
              <a:t>A CTE doesn't change what a query computes — it only changes how the query is organized on the page. Same restaurants, same average, same 2-row answer.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Same Logic, One Reads Top-to-Bottom</a:t>
            </a:r>
          </a:p>
        </p:txBody>
      </p:sp>
      <p:sp>
        <p:nvSpPr>
          <p:cNvPr id="4" name="Rectangle 3"/>
          <p:cNvSpPr/>
          <p:nvPr/>
        </p:nvSpPr>
        <p:spPr>
          <a:xfrm>
            <a:off x="548640" y="1188720"/>
            <a:ext cx="5410048" cy="3611880"/>
          </a:xfrm>
          <a:prstGeom prst="rect">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777240" y="1371600"/>
            <a:ext cx="457200" cy="457200"/>
          </a:xfrm>
          <a:prstGeom prst="rect">
            <a:avLst/>
          </a:prstGeom>
        </p:spPr>
      </p:pic>
      <p:sp>
        <p:nvSpPr>
          <p:cNvPr id="6" name="TextBox 5"/>
          <p:cNvSpPr txBox="1"/>
          <p:nvPr/>
        </p:nvSpPr>
        <p:spPr>
          <a:xfrm>
            <a:off x="1371600" y="1371600"/>
            <a:ext cx="4358488" cy="502920"/>
          </a:xfrm>
          <a:prstGeom prst="rect">
            <a:avLst/>
          </a:prstGeom>
          <a:noFill/>
        </p:spPr>
        <p:txBody>
          <a:bodyPr wrap="square" anchor="ctr" lIns="0" rIns="0" tIns="0" bIns="0">
            <a:noAutofit/>
          </a:bodyPr>
          <a:lstStyle/>
          <a:p>
            <a:pPr algn="l"/>
            <a:r>
              <a:rPr sz="2800" b="1" i="0" u="none">
                <a:solidFill>
                  <a:srgbClr val="261F1D"/>
                </a:solidFill>
                <a:latin typeface="Helvetica"/>
              </a:rPr>
              <a:t>Nested Subquery</a:t>
            </a:r>
          </a:p>
        </p:txBody>
      </p:sp>
      <p:sp>
        <p:nvSpPr>
          <p:cNvPr id="7" name="TextBox 6"/>
          <p:cNvSpPr txBox="1"/>
          <p:nvPr/>
        </p:nvSpPr>
        <p:spPr>
          <a:xfrm>
            <a:off x="777240" y="2011680"/>
            <a:ext cx="4952848" cy="25603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Reasoning happens inside-out</a:t>
            </a:r>
          </a:p>
          <a:p>
            <a:pPr>
              <a:spcAft>
                <a:spcPts val="1000"/>
              </a:spcAft>
            </a:pPr>
            <a:r>
              <a:rPr sz="2600">
                <a:solidFill>
                  <a:srgbClr val="261F1D"/>
                </a:solidFill>
                <a:latin typeface="Helvetica"/>
              </a:rPr>
              <a:t>•  </a:t>
            </a:r>
            <a:r>
              <a:rPr sz="2600" b="0" i="0" u="none">
                <a:solidFill>
                  <a:srgbClr val="261F1D"/>
                </a:solidFill>
                <a:latin typeface="Helvetica"/>
              </a:rPr>
              <a:t>No name for the inner result</a:t>
            </a:r>
          </a:p>
          <a:p>
            <a:pPr>
              <a:spcAft>
                <a:spcPts val="1000"/>
              </a:spcAft>
            </a:pPr>
            <a:r>
              <a:rPr sz="2600">
                <a:solidFill>
                  <a:srgbClr val="261F1D"/>
                </a:solidFill>
                <a:latin typeface="Helvetica"/>
              </a:rPr>
              <a:t>•  </a:t>
            </a:r>
            <a:r>
              <a:rPr sz="2600" b="0" i="0" u="none">
                <a:solidFill>
                  <a:srgbClr val="261F1D"/>
                </a:solidFill>
                <a:latin typeface="Helvetica"/>
              </a:rPr>
              <a:t>Correct, but hard to trust fast</a:t>
            </a:r>
          </a:p>
        </p:txBody>
      </p:sp>
      <p:sp>
        <p:nvSpPr>
          <p:cNvPr id="8" name="Rectangle 7"/>
          <p:cNvSpPr/>
          <p:nvPr/>
        </p:nvSpPr>
        <p:spPr>
          <a:xfrm>
            <a:off x="6233008" y="1188720"/>
            <a:ext cx="5410048" cy="3611880"/>
          </a:xfrm>
          <a:prstGeom prst="rect">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
          <p:cNvPicPr>
            <a:picLocks noChangeAspect="1"/>
          </p:cNvPicPr>
          <p:nvPr/>
        </p:nvPicPr>
        <p:blipFill>
          <a:blip r:embed="rId4"/>
          <a:stretch>
            <a:fillRect/>
          </a:stretch>
        </p:blipFill>
        <p:spPr>
          <a:xfrm>
            <a:off x="6461608" y="1371600"/>
            <a:ext cx="457200" cy="457200"/>
          </a:xfrm>
          <a:prstGeom prst="rect">
            <a:avLst/>
          </a:prstGeom>
        </p:spPr>
      </p:pic>
      <p:sp>
        <p:nvSpPr>
          <p:cNvPr id="10" name="TextBox 9"/>
          <p:cNvSpPr txBox="1"/>
          <p:nvPr/>
        </p:nvSpPr>
        <p:spPr>
          <a:xfrm>
            <a:off x="7055968" y="1371600"/>
            <a:ext cx="4358488" cy="502920"/>
          </a:xfrm>
          <a:prstGeom prst="rect">
            <a:avLst/>
          </a:prstGeom>
          <a:noFill/>
        </p:spPr>
        <p:txBody>
          <a:bodyPr wrap="square" anchor="ctr" lIns="0" rIns="0" tIns="0" bIns="0">
            <a:noAutofit/>
          </a:bodyPr>
          <a:lstStyle/>
          <a:p>
            <a:pPr algn="l"/>
            <a:r>
              <a:rPr sz="2800" b="1" i="0" u="none">
                <a:solidFill>
                  <a:srgbClr val="261F1D"/>
                </a:solidFill>
                <a:latin typeface="Helvetica"/>
              </a:rPr>
              <a:t>CTE</a:t>
            </a:r>
          </a:p>
        </p:txBody>
      </p:sp>
      <p:sp>
        <p:nvSpPr>
          <p:cNvPr id="11" name="TextBox 10"/>
          <p:cNvSpPr txBox="1"/>
          <p:nvPr/>
        </p:nvSpPr>
        <p:spPr>
          <a:xfrm>
            <a:off x="6461608" y="2011680"/>
            <a:ext cx="4952848" cy="25603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Reasoning happens top-to-bottom</a:t>
            </a:r>
          </a:p>
          <a:p>
            <a:pPr>
              <a:spcAft>
                <a:spcPts val="1000"/>
              </a:spcAft>
            </a:pPr>
            <a:r>
              <a:rPr sz="2600">
                <a:solidFill>
                  <a:srgbClr val="261F1D"/>
                </a:solidFill>
                <a:latin typeface="Helvetica"/>
              </a:rPr>
              <a:t>•  </a:t>
            </a:r>
            <a:r>
              <a:rPr sz="2600" b="0" i="0" u="none">
                <a:solidFill>
                  <a:srgbClr val="261F1D"/>
                </a:solidFill>
                <a:latin typeface="Helvetica"/>
              </a:rPr>
              <a:t>A real name, chosen by you</a:t>
            </a:r>
          </a:p>
          <a:p>
            <a:pPr>
              <a:spcAft>
                <a:spcPts val="1000"/>
              </a:spcAft>
            </a:pPr>
            <a:r>
              <a:rPr sz="2600">
                <a:solidFill>
                  <a:srgbClr val="261F1D"/>
                </a:solidFill>
                <a:latin typeface="Helvetica"/>
              </a:rPr>
              <a:t>•  </a:t>
            </a:r>
            <a:r>
              <a:rPr sz="2600" b="0" i="0" u="none">
                <a:solidFill>
                  <a:srgbClr val="261F1D"/>
                </a:solidFill>
                <a:latin typeface="Helvetica"/>
              </a:rPr>
              <a:t>Reusable, without retyping</a:t>
            </a:r>
          </a:p>
        </p:txBody>
      </p:sp>
      <p:cxnSp>
        <p:nvCxnSpPr>
          <p:cNvPr id="12" name="Connector 11"/>
          <p:cNvCxnSpPr/>
          <p:nvPr/>
        </p:nvCxnSpPr>
        <p:spPr>
          <a:xfrm>
            <a:off x="6095848" y="1188720"/>
            <a:ext cx="0" cy="3611880"/>
          </a:xfrm>
          <a:prstGeom prst="line">
            <a:avLst/>
          </a:prstGeom>
          <a:ln w="19050">
            <a:solidFill>
              <a:srgbClr val="E1E3E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48640" y="4983480"/>
            <a:ext cx="2926080" cy="411480"/>
          </a:xfrm>
          <a:prstGeom prst="rect">
            <a:avLst/>
          </a:prstGeom>
          <a:noFill/>
        </p:spPr>
        <p:txBody>
          <a:bodyPr wrap="square" anchor="t" lIns="0" rIns="0" tIns="0" bIns="0">
            <a:noAutofit/>
          </a:bodyPr>
          <a:lstStyle/>
          <a:p>
            <a:pPr algn="l"/>
            <a:r>
              <a:rPr sz="2600" b="1" i="0" u="none">
                <a:solidFill>
                  <a:srgbClr val="327A5F"/>
                </a:solidFill>
                <a:latin typeface="Helvetica"/>
              </a:rPr>
              <a:t>IN COMMON:</a:t>
            </a:r>
          </a:p>
        </p:txBody>
      </p:sp>
      <p:sp>
        <p:nvSpPr>
          <p:cNvPr id="14" name="TextBox 13"/>
          <p:cNvSpPr txBox="1"/>
          <p:nvPr/>
        </p:nvSpPr>
        <p:spPr>
          <a:xfrm>
            <a:off x="548640" y="5440680"/>
            <a:ext cx="11094415" cy="91440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Same tables, same answer, same logic</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WOULD YOU RATHER?</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Would you rather rewrite every subquery as a CTE, or only reach for one when a query gets hard to read?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INTERVIEW PREP</a:t>
            </a:r>
          </a:p>
        </p:txBody>
      </p:sp>
      <p:sp>
        <p:nvSpPr>
          <p:cNvPr id="5" name="TextBox 4"/>
          <p:cNvSpPr txBox="1"/>
          <p:nvPr/>
        </p:nvSpPr>
        <p:spPr>
          <a:xfrm>
            <a:off x="548640" y="155448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Topics You Might Get Asked About</a:t>
            </a:r>
          </a:p>
        </p:txBody>
      </p:sp>
      <p:sp>
        <p:nvSpPr>
          <p:cNvPr id="6" name="TextBox 5"/>
          <p:cNvSpPr txBox="1"/>
          <p:nvPr/>
        </p:nvSpPr>
        <p:spPr>
          <a:xfrm>
            <a:off x="822960" y="2560320"/>
            <a:ext cx="10545775" cy="34747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When would you choose a CTE over a subquery?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4864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731520" y="548640"/>
            <a:ext cx="365760" cy="365760"/>
          </a:xfrm>
          <a:prstGeom prst="rect">
            <a:avLst/>
          </a:prstGeom>
        </p:spPr>
      </p:pic>
      <p:sp>
        <p:nvSpPr>
          <p:cNvPr id="5" name="TextBox 4"/>
          <p:cNvSpPr txBox="1"/>
          <p:nvPr/>
        </p:nvSpPr>
        <p:spPr>
          <a:xfrm>
            <a:off x="1234440" y="457200"/>
            <a:ext cx="10271455" cy="548640"/>
          </a:xfrm>
          <a:prstGeom prst="rect">
            <a:avLst/>
          </a:prstGeom>
          <a:noFill/>
        </p:spPr>
        <p:txBody>
          <a:bodyPr wrap="square" anchor="ctr" lIns="0" rIns="0" tIns="0" bIns="0">
            <a:noAutofit/>
          </a:bodyPr>
          <a:lstStyle/>
          <a:p>
            <a:pPr algn="l"/>
            <a:r>
              <a:rPr sz="2600" b="1" i="0" u="none">
                <a:solidFill>
                  <a:srgbClr val="261F1D"/>
                </a:solidFill>
                <a:latin typeface="Helvetica"/>
              </a:rPr>
              <a:t>INTERVIEW PREP</a:t>
            </a:r>
          </a:p>
        </p:txBody>
      </p:sp>
      <p:sp>
        <p:nvSpPr>
          <p:cNvPr id="6" name="TextBox 5"/>
          <p:cNvSpPr txBox="1"/>
          <p:nvPr/>
        </p:nvSpPr>
        <p:spPr>
          <a:xfrm>
            <a:off x="548640" y="1280160"/>
            <a:ext cx="11094415" cy="685800"/>
          </a:xfrm>
          <a:prstGeom prst="rect">
            <a:avLst/>
          </a:prstGeom>
          <a:noFill/>
        </p:spPr>
        <p:txBody>
          <a:bodyPr wrap="square" anchor="t" lIns="0" rIns="0" tIns="0" bIns="0">
            <a:noAutofit/>
          </a:bodyPr>
          <a:lstStyle/>
          <a:p>
            <a:pPr algn="l"/>
            <a:r>
              <a:rPr sz="3200" b="1" i="0" u="none">
                <a:solidFill>
                  <a:srgbClr val="261F1D"/>
                </a:solidFill>
                <a:latin typeface="Helvetica"/>
              </a:rPr>
              <a:t>When would you choose a CTE over a subquery?</a:t>
            </a:r>
          </a:p>
        </p:txBody>
      </p:sp>
      <p:sp>
        <p:nvSpPr>
          <p:cNvPr id="7" name="Rounded Rectangle 6"/>
          <p:cNvSpPr/>
          <p:nvPr/>
        </p:nvSpPr>
        <p:spPr>
          <a:xfrm>
            <a:off x="548640" y="2240280"/>
            <a:ext cx="11094415" cy="411480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468880"/>
            <a:ext cx="10545775" cy="3657600"/>
          </a:xfrm>
          <a:prstGeom prst="rect">
            <a:avLst/>
          </a:prstGeom>
          <a:noFill/>
        </p:spPr>
        <p:txBody>
          <a:bodyPr wrap="square" anchor="t" lIns="0" rIns="0" tIns="0" bIns="0">
            <a:noAutofit/>
          </a:bodyPr>
          <a:lstStyle/>
          <a:p>
            <a:pPr algn="l"/>
            <a:r>
              <a:rPr sz="2600" b="1" i="0" u="none">
                <a:solidFill>
                  <a:srgbClr val="264326"/>
                </a:solidFill>
                <a:latin typeface="Helvetica"/>
              </a:rPr>
              <a:t>Answer:</a:t>
            </a:r>
            <a:r>
              <a:rPr sz="2600" b="0" i="0" u="none">
                <a:solidFill>
                  <a:srgbClr val="261F1D"/>
                </a:solidFill>
                <a:latin typeface="Helvetica"/>
              </a:rPr>
              <a:t> Point: Reach for a CTE once nested logic forces a reader to work inside-out to follow it. Reason: A CTE names that logic and moves it to the top, so the query reads in the order you'd explain it aloud. Example: Today's rewrite kept the same answer and tables — only where the reasoning lives on the page changed. Point: For a simple subquery, a CTE adds a name without adding real clarity — the judgment call is whether naming it helps the next reader.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Key Terms — Recap</a:t>
            </a:r>
          </a:p>
        </p:txBody>
      </p:sp>
      <p:graphicFrame>
        <p:nvGraphicFramePr>
          <p:cNvPr id="4" name="Table 3"/>
          <p:cNvGraphicFramePr>
            <a:graphicFrameLocks noGrp="1"/>
          </p:cNvGraphicFramePr>
          <p:nvPr/>
        </p:nvGraphicFramePr>
        <p:xfrm>
          <a:off x="548640" y="2807208"/>
          <a:ext cx="11094415" cy="1883664"/>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Term</a:t>
                      </a:r>
                    </a:p>
                  </a:txBody>
                  <a:tcPr marL="109728" marR="109728" marT="54864" marB="54864" anchor="ctr">
                    <a:solidFill>
                      <a:srgbClr val="264326"/>
                    </a:solidFill>
                  </a:tcPr>
                </a:tc>
                <a:tc>
                  <a:txBody>
                    <a:bodyPr wrap="square"/>
                    <a:lstStyle/>
                    <a:p>
                      <a:r>
                        <a:rPr sz="2600" b="1" i="0" u="none">
                          <a:solidFill>
                            <a:srgbClr val="FFFCF7"/>
                          </a:solidFill>
                          <a:latin typeface="Helvetica"/>
                        </a:rPr>
                        <a:t>Definition</a:t>
                      </a:r>
                    </a:p>
                  </a:txBody>
                  <a:tcPr marL="109728" marR="109728" marT="54864" marB="54864" anchor="ctr">
                    <a:solidFill>
                      <a:srgbClr val="264326"/>
                    </a:solidFill>
                  </a:tcPr>
                </a:tc>
              </a:tr>
              <a:tr h="502920">
                <a:tc>
                  <a:txBody>
                    <a:bodyPr wrap="square"/>
                    <a:lstStyle/>
                    <a:p>
                      <a:r>
                        <a:rPr sz="2600" b="0" i="0" u="none">
                          <a:solidFill>
                            <a:srgbClr val="261F1D"/>
                          </a:solidFill>
                          <a:latin typeface="Helvetica"/>
                        </a:rPr>
                        <a:t>CTE</a:t>
                      </a:r>
                    </a:p>
                  </a:txBody>
                  <a:tcPr marL="109728" marR="109728" marT="54864" marB="54864" anchor="ctr">
                    <a:solidFill>
                      <a:srgbClr val="FFFCF7"/>
                    </a:solidFill>
                  </a:tcPr>
                </a:tc>
                <a:tc>
                  <a:txBody>
                    <a:bodyPr wrap="square"/>
                    <a:lstStyle/>
                    <a:p>
                      <a:r>
                        <a:rPr sz="2600" b="0" i="0" u="none">
                          <a:solidFill>
                            <a:srgbClr val="261F1D"/>
                          </a:solidFill>
                          <a:latin typeface="Helvetica"/>
                        </a:rPr>
                        <a:t>A named, temporary result set</a:t>
                      </a:r>
                    </a:p>
                  </a:txBody>
                  <a:tcPr marL="109728" marR="109728" marT="54864" marB="54864" anchor="ctr">
                    <a:solidFill>
                      <a:srgbClr val="FFFCF7"/>
                    </a:solidFill>
                  </a:tcPr>
                </a:tc>
              </a:tr>
              <a:tr h="877824">
                <a:tc>
                  <a:txBody>
                    <a:bodyPr wrap="square"/>
                    <a:lstStyle/>
                    <a:p>
                      <a:r>
                        <a:rPr sz="2600" b="0" i="0" u="none">
                          <a:solidFill>
                            <a:srgbClr val="261F1D"/>
                          </a:solidFill>
                          <a:latin typeface="Helvetica"/>
                        </a:rPr>
                        <a:t>WITH clause</a:t>
                      </a:r>
                    </a:p>
                  </a:txBody>
                  <a:tcPr marL="109728" marR="109728" marT="54864" marB="54864" anchor="ctr">
                    <a:solidFill>
                      <a:srgbClr val="FFF6E4"/>
                    </a:solidFill>
                  </a:tcPr>
                </a:tc>
                <a:tc>
                  <a:txBody>
                    <a:bodyPr wrap="square"/>
                    <a:lstStyle/>
                    <a:p>
                      <a:r>
                        <a:rPr sz="2600" b="0" i="0" u="none">
                          <a:solidFill>
                            <a:srgbClr val="261F1D"/>
                          </a:solidFill>
                          <a:latin typeface="Helvetica"/>
                        </a:rPr>
                        <a:t>Defines a CTE, before the main query</a:t>
                      </a:r>
                    </a:p>
                  </a:txBody>
                  <a:tcPr marL="109728" marR="109728" marT="54864" marB="54864" anchor="ctr">
                    <a:solidFill>
                      <a:srgbClr val="FFF6E4"/>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6E4"/>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So Far, We've Covered...</a:t>
            </a:r>
          </a:p>
        </p:txBody>
      </p:sp>
      <p:sp>
        <p:nvSpPr>
          <p:cNvPr id="4" name="TextBox 3"/>
          <p:cNvSpPr txBox="1"/>
          <p:nvPr/>
        </p:nvSpPr>
        <p:spPr>
          <a:xfrm>
            <a:off x="548640" y="1188720"/>
            <a:ext cx="1109441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A CTE names a result set</a:t>
            </a:r>
          </a:p>
          <a:p>
            <a:pPr>
              <a:spcAft>
                <a:spcPts val="1000"/>
              </a:spcAft>
            </a:pPr>
            <a:r>
              <a:rPr sz="2600">
                <a:solidFill>
                  <a:srgbClr val="261F1D"/>
                </a:solidFill>
                <a:latin typeface="Helvetica"/>
              </a:rPr>
              <a:t>•  </a:t>
            </a:r>
            <a:r>
              <a:rPr sz="2600" b="0" i="0" u="none">
                <a:solidFill>
                  <a:srgbClr val="261F1D"/>
                </a:solidFill>
                <a:latin typeface="Helvetica"/>
              </a:rPr>
              <a:t>Same logic, read top-to-bottom</a:t>
            </a:r>
          </a:p>
          <a:p>
            <a:pPr>
              <a:spcAft>
                <a:spcPts val="1000"/>
              </a:spcAft>
            </a:pPr>
            <a:r>
              <a:rPr sz="2600">
                <a:solidFill>
                  <a:srgbClr val="261F1D"/>
                </a:solidFill>
                <a:latin typeface="Helvetica"/>
              </a:rPr>
              <a:t>•  </a:t>
            </a:r>
            <a:r>
              <a:rPr sz="2600" b="0" i="0" u="none">
                <a:solidFill>
                  <a:srgbClr val="261F1D"/>
                </a:solidFill>
                <a:latin typeface="Helvetica"/>
              </a:rPr>
              <a:t>A judgment call, not a blanket rule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188720"/>
            <a:ext cx="11094415" cy="1005840"/>
          </a:xfrm>
          <a:prstGeom prst="rect">
            <a:avLst/>
          </a:prstGeom>
          <a:noFill/>
        </p:spPr>
        <p:txBody>
          <a:bodyPr wrap="square" anchor="t" lIns="0" rIns="0" tIns="0" bIns="0">
            <a:noAutofit/>
          </a:bodyPr>
          <a:lstStyle/>
          <a:p>
            <a:pPr algn="l"/>
            <a:r>
              <a:rPr sz="4000" b="1" i="0" u="none">
                <a:solidFill>
                  <a:srgbClr val="FFFCF7"/>
                </a:solidFill>
                <a:latin typeface="Helvetica"/>
              </a:rPr>
              <a:t>Before Next Class</a:t>
            </a:r>
          </a:p>
        </p:txBody>
      </p:sp>
      <p:sp>
        <p:nvSpPr>
          <p:cNvPr id="4" name="TextBox 3"/>
          <p:cNvSpPr txBox="1"/>
          <p:nvPr/>
        </p:nvSpPr>
        <p:spPr>
          <a:xfrm>
            <a:off x="548640" y="2651760"/>
            <a:ext cx="11094415" cy="2103120"/>
          </a:xfrm>
          <a:prstGeom prst="rect">
            <a:avLst/>
          </a:prstGeom>
          <a:noFill/>
        </p:spPr>
        <p:txBody>
          <a:bodyPr wrap="square" lIns="0" rIns="0" tIns="0" bIns="0">
            <a:noAutofit/>
          </a:bodyPr>
          <a:lstStyle/>
          <a:p>
            <a:pPr>
              <a:spcAft>
                <a:spcPts val="1000"/>
              </a:spcAft>
            </a:pPr>
            <a:r>
              <a:rPr sz="2600">
                <a:solidFill>
                  <a:srgbClr val="FFFCF7"/>
                </a:solidFill>
                <a:latin typeface="Helvetica"/>
              </a:rPr>
              <a:t>•  </a:t>
            </a:r>
            <a:r>
              <a:rPr sz="2600" b="0" i="0" u="none">
                <a:solidFill>
                  <a:srgbClr val="FFFCF7"/>
                </a:solidFill>
                <a:latin typeface="Helvetica"/>
              </a:rPr>
              <a:t>No new exercise today</a:t>
            </a:r>
          </a:p>
          <a:p>
            <a:pPr>
              <a:spcAft>
                <a:spcPts val="1000"/>
              </a:spcAft>
            </a:pPr>
            <a:r>
              <a:rPr sz="2600">
                <a:solidFill>
                  <a:srgbClr val="FFFCF7"/>
                </a:solidFill>
                <a:latin typeface="Helvetica"/>
              </a:rPr>
              <a:t>•  </a:t>
            </a:r>
            <a:r>
              <a:rPr sz="2600" b="0" i="0" u="none">
                <a:solidFill>
                  <a:srgbClr val="FFFCF7"/>
                </a:solidFill>
                <a:latin typeface="Helvetica"/>
              </a:rPr>
              <a:t>Next class: CTEs II, with a peer</a:t>
            </a:r>
          </a:p>
          <a:p>
            <a:pPr>
              <a:spcAft>
                <a:spcPts val="1000"/>
              </a:spcAft>
            </a:pPr>
            <a:r>
              <a:rPr sz="2600">
                <a:solidFill>
                  <a:srgbClr val="FFFCF7"/>
                </a:solidFill>
                <a:latin typeface="Helvetica"/>
              </a:rPr>
              <a:t>•  </a:t>
            </a:r>
            <a:r>
              <a:rPr sz="2600" b="0" i="0" u="none">
                <a:solidFill>
                  <a:srgbClr val="FFFCF7"/>
                </a:solidFill>
                <a:latin typeface="Helvetica"/>
              </a:rPr>
              <a:t>Keep your database running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365760"/>
            <a:ext cx="11094415" cy="64008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65760"/>
            <a:ext cx="10545775" cy="640080"/>
          </a:xfrm>
          <a:prstGeom prst="rect">
            <a:avLst/>
          </a:prstGeom>
          <a:noFill/>
        </p:spPr>
        <p:txBody>
          <a:bodyPr wrap="square" anchor="ctr" lIns="0" rIns="0" tIns="0" bIns="0">
            <a:noAutofit/>
          </a:bodyPr>
          <a:lstStyle/>
          <a:p>
            <a:pPr algn="l"/>
            <a:r>
              <a:rPr sz="2600" b="1" i="0" u="none">
                <a:solidFill>
                  <a:srgbClr val="261F1D"/>
                </a:solidFill>
                <a:latin typeface="Helvetica"/>
              </a:rPr>
              <a:t>KEEP LEARNING</a:t>
            </a:r>
          </a:p>
        </p:txBody>
      </p:sp>
      <p:sp>
        <p:nvSpPr>
          <p:cNvPr id="5" name="TextBox 4"/>
          <p:cNvSpPr txBox="1"/>
          <p:nvPr/>
        </p:nvSpPr>
        <p:spPr>
          <a:xfrm>
            <a:off x="548640" y="123444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Where to Go From Here</a:t>
            </a:r>
          </a:p>
        </p:txBody>
      </p:sp>
      <p:pic>
        <p:nvPicPr>
          <p:cNvPr id="6" name="Picture 5" descr=""/>
          <p:cNvPicPr>
            <a:picLocks noChangeAspect="1"/>
          </p:cNvPicPr>
          <p:nvPr/>
        </p:nvPicPr>
        <p:blipFill>
          <a:blip r:embed="rId3"/>
          <a:stretch>
            <a:fillRect/>
          </a:stretch>
        </p:blipFill>
        <p:spPr>
          <a:xfrm>
            <a:off x="548640" y="1984248"/>
            <a:ext cx="365760" cy="365760"/>
          </a:xfrm>
          <a:prstGeom prst="rect">
            <a:avLst/>
          </a:prstGeom>
        </p:spPr>
      </p:pic>
      <p:sp>
        <p:nvSpPr>
          <p:cNvPr id="7" name="TextBox 6"/>
          <p:cNvSpPr txBox="1"/>
          <p:nvPr/>
        </p:nvSpPr>
        <p:spPr>
          <a:xfrm>
            <a:off x="1051560" y="1965960"/>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4"/>
              </a:rPr>
              <a:t>PostgreSQL Tutorial: WITH Queries (CTEs)</a:t>
            </a:r>
          </a:p>
        </p:txBody>
      </p:sp>
      <p:sp>
        <p:nvSpPr>
          <p:cNvPr id="8" name="TextBox 7"/>
          <p:cNvSpPr txBox="1"/>
          <p:nvPr/>
        </p:nvSpPr>
        <p:spPr>
          <a:xfrm>
            <a:off x="1051560" y="2350008"/>
            <a:ext cx="10591495" cy="768096"/>
          </a:xfrm>
          <a:prstGeom prst="rect">
            <a:avLst/>
          </a:prstGeom>
          <a:noFill/>
        </p:spPr>
        <p:txBody>
          <a:bodyPr wrap="square" anchor="t" lIns="0" rIns="0" tIns="0" bIns="0">
            <a:noAutofit/>
          </a:bodyPr>
          <a:lstStyle/>
          <a:p>
            <a:pPr algn="l"/>
            <a:r>
              <a:rPr sz="2600" b="1" i="0" u="none">
                <a:solidFill>
                  <a:srgbClr val="327A5F"/>
                </a:solidFill>
                <a:latin typeface="Helvetica"/>
              </a:rPr>
              <a:t>PostgreSQL Global Development Group  ·  DOCS  ·  ~10 min read</a:t>
            </a:r>
          </a:p>
        </p:txBody>
      </p:sp>
      <p:sp>
        <p:nvSpPr>
          <p:cNvPr id="9" name="TextBox 8"/>
          <p:cNvSpPr txBox="1"/>
          <p:nvPr/>
        </p:nvSpPr>
        <p:spPr>
          <a:xfrm>
            <a:off x="1051560" y="3118104"/>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The official, authoritative reference on CTEs</a:t>
            </a:r>
          </a:p>
        </p:txBody>
      </p:sp>
      <p:pic>
        <p:nvPicPr>
          <p:cNvPr id="10" name="Picture 9" descr=""/>
          <p:cNvPicPr>
            <a:picLocks noChangeAspect="1"/>
          </p:cNvPicPr>
          <p:nvPr/>
        </p:nvPicPr>
        <p:blipFill>
          <a:blip r:embed="rId5"/>
          <a:stretch>
            <a:fillRect/>
          </a:stretch>
        </p:blipFill>
        <p:spPr>
          <a:xfrm>
            <a:off x="548640" y="3749040"/>
            <a:ext cx="365760" cy="365760"/>
          </a:xfrm>
          <a:prstGeom prst="rect">
            <a:avLst/>
          </a:prstGeom>
        </p:spPr>
      </p:pic>
      <p:sp>
        <p:nvSpPr>
          <p:cNvPr id="11" name="TextBox 10"/>
          <p:cNvSpPr txBox="1"/>
          <p:nvPr/>
        </p:nvSpPr>
        <p:spPr>
          <a:xfrm>
            <a:off x="1051560" y="3730752"/>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6"/>
              </a:rPr>
              <a:t>CTE in SQL</a:t>
            </a:r>
          </a:p>
        </p:txBody>
      </p:sp>
      <p:sp>
        <p:nvSpPr>
          <p:cNvPr id="12" name="TextBox 11"/>
          <p:cNvSpPr txBox="1"/>
          <p:nvPr/>
        </p:nvSpPr>
        <p:spPr>
          <a:xfrm>
            <a:off x="1051560" y="4114800"/>
            <a:ext cx="10591495" cy="384048"/>
          </a:xfrm>
          <a:prstGeom prst="rect">
            <a:avLst/>
          </a:prstGeom>
          <a:noFill/>
        </p:spPr>
        <p:txBody>
          <a:bodyPr wrap="square" anchor="t" lIns="0" rIns="0" tIns="0" bIns="0">
            <a:noAutofit/>
          </a:bodyPr>
          <a:lstStyle/>
          <a:p>
            <a:pPr algn="l"/>
            <a:r>
              <a:rPr sz="2600" b="1" i="0" u="none">
                <a:solidFill>
                  <a:srgbClr val="327A5F"/>
                </a:solidFill>
                <a:latin typeface="Helvetica"/>
              </a:rPr>
              <a:t>GeeksforGeeks  ·  READING  ·  ~8 min read</a:t>
            </a:r>
          </a:p>
        </p:txBody>
      </p:sp>
      <p:sp>
        <p:nvSpPr>
          <p:cNvPr id="13" name="TextBox 12"/>
          <p:cNvSpPr txBox="1"/>
          <p:nvPr/>
        </p:nvSpPr>
        <p:spPr>
          <a:xfrm>
            <a:off x="1051560" y="4498848"/>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A real CTE-vs-subquery comparison, with more examples</a:t>
            </a:r>
          </a:p>
        </p:txBody>
      </p:sp>
      <p:pic>
        <p:nvPicPr>
          <p:cNvPr id="14" name="Picture 13" descr=""/>
          <p:cNvPicPr>
            <a:picLocks noChangeAspect="1"/>
          </p:cNvPicPr>
          <p:nvPr/>
        </p:nvPicPr>
        <p:blipFill>
          <a:blip r:embed="rId7"/>
          <a:stretch>
            <a:fillRect/>
          </a:stretch>
        </p:blipFill>
        <p:spPr>
          <a:xfrm>
            <a:off x="548640" y="5129784"/>
            <a:ext cx="365760" cy="365760"/>
          </a:xfrm>
          <a:prstGeom prst="rect">
            <a:avLst/>
          </a:prstGeom>
        </p:spPr>
      </p:pic>
      <p:sp>
        <p:nvSpPr>
          <p:cNvPr id="15" name="TextBox 14"/>
          <p:cNvSpPr txBox="1"/>
          <p:nvPr/>
        </p:nvSpPr>
        <p:spPr>
          <a:xfrm>
            <a:off x="1051560" y="5111496"/>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8"/>
              </a:rPr>
              <a:t>SQLBolt</a:t>
            </a:r>
          </a:p>
        </p:txBody>
      </p:sp>
      <p:sp>
        <p:nvSpPr>
          <p:cNvPr id="16" name="TextBox 15"/>
          <p:cNvSpPr txBox="1"/>
          <p:nvPr/>
        </p:nvSpPr>
        <p:spPr>
          <a:xfrm>
            <a:off x="1051560" y="5495544"/>
            <a:ext cx="10591495" cy="384048"/>
          </a:xfrm>
          <a:prstGeom prst="rect">
            <a:avLst/>
          </a:prstGeom>
          <a:noFill/>
        </p:spPr>
        <p:txBody>
          <a:bodyPr wrap="square" anchor="t" lIns="0" rIns="0" tIns="0" bIns="0">
            <a:noAutofit/>
          </a:bodyPr>
          <a:lstStyle/>
          <a:p>
            <a:pPr algn="l"/>
            <a:r>
              <a:rPr sz="2600" b="1" i="0" u="none">
                <a:solidFill>
                  <a:srgbClr val="327A5F"/>
                </a:solidFill>
                <a:latin typeface="Helvetica"/>
              </a:rPr>
              <a:t>SQLBolt  ·  PRACTICE  ·  ~15 min hands-on</a:t>
            </a:r>
          </a:p>
        </p:txBody>
      </p:sp>
      <p:sp>
        <p:nvSpPr>
          <p:cNvPr id="17" name="TextBox 16"/>
          <p:cNvSpPr txBox="1"/>
          <p:nvPr/>
        </p:nvSpPr>
        <p:spPr>
          <a:xfrm>
            <a:off x="1051560" y="5879592"/>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The same free interactive lessons from earlier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