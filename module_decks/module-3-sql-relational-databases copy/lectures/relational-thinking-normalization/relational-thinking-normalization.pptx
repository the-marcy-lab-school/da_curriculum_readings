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Frame this as a real shift from Module 2: you've analyzed data that already lived in one clean file. Today starts the module that teaches you to design where that data actually lives in the first place — before a single line of SQL.</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Read both out loud. Name explicitly: every schema you'll design for your own project later this module has to pass the exact normalization test you're about to learn by hand today.</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Just names for now — you'll get real definitions and hands-on examples for every one of these before today's over.</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a few quick shout-outs. Online: drop one command in chat.</a:t>
            </a:r>
          </a:p>
          <a:p/>
          <a:p>
            <a:r>
              <a:t>[SCRIPT] Quick-fire — the point isn't which specific command gets named, it's confirming the terminal itself is already familiar ground before `psql` becomes the new thing riding on top of it next class.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[~2 min mark] Set expectations: today has two halves — first, recognizing a good design; second, actually building one from a mess.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Contrast explicitly with a name: two Fellows can share a first name, but never a student ID. That's exactly what a primary key guarantees for a row.</a:t>
            </a:r>
          </a:p>
          <a:p/>
          <a:p>
            <a:r>
              <a:t>[MISCONCEPTIONS] A common early mix-up: assuming the primary key has to be the *first* column, or has to be a number. Neither is true — what matters is uniqueness, not position or type.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a foreign key doesn't duplicate the other table's data, it *references* it. That single idea is what makes normalization possible at all.</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Walk each card left to right: customers and menu_items each have their own primary key; orders links to customers via a foreign key. This is a simplified starting point: one order, one item. Real orders usually have more than one, which is exactly what today's second half builds toward.</a:t>
            </a:r>
          </a:p>
          <a:p/>
          <a:p>
            <a:r>
              <a:t>[MISCONCEPTIONS] Fellows sometimes expect every table to link to every other table. Here, `orders` links to `customers`, but nothing links directly to `menu_items` yet — that gap is deliberate, and today's normalization walkthrough resolves it for real.</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Use Teach-Back — "what's the difference between a primary key and a foreign key" is a genuinely common real interview question, and the strongest answer is one that could teach a newcomer the distinction cleanly, not just recite a definition.</a:t>
            </a:r>
          </a:p>
          <a:p/>
          <a:p>
            <a:r>
              <a:t>[SCRIPT] Have a Fellow explain the reasoning out loud, not just pick the answer — the "points at, doesn't duplicate" idea is the one that matters.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A foreign key</a:t>
            </a:r>
          </a:p>
          <a:p>
            <a:r>
              <a:t>Why: A foreign key is a column that references another table's primary key. `orders.customer_id` doesn't identify the order itself — that's `order_id`'s job — it points at which customer placed it.</a:t>
            </a:r>
          </a:p>
          <a:p>
            <a:r>
              <a:t>Source: This module's own objective-1 definition, not an external citation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Short beat before the case study.</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Walk the timeline: automated exports kept appending rows to an old-format Excel template. Once a template hit ~1,400 cases (each result took several rows), every case past that point just... didn't make it in. No error, no warning.</a:t>
            </a:r>
          </a:p>
          <a:p/>
          <a:p>
            <a:r>
              <a:t>[SCRIPT] Name explicitly: this isn't really an "Excel is bad" story. It's a "one growing flat file has a ceiling nobody was watching" story. That's the exact problem a relational database's own table structure is built to avoid. Related tables don't have this ceiling: each fact lives in exactly one place, so growth just means more rows, not more risk — that's what normalization is for.</a:t>
            </a:r>
          </a:p>
          <a:p/>
          <a:p>
            <a:r>
              <a:t>[ARTICLE SUMMARY] In September-October 2020, Public Health England's automated process for compiling COVID-19 test results used an outdated .xls file format capped at 65,536 rows. Because each test result generated several rows and the process split data across templates capped near 1,400 cases each, any case past that per-file limit was silently dropped rather than flagged. Over an 8-day window, 15,841 positive cases were left off the file that fed England's contact-tracing system, delaying or preventing contact tracing for an estimated 48,000 close contacts. The fix was switching to a modern file format without the row cap.</a:t>
            </a:r>
          </a:p>
          <a:p/>
          <a:p>
            <a:r>
              <a:t>[SOURCES] The Register, "UK health department created its own coronavirus crisis after choosing Excel over a real database" (2020-10-05).</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this "each fact stored exactly once" habit is literally what normalization means — organizing tables so every fact lives in exactly one place. Name the tradeoff honestly too, don't oversell: related tables cost you a `psql` `JOIN` to bring facts back together — that's next class. Today's payoff is on the write/update side, not reading yet.</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[~15 min mark] Name explicitly: everything so far assumed someone already designed the schema well. The rest of today is about *how* — starting from a genuinely messy table, through these three real steps.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This is one real row per order, straight out of a flat spreadsheet — customer info repeated, multiple items crammed into one cell. Give Fellows 30 seconds to look before asking anything — let them notice the "Items" column on their own first.</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Confirm out loud: this isn't about the *number* of items, it's about cramming a list into a single cell instead of giving each item its own row.</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Each cell holds more than one value</a:t>
            </a:r>
          </a:p>
          <a:p>
            <a:r>
              <a:t>Why: "Burger, Fries" crammed into one cell isn't atomic — a real database column holds exactly one value per row. That's the whole rule 1NF enforces.</a:t>
            </a:r>
          </a:p>
          <a:p>
            <a:r>
              <a:t>Source: This module's own objective-2 definition, not an external citation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This is 1NF, First Normal Form: every cell holds exactly one value, no lists or comma-separated values. Fixing this means the table gets *more* rows, not fewer. Order 101 now takes two rows, one per item — the direct, correct consequence of making every cell atomic, not a sign something went wrong. But look what's still repeated: "$12.00" for Burger, twice; Renee's zip, on every one of her orders. 1NF alone didn't fix this.</a:t>
            </a:r>
          </a:p>
          <a:p/>
          <a:p>
            <a:r>
              <a:t>[MISCONCEPTIONS] Fellows often think 1NF is the finish line once every cell has one value. It's necessary, not sufficient — the next slide is the pivot to why.</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turn and talk with a neighbor, 60 seconds. Online: drop a guess in chat, then unmute 1-2 Fellows.</a:t>
            </a:r>
          </a:p>
          <a:p/>
          <a:p>
            <a:r>
              <a:t>[SCRIPT] Target idea: Burger's price doesn't actually depend on *which order* it's part of — it depends only on the item itself. Storing it once per order-row is what's causing the repeat.</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Write "(Order ID, Item)" as the key on the board, then circle "Item" alone next to Price — that visual is the whole concept of a partial dependency: a column depending on only part of the key, not the whole thing.</a:t>
            </a:r>
          </a:p>
          <a:p/>
          <a:p>
            <a:r>
              <a:t>[MISCONCEPTIONS] "Partial dependency" sounds abstract until it's framed concretely: it just means a column that only cares about *part* of what uniquely identifies the row, not the whole thing.</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Walk it left to right: `orders` now holds only what depends on the whole order; `items` holds only what depends on the item; `order_items` just links the two — no data of its own, purely a connector.</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Reconnect explicitly to the previous discussion slide — this is the same idea, now with the vocabulary attached to it.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It depends only on the item, not on which order it's in</a:t>
            </a:r>
          </a:p>
          <a:p>
            <a:r>
              <a:t>Why: A Burger costs $12.00 no matter which order it's part of — `price` was never really about the order at all. That's exactly what a partial dependency is, and splitting it out is how 2NF fixes it.</a:t>
            </a:r>
          </a:p>
          <a:p>
            <a:r>
              <a:t>Source: This module's own objective-2 definition, not an external citation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This is 3NF, Third Normal Form: no non-key column depends on another non-key column. Point back at the `orders` table from the last slide: Renee's zip was still on order 101 AND order 102, one customer stored in two rows. 2NF alone didn't fix this. Draw the chain on the board: `order_id` leads to `customer`, which leads to `zip`. Zip is two steps removed from the actual key, that gap is the transitive dependency. Name explicitly: this is now a real, 4-table normalized schema built from scratch, genuinely richer than the simplified 3-table version from the start of the lesson, because real orders hold more than one item. This is what "given a worked ERD" actually takes to produce.</a:t>
            </a:r>
          </a:p>
          <a:p/>
          <a:p>
            <a:r>
              <a:t>[MISCONCEPTIONS] Fellows sometimes confuse this with 2NF's partial dependency. The distinction: 2NF is about a *composite* key's parts; 3NF is about one non-key column depending on *another* non-key column instead of the key itself.</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This is the whole lesson's payoff moment — connect it back to the case study by name before moving on.</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1 row, in `customers`</a:t>
            </a:r>
          </a:p>
          <a:p>
            <a:r>
              <a:t>Why: Her zip lives in exactly one place now — `customers`. In the original flat spreadsheet, you'd have had to catch and fix every single order row she ever appeared in, and one missed row means two different "truths" about where she lives. This is the exact class of problem the PHE spreadsheet failure came from, just at file-breaking scale instead of a single wrong field.</a:t>
            </a:r>
          </a:p>
          <a:p>
            <a:r>
              <a:t>Source: This module's own objective-2 definition, not an external citation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Walk it left to right, fast — this is a recap, not new content. Each arrow is a real fix for a real problem you just found by hand: atomicity, then partial dependency, then transitive dependency.</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Use PREP — this is a "explain a concept and its tradeoff" question, not a story or an ambiguous ask, so Point-Reason-Example-Point gives a clean, complete answer without rambling.</a:t>
            </a:r>
          </a:p>
          <a:p/>
          <a:p>
            <a:r>
              <a:t>[SCRIPT] Have a Fellow attempt this cold first, then reveal — the goal is naming the *tradeoff* specifically, not just defining normalization.</a:t>
            </a:r>
          </a:p>
          <a:p/>
          <a:p/>
          <a:p>
            <a:r>
              <a:t>Short answers:</a:t>
            </a:r>
          </a:p>
          <a:p/>
          <a:p>
            <a:r>
              <a:t>Q: Why does normalization matter, and what's the tradeoff against denormalization?</a:t>
            </a:r>
          </a:p>
          <a:p>
            <a:r>
              <a:t>A: Point: Normalization splits data into related tables so each fact lives once. Reason: That prevents the update-anomaly problem from today's lesson — one change touches one place. Example: Today's zip-code update went from touching every order row to touching one `customers` row. Point: The real tradeoff is on reads — pulling facts back together needs a join, so some systems deliberately denormalize (a STAR schema) to trade redundancy for fewer joins.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Quick round-trip through all eight terms before the summary — this is the exact vocabulary the project's own `business_questions_and_schema.md` expects you to use correctly.</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Close by naming the shift ahead directly: next class turns everything you just did by hand into a real, running PostgreSQL database via `psql`. And name the project tie explicitly: this exact reasoning is what `schema_critique.md` and `business_questions_and_schema.md` both grade later this module — first on someone else's schema, then independently on your own.</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Give a specific heads-up: next class is the first hands-on rep with a real installed tool — make sure everyone knows where to find the setup instructions before then.</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out explicitly: SQLZoo and the Murder Mystery both assume you already know basic SQL syntax — bookmark them now, they pay off starting next class, not today.</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theregister.com/2020/10/05/excel_england_coronavirus_contact_error/"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21.png"/><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4.png"/><Relationship Id="rId4" Type="http://schemas.openxmlformats.org/officeDocument/2006/relationships/hyperlink" Target="https://www.freecodecamp.org/news/database-normalization-1nf-2nf-3nf-table-examples/" TargetMode="External"/><Relationship Id="rId5" Type="http://schemas.openxmlformats.org/officeDocument/2006/relationships/image" Target="../media/image25.png"/><Relationship Id="rId6" Type="http://schemas.openxmlformats.org/officeDocument/2006/relationships/hyperlink" Target="https://sqlzoo.net/wiki/SQL_Zoo" TargetMode="External"/><Relationship Id="rId7" Type="http://schemas.openxmlformats.org/officeDocument/2006/relationships/image" Target="../media/image26.png"/><Relationship Id="rId8" Type="http://schemas.openxmlformats.org/officeDocument/2006/relationships/hyperlink" Target="https://mystery.knightlab.com/" TargetMode="External"/><Relationship Id="rId9"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320040"/>
            <a:ext cx="11094415" cy="274320"/>
          </a:xfrm>
          <a:prstGeom prst="rect">
            <a:avLst/>
          </a:prstGeom>
          <a:noFill/>
        </p:spPr>
        <p:txBody>
          <a:bodyPr wrap="square" anchor="t" lIns="0" rIns="0" tIns="0" bIns="0">
            <a:noAutofit/>
          </a:bodyPr>
          <a:lstStyle/>
          <a:p>
            <a:pPr algn="l"/>
            <a:r>
              <a:rPr sz="2600" b="1" i="0" u="none">
                <a:solidFill>
                  <a:srgbClr val="FFFCF7"/>
                </a:solidFill>
                <a:latin typeface="Helvetica"/>
              </a:rPr>
              <a:t>THE MARCY LAB SCHOOL</a:t>
            </a:r>
          </a:p>
        </p:txBody>
      </p:sp>
      <p:sp>
        <p:nvSpPr>
          <p:cNvPr id="4" name="Rectangle 3"/>
          <p:cNvSpPr/>
          <p:nvPr/>
        </p:nvSpPr>
        <p:spPr>
          <a:xfrm>
            <a:off x="0" y="6748272"/>
            <a:ext cx="8534186" cy="54864"/>
          </a:xfrm>
          <a:prstGeom prst="rect">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86000"/>
            <a:ext cx="11094415" cy="1463040"/>
          </a:xfrm>
          <a:prstGeom prst="rect">
            <a:avLst/>
          </a:prstGeom>
          <a:noFill/>
        </p:spPr>
        <p:txBody>
          <a:bodyPr wrap="square" anchor="b" lIns="0" rIns="0" tIns="0" bIns="0">
            <a:noAutofit/>
          </a:bodyPr>
          <a:lstStyle/>
          <a:p>
            <a:pPr algn="l"/>
            <a:r>
              <a:rPr sz="4000" b="1" i="0" u="none">
                <a:solidFill>
                  <a:srgbClr val="EEBC32"/>
                </a:solidFill>
                <a:latin typeface="Helvetica"/>
              </a:rPr>
              <a:t>Relational Thinking &amp; Normalization</a:t>
            </a:r>
          </a:p>
        </p:txBody>
      </p:sp>
      <p:sp>
        <p:nvSpPr>
          <p:cNvPr id="6" name="TextBox 5"/>
          <p:cNvSpPr txBox="1"/>
          <p:nvPr/>
        </p:nvSpPr>
        <p:spPr>
          <a:xfrm>
            <a:off x="548640" y="5943600"/>
            <a:ext cx="8229600" cy="457200"/>
          </a:xfrm>
          <a:prstGeom prst="rect">
            <a:avLst/>
          </a:prstGeom>
          <a:noFill/>
        </p:spPr>
        <p:txBody>
          <a:bodyPr wrap="square" anchor="t" lIns="0" rIns="0" tIns="0" bIns="0">
            <a:noAutofit/>
          </a:bodyPr>
          <a:lstStyle/>
          <a:p>
            <a:pPr algn="l"/>
            <a:r>
              <a:rPr sz="2600" b="0" i="0" u="none">
                <a:solidFill>
                  <a:srgbClr val="FFFCF7"/>
                </a:solidFill>
                <a:latin typeface="Helvetica"/>
              </a:rPr>
              <a:t>Module 3: SQL &amp; Relational Databases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By the End of Today, You'll Be Able To...</a:t>
            </a:r>
          </a:p>
        </p:txBody>
      </p:sp>
      <p:sp>
        <p:nvSpPr>
          <p:cNvPr id="4" name="Rounded Rectangle 3"/>
          <p:cNvSpPr/>
          <p:nvPr/>
        </p:nvSpPr>
        <p:spPr>
          <a:xfrm>
            <a:off x="548640" y="2468880"/>
            <a:ext cx="543290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990774" y="2697480"/>
            <a:ext cx="548640" cy="548640"/>
          </a:xfrm>
          <a:prstGeom prst="rect">
            <a:avLst/>
          </a:prstGeom>
        </p:spPr>
      </p:pic>
      <p:sp>
        <p:nvSpPr>
          <p:cNvPr id="6" name="TextBox 5"/>
          <p:cNvSpPr txBox="1"/>
          <p:nvPr/>
        </p:nvSpPr>
        <p:spPr>
          <a:xfrm>
            <a:off x="685800"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Explain primary keys, foreign keys, normalization</a:t>
            </a:r>
          </a:p>
        </p:txBody>
      </p:sp>
      <p:sp>
        <p:nvSpPr>
          <p:cNvPr id="7" name="Rounded Rectangle 6"/>
          <p:cNvSpPr/>
          <p:nvPr/>
        </p:nvSpPr>
        <p:spPr>
          <a:xfrm>
            <a:off x="6210148" y="2468880"/>
            <a:ext cx="543290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8652281" y="2697480"/>
            <a:ext cx="548640" cy="548640"/>
          </a:xfrm>
          <a:prstGeom prst="rect">
            <a:avLst/>
          </a:prstGeom>
        </p:spPr>
      </p:pic>
      <p:sp>
        <p:nvSpPr>
          <p:cNvPr id="9" name="TextBox 8"/>
          <p:cNvSpPr txBox="1"/>
          <p:nvPr/>
        </p:nvSpPr>
        <p:spPr>
          <a:xfrm>
            <a:off x="6347308"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Take a messy table through 1NF, 2NF, 3NF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You'll Know by the End of Today</a:t>
            </a:r>
          </a:p>
        </p:txBody>
      </p:sp>
      <p:sp>
        <p:nvSpPr>
          <p:cNvPr id="4" name="Rounded Rectangle 3"/>
          <p:cNvSpPr/>
          <p:nvPr/>
        </p:nvSpPr>
        <p:spPr>
          <a:xfrm>
            <a:off x="548640" y="2468880"/>
            <a:ext cx="543290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990774" y="2697480"/>
            <a:ext cx="548640" cy="548640"/>
          </a:xfrm>
          <a:prstGeom prst="rect">
            <a:avLst/>
          </a:prstGeom>
        </p:spPr>
      </p:pic>
      <p:sp>
        <p:nvSpPr>
          <p:cNvPr id="6" name="TextBox 5"/>
          <p:cNvSpPr txBox="1"/>
          <p:nvPr/>
        </p:nvSpPr>
        <p:spPr>
          <a:xfrm>
            <a:off x="685800"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Primary key, foreign key</a:t>
            </a:r>
          </a:p>
        </p:txBody>
      </p:sp>
      <p:sp>
        <p:nvSpPr>
          <p:cNvPr id="7" name="Rounded Rectangle 6"/>
          <p:cNvSpPr/>
          <p:nvPr/>
        </p:nvSpPr>
        <p:spPr>
          <a:xfrm>
            <a:off x="6210148" y="2468880"/>
            <a:ext cx="543290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8652281" y="2697480"/>
            <a:ext cx="548640" cy="548640"/>
          </a:xfrm>
          <a:prstGeom prst="rect">
            <a:avLst/>
          </a:prstGeom>
        </p:spPr>
      </p:pic>
      <p:sp>
        <p:nvSpPr>
          <p:cNvPr id="9" name="TextBox 8"/>
          <p:cNvSpPr txBox="1"/>
          <p:nvPr/>
        </p:nvSpPr>
        <p:spPr>
          <a:xfrm>
            <a:off x="6347308"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Normalization: 1NF, 2NF, 3NF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TURN AND TALK</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Quick recall: Name one real terminal command you've already typed for real, in an earlier module.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Warmed Up</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One Given Example</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You'll see a worked, already-correct schema first — then learn to build one yourself.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A Primary Key Uniquely Identifies a Row</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One column (or combo) per table</a:t>
            </a:r>
          </a:p>
          <a:p>
            <a:pPr>
              <a:spcAft>
                <a:spcPts val="1000"/>
              </a:spcAft>
            </a:pPr>
            <a:r>
              <a:rPr sz="2600">
                <a:solidFill>
                  <a:srgbClr val="261F1D"/>
                </a:solidFill>
                <a:latin typeface="Helvetica"/>
              </a:rPr>
              <a:t>•  </a:t>
            </a:r>
            <a:r>
              <a:rPr sz="2600" b="0" i="0" u="none">
                <a:solidFill>
                  <a:srgbClr val="261F1D"/>
                </a:solidFill>
                <a:latin typeface="Helvetica"/>
              </a:rPr>
              <a:t>No two rows ever share it</a:t>
            </a:r>
          </a:p>
          <a:p>
            <a:pPr>
              <a:spcAft>
                <a:spcPts val="1000"/>
              </a:spcAft>
            </a:pPr>
            <a:r>
              <a:rPr sz="2600">
                <a:solidFill>
                  <a:srgbClr val="261F1D"/>
                </a:solidFill>
                <a:latin typeface="Helvetica"/>
              </a:rPr>
              <a:t>•  </a:t>
            </a:r>
            <a:r>
              <a:rPr sz="2600" b="0" i="0" u="none">
                <a:solidFill>
                  <a:srgbClr val="261F1D"/>
                </a:solidFill>
                <a:latin typeface="Helvetica"/>
              </a:rPr>
              <a:t>Nothing to do with row order</a:t>
            </a:r>
          </a:p>
        </p:txBody>
      </p:sp>
      <p:sp>
        <p:nvSpPr>
          <p:cNvPr id="5" name="Oval 4"/>
          <p:cNvSpPr/>
          <p:nvPr/>
        </p:nvSpPr>
        <p:spPr>
          <a:xfrm>
            <a:off x="8532266" y="2581351"/>
            <a:ext cx="2381098" cy="2381098"/>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A Foreign Key Points at Another Table's Row</a:t>
            </a:r>
          </a:p>
        </p:txBody>
      </p:sp>
      <p:sp>
        <p:nvSpPr>
          <p:cNvPr id="4" name="TextBox 3"/>
          <p:cNvSpPr txBox="1"/>
          <p:nvPr/>
        </p:nvSpPr>
        <p:spPr>
          <a:xfrm>
            <a:off x="548640" y="1188720"/>
            <a:ext cx="6705295" cy="35382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Lives in one table</a:t>
            </a:r>
          </a:p>
          <a:p>
            <a:pPr>
              <a:spcAft>
                <a:spcPts val="1000"/>
              </a:spcAft>
            </a:pPr>
            <a:r>
              <a:rPr sz="2600">
                <a:solidFill>
                  <a:srgbClr val="261F1D"/>
                </a:solidFill>
                <a:latin typeface="Helvetica"/>
              </a:rPr>
              <a:t>•  </a:t>
            </a:r>
            <a:r>
              <a:rPr sz="2600" b="0" i="0" u="none">
                <a:solidFill>
                  <a:srgbClr val="261F1D"/>
                </a:solidFill>
                <a:latin typeface="Helvetica"/>
              </a:rPr>
              <a:t>Matches a primary key in another</a:t>
            </a:r>
          </a:p>
          <a:p>
            <a:pPr>
              <a:spcAft>
                <a:spcPts val="1000"/>
              </a:spcAft>
            </a:pPr>
            <a:r>
              <a:rPr sz="2600">
                <a:solidFill>
                  <a:srgbClr val="261F1D"/>
                </a:solidFill>
                <a:latin typeface="Helvetica"/>
              </a:rPr>
              <a:t>•  </a:t>
            </a:r>
            <a:r>
              <a:rPr sz="2600" b="0" i="0" u="none">
                <a:solidFill>
                  <a:srgbClr val="261F1D"/>
                </a:solidFill>
                <a:latin typeface="Helvetica"/>
              </a:rPr>
              <a:t>That's the actual "link" between tables</a:t>
            </a:r>
          </a:p>
        </p:txBody>
      </p:sp>
      <p:sp>
        <p:nvSpPr>
          <p:cNvPr id="5" name="Oval 4"/>
          <p:cNvSpPr/>
          <p:nvPr/>
        </p:nvSpPr>
        <p:spPr>
          <a:xfrm>
            <a:off x="8611794" y="1869669"/>
            <a:ext cx="2222043" cy="2222043"/>
          </a:xfrm>
          <a:prstGeom prst="ellipse">
            <a:avLst/>
          </a:prstGeom>
          <a:solidFill>
            <a:srgbClr val="FECC5B"/>
          </a:solidFill>
          <a:ln w="50800">
            <a:solidFill>
              <a:srgbClr val="83671C"/>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67304" y="2425179"/>
            <a:ext cx="1111021" cy="1111021"/>
          </a:xfrm>
          <a:prstGeom prst="rect">
            <a:avLst/>
          </a:prstGeom>
        </p:spPr>
      </p:pic>
      <p:sp>
        <p:nvSpPr>
          <p:cNvPr id="7" name="Rounded Rectangle 6"/>
          <p:cNvSpPr/>
          <p:nvPr/>
        </p:nvSpPr>
        <p:spPr>
          <a:xfrm>
            <a:off x="548640" y="4909820"/>
            <a:ext cx="11094415" cy="14452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909820"/>
            <a:ext cx="10637215" cy="14452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Like writing a friend's library card number on a form instead of copying their whole name and address every time — you just point at their record.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A Worked Schema: Customers, Orders, Menu Items</a:t>
            </a:r>
          </a:p>
        </p:txBody>
      </p:sp>
      <p:sp>
        <p:nvSpPr>
          <p:cNvPr id="4" name="Rounded Rectangle 3"/>
          <p:cNvSpPr/>
          <p:nvPr/>
        </p:nvSpPr>
        <p:spPr>
          <a:xfrm>
            <a:off x="548640" y="2468880"/>
            <a:ext cx="354573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047189" y="2697480"/>
            <a:ext cx="548640" cy="548640"/>
          </a:xfrm>
          <a:prstGeom prst="rect">
            <a:avLst/>
          </a:prstGeom>
        </p:spPr>
      </p:pic>
      <p:sp>
        <p:nvSpPr>
          <p:cNvPr id="6" name="TextBox 5"/>
          <p:cNvSpPr txBox="1"/>
          <p:nvPr/>
        </p:nvSpPr>
        <p:spPr>
          <a:xfrm>
            <a:off x="685800"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customers — customer_id (PK)</a:t>
            </a:r>
          </a:p>
        </p:txBody>
      </p:sp>
      <p:sp>
        <p:nvSpPr>
          <p:cNvPr id="7" name="Rounded Rectangle 6"/>
          <p:cNvSpPr/>
          <p:nvPr/>
        </p:nvSpPr>
        <p:spPr>
          <a:xfrm>
            <a:off x="4322978" y="2468880"/>
            <a:ext cx="354573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5821528" y="2697480"/>
            <a:ext cx="548640" cy="548640"/>
          </a:xfrm>
          <a:prstGeom prst="rect">
            <a:avLst/>
          </a:prstGeom>
        </p:spPr>
      </p:pic>
      <p:sp>
        <p:nvSpPr>
          <p:cNvPr id="9" name="TextBox 8"/>
          <p:cNvSpPr txBox="1"/>
          <p:nvPr/>
        </p:nvSpPr>
        <p:spPr>
          <a:xfrm>
            <a:off x="4460138"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orders — order_id (PK), customer_id (FK)</a:t>
            </a:r>
          </a:p>
        </p:txBody>
      </p:sp>
      <p:sp>
        <p:nvSpPr>
          <p:cNvPr id="10" name="Rounded Rectangle 9"/>
          <p:cNvSpPr/>
          <p:nvPr/>
        </p:nvSpPr>
        <p:spPr>
          <a:xfrm>
            <a:off x="8097317" y="2468880"/>
            <a:ext cx="3545738"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9595866" y="2697480"/>
            <a:ext cx="548640" cy="548640"/>
          </a:xfrm>
          <a:prstGeom prst="rect">
            <a:avLst/>
          </a:prstGeom>
        </p:spPr>
      </p:pic>
      <p:sp>
        <p:nvSpPr>
          <p:cNvPr id="12" name="TextBox 11"/>
          <p:cNvSpPr txBox="1"/>
          <p:nvPr/>
        </p:nvSpPr>
        <p:spPr>
          <a:xfrm>
            <a:off x="8234477"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menu_items — item_id (PK)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QUICK CHALLENGE</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In this schema, </a:t>
            </a:r>
            <a:r>
              <a:rPr sz="3200" b="1" i="0" u="none">
                <a:solidFill>
                  <a:srgbClr val="261F1D"/>
                </a:solidFill>
                <a:latin typeface="Roboto Mono"/>
              </a:rPr>
              <a:t>orders.customer_id</a:t>
            </a:r>
            <a:r>
              <a:rPr sz="3200" b="1" i="0" u="none">
                <a:solidFill>
                  <a:srgbClr val="261F1D"/>
                </a:solidFill>
                <a:latin typeface="Helvetica"/>
              </a:rPr>
              <a:t> matches </a:t>
            </a:r>
            <a:r>
              <a:rPr sz="3200" b="1" i="0" u="none">
                <a:solidFill>
                  <a:srgbClr val="261F1D"/>
                </a:solidFill>
                <a:latin typeface="Roboto Mono"/>
              </a:rPr>
              <a:t>customers.customer_id</a:t>
            </a:r>
            <a:r>
              <a:rPr sz="3200" b="1" i="0" u="none">
                <a:solidFill>
                  <a:srgbClr val="261F1D"/>
                </a:solidFill>
                <a:latin typeface="Helvetica"/>
              </a:rPr>
              <a:t>. What kind of key is </a:t>
            </a:r>
            <a:r>
              <a:rPr sz="3200" b="1" i="0" u="none">
                <a:solidFill>
                  <a:srgbClr val="261F1D"/>
                </a:solidFill>
                <a:latin typeface="Roboto Mono"/>
              </a:rPr>
              <a:t>orders.customer_id</a:t>
            </a:r>
            <a:r>
              <a:rPr sz="3200" b="1" i="0" u="none">
                <a:solidFill>
                  <a:srgbClr val="261F1D"/>
                </a:solidFill>
                <a:latin typeface="Helvetica"/>
              </a:rPr>
              <a:t>, and how would you explain the difference from a primary key?</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A foreign key</a:t>
            </a:r>
          </a:p>
          <a:p>
            <a:pPr>
              <a:spcAft>
                <a:spcPts val="1000"/>
              </a:spcAft>
            </a:pPr>
            <a:r>
              <a:rPr sz="2600" b="0" i="0" u="none">
                <a:solidFill>
                  <a:srgbClr val="261F1D"/>
                </a:solidFill>
                <a:latin typeface="Helvetica"/>
              </a:rPr>
              <a:t>B.  A primary key</a:t>
            </a:r>
          </a:p>
          <a:p>
            <a:pPr>
              <a:spcAft>
                <a:spcPts val="1000"/>
              </a:spcAft>
            </a:pPr>
            <a:r>
              <a:rPr sz="2600" b="0" i="0" u="none">
                <a:solidFill>
                  <a:srgbClr val="261F1D"/>
                </a:solidFill>
                <a:latin typeface="Helvetica"/>
              </a:rPr>
              <a:t>C.  Neither — just a coincidence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Spotting a Foreign Key</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A foreign key</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A foreign key is a column that references another table's primary key. </a:t>
            </a:r>
            <a:r>
              <a:rPr sz="2600" b="0" i="0" u="none">
                <a:solidFill>
                  <a:srgbClr val="261F1D"/>
                </a:solidFill>
                <a:latin typeface="Roboto Mono"/>
              </a:rPr>
              <a:t>orders.customer_id</a:t>
            </a:r>
            <a:r>
              <a:rPr sz="2600" b="0" i="0" u="none">
                <a:solidFill>
                  <a:srgbClr val="261F1D"/>
                </a:solidFill>
                <a:latin typeface="Helvetica"/>
              </a:rPr>
              <a:t> doesn't identify the order itself — that's </a:t>
            </a:r>
            <a:r>
              <a:rPr sz="2600" b="0" i="0" u="none">
                <a:solidFill>
                  <a:srgbClr val="261F1D"/>
                </a:solidFill>
                <a:latin typeface="Roboto Mono"/>
              </a:rPr>
              <a:t>order_id</a:t>
            </a:r>
            <a:r>
              <a:rPr sz="2600" b="0" i="0" u="none">
                <a:solidFill>
                  <a:srgbClr val="261F1D"/>
                </a:solidFill>
                <a:latin typeface="Helvetica"/>
              </a:rPr>
              <a:t>'s job — it points at which customer placed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A Clean Example</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But Why Bother?</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One flat spreadsheet feels simpler — until it has to grow.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3108960" cy="54864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2743200" cy="548640"/>
          </a:xfrm>
          <a:prstGeom prst="rect">
            <a:avLst/>
          </a:prstGeom>
          <a:noFill/>
        </p:spPr>
        <p:txBody>
          <a:bodyPr wrap="square" anchor="ctr" lIns="0" rIns="0" tIns="0" bIns="0">
            <a:noAutofit/>
          </a:bodyPr>
          <a:lstStyle/>
          <a:p>
            <a:pPr algn="l"/>
            <a:r>
              <a:rPr sz="2600" b="1" i="0" u="none">
                <a:solidFill>
                  <a:srgbClr val="261F1D"/>
                </a:solidFill>
                <a:latin typeface="Helvetica"/>
              </a:rPr>
              <a:t>IN THE NEWS</a:t>
            </a:r>
          </a:p>
        </p:txBody>
      </p:sp>
      <p:sp>
        <p:nvSpPr>
          <p:cNvPr id="5" name="TextBox 4"/>
          <p:cNvSpPr txBox="1"/>
          <p:nvPr/>
        </p:nvSpPr>
        <p:spPr>
          <a:xfrm>
            <a:off x="548640" y="109728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A Spreadsheet Row Limit Quietly Dropped 16,000 COVID Cases</a:t>
            </a:r>
          </a:p>
        </p:txBody>
      </p:sp>
      <p:sp>
        <p:nvSpPr>
          <p:cNvPr id="6" name="TextBox 5"/>
          <p:cNvSpPr txBox="1"/>
          <p:nvPr/>
        </p:nvSpPr>
        <p:spPr>
          <a:xfrm>
            <a:off x="548640" y="2423160"/>
            <a:ext cx="6705295" cy="173736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One spreadsheet, always growing</a:t>
            </a:r>
          </a:p>
          <a:p>
            <a:pPr>
              <a:spcAft>
                <a:spcPts val="1000"/>
              </a:spcAft>
            </a:pPr>
            <a:r>
              <a:rPr sz="2600">
                <a:solidFill>
                  <a:srgbClr val="261F1D"/>
                </a:solidFill>
                <a:latin typeface="Helvetica"/>
              </a:rPr>
              <a:t>•  </a:t>
            </a:r>
            <a:r>
              <a:rPr sz="2600" b="0" i="0" u="none">
                <a:solidFill>
                  <a:srgbClr val="261F1D"/>
                </a:solidFill>
                <a:latin typeface="Helvetica"/>
              </a:rPr>
              <a:t>15,841 real cases went missing</a:t>
            </a:r>
          </a:p>
        </p:txBody>
      </p:sp>
      <p:sp>
        <p:nvSpPr>
          <p:cNvPr id="7" name="TextBox 6"/>
          <p:cNvSpPr txBox="1"/>
          <p:nvPr/>
        </p:nvSpPr>
        <p:spPr>
          <a:xfrm>
            <a:off x="548640" y="4297680"/>
            <a:ext cx="6705295" cy="1920240"/>
          </a:xfrm>
          <a:prstGeom prst="rect">
            <a:avLst/>
          </a:prstGeom>
          <a:noFill/>
        </p:spPr>
        <p:txBody>
          <a:bodyPr wrap="square" anchor="t" lIns="0" rIns="0" tIns="0" bIns="0">
            <a:noAutofit/>
          </a:bodyPr>
          <a:lstStyle/>
          <a:p>
            <a:pPr algn="l"/>
            <a:r>
              <a:rPr sz="2600" b="0" i="1" u="none">
                <a:solidFill>
                  <a:srgbClr val="2274B5"/>
                </a:solidFill>
                <a:latin typeface="Fraunces"/>
              </a:rPr>
              <a:t>Important Point: One growing flat file has real, hard limits — a relational database is built specifically so structure, not luck, is what keeps data from silently breaking as it grows.</a:t>
            </a:r>
          </a:p>
        </p:txBody>
      </p:sp>
      <p:sp>
        <p:nvSpPr>
          <p:cNvPr id="8" name="Rounded Rectangle 7"/>
          <p:cNvSpPr/>
          <p:nvPr/>
        </p:nvSpPr>
        <p:spPr>
          <a:xfrm>
            <a:off x="7802575" y="2423160"/>
            <a:ext cx="3840480" cy="3566160"/>
          </a:xfrm>
          <a:prstGeom prst="roundRect">
            <a:avLst>
              <a:gd name="adj" fmla="val 3000"/>
            </a:avLst>
          </a:prstGeom>
          <a:solidFill>
            <a:srgbClr val="FFF6E4"/>
          </a:solidFill>
          <a:ln w="19050">
            <a:solidFill>
              <a:srgbClr val="A6C2B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25792" y="2993746"/>
            <a:ext cx="135453" cy="135453"/>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sosceles Triangle 9"/>
          <p:cNvSpPr/>
          <p:nvPr/>
        </p:nvSpPr>
        <p:spPr>
          <a:xfrm>
            <a:off x="9414967" y="3104571"/>
            <a:ext cx="615696" cy="338633"/>
          </a:xfrm>
          <a:prstGeom prst="triangl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39735" y="3547872"/>
            <a:ext cx="3566160" cy="384048"/>
          </a:xfrm>
          <a:prstGeom prst="rect">
            <a:avLst/>
          </a:prstGeom>
          <a:noFill/>
        </p:spPr>
        <p:txBody>
          <a:bodyPr wrap="square" anchor="t" lIns="0" rIns="0" tIns="0" bIns="0">
            <a:noAutofit/>
          </a:bodyPr>
          <a:lstStyle/>
          <a:p>
            <a:pPr algn="ctr"/>
            <a:r>
              <a:rPr sz="2600" b="1" i="0" u="none">
                <a:solidFill>
                  <a:srgbClr val="327A5F"/>
                </a:solidFill>
                <a:latin typeface="Helvetica"/>
              </a:rPr>
              <a:t>AI IMAGE NEEDED</a:t>
            </a:r>
          </a:p>
        </p:txBody>
      </p:sp>
      <p:sp>
        <p:nvSpPr>
          <p:cNvPr id="12" name="TextBox 11"/>
          <p:cNvSpPr txBox="1"/>
          <p:nvPr/>
        </p:nvSpPr>
        <p:spPr>
          <a:xfrm>
            <a:off x="8031175" y="3977640"/>
            <a:ext cx="3383280" cy="1920240"/>
          </a:xfrm>
          <a:prstGeom prst="rect">
            <a:avLst/>
          </a:prstGeom>
          <a:noFill/>
        </p:spPr>
        <p:txBody>
          <a:bodyPr wrap="square" anchor="t" lIns="0" rIns="0" tIns="0" bIns="0">
            <a:noAutofit/>
          </a:bodyPr>
          <a:lstStyle/>
          <a:p>
            <a:pPr algn="ctr"/>
            <a:r>
              <a:rPr sz="2600" b="0" i="1" u="none">
                <a:solidFill>
                  <a:srgbClr val="327A5F"/>
                </a:solidFill>
                <a:latin typeface="Fraunces"/>
              </a:rPr>
              <a:t>Photo-realistic: A public health analyst reviewing a data dashboard, serious expression, muted…</a:t>
            </a:r>
          </a:p>
        </p:txBody>
      </p:sp>
      <p:sp>
        <p:nvSpPr>
          <p:cNvPr id="13" name="TextBox 12"/>
          <p:cNvSpPr txBox="1"/>
          <p:nvPr/>
        </p:nvSpPr>
        <p:spPr>
          <a:xfrm>
            <a:off x="7802575" y="6080760"/>
            <a:ext cx="3840480" cy="274320"/>
          </a:xfrm>
          <a:prstGeom prst="rect">
            <a:avLst/>
          </a:prstGeom>
          <a:noFill/>
        </p:spPr>
        <p:txBody>
          <a:bodyPr wrap="square" anchor="t" lIns="0" rIns="0" tIns="0" bIns="0">
            <a:noAutofit/>
          </a:bodyPr>
          <a:lstStyle/>
          <a:p>
            <a:pPr algn="l"/>
            <a:r>
              <a:rPr sz="1800" b="0" i="1" u="none">
                <a:solidFill>
                  <a:srgbClr val="327A5F"/>
                </a:solidFill>
                <a:latin typeface="Fraunces"/>
                <a:hlinkClick r:id="rId3"/>
              </a:rPr>
              <a:t>The Register, October 2020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Structure, Not Luck, Prevents Breakage</a:t>
            </a:r>
          </a:p>
        </p:txBody>
      </p:sp>
      <p:sp>
        <p:nvSpPr>
          <p:cNvPr id="4" name="Rectangle 3"/>
          <p:cNvSpPr/>
          <p:nvPr/>
        </p:nvSpPr>
        <p:spPr>
          <a:xfrm>
            <a:off x="548640" y="1188720"/>
            <a:ext cx="5410048" cy="3611880"/>
          </a:xfrm>
          <a:prstGeom prst="rect">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777240" y="1371600"/>
            <a:ext cx="457200" cy="457200"/>
          </a:xfrm>
          <a:prstGeom prst="rect">
            <a:avLst/>
          </a:prstGeom>
        </p:spPr>
      </p:pic>
      <p:sp>
        <p:nvSpPr>
          <p:cNvPr id="6" name="TextBox 5"/>
          <p:cNvSpPr txBox="1"/>
          <p:nvPr/>
        </p:nvSpPr>
        <p:spPr>
          <a:xfrm>
            <a:off x="1371600"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One Flat Spreadsheet</a:t>
            </a:r>
          </a:p>
        </p:txBody>
      </p:sp>
      <p:sp>
        <p:nvSpPr>
          <p:cNvPr id="7" name="TextBox 6"/>
          <p:cNvSpPr txBox="1"/>
          <p:nvPr/>
        </p:nvSpPr>
        <p:spPr>
          <a:xfrm>
            <a:off x="777240" y="2011680"/>
            <a:ext cx="4952848" cy="25603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Repeats the same info every row</a:t>
            </a:r>
          </a:p>
          <a:p>
            <a:pPr>
              <a:spcAft>
                <a:spcPts val="1000"/>
              </a:spcAft>
            </a:pPr>
            <a:r>
              <a:rPr sz="2600">
                <a:solidFill>
                  <a:srgbClr val="261F1D"/>
                </a:solidFill>
                <a:latin typeface="Helvetica"/>
              </a:rPr>
              <a:t>•  </a:t>
            </a:r>
            <a:r>
              <a:rPr sz="2600" b="0" i="0" u="none">
                <a:solidFill>
                  <a:srgbClr val="261F1D"/>
                </a:solidFill>
                <a:latin typeface="Helvetica"/>
              </a:rPr>
              <a:t>One typo creates two "truths"</a:t>
            </a:r>
          </a:p>
          <a:p>
            <a:pPr>
              <a:spcAft>
                <a:spcPts val="1000"/>
              </a:spcAft>
            </a:pPr>
            <a:r>
              <a:rPr sz="2600">
                <a:solidFill>
                  <a:srgbClr val="261F1D"/>
                </a:solidFill>
                <a:latin typeface="Helvetica"/>
              </a:rPr>
              <a:t>•  </a:t>
            </a:r>
            <a:r>
              <a:rPr sz="2600" b="0" i="0" u="none">
                <a:solidFill>
                  <a:srgbClr val="261F1D"/>
                </a:solidFill>
                <a:latin typeface="Helvetica"/>
              </a:rPr>
              <a:t>Growth can silently break the file</a:t>
            </a:r>
          </a:p>
        </p:txBody>
      </p:sp>
      <p:sp>
        <p:nvSpPr>
          <p:cNvPr id="8" name="Rectangle 7"/>
          <p:cNvSpPr/>
          <p:nvPr/>
        </p:nvSpPr>
        <p:spPr>
          <a:xfrm>
            <a:off x="6233008" y="1188720"/>
            <a:ext cx="5410048" cy="361188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
          <p:cNvPicPr>
            <a:picLocks noChangeAspect="1"/>
          </p:cNvPicPr>
          <p:nvPr/>
        </p:nvPicPr>
        <p:blipFill>
          <a:blip r:embed="rId4"/>
          <a:stretch>
            <a:fillRect/>
          </a:stretch>
        </p:blipFill>
        <p:spPr>
          <a:xfrm>
            <a:off x="6461608" y="1371600"/>
            <a:ext cx="457200" cy="457200"/>
          </a:xfrm>
          <a:prstGeom prst="rect">
            <a:avLst/>
          </a:prstGeom>
        </p:spPr>
      </p:pic>
      <p:sp>
        <p:nvSpPr>
          <p:cNvPr id="10" name="TextBox 9"/>
          <p:cNvSpPr txBox="1"/>
          <p:nvPr/>
        </p:nvSpPr>
        <p:spPr>
          <a:xfrm>
            <a:off x="7055968"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Related Tables</a:t>
            </a:r>
          </a:p>
        </p:txBody>
      </p:sp>
      <p:sp>
        <p:nvSpPr>
          <p:cNvPr id="11" name="TextBox 10"/>
          <p:cNvSpPr txBox="1"/>
          <p:nvPr/>
        </p:nvSpPr>
        <p:spPr>
          <a:xfrm>
            <a:off x="6461608" y="2011680"/>
            <a:ext cx="4952848" cy="25603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Each fact stored exactly once</a:t>
            </a:r>
          </a:p>
          <a:p>
            <a:pPr>
              <a:spcAft>
                <a:spcPts val="1000"/>
              </a:spcAft>
            </a:pPr>
            <a:r>
              <a:rPr sz="2600">
                <a:solidFill>
                  <a:srgbClr val="261F1D"/>
                </a:solidFill>
                <a:latin typeface="Helvetica"/>
              </a:rPr>
              <a:t>•  </a:t>
            </a:r>
            <a:r>
              <a:rPr sz="2600" b="0" i="0" u="none">
                <a:solidFill>
                  <a:srgbClr val="261F1D"/>
                </a:solidFill>
                <a:latin typeface="Helvetica"/>
              </a:rPr>
              <a:t>One update fixes it everywhere</a:t>
            </a:r>
          </a:p>
          <a:p>
            <a:pPr>
              <a:spcAft>
                <a:spcPts val="1000"/>
              </a:spcAft>
            </a:pPr>
            <a:r>
              <a:rPr sz="2600">
                <a:solidFill>
                  <a:srgbClr val="261F1D"/>
                </a:solidFill>
                <a:latin typeface="Helvetica"/>
              </a:rPr>
              <a:t>•  </a:t>
            </a:r>
            <a:r>
              <a:rPr sz="2600" b="0" i="0" u="none">
                <a:solidFill>
                  <a:srgbClr val="261F1D"/>
                </a:solidFill>
                <a:latin typeface="Helvetica"/>
              </a:rPr>
              <a:t>Normalization: Each fact, one place</a:t>
            </a:r>
          </a:p>
        </p:txBody>
      </p:sp>
      <p:cxnSp>
        <p:nvCxnSpPr>
          <p:cNvPr id="12" name="Connector 11"/>
          <p:cNvCxnSpPr/>
          <p:nvPr/>
        </p:nvCxnSpPr>
        <p:spPr>
          <a:xfrm>
            <a:off x="6095848" y="1188720"/>
            <a:ext cx="0" cy="3611880"/>
          </a:xfrm>
          <a:prstGeom prst="line">
            <a:avLst/>
          </a:prstGeom>
          <a:ln w="19050">
            <a:solidFill>
              <a:srgbClr val="E1E3E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4983480"/>
            <a:ext cx="2926080" cy="411480"/>
          </a:xfrm>
          <a:prstGeom prst="rect">
            <a:avLst/>
          </a:prstGeom>
          <a:noFill/>
        </p:spPr>
        <p:txBody>
          <a:bodyPr wrap="square" anchor="t" lIns="0" rIns="0" tIns="0" bIns="0">
            <a:noAutofit/>
          </a:bodyPr>
          <a:lstStyle/>
          <a:p>
            <a:pPr algn="l"/>
            <a:r>
              <a:rPr sz="2600" b="1" i="0" u="none">
                <a:solidFill>
                  <a:srgbClr val="327A5F"/>
                </a:solidFill>
                <a:latin typeface="Helvetica"/>
              </a:rPr>
              <a:t>IN COMMON:</a:t>
            </a:r>
          </a:p>
        </p:txBody>
      </p:sp>
      <p:sp>
        <p:nvSpPr>
          <p:cNvPr id="14" name="TextBox 13"/>
          <p:cNvSpPr txBox="1"/>
          <p:nvPr/>
        </p:nvSpPr>
        <p:spPr>
          <a:xfrm>
            <a:off x="548640" y="5440680"/>
            <a:ext cx="11094415" cy="91440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Both answer the same business questions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You Can Recognize a Good Design</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Now, Build One From a Mess</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A real dataset rarely arrives already normalized — you have to get it there.</a:t>
            </a:r>
          </a:p>
        </p:txBody>
      </p:sp>
      <p:pic>
        <p:nvPicPr>
          <p:cNvPr id="6" name="Picture 5" descr=""/>
          <p:cNvPicPr>
            <a:picLocks noChangeAspect="1"/>
          </p:cNvPicPr>
          <p:nvPr/>
        </p:nvPicPr>
        <p:blipFill>
          <a:blip r:embed="rId3"/>
          <a:stretch>
            <a:fillRect/>
          </a:stretch>
        </p:blipFill>
        <p:spPr>
          <a:xfrm>
            <a:off x="2169109" y="4937760"/>
            <a:ext cx="457200" cy="457200"/>
          </a:xfrm>
          <a:prstGeom prst="rect">
            <a:avLst/>
          </a:prstGeom>
        </p:spPr>
      </p:pic>
      <p:sp>
        <p:nvSpPr>
          <p:cNvPr id="7" name="TextBox 6"/>
          <p:cNvSpPr txBox="1"/>
          <p:nvPr/>
        </p:nvSpPr>
        <p:spPr>
          <a:xfrm>
            <a:off x="685800" y="5532120"/>
            <a:ext cx="3423818" cy="594360"/>
          </a:xfrm>
          <a:prstGeom prst="rect">
            <a:avLst/>
          </a:prstGeom>
          <a:noFill/>
        </p:spPr>
        <p:txBody>
          <a:bodyPr wrap="square" anchor="t" lIns="0" rIns="0" tIns="0" bIns="0">
            <a:noAutofit/>
          </a:bodyPr>
          <a:lstStyle/>
          <a:p>
            <a:pPr algn="ctr"/>
            <a:r>
              <a:rPr sz="2600" b="1" i="0" u="none">
                <a:solidFill>
                  <a:srgbClr val="FFFCF7"/>
                </a:solidFill>
                <a:latin typeface="Helvetica"/>
              </a:rPr>
              <a:t>1NF: One Value Per Cell</a:t>
            </a:r>
          </a:p>
        </p:txBody>
      </p:sp>
      <p:pic>
        <p:nvPicPr>
          <p:cNvPr id="8" name="Picture 7" descr=""/>
          <p:cNvPicPr>
            <a:picLocks noChangeAspect="1"/>
          </p:cNvPicPr>
          <p:nvPr/>
        </p:nvPicPr>
        <p:blipFill>
          <a:blip r:embed="rId4"/>
          <a:stretch>
            <a:fillRect/>
          </a:stretch>
        </p:blipFill>
        <p:spPr>
          <a:xfrm>
            <a:off x="5867248" y="4937760"/>
            <a:ext cx="457200" cy="457200"/>
          </a:xfrm>
          <a:prstGeom prst="rect">
            <a:avLst/>
          </a:prstGeom>
        </p:spPr>
      </p:pic>
      <p:sp>
        <p:nvSpPr>
          <p:cNvPr id="9" name="TextBox 8"/>
          <p:cNvSpPr txBox="1"/>
          <p:nvPr/>
        </p:nvSpPr>
        <p:spPr>
          <a:xfrm>
            <a:off x="4383938" y="5532120"/>
            <a:ext cx="3423818" cy="594360"/>
          </a:xfrm>
          <a:prstGeom prst="rect">
            <a:avLst/>
          </a:prstGeom>
          <a:noFill/>
        </p:spPr>
        <p:txBody>
          <a:bodyPr wrap="square" anchor="t" lIns="0" rIns="0" tIns="0" bIns="0">
            <a:noAutofit/>
          </a:bodyPr>
          <a:lstStyle/>
          <a:p>
            <a:pPr algn="ctr"/>
            <a:r>
              <a:rPr sz="2600" b="1" i="0" u="none">
                <a:solidFill>
                  <a:srgbClr val="FFFCF7"/>
                </a:solidFill>
                <a:latin typeface="Helvetica"/>
              </a:rPr>
              <a:t>2NF: No Partial Dependency</a:t>
            </a:r>
          </a:p>
        </p:txBody>
      </p:sp>
      <p:cxnSp>
        <p:nvCxnSpPr>
          <p:cNvPr id="10" name="Connector 9"/>
          <p:cNvCxnSpPr/>
          <p:nvPr/>
        </p:nvCxnSpPr>
        <p:spPr>
          <a:xfrm>
            <a:off x="4246778" y="4937760"/>
            <a:ext cx="0" cy="1188720"/>
          </a:xfrm>
          <a:prstGeom prst="line">
            <a:avLst/>
          </a:prstGeom>
          <a:ln w="19050">
            <a:solidFill>
              <a:srgbClr val="B3BBB0"/>
            </a:solidFill>
          </a:ln>
        </p:spPr>
        <p:style>
          <a:lnRef idx="2">
            <a:schemeClr val="accent1"/>
          </a:lnRef>
          <a:fillRef idx="0">
            <a:schemeClr val="accent1"/>
          </a:fillRef>
          <a:effectRef idx="1">
            <a:schemeClr val="accent1"/>
          </a:effectRef>
          <a:fontRef idx="minor">
            <a:schemeClr val="tx1"/>
          </a:fontRef>
        </p:style>
      </p:cxnSp>
      <p:pic>
        <p:nvPicPr>
          <p:cNvPr id="11" name="Picture 10" descr=""/>
          <p:cNvPicPr>
            <a:picLocks noChangeAspect="1"/>
          </p:cNvPicPr>
          <p:nvPr/>
        </p:nvPicPr>
        <p:blipFill>
          <a:blip r:embed="rId5"/>
          <a:stretch>
            <a:fillRect/>
          </a:stretch>
        </p:blipFill>
        <p:spPr>
          <a:xfrm>
            <a:off x="9565386" y="4937760"/>
            <a:ext cx="457200" cy="457200"/>
          </a:xfrm>
          <a:prstGeom prst="rect">
            <a:avLst/>
          </a:prstGeom>
        </p:spPr>
      </p:pic>
      <p:sp>
        <p:nvSpPr>
          <p:cNvPr id="12" name="TextBox 11"/>
          <p:cNvSpPr txBox="1"/>
          <p:nvPr/>
        </p:nvSpPr>
        <p:spPr>
          <a:xfrm>
            <a:off x="8082077" y="5532120"/>
            <a:ext cx="3423818" cy="594360"/>
          </a:xfrm>
          <a:prstGeom prst="rect">
            <a:avLst/>
          </a:prstGeom>
          <a:noFill/>
        </p:spPr>
        <p:txBody>
          <a:bodyPr wrap="square" anchor="t" lIns="0" rIns="0" tIns="0" bIns="0">
            <a:noAutofit/>
          </a:bodyPr>
          <a:lstStyle/>
          <a:p>
            <a:pPr algn="ctr"/>
            <a:r>
              <a:rPr sz="2600" b="1" i="0" u="none">
                <a:solidFill>
                  <a:srgbClr val="FFFCF7"/>
                </a:solidFill>
                <a:latin typeface="Helvetica"/>
              </a:rPr>
              <a:t>3NF: No Transitive Dependency</a:t>
            </a:r>
          </a:p>
        </p:txBody>
      </p:sp>
      <p:cxnSp>
        <p:nvCxnSpPr>
          <p:cNvPr id="13" name="Connector 12"/>
          <p:cNvCxnSpPr/>
          <p:nvPr/>
        </p:nvCxnSpPr>
        <p:spPr>
          <a:xfrm>
            <a:off x="7944917" y="4937760"/>
            <a:ext cx="0" cy="1188720"/>
          </a:xfrm>
          <a:prstGeom prst="line">
            <a:avLst/>
          </a:prstGeom>
          <a:ln w="19050">
            <a:solidFill>
              <a:srgbClr val="B3BBB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The Un-Normalized Orders Table</a:t>
            </a:r>
          </a:p>
        </p:txBody>
      </p:sp>
      <p:graphicFrame>
        <p:nvGraphicFramePr>
          <p:cNvPr id="4" name="Table 3"/>
          <p:cNvGraphicFramePr>
            <a:graphicFrameLocks noGrp="1"/>
          </p:cNvGraphicFramePr>
          <p:nvPr/>
        </p:nvGraphicFramePr>
        <p:xfrm>
          <a:off x="548640" y="2180844"/>
          <a:ext cx="11094415" cy="3136392"/>
        </p:xfrm>
        <a:graphic>
          <a:graphicData uri="http://schemas.openxmlformats.org/drawingml/2006/table">
            <a:tbl>
              <a:tblPr>
                <a:tableStyleId>{5C22544A-7EE6-4342-B048-85BDC9FD1C3A}</a:tableStyleId>
              </a:tblPr>
              <a:tblGrid>
                <a:gridCol w="2218883"/>
                <a:gridCol w="2218883"/>
                <a:gridCol w="2218883"/>
                <a:gridCol w="2218883"/>
                <a:gridCol w="2218883"/>
              </a:tblGrid>
              <a:tr h="877824">
                <a:tc>
                  <a:txBody>
                    <a:bodyPr wrap="square"/>
                    <a:lstStyle/>
                    <a:p>
                      <a:r>
                        <a:rPr sz="2600" b="1" i="0" u="none">
                          <a:solidFill>
                            <a:srgbClr val="FFFCF7"/>
                          </a:solidFill>
                          <a:latin typeface="Helvetica"/>
                        </a:rPr>
                        <a:t>Order ID</a:t>
                      </a:r>
                    </a:p>
                  </a:txBody>
                  <a:tcPr marL="109728" marR="109728" marT="54864" marB="54864" anchor="ctr">
                    <a:solidFill>
                      <a:srgbClr val="264326"/>
                    </a:solidFill>
                  </a:tcPr>
                </a:tc>
                <a:tc>
                  <a:txBody>
                    <a:bodyPr wrap="square"/>
                    <a:lstStyle/>
                    <a:p>
                      <a:r>
                        <a:rPr sz="2600" b="1" i="0" u="none">
                          <a:solidFill>
                            <a:srgbClr val="FFFCF7"/>
                          </a:solidFill>
                          <a:latin typeface="Helvetica"/>
                        </a:rPr>
                        <a:t>Customer</a:t>
                      </a:r>
                    </a:p>
                  </a:txBody>
                  <a:tcPr marL="109728" marR="109728" marT="54864" marB="54864" anchor="ctr">
                    <a:solidFill>
                      <a:srgbClr val="264326"/>
                    </a:solidFill>
                  </a:tcPr>
                </a:tc>
                <a:tc>
                  <a:txBody>
                    <a:bodyPr wrap="square"/>
                    <a:lstStyle/>
                    <a:p>
                      <a:r>
                        <a:rPr sz="2600" b="1" i="0" u="none">
                          <a:solidFill>
                            <a:srgbClr val="FFFCF7"/>
                          </a:solidFill>
                          <a:latin typeface="Helvetica"/>
                        </a:rPr>
                        <a:t>Zip</a:t>
                      </a:r>
                    </a:p>
                  </a:txBody>
                  <a:tcPr marL="109728" marR="109728" marT="54864" marB="54864" anchor="ctr">
                    <a:solidFill>
                      <a:srgbClr val="264326"/>
                    </a:solidFill>
                  </a:tcPr>
                </a:tc>
                <a:tc>
                  <a:txBody>
                    <a:bodyPr wrap="square"/>
                    <a:lstStyle/>
                    <a:p>
                      <a:r>
                        <a:rPr sz="2600" b="1" i="0" u="none">
                          <a:solidFill>
                            <a:srgbClr val="FFFCF7"/>
                          </a:solidFill>
                          <a:latin typeface="Helvetica"/>
                        </a:rPr>
                        <a:t>Items</a:t>
                      </a:r>
                    </a:p>
                  </a:txBody>
                  <a:tcPr marL="109728" marR="109728" marT="54864" marB="54864" anchor="ctr">
                    <a:solidFill>
                      <a:srgbClr val="264326"/>
                    </a:solidFill>
                  </a:tcPr>
                </a:tc>
                <a:tc>
                  <a:txBody>
                    <a:bodyPr wrap="square"/>
                    <a:lstStyle/>
                    <a:p>
                      <a:r>
                        <a:rPr sz="2600" b="1" i="0" u="none">
                          <a:solidFill>
                            <a:srgbClr val="FFFCF7"/>
                          </a:solidFill>
                          <a:latin typeface="Helvetica"/>
                        </a:rPr>
                        <a:t>Item Prices</a:t>
                      </a:r>
                    </a:p>
                  </a:txBody>
                  <a:tcPr marL="109728" marR="109728" marT="54864" marB="54864" anchor="ctr">
                    <a:solidFill>
                      <a:srgbClr val="264326"/>
                    </a:solidFill>
                  </a:tcPr>
                </a:tc>
              </a:tr>
              <a:tr h="877824">
                <a:tc>
                  <a:txBody>
                    <a:bodyPr wrap="square"/>
                    <a:lstStyle/>
                    <a:p>
                      <a:r>
                        <a:rPr sz="2600" b="0" i="0" u="none">
                          <a:solidFill>
                            <a:srgbClr val="261F1D"/>
                          </a:solidFill>
                          <a:latin typeface="Helvetica"/>
                        </a:rPr>
                        <a:t>101</a:t>
                      </a:r>
                    </a:p>
                  </a:txBody>
                  <a:tcPr marL="109728" marR="109728" marT="54864" marB="54864" anchor="ctr">
                    <a:solidFill>
                      <a:srgbClr val="FFFCF7"/>
                    </a:solidFill>
                  </a:tcPr>
                </a:tc>
                <a:tc>
                  <a:txBody>
                    <a:bodyPr wrap="square"/>
                    <a:lstStyle/>
                    <a:p>
                      <a:r>
                        <a:rPr sz="2600" b="0" i="0" u="none">
                          <a:solidFill>
                            <a:srgbClr val="261F1D"/>
                          </a:solidFill>
                          <a:latin typeface="Helvetica"/>
                        </a:rPr>
                        <a:t>Renee K.</a:t>
                      </a:r>
                    </a:p>
                  </a:txBody>
                  <a:tcPr marL="109728" marR="109728" marT="54864" marB="54864" anchor="ctr">
                    <a:solidFill>
                      <a:srgbClr val="FFFCF7"/>
                    </a:solidFill>
                  </a:tcPr>
                </a:tc>
                <a:tc>
                  <a:txBody>
                    <a:bodyPr wrap="square"/>
                    <a:lstStyle/>
                    <a:p>
                      <a:r>
                        <a:rPr sz="2600" b="0" i="0" u="none">
                          <a:solidFill>
                            <a:srgbClr val="261F1D"/>
                          </a:solidFill>
                          <a:latin typeface="Helvetica"/>
                        </a:rPr>
                        <a:t>11201</a:t>
                      </a:r>
                    </a:p>
                  </a:txBody>
                  <a:tcPr marL="109728" marR="109728" marT="54864" marB="54864" anchor="ctr">
                    <a:solidFill>
                      <a:srgbClr val="FFFCF7"/>
                    </a:solidFill>
                  </a:tcPr>
                </a:tc>
                <a:tc>
                  <a:txBody>
                    <a:bodyPr wrap="square"/>
                    <a:lstStyle/>
                    <a:p>
                      <a:r>
                        <a:rPr sz="2600" b="0" i="0" u="none">
                          <a:solidFill>
                            <a:srgbClr val="261F1D"/>
                          </a:solidFill>
                          <a:latin typeface="Helvetica"/>
                        </a:rPr>
                        <a:t>Burger, Fries</a:t>
                      </a:r>
                    </a:p>
                  </a:txBody>
                  <a:tcPr marL="109728" marR="109728" marT="54864" marB="54864" anchor="ctr">
                    <a:solidFill>
                      <a:srgbClr val="FFFCF7"/>
                    </a:solidFill>
                  </a:tcPr>
                </a:tc>
                <a:tc>
                  <a:txBody>
                    <a:bodyPr wrap="square"/>
                    <a:lstStyle/>
                    <a:p>
                      <a:r>
                        <a:rPr sz="2600" b="0" i="0" u="none">
                          <a:solidFill>
                            <a:srgbClr val="261F1D"/>
                          </a:solidFill>
                          <a:latin typeface="Helvetica"/>
                        </a:rPr>
                        <a:t>$12.00, $4.00</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102</a:t>
                      </a:r>
                    </a:p>
                  </a:txBody>
                  <a:tcPr marL="109728" marR="109728" marT="54864" marB="54864" anchor="ctr">
                    <a:solidFill>
                      <a:srgbClr val="FFF6E4"/>
                    </a:solidFill>
                  </a:tcPr>
                </a:tc>
                <a:tc>
                  <a:txBody>
                    <a:bodyPr wrap="square"/>
                    <a:lstStyle/>
                    <a:p>
                      <a:r>
                        <a:rPr sz="2600" b="0" i="0" u="none">
                          <a:solidFill>
                            <a:srgbClr val="261F1D"/>
                          </a:solidFill>
                          <a:latin typeface="Helvetica"/>
                        </a:rPr>
                        <a:t>Renee K.</a:t>
                      </a:r>
                    </a:p>
                  </a:txBody>
                  <a:tcPr marL="109728" marR="109728" marT="54864" marB="54864" anchor="ctr">
                    <a:solidFill>
                      <a:srgbClr val="FFF6E4"/>
                    </a:solidFill>
                  </a:tcPr>
                </a:tc>
                <a:tc>
                  <a:txBody>
                    <a:bodyPr wrap="square"/>
                    <a:lstStyle/>
                    <a:p>
                      <a:r>
                        <a:rPr sz="2600" b="0" i="0" u="none">
                          <a:solidFill>
                            <a:srgbClr val="261F1D"/>
                          </a:solidFill>
                          <a:latin typeface="Helvetica"/>
                        </a:rPr>
                        <a:t>11201</a:t>
                      </a:r>
                    </a:p>
                  </a:txBody>
                  <a:tcPr marL="109728" marR="109728" marT="54864" marB="54864" anchor="ctr">
                    <a:solidFill>
                      <a:srgbClr val="FFF6E4"/>
                    </a:solidFill>
                  </a:tcPr>
                </a:tc>
                <a:tc>
                  <a:txBody>
                    <a:bodyPr wrap="square"/>
                    <a:lstStyle/>
                    <a:p>
                      <a:r>
                        <a:rPr sz="2600" b="0" i="0" u="none">
                          <a:solidFill>
                            <a:srgbClr val="261F1D"/>
                          </a:solidFill>
                          <a:latin typeface="Helvetica"/>
                        </a:rPr>
                        <a:t>Soda</a:t>
                      </a:r>
                    </a:p>
                  </a:txBody>
                  <a:tcPr marL="109728" marR="109728" marT="54864" marB="54864" anchor="ctr">
                    <a:solidFill>
                      <a:srgbClr val="FFF6E4"/>
                    </a:solidFill>
                  </a:tcPr>
                </a:tc>
                <a:tc>
                  <a:txBody>
                    <a:bodyPr wrap="square"/>
                    <a:lstStyle/>
                    <a:p>
                      <a:r>
                        <a:rPr sz="2600" b="0" i="0" u="none">
                          <a:solidFill>
                            <a:srgbClr val="261F1D"/>
                          </a:solidFill>
                          <a:latin typeface="Helvetica"/>
                        </a:rPr>
                        <a:t>$2.50</a:t>
                      </a:r>
                    </a:p>
                  </a:txBody>
                  <a:tcPr marL="109728" marR="109728" marT="54864" marB="54864" anchor="ctr">
                    <a:solidFill>
                      <a:srgbClr val="FFF6E4"/>
                    </a:solidFill>
                  </a:tcPr>
                </a:tc>
              </a:tr>
              <a:tr h="877824">
                <a:tc>
                  <a:txBody>
                    <a:bodyPr wrap="square"/>
                    <a:lstStyle/>
                    <a:p>
                      <a:r>
                        <a:rPr sz="2600" b="0" i="0" u="none">
                          <a:solidFill>
                            <a:srgbClr val="261F1D"/>
                          </a:solidFill>
                          <a:latin typeface="Helvetica"/>
                        </a:rPr>
                        <a:t>103</a:t>
                      </a:r>
                    </a:p>
                  </a:txBody>
                  <a:tcPr marL="109728" marR="109728" marT="54864" marB="54864" anchor="ctr">
                    <a:solidFill>
                      <a:srgbClr val="FFFCF7"/>
                    </a:solidFill>
                  </a:tcPr>
                </a:tc>
                <a:tc>
                  <a:txBody>
                    <a:bodyPr wrap="square"/>
                    <a:lstStyle/>
                    <a:p>
                      <a:r>
                        <a:rPr sz="2600" b="0" i="0" u="none">
                          <a:solidFill>
                            <a:srgbClr val="261F1D"/>
                          </a:solidFill>
                          <a:latin typeface="Helvetica"/>
                        </a:rPr>
                        <a:t>Jordan M.</a:t>
                      </a:r>
                    </a:p>
                  </a:txBody>
                  <a:tcPr marL="109728" marR="109728" marT="54864" marB="54864" anchor="ctr">
                    <a:solidFill>
                      <a:srgbClr val="FFFCF7"/>
                    </a:solidFill>
                  </a:tcPr>
                </a:tc>
                <a:tc>
                  <a:txBody>
                    <a:bodyPr wrap="square"/>
                    <a:lstStyle/>
                    <a:p>
                      <a:r>
                        <a:rPr sz="2600" b="0" i="0" u="none">
                          <a:solidFill>
                            <a:srgbClr val="261F1D"/>
                          </a:solidFill>
                          <a:latin typeface="Helvetica"/>
                        </a:rPr>
                        <a:t>10001</a:t>
                      </a:r>
                    </a:p>
                  </a:txBody>
                  <a:tcPr marL="109728" marR="109728" marT="54864" marB="54864" anchor="ctr">
                    <a:solidFill>
                      <a:srgbClr val="FFFCF7"/>
                    </a:solidFill>
                  </a:tcPr>
                </a:tc>
                <a:tc>
                  <a:txBody>
                    <a:bodyPr wrap="square"/>
                    <a:lstStyle/>
                    <a:p>
                      <a:r>
                        <a:rPr sz="2600" b="0" i="0" u="none">
                          <a:solidFill>
                            <a:srgbClr val="261F1D"/>
                          </a:solidFill>
                          <a:latin typeface="Helvetica"/>
                        </a:rPr>
                        <a:t>Burger, Soda</a:t>
                      </a:r>
                    </a:p>
                  </a:txBody>
                  <a:tcPr marL="109728" marR="109728" marT="54864" marB="54864" anchor="ctr">
                    <a:solidFill>
                      <a:srgbClr val="FFFCF7"/>
                    </a:solidFill>
                  </a:tcPr>
                </a:tc>
                <a:tc>
                  <a:txBody>
                    <a:bodyPr wrap="square"/>
                    <a:lstStyle/>
                    <a:p>
                      <a:r>
                        <a:rPr sz="2600" b="0" i="0" u="none">
                          <a:solidFill>
                            <a:srgbClr val="261F1D"/>
                          </a:solidFill>
                          <a:latin typeface="Helvetica"/>
                        </a:rPr>
                        <a:t>$12.00, $2.50</a:t>
                      </a:r>
                    </a:p>
                  </a:txBody>
                  <a:tcPr marL="109728" marR="109728" marT="54864" marB="54864" anchor="ctr">
                    <a:solidFill>
                      <a:srgbClr val="FFFCF7"/>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CHECK FOR UNDERSTANDING</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Look at the "Items" column. What rule does it break?</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Each cell holds more than one value</a:t>
            </a:r>
          </a:p>
          <a:p>
            <a:pPr>
              <a:spcAft>
                <a:spcPts val="1000"/>
              </a:spcAft>
            </a:pPr>
            <a:r>
              <a:rPr sz="2600" b="0" i="0" u="none">
                <a:solidFill>
                  <a:srgbClr val="261F1D"/>
                </a:solidFill>
                <a:latin typeface="Helvetica"/>
              </a:rPr>
              <a:t>B.  The order ID repeats across rows</a:t>
            </a:r>
          </a:p>
          <a:p>
            <a:pPr>
              <a:spcAft>
                <a:spcPts val="1000"/>
              </a:spcAft>
            </a:pPr>
            <a:r>
              <a:rPr sz="2600" b="0" i="0" u="none">
                <a:solidFill>
                  <a:srgbClr val="261F1D"/>
                </a:solidFill>
                <a:latin typeface="Helvetica"/>
              </a:rPr>
              <a:t>C.  The customer name is spelled wrong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Spotting a 1NF Violation</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Each cell holds more than one value</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"Burger, Fries" crammed into one cell isn't atomic — a real database column holds exactly one value per row. That's the whole rule 1NF enforces.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1NF: Every Cell Holds One Value</a:t>
            </a:r>
          </a:p>
        </p:txBody>
      </p:sp>
      <p:graphicFrame>
        <p:nvGraphicFramePr>
          <p:cNvPr id="4" name="Table 3"/>
          <p:cNvGraphicFramePr>
            <a:graphicFrameLocks noGrp="1"/>
          </p:cNvGraphicFramePr>
          <p:nvPr/>
        </p:nvGraphicFramePr>
        <p:xfrm>
          <a:off x="548640" y="2240280"/>
          <a:ext cx="11094415" cy="3017520"/>
        </p:xfrm>
        <a:graphic>
          <a:graphicData uri="http://schemas.openxmlformats.org/drawingml/2006/table">
            <a:tbl>
              <a:tblPr>
                <a:tableStyleId>{5C22544A-7EE6-4342-B048-85BDC9FD1C3A}</a:tableStyleId>
              </a:tblPr>
              <a:tblGrid>
                <a:gridCol w="2218883"/>
                <a:gridCol w="2218883"/>
                <a:gridCol w="2218883"/>
                <a:gridCol w="2218883"/>
                <a:gridCol w="2218883"/>
              </a:tblGrid>
              <a:tr h="502920">
                <a:tc>
                  <a:txBody>
                    <a:bodyPr wrap="square"/>
                    <a:lstStyle/>
                    <a:p>
                      <a:r>
                        <a:rPr sz="2600" b="1" i="0" u="none">
                          <a:solidFill>
                            <a:srgbClr val="FFFCF7"/>
                          </a:solidFill>
                          <a:latin typeface="Helvetica"/>
                        </a:rPr>
                        <a:t>Order ID</a:t>
                      </a:r>
                    </a:p>
                  </a:txBody>
                  <a:tcPr marL="109728" marR="109728" marT="54864" marB="54864" anchor="ctr">
                    <a:solidFill>
                      <a:srgbClr val="264326"/>
                    </a:solidFill>
                  </a:tcPr>
                </a:tc>
                <a:tc>
                  <a:txBody>
                    <a:bodyPr wrap="square"/>
                    <a:lstStyle/>
                    <a:p>
                      <a:r>
                        <a:rPr sz="2600" b="1" i="0" u="none">
                          <a:solidFill>
                            <a:srgbClr val="FFFCF7"/>
                          </a:solidFill>
                          <a:latin typeface="Helvetica"/>
                        </a:rPr>
                        <a:t>Customer</a:t>
                      </a:r>
                    </a:p>
                  </a:txBody>
                  <a:tcPr marL="109728" marR="109728" marT="54864" marB="54864" anchor="ctr">
                    <a:solidFill>
                      <a:srgbClr val="264326"/>
                    </a:solidFill>
                  </a:tcPr>
                </a:tc>
                <a:tc>
                  <a:txBody>
                    <a:bodyPr wrap="square"/>
                    <a:lstStyle/>
                    <a:p>
                      <a:r>
                        <a:rPr sz="2600" b="1" i="0" u="none">
                          <a:solidFill>
                            <a:srgbClr val="FFFCF7"/>
                          </a:solidFill>
                          <a:latin typeface="Helvetica"/>
                        </a:rPr>
                        <a:t>Zip</a:t>
                      </a:r>
                    </a:p>
                  </a:txBody>
                  <a:tcPr marL="109728" marR="109728" marT="54864" marB="54864" anchor="ctr">
                    <a:solidFill>
                      <a:srgbClr val="264326"/>
                    </a:solidFill>
                  </a:tcPr>
                </a:tc>
                <a:tc>
                  <a:txBody>
                    <a:bodyPr wrap="square"/>
                    <a:lstStyle/>
                    <a:p>
                      <a:r>
                        <a:rPr sz="2600" b="1" i="0" u="none">
                          <a:solidFill>
                            <a:srgbClr val="FFFCF7"/>
                          </a:solidFill>
                          <a:latin typeface="Helvetica"/>
                        </a:rPr>
                        <a:t>Item</a:t>
                      </a:r>
                    </a:p>
                  </a:txBody>
                  <a:tcPr marL="109728" marR="109728" marT="54864" marB="54864" anchor="ctr">
                    <a:solidFill>
                      <a:srgbClr val="264326"/>
                    </a:solidFill>
                  </a:tcPr>
                </a:tc>
                <a:tc>
                  <a:txBody>
                    <a:bodyPr wrap="square"/>
                    <a:lstStyle/>
                    <a:p>
                      <a:r>
                        <a:rPr sz="2600" b="1" i="0" u="none">
                          <a:solidFill>
                            <a:srgbClr val="FFFCF7"/>
                          </a:solidFill>
                          <a:latin typeface="Helvetica"/>
                        </a:rPr>
                        <a:t>Price</a:t>
                      </a:r>
                    </a:p>
                  </a:txBody>
                  <a:tcPr marL="109728" marR="109728" marT="54864" marB="54864" anchor="ctr">
                    <a:solidFill>
                      <a:srgbClr val="264326"/>
                    </a:solidFill>
                  </a:tcPr>
                </a:tc>
              </a:tr>
              <a:tr h="502920">
                <a:tc>
                  <a:txBody>
                    <a:bodyPr wrap="square"/>
                    <a:lstStyle/>
                    <a:p>
                      <a:r>
                        <a:rPr sz="2600" b="0" i="0" u="none">
                          <a:solidFill>
                            <a:srgbClr val="261F1D"/>
                          </a:solidFill>
                          <a:latin typeface="Helvetica"/>
                        </a:rPr>
                        <a:t>101</a:t>
                      </a:r>
                    </a:p>
                  </a:txBody>
                  <a:tcPr marL="109728" marR="109728" marT="54864" marB="54864" anchor="ctr">
                    <a:solidFill>
                      <a:srgbClr val="FFFCF7"/>
                    </a:solidFill>
                  </a:tcPr>
                </a:tc>
                <a:tc>
                  <a:txBody>
                    <a:bodyPr wrap="square"/>
                    <a:lstStyle/>
                    <a:p>
                      <a:r>
                        <a:rPr sz="2600" b="0" i="0" u="none">
                          <a:solidFill>
                            <a:srgbClr val="261F1D"/>
                          </a:solidFill>
                          <a:latin typeface="Helvetica"/>
                        </a:rPr>
                        <a:t>Renee K.</a:t>
                      </a:r>
                    </a:p>
                  </a:txBody>
                  <a:tcPr marL="109728" marR="109728" marT="54864" marB="54864" anchor="ctr">
                    <a:solidFill>
                      <a:srgbClr val="FFFCF7"/>
                    </a:solidFill>
                  </a:tcPr>
                </a:tc>
                <a:tc>
                  <a:txBody>
                    <a:bodyPr wrap="square"/>
                    <a:lstStyle/>
                    <a:p>
                      <a:r>
                        <a:rPr sz="2600" b="0" i="0" u="none">
                          <a:solidFill>
                            <a:srgbClr val="261F1D"/>
                          </a:solidFill>
                          <a:latin typeface="Helvetica"/>
                        </a:rPr>
                        <a:t>11201</a:t>
                      </a:r>
                    </a:p>
                  </a:txBody>
                  <a:tcPr marL="109728" marR="109728" marT="54864" marB="54864" anchor="ctr">
                    <a:solidFill>
                      <a:srgbClr val="FFFCF7"/>
                    </a:solidFill>
                  </a:tcPr>
                </a:tc>
                <a:tc>
                  <a:txBody>
                    <a:bodyPr wrap="square"/>
                    <a:lstStyle/>
                    <a:p>
                      <a:r>
                        <a:rPr sz="2600" b="0" i="0" u="none">
                          <a:solidFill>
                            <a:srgbClr val="261F1D"/>
                          </a:solidFill>
                          <a:latin typeface="Helvetica"/>
                        </a:rPr>
                        <a:t>Burger</a:t>
                      </a:r>
                    </a:p>
                  </a:txBody>
                  <a:tcPr marL="109728" marR="109728" marT="54864" marB="54864" anchor="ctr">
                    <a:solidFill>
                      <a:srgbClr val="FFFCF7"/>
                    </a:solidFill>
                  </a:tcPr>
                </a:tc>
                <a:tc>
                  <a:txBody>
                    <a:bodyPr wrap="square"/>
                    <a:lstStyle/>
                    <a:p>
                      <a:r>
                        <a:rPr sz="2600" b="0" i="0" u="none">
                          <a:solidFill>
                            <a:srgbClr val="261F1D"/>
                          </a:solidFill>
                          <a:latin typeface="Helvetica"/>
                        </a:rPr>
                        <a:t>$12.00</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101</a:t>
                      </a:r>
                    </a:p>
                  </a:txBody>
                  <a:tcPr marL="109728" marR="109728" marT="54864" marB="54864" anchor="ctr">
                    <a:solidFill>
                      <a:srgbClr val="FFF6E4"/>
                    </a:solidFill>
                  </a:tcPr>
                </a:tc>
                <a:tc>
                  <a:txBody>
                    <a:bodyPr wrap="square"/>
                    <a:lstStyle/>
                    <a:p>
                      <a:r>
                        <a:rPr sz="2600" b="0" i="0" u="none">
                          <a:solidFill>
                            <a:srgbClr val="261F1D"/>
                          </a:solidFill>
                          <a:latin typeface="Helvetica"/>
                        </a:rPr>
                        <a:t>Renee K.</a:t>
                      </a:r>
                    </a:p>
                  </a:txBody>
                  <a:tcPr marL="109728" marR="109728" marT="54864" marB="54864" anchor="ctr">
                    <a:solidFill>
                      <a:srgbClr val="FFF6E4"/>
                    </a:solidFill>
                  </a:tcPr>
                </a:tc>
                <a:tc>
                  <a:txBody>
                    <a:bodyPr wrap="square"/>
                    <a:lstStyle/>
                    <a:p>
                      <a:r>
                        <a:rPr sz="2600" b="0" i="0" u="none">
                          <a:solidFill>
                            <a:srgbClr val="261F1D"/>
                          </a:solidFill>
                          <a:latin typeface="Helvetica"/>
                        </a:rPr>
                        <a:t>11201</a:t>
                      </a:r>
                    </a:p>
                  </a:txBody>
                  <a:tcPr marL="109728" marR="109728" marT="54864" marB="54864" anchor="ctr">
                    <a:solidFill>
                      <a:srgbClr val="FFF6E4"/>
                    </a:solidFill>
                  </a:tcPr>
                </a:tc>
                <a:tc>
                  <a:txBody>
                    <a:bodyPr wrap="square"/>
                    <a:lstStyle/>
                    <a:p>
                      <a:r>
                        <a:rPr sz="2600" b="0" i="0" u="none">
                          <a:solidFill>
                            <a:srgbClr val="261F1D"/>
                          </a:solidFill>
                          <a:latin typeface="Helvetica"/>
                        </a:rPr>
                        <a:t>Fries</a:t>
                      </a:r>
                    </a:p>
                  </a:txBody>
                  <a:tcPr marL="109728" marR="109728" marT="54864" marB="54864" anchor="ctr">
                    <a:solidFill>
                      <a:srgbClr val="FFF6E4"/>
                    </a:solidFill>
                  </a:tcPr>
                </a:tc>
                <a:tc>
                  <a:txBody>
                    <a:bodyPr wrap="square"/>
                    <a:lstStyle/>
                    <a:p>
                      <a:r>
                        <a:rPr sz="2600" b="0" i="0" u="none">
                          <a:solidFill>
                            <a:srgbClr val="261F1D"/>
                          </a:solidFill>
                          <a:latin typeface="Helvetica"/>
                        </a:rPr>
                        <a:t>$4.00</a:t>
                      </a:r>
                    </a:p>
                  </a:txBody>
                  <a:tcPr marL="109728" marR="109728" marT="54864" marB="54864" anchor="ctr">
                    <a:solidFill>
                      <a:srgbClr val="FFF6E4"/>
                    </a:solidFill>
                  </a:tcPr>
                </a:tc>
              </a:tr>
              <a:tr h="502920">
                <a:tc>
                  <a:txBody>
                    <a:bodyPr wrap="square"/>
                    <a:lstStyle/>
                    <a:p>
                      <a:r>
                        <a:rPr sz="2600" b="0" i="0" u="none">
                          <a:solidFill>
                            <a:srgbClr val="261F1D"/>
                          </a:solidFill>
                          <a:latin typeface="Helvetica"/>
                        </a:rPr>
                        <a:t>102</a:t>
                      </a:r>
                    </a:p>
                  </a:txBody>
                  <a:tcPr marL="109728" marR="109728" marT="54864" marB="54864" anchor="ctr">
                    <a:solidFill>
                      <a:srgbClr val="FFFCF7"/>
                    </a:solidFill>
                  </a:tcPr>
                </a:tc>
                <a:tc>
                  <a:txBody>
                    <a:bodyPr wrap="square"/>
                    <a:lstStyle/>
                    <a:p>
                      <a:r>
                        <a:rPr sz="2600" b="0" i="0" u="none">
                          <a:solidFill>
                            <a:srgbClr val="261F1D"/>
                          </a:solidFill>
                          <a:latin typeface="Helvetica"/>
                        </a:rPr>
                        <a:t>Renee K.</a:t>
                      </a:r>
                    </a:p>
                  </a:txBody>
                  <a:tcPr marL="109728" marR="109728" marT="54864" marB="54864" anchor="ctr">
                    <a:solidFill>
                      <a:srgbClr val="FFFCF7"/>
                    </a:solidFill>
                  </a:tcPr>
                </a:tc>
                <a:tc>
                  <a:txBody>
                    <a:bodyPr wrap="square"/>
                    <a:lstStyle/>
                    <a:p>
                      <a:r>
                        <a:rPr sz="2600" b="0" i="0" u="none">
                          <a:solidFill>
                            <a:srgbClr val="261F1D"/>
                          </a:solidFill>
                          <a:latin typeface="Helvetica"/>
                        </a:rPr>
                        <a:t>11201</a:t>
                      </a:r>
                    </a:p>
                  </a:txBody>
                  <a:tcPr marL="109728" marR="109728" marT="54864" marB="54864" anchor="ctr">
                    <a:solidFill>
                      <a:srgbClr val="FFFCF7"/>
                    </a:solidFill>
                  </a:tcPr>
                </a:tc>
                <a:tc>
                  <a:txBody>
                    <a:bodyPr wrap="square"/>
                    <a:lstStyle/>
                    <a:p>
                      <a:r>
                        <a:rPr sz="2600" b="0" i="0" u="none">
                          <a:solidFill>
                            <a:srgbClr val="261F1D"/>
                          </a:solidFill>
                          <a:latin typeface="Helvetica"/>
                        </a:rPr>
                        <a:t>Soda</a:t>
                      </a:r>
                    </a:p>
                  </a:txBody>
                  <a:tcPr marL="109728" marR="109728" marT="54864" marB="54864" anchor="ctr">
                    <a:solidFill>
                      <a:srgbClr val="FFFCF7"/>
                    </a:solidFill>
                  </a:tcPr>
                </a:tc>
                <a:tc>
                  <a:txBody>
                    <a:bodyPr wrap="square"/>
                    <a:lstStyle/>
                    <a:p>
                      <a:r>
                        <a:rPr sz="2600" b="0" i="0" u="none">
                          <a:solidFill>
                            <a:srgbClr val="261F1D"/>
                          </a:solidFill>
                          <a:latin typeface="Helvetica"/>
                        </a:rPr>
                        <a:t>$2.50</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103</a:t>
                      </a:r>
                    </a:p>
                  </a:txBody>
                  <a:tcPr marL="109728" marR="109728" marT="54864" marB="54864" anchor="ctr">
                    <a:solidFill>
                      <a:srgbClr val="FFF6E4"/>
                    </a:solidFill>
                  </a:tcPr>
                </a:tc>
                <a:tc>
                  <a:txBody>
                    <a:bodyPr wrap="square"/>
                    <a:lstStyle/>
                    <a:p>
                      <a:r>
                        <a:rPr sz="2600" b="0" i="0" u="none">
                          <a:solidFill>
                            <a:srgbClr val="261F1D"/>
                          </a:solidFill>
                          <a:latin typeface="Helvetica"/>
                        </a:rPr>
                        <a:t>Jordan M.</a:t>
                      </a:r>
                    </a:p>
                  </a:txBody>
                  <a:tcPr marL="109728" marR="109728" marT="54864" marB="54864" anchor="ctr">
                    <a:solidFill>
                      <a:srgbClr val="FFF6E4"/>
                    </a:solidFill>
                  </a:tcPr>
                </a:tc>
                <a:tc>
                  <a:txBody>
                    <a:bodyPr wrap="square"/>
                    <a:lstStyle/>
                    <a:p>
                      <a:r>
                        <a:rPr sz="2600" b="0" i="0" u="none">
                          <a:solidFill>
                            <a:srgbClr val="261F1D"/>
                          </a:solidFill>
                          <a:latin typeface="Helvetica"/>
                        </a:rPr>
                        <a:t>10001</a:t>
                      </a:r>
                    </a:p>
                  </a:txBody>
                  <a:tcPr marL="109728" marR="109728" marT="54864" marB="54864" anchor="ctr">
                    <a:solidFill>
                      <a:srgbClr val="FFF6E4"/>
                    </a:solidFill>
                  </a:tcPr>
                </a:tc>
                <a:tc>
                  <a:txBody>
                    <a:bodyPr wrap="square"/>
                    <a:lstStyle/>
                    <a:p>
                      <a:r>
                        <a:rPr sz="2600" b="0" i="0" u="none">
                          <a:solidFill>
                            <a:srgbClr val="261F1D"/>
                          </a:solidFill>
                          <a:latin typeface="Helvetica"/>
                        </a:rPr>
                        <a:t>Burger</a:t>
                      </a:r>
                    </a:p>
                  </a:txBody>
                  <a:tcPr marL="109728" marR="109728" marT="54864" marB="54864" anchor="ctr">
                    <a:solidFill>
                      <a:srgbClr val="FFF6E4"/>
                    </a:solidFill>
                  </a:tcPr>
                </a:tc>
                <a:tc>
                  <a:txBody>
                    <a:bodyPr wrap="square"/>
                    <a:lstStyle/>
                    <a:p>
                      <a:r>
                        <a:rPr sz="2600" b="0" i="0" u="none">
                          <a:solidFill>
                            <a:srgbClr val="261F1D"/>
                          </a:solidFill>
                          <a:latin typeface="Helvetica"/>
                        </a:rPr>
                        <a:t>$12.00</a:t>
                      </a:r>
                    </a:p>
                  </a:txBody>
                  <a:tcPr marL="109728" marR="109728" marT="54864" marB="54864" anchor="ctr">
                    <a:solidFill>
                      <a:srgbClr val="FFF6E4"/>
                    </a:solidFill>
                  </a:tcPr>
                </a:tc>
              </a:tr>
              <a:tr h="502920">
                <a:tc>
                  <a:txBody>
                    <a:bodyPr wrap="square"/>
                    <a:lstStyle/>
                    <a:p>
                      <a:r>
                        <a:rPr sz="2600" b="0" i="0" u="none">
                          <a:solidFill>
                            <a:srgbClr val="261F1D"/>
                          </a:solidFill>
                          <a:latin typeface="Helvetica"/>
                        </a:rPr>
                        <a:t>103</a:t>
                      </a:r>
                    </a:p>
                  </a:txBody>
                  <a:tcPr marL="109728" marR="109728" marT="54864" marB="54864" anchor="ctr">
                    <a:solidFill>
                      <a:srgbClr val="FFFCF7"/>
                    </a:solidFill>
                  </a:tcPr>
                </a:tc>
                <a:tc>
                  <a:txBody>
                    <a:bodyPr wrap="square"/>
                    <a:lstStyle/>
                    <a:p>
                      <a:r>
                        <a:rPr sz="2600" b="0" i="0" u="none">
                          <a:solidFill>
                            <a:srgbClr val="261F1D"/>
                          </a:solidFill>
                          <a:latin typeface="Helvetica"/>
                        </a:rPr>
                        <a:t>Jordan M.</a:t>
                      </a:r>
                    </a:p>
                  </a:txBody>
                  <a:tcPr marL="109728" marR="109728" marT="54864" marB="54864" anchor="ctr">
                    <a:solidFill>
                      <a:srgbClr val="FFFCF7"/>
                    </a:solidFill>
                  </a:tcPr>
                </a:tc>
                <a:tc>
                  <a:txBody>
                    <a:bodyPr wrap="square"/>
                    <a:lstStyle/>
                    <a:p>
                      <a:r>
                        <a:rPr sz="2600" b="0" i="0" u="none">
                          <a:solidFill>
                            <a:srgbClr val="261F1D"/>
                          </a:solidFill>
                          <a:latin typeface="Helvetica"/>
                        </a:rPr>
                        <a:t>10001</a:t>
                      </a:r>
                    </a:p>
                  </a:txBody>
                  <a:tcPr marL="109728" marR="109728" marT="54864" marB="54864" anchor="ctr">
                    <a:solidFill>
                      <a:srgbClr val="FFFCF7"/>
                    </a:solidFill>
                  </a:tcPr>
                </a:tc>
                <a:tc>
                  <a:txBody>
                    <a:bodyPr wrap="square"/>
                    <a:lstStyle/>
                    <a:p>
                      <a:r>
                        <a:rPr sz="2600" b="0" i="0" u="none">
                          <a:solidFill>
                            <a:srgbClr val="261F1D"/>
                          </a:solidFill>
                          <a:latin typeface="Helvetica"/>
                        </a:rPr>
                        <a:t>Soda</a:t>
                      </a:r>
                    </a:p>
                  </a:txBody>
                  <a:tcPr marL="109728" marR="109728" marT="54864" marB="54864" anchor="ctr">
                    <a:solidFill>
                      <a:srgbClr val="FFFCF7"/>
                    </a:solidFill>
                  </a:tcPr>
                </a:tc>
                <a:tc>
                  <a:txBody>
                    <a:bodyPr wrap="square"/>
                    <a:lstStyle/>
                    <a:p>
                      <a:r>
                        <a:rPr sz="2600" b="0" i="0" u="none">
                          <a:solidFill>
                            <a:srgbClr val="261F1D"/>
                          </a:solidFill>
                          <a:latin typeface="Helvetica"/>
                        </a:rPr>
                        <a:t>$2.50</a:t>
                      </a:r>
                    </a:p>
                  </a:txBody>
                  <a:tcPr marL="109728" marR="109728" marT="54864" marB="54864" anchor="ctr">
                    <a:solidFill>
                      <a:srgbClr val="FFFCF7"/>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TURN AND TALK</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Why did </a:t>
            </a:r>
            <a:r>
              <a:rPr sz="3200" b="1" i="0" u="none">
                <a:solidFill>
                  <a:srgbClr val="261F1D"/>
                </a:solidFill>
                <a:latin typeface="Roboto Mono"/>
              </a:rPr>
              <a:t>Price</a:t>
            </a:r>
            <a:r>
              <a:rPr sz="3200" b="1" i="0" u="none">
                <a:solidFill>
                  <a:srgbClr val="261F1D"/>
                </a:solidFill>
                <a:latin typeface="Helvetica"/>
              </a:rPr>
              <a:t> end up repeated for Burger across two different orders?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Rule 2: No Partial Dependencies</a:t>
            </a:r>
          </a:p>
        </p:txBody>
      </p:sp>
      <p:sp>
        <p:nvSpPr>
          <p:cNvPr id="4" name="TextBox 3"/>
          <p:cNvSpPr txBox="1"/>
          <p:nvPr/>
        </p:nvSpPr>
        <p:spPr>
          <a:xfrm>
            <a:off x="548640" y="1188720"/>
            <a:ext cx="6705295" cy="35382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This is 2NF — Second Normal Form</a:t>
            </a:r>
          </a:p>
          <a:p>
            <a:pPr>
              <a:spcAft>
                <a:spcPts val="1000"/>
              </a:spcAft>
            </a:pPr>
            <a:r>
              <a:rPr sz="2600">
                <a:solidFill>
                  <a:srgbClr val="261F1D"/>
                </a:solidFill>
                <a:latin typeface="Helvetica"/>
              </a:rPr>
              <a:t>•  </a:t>
            </a:r>
            <a:r>
              <a:rPr sz="2600" b="0" i="0" u="none">
                <a:solidFill>
                  <a:srgbClr val="261F1D"/>
                </a:solidFill>
                <a:latin typeface="Helvetica"/>
              </a:rPr>
              <a:t>Real key here: (Order ID, Item)</a:t>
            </a:r>
          </a:p>
          <a:p>
            <a:pPr>
              <a:spcAft>
                <a:spcPts val="1000"/>
              </a:spcAft>
            </a:pPr>
            <a:r>
              <a:rPr sz="2600">
                <a:solidFill>
                  <a:srgbClr val="261F1D"/>
                </a:solidFill>
                <a:latin typeface="Helvetica"/>
              </a:rPr>
              <a:t>•  </a:t>
            </a:r>
            <a:r>
              <a:rPr sz="2600" b="0" i="0" u="none">
                <a:solidFill>
                  <a:srgbClr val="261F1D"/>
                </a:solidFill>
                <a:latin typeface="Helvetica"/>
              </a:rPr>
              <a:t>Price depends only on Item</a:t>
            </a:r>
          </a:p>
        </p:txBody>
      </p:sp>
      <p:sp>
        <p:nvSpPr>
          <p:cNvPr id="5" name="Oval 4"/>
          <p:cNvSpPr/>
          <p:nvPr/>
        </p:nvSpPr>
        <p:spPr>
          <a:xfrm>
            <a:off x="8611794" y="1869669"/>
            <a:ext cx="2222043" cy="2222043"/>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67304" y="2425179"/>
            <a:ext cx="1111021" cy="1111021"/>
          </a:xfrm>
          <a:prstGeom prst="rect">
            <a:avLst/>
          </a:prstGeom>
        </p:spPr>
      </p:pic>
      <p:sp>
        <p:nvSpPr>
          <p:cNvPr id="7" name="Rounded Rectangle 6"/>
          <p:cNvSpPr/>
          <p:nvPr/>
        </p:nvSpPr>
        <p:spPr>
          <a:xfrm>
            <a:off x="548640" y="4909820"/>
            <a:ext cx="11094415" cy="14452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909820"/>
            <a:ext cx="10637215" cy="14452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delivery fee depends only on the zone, not which item's in the bag — writing it next to every single item is a partial dependency.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2NF: Split Off the Partial Dependency</a:t>
            </a:r>
          </a:p>
        </p:txBody>
      </p:sp>
      <p:sp>
        <p:nvSpPr>
          <p:cNvPr id="4" name="Rounded Rectangle 3"/>
          <p:cNvSpPr/>
          <p:nvPr/>
        </p:nvSpPr>
        <p:spPr>
          <a:xfrm>
            <a:off x="548640" y="2468880"/>
            <a:ext cx="354573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047189" y="2697480"/>
            <a:ext cx="548640" cy="548640"/>
          </a:xfrm>
          <a:prstGeom prst="rect">
            <a:avLst/>
          </a:prstGeom>
        </p:spPr>
      </p:pic>
      <p:sp>
        <p:nvSpPr>
          <p:cNvPr id="6" name="TextBox 5"/>
          <p:cNvSpPr txBox="1"/>
          <p:nvPr/>
        </p:nvSpPr>
        <p:spPr>
          <a:xfrm>
            <a:off x="685800"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orders — order_id (PK), customer, zip</a:t>
            </a:r>
          </a:p>
        </p:txBody>
      </p:sp>
      <p:sp>
        <p:nvSpPr>
          <p:cNvPr id="7" name="Rounded Rectangle 6"/>
          <p:cNvSpPr/>
          <p:nvPr/>
        </p:nvSpPr>
        <p:spPr>
          <a:xfrm>
            <a:off x="4322978" y="2468880"/>
            <a:ext cx="354573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5821528" y="2697480"/>
            <a:ext cx="548640" cy="548640"/>
          </a:xfrm>
          <a:prstGeom prst="rect">
            <a:avLst/>
          </a:prstGeom>
        </p:spPr>
      </p:pic>
      <p:sp>
        <p:nvSpPr>
          <p:cNvPr id="9" name="TextBox 8"/>
          <p:cNvSpPr txBox="1"/>
          <p:nvPr/>
        </p:nvSpPr>
        <p:spPr>
          <a:xfrm>
            <a:off x="4460138"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items — item (PK), price</a:t>
            </a:r>
          </a:p>
        </p:txBody>
      </p:sp>
      <p:sp>
        <p:nvSpPr>
          <p:cNvPr id="10" name="Rounded Rectangle 9"/>
          <p:cNvSpPr/>
          <p:nvPr/>
        </p:nvSpPr>
        <p:spPr>
          <a:xfrm>
            <a:off x="8097317" y="2468880"/>
            <a:ext cx="3545738"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9595866" y="2697480"/>
            <a:ext cx="548640" cy="548640"/>
          </a:xfrm>
          <a:prstGeom prst="rect">
            <a:avLst/>
          </a:prstGeom>
        </p:spPr>
      </p:pic>
      <p:sp>
        <p:nvSpPr>
          <p:cNvPr id="12" name="TextBox 11"/>
          <p:cNvSpPr txBox="1"/>
          <p:nvPr/>
        </p:nvSpPr>
        <p:spPr>
          <a:xfrm>
            <a:off x="8234477"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order_items — order_id (FK), item (FK)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QUICK CHALLENGE</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Why did </a:t>
            </a:r>
            <a:r>
              <a:rPr sz="3200" b="1" i="0" u="none">
                <a:solidFill>
                  <a:srgbClr val="261F1D"/>
                </a:solidFill>
                <a:latin typeface="Roboto Mono"/>
              </a:rPr>
              <a:t>price</a:t>
            </a:r>
            <a:r>
              <a:rPr sz="3200" b="1" i="0" u="none">
                <a:solidFill>
                  <a:srgbClr val="261F1D"/>
                </a:solidFill>
                <a:latin typeface="Helvetica"/>
              </a:rPr>
              <a:t> move into its own </a:t>
            </a:r>
            <a:r>
              <a:rPr sz="3200" b="1" i="0" u="none">
                <a:solidFill>
                  <a:srgbClr val="261F1D"/>
                </a:solidFill>
                <a:latin typeface="Roboto Mono"/>
              </a:rPr>
              <a:t>items</a:t>
            </a:r>
            <a:r>
              <a:rPr sz="3200" b="1" i="0" u="none">
                <a:solidFill>
                  <a:srgbClr val="261F1D"/>
                </a:solidFill>
                <a:latin typeface="Helvetica"/>
              </a:rPr>
              <a:t> table instead of staying with the order?</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It depends only on the item, not on which order it's in</a:t>
            </a:r>
          </a:p>
          <a:p>
            <a:pPr>
              <a:spcAft>
                <a:spcPts val="1000"/>
              </a:spcAft>
            </a:pPr>
            <a:r>
              <a:rPr sz="2600" b="0" i="0" u="none">
                <a:solidFill>
                  <a:srgbClr val="261F1D"/>
                </a:solidFill>
                <a:latin typeface="Helvetica"/>
              </a:rPr>
              <a:t>B.  It's a dollar amount, not text</a:t>
            </a:r>
          </a:p>
          <a:p>
            <a:pPr>
              <a:spcAft>
                <a:spcPts val="1000"/>
              </a:spcAft>
            </a:pPr>
            <a:r>
              <a:rPr sz="2600" b="0" i="0" u="none">
                <a:solidFill>
                  <a:srgbClr val="261F1D"/>
                </a:solidFill>
                <a:latin typeface="Helvetica"/>
              </a:rPr>
              <a:t>C.  It was too long to fit in one cell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Spotting a Partial Dependency</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It depends only on the item, not on which order it's in</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A Burger costs $12.00 no matter which order it's part of — </a:t>
            </a:r>
            <a:r>
              <a:rPr sz="2600" b="0" i="0" u="none">
                <a:solidFill>
                  <a:srgbClr val="261F1D"/>
                </a:solidFill>
                <a:latin typeface="Roboto Mono"/>
              </a:rPr>
              <a:t>price</a:t>
            </a:r>
            <a:r>
              <a:rPr sz="2600" b="0" i="0" u="none">
                <a:solidFill>
                  <a:srgbClr val="261F1D"/>
                </a:solidFill>
                <a:latin typeface="Helvetica"/>
              </a:rPr>
              <a:t> was never really about the order at all. That's exactly what a partial dependency is, and splitting it out is how 2NF fixes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3NF: The Final, Normalized Schema</a:t>
            </a:r>
          </a:p>
        </p:txBody>
      </p:sp>
      <p:sp>
        <p:nvSpPr>
          <p:cNvPr id="4" name="Rounded Rectangle 3"/>
          <p:cNvSpPr/>
          <p:nvPr/>
        </p:nvSpPr>
        <p:spPr>
          <a:xfrm>
            <a:off x="548640" y="1677670"/>
            <a:ext cx="2602154"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1575397" y="1906270"/>
            <a:ext cx="548640" cy="548640"/>
          </a:xfrm>
          <a:prstGeom prst="rect">
            <a:avLst/>
          </a:prstGeom>
        </p:spPr>
      </p:pic>
      <p:sp>
        <p:nvSpPr>
          <p:cNvPr id="6" name="TextBox 5"/>
          <p:cNvSpPr txBox="1"/>
          <p:nvPr/>
        </p:nvSpPr>
        <p:spPr>
          <a:xfrm>
            <a:off x="685800" y="263779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customers — customer_id (PK), name, zip</a:t>
            </a:r>
          </a:p>
        </p:txBody>
      </p:sp>
      <p:sp>
        <p:nvSpPr>
          <p:cNvPr id="7" name="Rounded Rectangle 6"/>
          <p:cNvSpPr/>
          <p:nvPr/>
        </p:nvSpPr>
        <p:spPr>
          <a:xfrm>
            <a:off x="3379394" y="1677670"/>
            <a:ext cx="2602154"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4406151" y="1906270"/>
            <a:ext cx="548640" cy="548640"/>
          </a:xfrm>
          <a:prstGeom prst="rect">
            <a:avLst/>
          </a:prstGeom>
        </p:spPr>
      </p:pic>
      <p:sp>
        <p:nvSpPr>
          <p:cNvPr id="9" name="TextBox 8"/>
          <p:cNvSpPr txBox="1"/>
          <p:nvPr/>
        </p:nvSpPr>
        <p:spPr>
          <a:xfrm>
            <a:off x="3516554" y="263779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orders — order_id (PK), customer_id (FK)</a:t>
            </a:r>
          </a:p>
        </p:txBody>
      </p:sp>
      <p:sp>
        <p:nvSpPr>
          <p:cNvPr id="10" name="Rounded Rectangle 9"/>
          <p:cNvSpPr/>
          <p:nvPr/>
        </p:nvSpPr>
        <p:spPr>
          <a:xfrm>
            <a:off x="6210148" y="1677670"/>
            <a:ext cx="2602154"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7236904" y="1906270"/>
            <a:ext cx="548640" cy="548640"/>
          </a:xfrm>
          <a:prstGeom prst="rect">
            <a:avLst/>
          </a:prstGeom>
        </p:spPr>
      </p:pic>
      <p:sp>
        <p:nvSpPr>
          <p:cNvPr id="12" name="TextBox 11"/>
          <p:cNvSpPr txBox="1"/>
          <p:nvPr/>
        </p:nvSpPr>
        <p:spPr>
          <a:xfrm>
            <a:off x="6347308" y="263779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items — item_id (PK), price</a:t>
            </a:r>
          </a:p>
        </p:txBody>
      </p:sp>
      <p:sp>
        <p:nvSpPr>
          <p:cNvPr id="13" name="Rounded Rectangle 12"/>
          <p:cNvSpPr/>
          <p:nvPr/>
        </p:nvSpPr>
        <p:spPr>
          <a:xfrm>
            <a:off x="9040901" y="1677670"/>
            <a:ext cx="2602154" cy="2560320"/>
          </a:xfrm>
          <a:prstGeom prst="roundRect">
            <a:avLst>
              <a:gd name="adj" fmla="val 6000"/>
            </a:avLst>
          </a:prstGeom>
          <a:solidFill>
            <a:srgbClr val="F7DFDF"/>
          </a:solidFill>
          <a:ln w="50800">
            <a:solidFill>
              <a:srgbClr val="C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
          <p:cNvPicPr>
            <a:picLocks noChangeAspect="1"/>
          </p:cNvPicPr>
          <p:nvPr/>
        </p:nvPicPr>
        <p:blipFill>
          <a:blip r:embed="rId6"/>
          <a:stretch>
            <a:fillRect/>
          </a:stretch>
        </p:blipFill>
        <p:spPr>
          <a:xfrm>
            <a:off x="10067658" y="1906270"/>
            <a:ext cx="548640" cy="548640"/>
          </a:xfrm>
          <a:prstGeom prst="rect">
            <a:avLst/>
          </a:prstGeom>
        </p:spPr>
      </p:pic>
      <p:sp>
        <p:nvSpPr>
          <p:cNvPr id="15" name="TextBox 14"/>
          <p:cNvSpPr txBox="1"/>
          <p:nvPr/>
        </p:nvSpPr>
        <p:spPr>
          <a:xfrm>
            <a:off x="9178061" y="263779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order_items — order_id (FK), item_id (FK)</a:t>
            </a:r>
          </a:p>
        </p:txBody>
      </p:sp>
      <p:sp>
        <p:nvSpPr>
          <p:cNvPr id="16" name="Rounded Rectangle 15"/>
          <p:cNvSpPr/>
          <p:nvPr/>
        </p:nvSpPr>
        <p:spPr>
          <a:xfrm>
            <a:off x="548640" y="4909820"/>
            <a:ext cx="11094415" cy="14452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09820"/>
            <a:ext cx="10637215" cy="14452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friend's hometown doesn't depend on which post you're viewing, it depends on the friend. Storing it on every post instead of their profile is a transitive dependency.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QUICK CHALLENGE</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Renee moves and her zip code changes. In this final design, how many rows do you actually update?</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1 row, in </a:t>
            </a:r>
            <a:r>
              <a:rPr sz="2600" b="0" i="0" u="none">
                <a:solidFill>
                  <a:srgbClr val="261F1D"/>
                </a:solidFill>
                <a:latin typeface="Roboto Mono"/>
              </a:rPr>
              <a:t>customers</a:t>
            </a:r>
          </a:p>
          <a:p>
            <a:pPr>
              <a:spcAft>
                <a:spcPts val="1000"/>
              </a:spcAft>
            </a:pPr>
            <a:r>
              <a:rPr sz="2600" b="0" i="0" u="none">
                <a:solidFill>
                  <a:srgbClr val="261F1D"/>
                </a:solidFill>
                <a:latin typeface="Helvetica"/>
              </a:rPr>
              <a:t>B.  Every row she appears in, across every table</a:t>
            </a:r>
          </a:p>
          <a:p>
            <a:pPr>
              <a:spcAft>
                <a:spcPts val="1000"/>
              </a:spcAft>
            </a:pPr>
            <a:r>
              <a:rPr sz="2600" b="0" i="0" u="none">
                <a:solidFill>
                  <a:srgbClr val="261F1D"/>
                </a:solidFill>
                <a:latin typeface="Helvetica"/>
              </a:rPr>
              <a:t>C.  0 — zip code isn't stored anywhere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The Payoff: Update Once, Not Everywhere</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1 row, in </a:t>
            </a:r>
            <a:r>
              <a:rPr sz="3200" b="1" i="0" u="none">
                <a:solidFill>
                  <a:srgbClr val="261F1D"/>
                </a:solidFill>
                <a:latin typeface="Roboto Mono"/>
              </a:rPr>
              <a:t>customers</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Her zip lives in exactly one place now — </a:t>
            </a:r>
            <a:r>
              <a:rPr sz="2600" b="0" i="0" u="none">
                <a:solidFill>
                  <a:srgbClr val="261F1D"/>
                </a:solidFill>
                <a:latin typeface="Roboto Mono"/>
              </a:rPr>
              <a:t>customers</a:t>
            </a:r>
            <a:r>
              <a:rPr sz="2600" b="0" i="0" u="none">
                <a:solidFill>
                  <a:srgbClr val="261F1D"/>
                </a:solidFill>
                <a:latin typeface="Helvetica"/>
              </a:rPr>
              <a:t>. In the original flat spreadsheet, you'd have had to catch and fix every single order row she ever appeared in, and one missed row means two different "truths" about where she lives. This is the exact class of problem the PHE spreadsheet failure came from, just at file-breaking scale instead of a single wrong field.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The Whole Journey, in Four Steps</a:t>
            </a:r>
          </a:p>
        </p:txBody>
      </p:sp>
      <p:sp>
        <p:nvSpPr>
          <p:cNvPr id="4" name="Oval 3"/>
          <p:cNvSpPr/>
          <p:nvPr/>
        </p:nvSpPr>
        <p:spPr>
          <a:xfrm>
            <a:off x="822960" y="237744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1049274" y="2603754"/>
            <a:ext cx="553212" cy="553212"/>
          </a:xfrm>
          <a:prstGeom prst="rect">
            <a:avLst/>
          </a:prstGeom>
        </p:spPr>
      </p:pic>
      <p:cxnSp>
        <p:nvCxnSpPr>
          <p:cNvPr id="6" name="Connector 5"/>
          <p:cNvCxnSpPr/>
          <p:nvPr/>
        </p:nvCxnSpPr>
        <p:spPr>
          <a:xfrm>
            <a:off x="1828800" y="2880360"/>
            <a:ext cx="2174138"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22960" y="3520440"/>
            <a:ext cx="2407844" cy="914400"/>
          </a:xfrm>
          <a:prstGeom prst="rect">
            <a:avLst/>
          </a:prstGeom>
          <a:noFill/>
        </p:spPr>
        <p:txBody>
          <a:bodyPr wrap="square" anchor="t" lIns="0" rIns="0" tIns="0" bIns="0">
            <a:noAutofit/>
          </a:bodyPr>
          <a:lstStyle/>
          <a:p>
            <a:pPr algn="ctr"/>
            <a:r>
              <a:rPr sz="3000" b="1" i="0" u="none">
                <a:solidFill>
                  <a:srgbClr val="261F1D"/>
                </a:solidFill>
                <a:latin typeface="Helvetica"/>
              </a:rPr>
              <a:t>Messy</a:t>
            </a:r>
          </a:p>
        </p:txBody>
      </p:sp>
      <p:sp>
        <p:nvSpPr>
          <p:cNvPr id="8" name="TextBox 7"/>
          <p:cNvSpPr txBox="1"/>
          <p:nvPr/>
        </p:nvSpPr>
        <p:spPr>
          <a:xfrm>
            <a:off x="822960" y="4480560"/>
            <a:ext cx="2407844" cy="1005840"/>
          </a:xfrm>
          <a:prstGeom prst="rect">
            <a:avLst/>
          </a:prstGeom>
          <a:noFill/>
        </p:spPr>
        <p:txBody>
          <a:bodyPr wrap="square" anchor="t" lIns="0" rIns="0" tIns="0" bIns="0">
            <a:noAutofit/>
          </a:bodyPr>
          <a:lstStyle/>
          <a:p>
            <a:pPr algn="ctr"/>
            <a:r>
              <a:rPr sz="2600" b="0" i="0" u="none">
                <a:solidFill>
                  <a:srgbClr val="261F1D"/>
                </a:solidFill>
                <a:latin typeface="Helvetica"/>
              </a:rPr>
              <a:t>One Big Table</a:t>
            </a:r>
          </a:p>
        </p:txBody>
      </p:sp>
      <p:sp>
        <p:nvSpPr>
          <p:cNvPr id="9" name="Oval 8"/>
          <p:cNvSpPr/>
          <p:nvPr/>
        </p:nvSpPr>
        <p:spPr>
          <a:xfrm>
            <a:off x="4002938" y="237744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
          <p:cNvPicPr>
            <a:picLocks noChangeAspect="1"/>
          </p:cNvPicPr>
          <p:nvPr/>
        </p:nvPicPr>
        <p:blipFill>
          <a:blip r:embed="rId4"/>
          <a:stretch>
            <a:fillRect/>
          </a:stretch>
        </p:blipFill>
        <p:spPr>
          <a:xfrm>
            <a:off x="4229252" y="2603754"/>
            <a:ext cx="553212" cy="553212"/>
          </a:xfrm>
          <a:prstGeom prst="rect">
            <a:avLst/>
          </a:prstGeom>
        </p:spPr>
      </p:pic>
      <p:cxnSp>
        <p:nvCxnSpPr>
          <p:cNvPr id="11" name="Connector 10"/>
          <p:cNvCxnSpPr/>
          <p:nvPr/>
        </p:nvCxnSpPr>
        <p:spPr>
          <a:xfrm>
            <a:off x="5008778" y="2880360"/>
            <a:ext cx="2174139"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301936" y="3520440"/>
            <a:ext cx="2407844" cy="914400"/>
          </a:xfrm>
          <a:prstGeom prst="rect">
            <a:avLst/>
          </a:prstGeom>
          <a:noFill/>
        </p:spPr>
        <p:txBody>
          <a:bodyPr wrap="square" anchor="t" lIns="0" rIns="0" tIns="0" bIns="0">
            <a:noAutofit/>
          </a:bodyPr>
          <a:lstStyle/>
          <a:p>
            <a:pPr algn="ctr"/>
            <a:r>
              <a:rPr sz="3000" b="1" i="0" u="none">
                <a:solidFill>
                  <a:srgbClr val="261F1D"/>
                </a:solidFill>
                <a:latin typeface="Helvetica"/>
              </a:rPr>
              <a:t>1NF</a:t>
            </a:r>
          </a:p>
        </p:txBody>
      </p:sp>
      <p:sp>
        <p:nvSpPr>
          <p:cNvPr id="13" name="TextBox 12"/>
          <p:cNvSpPr txBox="1"/>
          <p:nvPr/>
        </p:nvSpPr>
        <p:spPr>
          <a:xfrm>
            <a:off x="3301936" y="4480560"/>
            <a:ext cx="2407844" cy="1005840"/>
          </a:xfrm>
          <a:prstGeom prst="rect">
            <a:avLst/>
          </a:prstGeom>
          <a:noFill/>
        </p:spPr>
        <p:txBody>
          <a:bodyPr wrap="square" anchor="t" lIns="0" rIns="0" tIns="0" bIns="0">
            <a:noAutofit/>
          </a:bodyPr>
          <a:lstStyle/>
          <a:p>
            <a:pPr algn="ctr"/>
            <a:r>
              <a:rPr sz="2600" b="0" i="0" u="none">
                <a:solidFill>
                  <a:srgbClr val="261F1D"/>
                </a:solidFill>
                <a:latin typeface="Helvetica"/>
              </a:rPr>
              <a:t>One Value Per Cell</a:t>
            </a:r>
          </a:p>
        </p:txBody>
      </p:sp>
      <p:sp>
        <p:nvSpPr>
          <p:cNvPr id="14" name="Oval 13"/>
          <p:cNvSpPr/>
          <p:nvPr/>
        </p:nvSpPr>
        <p:spPr>
          <a:xfrm>
            <a:off x="7182917" y="237744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
          <p:cNvPicPr>
            <a:picLocks noChangeAspect="1"/>
          </p:cNvPicPr>
          <p:nvPr/>
        </p:nvPicPr>
        <p:blipFill>
          <a:blip r:embed="rId5"/>
          <a:stretch>
            <a:fillRect/>
          </a:stretch>
        </p:blipFill>
        <p:spPr>
          <a:xfrm>
            <a:off x="7409231" y="2603754"/>
            <a:ext cx="553212" cy="553212"/>
          </a:xfrm>
          <a:prstGeom prst="rect">
            <a:avLst/>
          </a:prstGeom>
        </p:spPr>
      </p:pic>
      <p:cxnSp>
        <p:nvCxnSpPr>
          <p:cNvPr id="16" name="Connector 15"/>
          <p:cNvCxnSpPr/>
          <p:nvPr/>
        </p:nvCxnSpPr>
        <p:spPr>
          <a:xfrm>
            <a:off x="8188757" y="2880360"/>
            <a:ext cx="2174138"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81915" y="3520440"/>
            <a:ext cx="2407844" cy="914400"/>
          </a:xfrm>
          <a:prstGeom prst="rect">
            <a:avLst/>
          </a:prstGeom>
          <a:noFill/>
        </p:spPr>
        <p:txBody>
          <a:bodyPr wrap="square" anchor="t" lIns="0" rIns="0" tIns="0" bIns="0">
            <a:noAutofit/>
          </a:bodyPr>
          <a:lstStyle/>
          <a:p>
            <a:pPr algn="ctr"/>
            <a:r>
              <a:rPr sz="3000" b="1" i="0" u="none">
                <a:solidFill>
                  <a:srgbClr val="261F1D"/>
                </a:solidFill>
                <a:latin typeface="Helvetica"/>
              </a:rPr>
              <a:t>2NF</a:t>
            </a:r>
          </a:p>
        </p:txBody>
      </p:sp>
      <p:sp>
        <p:nvSpPr>
          <p:cNvPr id="18" name="TextBox 17"/>
          <p:cNvSpPr txBox="1"/>
          <p:nvPr/>
        </p:nvSpPr>
        <p:spPr>
          <a:xfrm>
            <a:off x="6481915" y="4480560"/>
            <a:ext cx="2407844" cy="1005840"/>
          </a:xfrm>
          <a:prstGeom prst="rect">
            <a:avLst/>
          </a:prstGeom>
          <a:noFill/>
        </p:spPr>
        <p:txBody>
          <a:bodyPr wrap="square" anchor="t" lIns="0" rIns="0" tIns="0" bIns="0">
            <a:noAutofit/>
          </a:bodyPr>
          <a:lstStyle/>
          <a:p>
            <a:pPr algn="ctr"/>
            <a:r>
              <a:rPr sz="2600" b="0" i="0" u="none">
                <a:solidFill>
                  <a:srgbClr val="261F1D"/>
                </a:solidFill>
                <a:latin typeface="Helvetica"/>
              </a:rPr>
              <a:t>No Partial Dependency</a:t>
            </a:r>
          </a:p>
        </p:txBody>
      </p:sp>
      <p:sp>
        <p:nvSpPr>
          <p:cNvPr id="19" name="Oval 18"/>
          <p:cNvSpPr/>
          <p:nvPr/>
        </p:nvSpPr>
        <p:spPr>
          <a:xfrm>
            <a:off x="10362895" y="237744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
          <p:cNvPicPr>
            <a:picLocks noChangeAspect="1"/>
          </p:cNvPicPr>
          <p:nvPr/>
        </p:nvPicPr>
        <p:blipFill>
          <a:blip r:embed="rId6"/>
          <a:stretch>
            <a:fillRect/>
          </a:stretch>
        </p:blipFill>
        <p:spPr>
          <a:xfrm>
            <a:off x="10589209" y="2603754"/>
            <a:ext cx="553212" cy="553212"/>
          </a:xfrm>
          <a:prstGeom prst="rect">
            <a:avLst/>
          </a:prstGeom>
        </p:spPr>
      </p:pic>
      <p:sp>
        <p:nvSpPr>
          <p:cNvPr id="21" name="TextBox 20"/>
          <p:cNvSpPr txBox="1"/>
          <p:nvPr/>
        </p:nvSpPr>
        <p:spPr>
          <a:xfrm>
            <a:off x="8960891" y="3520440"/>
            <a:ext cx="2407844" cy="914400"/>
          </a:xfrm>
          <a:prstGeom prst="rect">
            <a:avLst/>
          </a:prstGeom>
          <a:noFill/>
        </p:spPr>
        <p:txBody>
          <a:bodyPr wrap="square" anchor="t" lIns="0" rIns="0" tIns="0" bIns="0">
            <a:noAutofit/>
          </a:bodyPr>
          <a:lstStyle/>
          <a:p>
            <a:pPr algn="ctr"/>
            <a:r>
              <a:rPr sz="3000" b="1" i="0" u="none">
                <a:solidFill>
                  <a:srgbClr val="261F1D"/>
                </a:solidFill>
                <a:latin typeface="Helvetica"/>
              </a:rPr>
              <a:t>3NF</a:t>
            </a:r>
          </a:p>
        </p:txBody>
      </p:sp>
      <p:sp>
        <p:nvSpPr>
          <p:cNvPr id="22" name="TextBox 21"/>
          <p:cNvSpPr txBox="1"/>
          <p:nvPr/>
        </p:nvSpPr>
        <p:spPr>
          <a:xfrm>
            <a:off x="8960891" y="4480560"/>
            <a:ext cx="2407844" cy="1005840"/>
          </a:xfrm>
          <a:prstGeom prst="rect">
            <a:avLst/>
          </a:prstGeom>
          <a:noFill/>
        </p:spPr>
        <p:txBody>
          <a:bodyPr wrap="square" anchor="t" lIns="0" rIns="0" tIns="0" bIns="0">
            <a:noAutofit/>
          </a:bodyPr>
          <a:lstStyle/>
          <a:p>
            <a:pPr algn="ctr"/>
            <a:r>
              <a:rPr sz="2600" b="0" i="0" u="none">
                <a:solidFill>
                  <a:srgbClr val="261F1D"/>
                </a:solidFill>
                <a:latin typeface="Helvetica"/>
              </a:rPr>
              <a:t>No Transitive Dependency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5" name="TextBox 4"/>
          <p:cNvSpPr txBox="1"/>
          <p:nvPr/>
        </p:nvSpPr>
        <p:spPr>
          <a:xfrm>
            <a:off x="548640" y="155448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Topics You Might Get Asked About</a:t>
            </a:r>
          </a:p>
        </p:txBody>
      </p:sp>
      <p:sp>
        <p:nvSpPr>
          <p:cNvPr id="6" name="TextBox 5"/>
          <p:cNvSpPr txBox="1"/>
          <p:nvPr/>
        </p:nvSpPr>
        <p:spPr>
          <a:xfrm>
            <a:off x="822960" y="2560320"/>
            <a:ext cx="10545775" cy="34747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Why does normalization matter, and what's the tradeoff against denormalization?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Why does normalization matter, and what's the tradeoff against denormalization?</a:t>
            </a:r>
          </a:p>
        </p:txBody>
      </p:sp>
      <p:sp>
        <p:nvSpPr>
          <p:cNvPr id="7" name="Rounded Rectangle 6"/>
          <p:cNvSpPr/>
          <p:nvPr/>
        </p:nvSpPr>
        <p:spPr>
          <a:xfrm>
            <a:off x="548640" y="2743200"/>
            <a:ext cx="11094415" cy="361188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71800"/>
            <a:ext cx="10545775" cy="315468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Point: Normalization splits data into related tables so each fact lives once. Reason: That prevents the update-anomaly problem from today's lesson — one change touches one place. Example: Today's zip-code update went from touching every order row to touching one </a:t>
            </a:r>
            <a:r>
              <a:rPr sz="2600" b="0" i="0" u="none">
                <a:solidFill>
                  <a:srgbClr val="261F1D"/>
                </a:solidFill>
                <a:latin typeface="Roboto Mono"/>
              </a:rPr>
              <a:t>customers</a:t>
            </a:r>
            <a:r>
              <a:rPr sz="2600" b="0" i="0" u="none">
                <a:solidFill>
                  <a:srgbClr val="261F1D"/>
                </a:solidFill>
                <a:latin typeface="Helvetica"/>
              </a:rPr>
              <a:t> row. Point: The real tradeoff is on reads — pulling facts back together needs a join, so some systems deliberately denormalize (a STAR schema) to trade redundancy for fewer joins.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 Recap</a:t>
            </a:r>
          </a:p>
        </p:txBody>
      </p:sp>
      <p:graphicFrame>
        <p:nvGraphicFramePr>
          <p:cNvPr id="4" name="Table 3"/>
          <p:cNvGraphicFramePr>
            <a:graphicFrameLocks noGrp="1"/>
          </p:cNvGraphicFramePr>
          <p:nvPr/>
        </p:nvGraphicFramePr>
        <p:xfrm>
          <a:off x="548640" y="1485900"/>
          <a:ext cx="11094415" cy="4526280"/>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502920">
                <a:tc>
                  <a:txBody>
                    <a:bodyPr wrap="square"/>
                    <a:lstStyle/>
                    <a:p>
                      <a:r>
                        <a:rPr sz="2600" b="0" i="0" u="none">
                          <a:solidFill>
                            <a:srgbClr val="261F1D"/>
                          </a:solidFill>
                          <a:latin typeface="Helvetica"/>
                        </a:rPr>
                        <a:t>Primary key</a:t>
                      </a:r>
                    </a:p>
                  </a:txBody>
                  <a:tcPr marL="109728" marR="109728" marT="54864" marB="54864" anchor="ctr">
                    <a:solidFill>
                      <a:srgbClr val="FFFCF7"/>
                    </a:solidFill>
                  </a:tcPr>
                </a:tc>
                <a:tc>
                  <a:txBody>
                    <a:bodyPr wrap="square"/>
                    <a:lstStyle/>
                    <a:p>
                      <a:r>
                        <a:rPr sz="2600" b="0" i="0" u="none">
                          <a:solidFill>
                            <a:srgbClr val="261F1D"/>
                          </a:solidFill>
                          <a:latin typeface="Helvetica"/>
                        </a:rPr>
                        <a:t>Uniquely IDs each row</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Foreign key</a:t>
                      </a:r>
                    </a:p>
                  </a:txBody>
                  <a:tcPr marL="109728" marR="109728" marT="54864" marB="54864" anchor="ctr">
                    <a:solidFill>
                      <a:srgbClr val="FFF6E4"/>
                    </a:solidFill>
                  </a:tcPr>
                </a:tc>
                <a:tc>
                  <a:txBody>
                    <a:bodyPr wrap="square"/>
                    <a:lstStyle/>
                    <a:p>
                      <a:r>
                        <a:rPr sz="2600" b="0" i="0" u="none">
                          <a:solidFill>
                            <a:srgbClr val="261F1D"/>
                          </a:solidFill>
                          <a:latin typeface="Helvetica"/>
                        </a:rPr>
                        <a:t>Points to another table's PK</a:t>
                      </a:r>
                    </a:p>
                  </a:txBody>
                  <a:tcPr marL="109728" marR="109728" marT="54864" marB="54864" anchor="ctr">
                    <a:solidFill>
                      <a:srgbClr val="FFF6E4"/>
                    </a:solidFill>
                  </a:tcPr>
                </a:tc>
              </a:tr>
              <a:tr h="502920">
                <a:tc>
                  <a:txBody>
                    <a:bodyPr wrap="square"/>
                    <a:lstStyle/>
                    <a:p>
                      <a:r>
                        <a:rPr sz="2600" b="0" i="0" u="none">
                          <a:solidFill>
                            <a:srgbClr val="261F1D"/>
                          </a:solidFill>
                          <a:latin typeface="Helvetica"/>
                        </a:rPr>
                        <a:t>Normalization</a:t>
                      </a:r>
                    </a:p>
                  </a:txBody>
                  <a:tcPr marL="109728" marR="109728" marT="54864" marB="54864" anchor="ctr">
                    <a:solidFill>
                      <a:srgbClr val="FFFCF7"/>
                    </a:solidFill>
                  </a:tcPr>
                </a:tc>
                <a:tc>
                  <a:txBody>
                    <a:bodyPr wrap="square"/>
                    <a:lstStyle/>
                    <a:p>
                      <a:r>
                        <a:rPr sz="2600" b="0" i="0" u="none">
                          <a:solidFill>
                            <a:srgbClr val="261F1D"/>
                          </a:solidFill>
                          <a:latin typeface="Helvetica"/>
                        </a:rPr>
                        <a:t>Each fact, one place</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1NF</a:t>
                      </a:r>
                    </a:p>
                  </a:txBody>
                  <a:tcPr marL="109728" marR="109728" marT="54864" marB="54864" anchor="ctr">
                    <a:solidFill>
                      <a:srgbClr val="FFF6E4"/>
                    </a:solidFill>
                  </a:tcPr>
                </a:tc>
                <a:tc>
                  <a:txBody>
                    <a:bodyPr wrap="square"/>
                    <a:lstStyle/>
                    <a:p>
                      <a:r>
                        <a:rPr sz="2600" b="0" i="0" u="none">
                          <a:solidFill>
                            <a:srgbClr val="261F1D"/>
                          </a:solidFill>
                          <a:latin typeface="Helvetica"/>
                        </a:rPr>
                        <a:t>One value per cell</a:t>
                      </a:r>
                    </a:p>
                  </a:txBody>
                  <a:tcPr marL="109728" marR="109728" marT="54864" marB="54864" anchor="ctr">
                    <a:solidFill>
                      <a:srgbClr val="FFF6E4"/>
                    </a:solidFill>
                  </a:tcPr>
                </a:tc>
              </a:tr>
              <a:tr h="502920">
                <a:tc>
                  <a:txBody>
                    <a:bodyPr wrap="square"/>
                    <a:lstStyle/>
                    <a:p>
                      <a:r>
                        <a:rPr sz="2600" b="0" i="0" u="none">
                          <a:solidFill>
                            <a:srgbClr val="261F1D"/>
                          </a:solidFill>
                          <a:latin typeface="Helvetica"/>
                        </a:rPr>
                        <a:t>2NF</a:t>
                      </a:r>
                    </a:p>
                  </a:txBody>
                  <a:tcPr marL="109728" marR="109728" marT="54864" marB="54864" anchor="ctr">
                    <a:solidFill>
                      <a:srgbClr val="FFFCF7"/>
                    </a:solidFill>
                  </a:tcPr>
                </a:tc>
                <a:tc>
                  <a:txBody>
                    <a:bodyPr wrap="square"/>
                    <a:lstStyle/>
                    <a:p>
                      <a:r>
                        <a:rPr sz="2600" b="0" i="0" u="none">
                          <a:solidFill>
                            <a:srgbClr val="261F1D"/>
                          </a:solidFill>
                          <a:latin typeface="Helvetica"/>
                        </a:rPr>
                        <a:t>No partial dependency</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3NF</a:t>
                      </a:r>
                    </a:p>
                  </a:txBody>
                  <a:tcPr marL="109728" marR="109728" marT="54864" marB="54864" anchor="ctr">
                    <a:solidFill>
                      <a:srgbClr val="FFF6E4"/>
                    </a:solidFill>
                  </a:tcPr>
                </a:tc>
                <a:tc>
                  <a:txBody>
                    <a:bodyPr wrap="square"/>
                    <a:lstStyle/>
                    <a:p>
                      <a:r>
                        <a:rPr sz="2600" b="0" i="0" u="none">
                          <a:solidFill>
                            <a:srgbClr val="261F1D"/>
                          </a:solidFill>
                          <a:latin typeface="Helvetica"/>
                        </a:rPr>
                        <a:t>No transitive dependency</a:t>
                      </a:r>
                    </a:p>
                  </a:txBody>
                  <a:tcPr marL="109728" marR="109728" marT="54864" marB="54864" anchor="ctr">
                    <a:solidFill>
                      <a:srgbClr val="FFF6E4"/>
                    </a:solidFill>
                  </a:tcPr>
                </a:tc>
              </a:tr>
              <a:tr h="502920">
                <a:tc>
                  <a:txBody>
                    <a:bodyPr wrap="square"/>
                    <a:lstStyle/>
                    <a:p>
                      <a:r>
                        <a:rPr sz="2600" b="0" i="0" u="none">
                          <a:solidFill>
                            <a:srgbClr val="261F1D"/>
                          </a:solidFill>
                          <a:latin typeface="Helvetica"/>
                        </a:rPr>
                        <a:t>Partial dependency</a:t>
                      </a:r>
                    </a:p>
                  </a:txBody>
                  <a:tcPr marL="109728" marR="109728" marT="54864" marB="54864" anchor="ctr">
                    <a:solidFill>
                      <a:srgbClr val="FFFCF7"/>
                    </a:solidFill>
                  </a:tcPr>
                </a:tc>
                <a:tc>
                  <a:txBody>
                    <a:bodyPr wrap="square"/>
                    <a:lstStyle/>
                    <a:p>
                      <a:r>
                        <a:rPr sz="2600" b="0" i="0" u="none">
                          <a:solidFill>
                            <a:srgbClr val="261F1D"/>
                          </a:solidFill>
                          <a:latin typeface="Helvetica"/>
                        </a:rPr>
                        <a:t>Depends on part of the key</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Transitive dependency</a:t>
                      </a:r>
                    </a:p>
                  </a:txBody>
                  <a:tcPr marL="109728" marR="109728" marT="54864" marB="54864" anchor="ctr">
                    <a:solidFill>
                      <a:srgbClr val="FFF6E4"/>
                    </a:solidFill>
                  </a:tcPr>
                </a:tc>
                <a:tc>
                  <a:txBody>
                    <a:bodyPr wrap="square"/>
                    <a:lstStyle/>
                    <a:p>
                      <a:r>
                        <a:rPr sz="2600" b="0" i="0" u="none">
                          <a:solidFill>
                            <a:srgbClr val="261F1D"/>
                          </a:solidFill>
                          <a:latin typeface="Helvetica"/>
                        </a:rPr>
                        <a:t>Depends on a non-key column</a:t>
                      </a:r>
                    </a:p>
                  </a:txBody>
                  <a:tcPr marL="109728" marR="109728" marT="54864" marB="54864" anchor="ctr">
                    <a:solidFill>
                      <a:srgbClr val="FFF6E4"/>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So Far, We've Covered...</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Primary keys, foreign keys</a:t>
            </a:r>
          </a:p>
          <a:p>
            <a:pPr>
              <a:spcAft>
                <a:spcPts val="1000"/>
              </a:spcAft>
            </a:pPr>
            <a:r>
              <a:rPr sz="2600">
                <a:solidFill>
                  <a:srgbClr val="261F1D"/>
                </a:solidFill>
                <a:latin typeface="Helvetica"/>
              </a:rPr>
              <a:t>•  </a:t>
            </a:r>
            <a:r>
              <a:rPr sz="2600" b="0" i="0" u="none">
                <a:solidFill>
                  <a:srgbClr val="261F1D"/>
                </a:solidFill>
                <a:latin typeface="Helvetica"/>
              </a:rPr>
              <a:t>1NF, 2NF, 3NF — by hand</a:t>
            </a:r>
          </a:p>
          <a:p>
            <a:pPr>
              <a:spcAft>
                <a:spcPts val="1000"/>
              </a:spcAft>
            </a:pPr>
            <a:r>
              <a:rPr sz="2600">
                <a:solidFill>
                  <a:srgbClr val="261F1D"/>
                </a:solidFill>
                <a:latin typeface="Helvetica"/>
              </a:rPr>
              <a:t>•  </a:t>
            </a:r>
            <a:r>
              <a:rPr sz="2600" b="0" i="0" u="none">
                <a:solidFill>
                  <a:srgbClr val="261F1D"/>
                </a:solidFill>
                <a:latin typeface="Helvetica"/>
              </a:rPr>
              <a:t>Your schema.sql must hit 3NF too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188720"/>
            <a:ext cx="11094415" cy="1005840"/>
          </a:xfrm>
          <a:prstGeom prst="rect">
            <a:avLst/>
          </a:prstGeom>
          <a:noFill/>
        </p:spPr>
        <p:txBody>
          <a:bodyPr wrap="square" anchor="t" lIns="0" rIns="0" tIns="0" bIns="0">
            <a:noAutofit/>
          </a:bodyPr>
          <a:lstStyle/>
          <a:p>
            <a:pPr algn="l"/>
            <a:r>
              <a:rPr sz="4000" b="1" i="0" u="none">
                <a:solidFill>
                  <a:srgbClr val="FFFCF7"/>
                </a:solidFill>
                <a:latin typeface="Helvetica"/>
              </a:rPr>
              <a:t>Before Next Class</a:t>
            </a:r>
          </a:p>
        </p:txBody>
      </p:sp>
      <p:sp>
        <p:nvSpPr>
          <p:cNvPr id="4" name="TextBox 3"/>
          <p:cNvSpPr txBox="1"/>
          <p:nvPr/>
        </p:nvSpPr>
        <p:spPr>
          <a:xfrm>
            <a:off x="548640" y="2651760"/>
            <a:ext cx="11094415" cy="2103120"/>
          </a:xfrm>
          <a:prstGeom prst="rect">
            <a:avLst/>
          </a:prstGeom>
          <a:noFill/>
        </p:spPr>
        <p:txBody>
          <a:bodyPr wrap="square" lIns="0" rIns="0" tIns="0" bIns="0">
            <a:noAutofit/>
          </a:bodyPr>
          <a:lstStyle/>
          <a:p>
            <a:pPr>
              <a:spcAft>
                <a:spcPts val="1000"/>
              </a:spcAft>
            </a:pPr>
            <a:r>
              <a:rPr sz="2600">
                <a:solidFill>
                  <a:srgbClr val="FFFCF7"/>
                </a:solidFill>
                <a:latin typeface="Helvetica"/>
              </a:rPr>
              <a:t>•  </a:t>
            </a:r>
            <a:r>
              <a:rPr sz="2600" b="0" i="0" u="none">
                <a:solidFill>
                  <a:srgbClr val="FFFCF7"/>
                </a:solidFill>
                <a:latin typeface="Helvetica"/>
              </a:rPr>
              <a:t>No new exercise — today was concept-only</a:t>
            </a:r>
          </a:p>
          <a:p>
            <a:pPr>
              <a:spcAft>
                <a:spcPts val="1000"/>
              </a:spcAft>
            </a:pPr>
            <a:r>
              <a:rPr sz="2600">
                <a:solidFill>
                  <a:srgbClr val="FFFCF7"/>
                </a:solidFill>
                <a:latin typeface="Helvetica"/>
              </a:rPr>
              <a:t>•  </a:t>
            </a:r>
            <a:r>
              <a:rPr sz="2600" b="0" i="0" u="none">
                <a:solidFill>
                  <a:srgbClr val="FFFCF7"/>
                </a:solidFill>
                <a:latin typeface="Helvetica"/>
              </a:rPr>
              <a:t>psql starts next class</a:t>
            </a:r>
          </a:p>
          <a:p>
            <a:pPr>
              <a:spcAft>
                <a:spcPts val="1000"/>
              </a:spcAft>
            </a:pPr>
            <a:r>
              <a:rPr sz="2600">
                <a:solidFill>
                  <a:srgbClr val="FFFCF7"/>
                </a:solidFill>
                <a:latin typeface="Helvetica"/>
              </a:rPr>
              <a:t>•  </a:t>
            </a:r>
            <a:r>
              <a:rPr sz="2600" b="0" i="0" u="none">
                <a:solidFill>
                  <a:srgbClr val="FFFCF7"/>
                </a:solidFill>
                <a:latin typeface="Helvetica"/>
              </a:rPr>
              <a:t>Come ready to type, not just read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11094415" cy="64008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545775" cy="640080"/>
          </a:xfrm>
          <a:prstGeom prst="rect">
            <a:avLst/>
          </a:prstGeom>
          <a:noFill/>
        </p:spPr>
        <p:txBody>
          <a:bodyPr wrap="square" anchor="ctr" lIns="0" rIns="0" tIns="0" bIns="0">
            <a:noAutofit/>
          </a:bodyPr>
          <a:lstStyle/>
          <a:p>
            <a:pPr algn="l"/>
            <a:r>
              <a:rPr sz="2600" b="1" i="0" u="none">
                <a:solidFill>
                  <a:srgbClr val="261F1D"/>
                </a:solidFill>
                <a:latin typeface="Helvetica"/>
              </a:rPr>
              <a:t>KEEP LEARNING</a:t>
            </a:r>
          </a:p>
        </p:txBody>
      </p:sp>
      <p:sp>
        <p:nvSpPr>
          <p:cNvPr id="5" name="TextBox 4"/>
          <p:cNvSpPr txBox="1"/>
          <p:nvPr/>
        </p:nvSpPr>
        <p:spPr>
          <a:xfrm>
            <a:off x="548640" y="123444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Where to Go From Here</a:t>
            </a:r>
          </a:p>
        </p:txBody>
      </p:sp>
      <p:pic>
        <p:nvPicPr>
          <p:cNvPr id="6" name="Picture 5" descr=""/>
          <p:cNvPicPr>
            <a:picLocks noChangeAspect="1"/>
          </p:cNvPicPr>
          <p:nvPr/>
        </p:nvPicPr>
        <p:blipFill>
          <a:blip r:embed="rId3"/>
          <a:stretch>
            <a:fillRect/>
          </a:stretch>
        </p:blipFill>
        <p:spPr>
          <a:xfrm>
            <a:off x="548640" y="1984248"/>
            <a:ext cx="365760" cy="365760"/>
          </a:xfrm>
          <a:prstGeom prst="rect">
            <a:avLst/>
          </a:prstGeom>
        </p:spPr>
      </p:pic>
      <p:sp>
        <p:nvSpPr>
          <p:cNvPr id="7" name="TextBox 6"/>
          <p:cNvSpPr txBox="1"/>
          <p:nvPr/>
        </p:nvSpPr>
        <p:spPr>
          <a:xfrm>
            <a:off x="1051560" y="1965960"/>
            <a:ext cx="10591495" cy="768096"/>
          </a:xfrm>
          <a:prstGeom prst="rect">
            <a:avLst/>
          </a:prstGeom>
          <a:noFill/>
        </p:spPr>
        <p:txBody>
          <a:bodyPr wrap="square" anchor="t" lIns="0" rIns="0" tIns="0" bIns="0">
            <a:noAutofit/>
          </a:bodyPr>
          <a:lstStyle/>
          <a:p>
            <a:pPr algn="l"/>
            <a:r>
              <a:rPr sz="2600" b="1" i="0" u="none">
                <a:solidFill>
                  <a:srgbClr val="2274B5"/>
                </a:solidFill>
                <a:latin typeface="Helvetica"/>
                <a:hlinkClick r:id="rId4"/>
              </a:rPr>
              <a:t>Database Normalization – Normal Forms, 1NF, 2NF, 3NF, With Table Examples</a:t>
            </a:r>
          </a:p>
        </p:txBody>
      </p:sp>
      <p:sp>
        <p:nvSpPr>
          <p:cNvPr id="8" name="TextBox 7"/>
          <p:cNvSpPr txBox="1"/>
          <p:nvPr/>
        </p:nvSpPr>
        <p:spPr>
          <a:xfrm>
            <a:off x="1051560" y="2734056"/>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freeCodeCamp  ·  READING  ·  ~10 min read</a:t>
            </a:r>
          </a:p>
        </p:txBody>
      </p:sp>
      <p:sp>
        <p:nvSpPr>
          <p:cNvPr id="9" name="TextBox 8"/>
          <p:cNvSpPr txBox="1"/>
          <p:nvPr/>
        </p:nvSpPr>
        <p:spPr>
          <a:xfrm>
            <a:off x="1051560" y="3118104"/>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The same restaurant walkthrough, written out again</a:t>
            </a:r>
          </a:p>
        </p:txBody>
      </p:sp>
      <p:pic>
        <p:nvPicPr>
          <p:cNvPr id="10" name="Picture 9" descr=""/>
          <p:cNvPicPr>
            <a:picLocks noChangeAspect="1"/>
          </p:cNvPicPr>
          <p:nvPr/>
        </p:nvPicPr>
        <p:blipFill>
          <a:blip r:embed="rId5"/>
          <a:stretch>
            <a:fillRect/>
          </a:stretch>
        </p:blipFill>
        <p:spPr>
          <a:xfrm>
            <a:off x="548640" y="3749040"/>
            <a:ext cx="365760" cy="365760"/>
          </a:xfrm>
          <a:prstGeom prst="rect">
            <a:avLst/>
          </a:prstGeom>
        </p:spPr>
      </p:pic>
      <p:sp>
        <p:nvSpPr>
          <p:cNvPr id="11" name="TextBox 10"/>
          <p:cNvSpPr txBox="1"/>
          <p:nvPr/>
        </p:nvSpPr>
        <p:spPr>
          <a:xfrm>
            <a:off x="1051560" y="3730752"/>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6"/>
              </a:rPr>
              <a:t>SQLZoo</a:t>
            </a:r>
          </a:p>
        </p:txBody>
      </p:sp>
      <p:sp>
        <p:nvSpPr>
          <p:cNvPr id="12" name="TextBox 11"/>
          <p:cNvSpPr txBox="1"/>
          <p:nvPr/>
        </p:nvSpPr>
        <p:spPr>
          <a:xfrm>
            <a:off x="1051560" y="4114800"/>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SQLZoo  ·  PRACTICE  ·  ~20 min hands-on</a:t>
            </a:r>
          </a:p>
        </p:txBody>
      </p:sp>
      <p:sp>
        <p:nvSpPr>
          <p:cNvPr id="13" name="TextBox 12"/>
          <p:cNvSpPr txBox="1"/>
          <p:nvPr/>
        </p:nvSpPr>
        <p:spPr>
          <a:xfrm>
            <a:off x="1051560" y="4498848"/>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Free SQL tutorials — useful once psql starts</a:t>
            </a:r>
          </a:p>
        </p:txBody>
      </p:sp>
      <p:pic>
        <p:nvPicPr>
          <p:cNvPr id="14" name="Picture 13" descr=""/>
          <p:cNvPicPr>
            <a:picLocks noChangeAspect="1"/>
          </p:cNvPicPr>
          <p:nvPr/>
        </p:nvPicPr>
        <p:blipFill>
          <a:blip r:embed="rId7"/>
          <a:stretch>
            <a:fillRect/>
          </a:stretch>
        </p:blipFill>
        <p:spPr>
          <a:xfrm>
            <a:off x="548640" y="5129784"/>
            <a:ext cx="365760" cy="365760"/>
          </a:xfrm>
          <a:prstGeom prst="rect">
            <a:avLst/>
          </a:prstGeom>
        </p:spPr>
      </p:pic>
      <p:sp>
        <p:nvSpPr>
          <p:cNvPr id="15" name="TextBox 14"/>
          <p:cNvSpPr txBox="1"/>
          <p:nvPr/>
        </p:nvSpPr>
        <p:spPr>
          <a:xfrm>
            <a:off x="1051560" y="5111496"/>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8"/>
              </a:rPr>
              <a:t>The SQL Murder Mystery</a:t>
            </a:r>
          </a:p>
        </p:txBody>
      </p:sp>
      <p:sp>
        <p:nvSpPr>
          <p:cNvPr id="16" name="TextBox 15"/>
          <p:cNvSpPr txBox="1"/>
          <p:nvPr/>
        </p:nvSpPr>
        <p:spPr>
          <a:xfrm>
            <a:off x="1051560" y="5495544"/>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Knight Lab  ·  GAME  ·  ~30-45 min</a:t>
            </a:r>
          </a:p>
        </p:txBody>
      </p:sp>
      <p:sp>
        <p:nvSpPr>
          <p:cNvPr id="17" name="TextBox 16"/>
          <p:cNvSpPr txBox="1"/>
          <p:nvPr/>
        </p:nvSpPr>
        <p:spPr>
          <a:xfrm>
            <a:off x="1051560" y="5879592"/>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A free detective game, really SQL practice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