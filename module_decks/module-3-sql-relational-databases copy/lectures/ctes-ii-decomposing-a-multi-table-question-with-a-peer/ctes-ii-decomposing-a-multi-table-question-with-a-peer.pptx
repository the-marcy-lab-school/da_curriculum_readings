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Frame this as the real payoff of yesterday's single-CTE day — today's question genuinely needs more than one, and genuinely needs a partner to plan before typing.</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Read both out loud. Name explicitly: this is the project's own Q4 at full strength — a real multi-table question, not a single-table warm-up.</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Just names for now — a real 3-table question, and a real partner, are both coming up in a few minutes.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[~1 min mark] Keep this brisk.</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a couple of quick shout-outs. Online: drop one sentence in chat.</a:t>
            </a:r>
          </a:p>
          <a:p/>
          <a:p>
            <a:r>
              <a:t>[SCRIPT] Target idea: nothing. Same logic, same answer, both compute the identical result. A CTE only changes where that reasoning lives on the page.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that this is a code-along.</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this is the exact same 3-table shape the real NYC dataset actually has — restaurants, their inspections, and each inspection's own recorded violations.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Run it and confirm `INSERT 0 4`. Don't total anything up yet — that's the actual question coming next.</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State the actual question out loud: "for each restaurant, how many inspections has it had, and how many total violations across all of them?" Name explicitly why this is genuinely harder than yesterday — it needs counts at two different grains, joined across three tables.</a:t>
            </a:r>
          </a:p>
          <a:p/>
          <a:p>
            <a:r>
              <a:t>[MISCONCEPTIONS] Fellows sometimes assume more tables just means more JOINs bolted onto one query. The real skill here is deciding what to compute *first*, before deciding how to join it to everything else.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pairs work on paper or a shared whiteboard, 5 minutes. Online: pairs in breakout rooms, sketching in a shared doc or Jamboard, same 5 minutes.</a:t>
            </a:r>
          </a:p>
          <a:p/>
          <a:p>
            <a:r>
              <a:t>[SCRIPT] Circulate and listen for the real fork in approaches: some pairs will try to do it in one CTE, some will naturally split it into "violations per inspection" and "totals per restaurant." Both are worth surfacing before the reveal.</a:t>
            </a:r>
          </a:p>
          <a:p/>
          <a:p>
            <a:r>
              <a:t>[MISCONCEPTIONS] A pair that reaches for a single CTE joining all 3 tables at once will likely hit the same overcounting trap from earlier this module — violations and inspections both multiplying the row count if grouped together carelessly. Let them discover this, don't preempt it.</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this is the exact syntax upgrade from yesterday's single CTE. The comma between CTE definitions is doing the real work — it's what lets the second one reference the first.</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that this is a code-along.</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Run it: 4 rows, one per inspection, each with its own violation count. Name explicitly: this alone is real, valid SQL — the next slide references it by name instead of retyping it.</a:t>
            </a:r>
          </a:p>
          <a:p/>
          <a:p>
            <a:r>
              <a:t>[SCRIPT] Two syntax notes worth naming out loud. First: it's `COUNT(violation_id)`, not `COUNT(*)`. Under a LEFT JOIN, `COUNT(*)` would count 1 even for an inspection with zero violations, since the join still produces a row. Second: `USING (inspection_id)` is shorthand for `ON i.inspection_id = v.inspection_id`, and it works whenever both tables share the same column name.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Walk it top to bottom, matching each CTE to what a pair likely sketched: `violation_counts` answers "how many violations per inspection," `totals` answers the real question by rolling that up per restaurant. Run it and let the real numbers print — Corner Bistro leads with 3 violations across 3 inspections.</a:t>
            </a:r>
          </a:p>
          <a:p/>
          <a:p>
            <a:r>
              <a:t>[SCRIPT] Two more syntax notes. `COALESCE(SUM(nv), 0)` just means "if this would be NULL, use 0 instead." Without it, a restaurant with zero inspections would show a blank total instead of 0. [SCOPE] `COALESCE` gets its own proper treatment later this module; treat this as a preview. Also, `AS` before an alias is optional in Postgres, so `COUNT(...) ni` and `COUNT(...) AS ni` do the same thing.</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Confirm out loud, then connect back explicitly to the pairs' own sketches — however different their plan looked, a correct one lands on this exact same number.</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1</a:t>
            </a:r>
          </a:p>
          <a:p>
            <a:r>
              <a:t>Why: Green Leaf Cafe has exactly 1 inspection, and that inspection has exactly 1 recorded violation — `08A`, facility not vermin proof.</a:t>
            </a:r>
          </a:p>
          <a:p>
            <a:r>
              <a:t>Source: This lesson's own worked example, not an external citation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the real tradeoff: a single dense CTE isn't wrong, it's just harder to trust while writing it. Chaining gives you a real checkpoint — you can run `violation_counts` alone and verify it before ever writing the second step.</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turn and talk, 60 seconds. Online: drop a take in chat.</a:t>
            </a:r>
          </a:p>
          <a:p/>
          <a:p>
            <a:r>
              <a:t>[SCRIPT] Target idea: a single CTE joining all 3 tables at once would genuinely risk the same overcounting trap from earlier this module — violations and inspections multiplying together if grouped carelessly. Chaining isn't just a style preference here; it's what keeps each aggregation step honest before the next one runs.</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the project's own rubric grades whether a CTE "genuinely improves readability" — today's whole lesson is proof that the real test of that claim only shows up once a question actually spans multiple tables, not on a single-table warm-up.</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Use Query Walkthrough Method — Understand, Plan, Write, Explain, Validate. This is explicitly a live/whiteboard-style SQL question, the exact scenario this framework is built for.</a:t>
            </a:r>
          </a:p>
          <a:p/>
          <a:p>
            <a:r>
              <a:t>[SCRIPT] Have a Fellow attempt this cold first — the goal is naming the actual *process*, not describing CTEs in the abstract.</a:t>
            </a:r>
          </a:p>
          <a:p/>
          <a:p/>
          <a:p>
            <a:r>
              <a:t>Short answers:</a:t>
            </a:r>
          </a:p>
          <a:p/>
          <a:p>
            <a:r>
              <a:t>Q: How would you approach a business question that needs data from 3 or more tables?</a:t>
            </a:r>
          </a:p>
          <a:p>
            <a:r>
              <a:t>A: Understand the business question first — clarify exactly what's being asked before touching SQL. Plan the approach in plain language: which tables are involved, and what does each intermediate step actually compute? Write the query as a sequence of named CTEs, one per logical step, rather than one dense nested statement. Explain each CTE's purpose as you go. Validate the final result against a small, hand-checked sample before trusting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Quick round-trip through both terms — this is exactly the vocabulary the project's own Q4 expects you to use correctly, on a real multi-table question of your own.</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Close by naming the shift ahead: next class covers window functions, the module's next real syntax upgrade. Name the project tie explicitly: your own project's Q4 will ask you to do exactly today's kind of planning, alone, on a schema you design yourself.</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Give a specific heads-up: next class's window-function demo builds on today's own `violations` table — don't drop `nyc_restaurants`.</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Point out the GeeksforGeeks link specifically — it covers real multi-CTE chaining beyond today's 2-CTE example.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hyperlink" Target="https://www.postgresql.org/docs/current/queries-with.html" TargetMode="External"/><Relationship Id="rId5" Type="http://schemas.openxmlformats.org/officeDocument/2006/relationships/image" Target="../media/image15.png"/><Relationship Id="rId6" Type="http://schemas.openxmlformats.org/officeDocument/2006/relationships/hyperlink" Target="https://www.geeksforgeeks.org/sql/cte-in-sql/" TargetMode="External"/><Relationship Id="rId7" Type="http://schemas.openxmlformats.org/officeDocument/2006/relationships/image" Target="../media/image16.png"/><Relationship Id="rId8" Type="http://schemas.openxmlformats.org/officeDocument/2006/relationships/hyperlink" Target="https://sqlbolt.com/" TargetMode="External"/><Relationship Id="rId9"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320040"/>
            <a:ext cx="11094415" cy="274320"/>
          </a:xfrm>
          <a:prstGeom prst="rect">
            <a:avLst/>
          </a:prstGeom>
          <a:noFill/>
        </p:spPr>
        <p:txBody>
          <a:bodyPr wrap="square" anchor="t" lIns="0" rIns="0" tIns="0" bIns="0">
            <a:noAutofit/>
          </a:bodyPr>
          <a:lstStyle/>
          <a:p>
            <a:pPr algn="l"/>
            <a:r>
              <a:rPr sz="2600" b="1" i="0" u="none">
                <a:solidFill>
                  <a:srgbClr val="FFFCF7"/>
                </a:solidFill>
                <a:latin typeface="Helvetica"/>
              </a:rPr>
              <a:t>THE MARCY LAB SCHOOL</a:t>
            </a:r>
          </a:p>
        </p:txBody>
      </p:sp>
      <p:sp>
        <p:nvSpPr>
          <p:cNvPr id="4" name="Rectangle 3"/>
          <p:cNvSpPr/>
          <p:nvPr/>
        </p:nvSpPr>
        <p:spPr>
          <a:xfrm>
            <a:off x="0" y="6748272"/>
            <a:ext cx="8534186" cy="54864"/>
          </a:xfrm>
          <a:prstGeom prst="rect">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286000"/>
            <a:ext cx="11094415" cy="1463040"/>
          </a:xfrm>
          <a:prstGeom prst="rect">
            <a:avLst/>
          </a:prstGeom>
          <a:noFill/>
        </p:spPr>
        <p:txBody>
          <a:bodyPr wrap="square" anchor="b" lIns="0" rIns="0" tIns="0" bIns="0">
            <a:noAutofit/>
          </a:bodyPr>
          <a:lstStyle/>
          <a:p>
            <a:pPr algn="l"/>
            <a:r>
              <a:rPr sz="4000" b="1" i="0" u="none">
                <a:solidFill>
                  <a:srgbClr val="EEBC32"/>
                </a:solidFill>
                <a:latin typeface="Helvetica"/>
              </a:rPr>
              <a:t>CTEs II</a:t>
            </a:r>
          </a:p>
        </p:txBody>
      </p:sp>
      <p:sp>
        <p:nvSpPr>
          <p:cNvPr id="6" name="TextBox 5"/>
          <p:cNvSpPr txBox="1"/>
          <p:nvPr/>
        </p:nvSpPr>
        <p:spPr>
          <a:xfrm>
            <a:off x="548640" y="5943600"/>
            <a:ext cx="8229600" cy="457200"/>
          </a:xfrm>
          <a:prstGeom prst="rect">
            <a:avLst/>
          </a:prstGeom>
          <a:noFill/>
        </p:spPr>
        <p:txBody>
          <a:bodyPr wrap="square" anchor="t" lIns="0" rIns="0" tIns="0" bIns="0">
            <a:noAutofit/>
          </a:bodyPr>
          <a:lstStyle/>
          <a:p>
            <a:pPr algn="l"/>
            <a:r>
              <a:rPr sz="2600" b="0" i="0" u="none">
                <a:solidFill>
                  <a:srgbClr val="FFFCF7"/>
                </a:solidFill>
                <a:latin typeface="Helvetica"/>
              </a:rPr>
              <a:t>Module 3: SQL &amp; Relational Databases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By the End of Today, You'll Be Able To...</a:t>
            </a:r>
          </a:p>
        </p:txBody>
      </p:sp>
      <p:sp>
        <p:nvSpPr>
          <p:cNvPr id="4" name="Rounded Rectangle 3"/>
          <p:cNvSpPr/>
          <p:nvPr/>
        </p:nvSpPr>
        <p:spPr>
          <a:xfrm>
            <a:off x="548640" y="2468880"/>
            <a:ext cx="543290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990774" y="2697480"/>
            <a:ext cx="548640" cy="548640"/>
          </a:xfrm>
          <a:prstGeom prst="rect">
            <a:avLst/>
          </a:prstGeom>
        </p:spPr>
      </p:pic>
      <p:sp>
        <p:nvSpPr>
          <p:cNvPr id="6" name="TextBox 5"/>
          <p:cNvSpPr txBox="1"/>
          <p:nvPr/>
        </p:nvSpPr>
        <p:spPr>
          <a:xfrm>
            <a:off x="685800" y="3429000"/>
            <a:ext cx="5158588" cy="1463040"/>
          </a:xfrm>
          <a:prstGeom prst="rect">
            <a:avLst/>
          </a:prstGeom>
          <a:noFill/>
        </p:spPr>
        <p:txBody>
          <a:bodyPr wrap="square" anchor="t" lIns="0" rIns="0" tIns="0" bIns="0">
            <a:noAutofit/>
          </a:bodyPr>
          <a:lstStyle/>
          <a:p>
            <a:pPr algn="ctr"/>
            <a:r>
              <a:rPr sz="2600" b="1" i="0" u="none">
                <a:solidFill>
                  <a:srgbClr val="261F1D"/>
                </a:solidFill>
                <a:latin typeface="Helvetica"/>
              </a:rPr>
              <a:t>Plan a 3-table query with a partner</a:t>
            </a:r>
          </a:p>
        </p:txBody>
      </p:sp>
      <p:sp>
        <p:nvSpPr>
          <p:cNvPr id="7" name="Rounded Rectangle 6"/>
          <p:cNvSpPr/>
          <p:nvPr/>
        </p:nvSpPr>
        <p:spPr>
          <a:xfrm>
            <a:off x="6210148" y="2468880"/>
            <a:ext cx="543290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8652281" y="2697480"/>
            <a:ext cx="548640" cy="548640"/>
          </a:xfrm>
          <a:prstGeom prst="rect">
            <a:avLst/>
          </a:prstGeom>
        </p:spPr>
      </p:pic>
      <p:sp>
        <p:nvSpPr>
          <p:cNvPr id="9" name="TextBox 8"/>
          <p:cNvSpPr txBox="1"/>
          <p:nvPr/>
        </p:nvSpPr>
        <p:spPr>
          <a:xfrm>
            <a:off x="6347308" y="3429000"/>
            <a:ext cx="5158588" cy="1463040"/>
          </a:xfrm>
          <a:prstGeom prst="rect">
            <a:avLst/>
          </a:prstGeom>
          <a:noFill/>
        </p:spPr>
        <p:txBody>
          <a:bodyPr wrap="square" anchor="t" lIns="0" rIns="0" tIns="0" bIns="0">
            <a:noAutofit/>
          </a:bodyPr>
          <a:lstStyle/>
          <a:p>
            <a:pPr algn="ctr"/>
            <a:r>
              <a:rPr sz="2600" b="1" i="0" u="none">
                <a:solidFill>
                  <a:srgbClr val="261F1D"/>
                </a:solidFill>
                <a:latin typeface="Helvetica"/>
              </a:rPr>
              <a:t>Chain two CTEs in one query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You'll Know by the End of Today</a:t>
            </a:r>
          </a:p>
        </p:txBody>
      </p:sp>
      <p:sp>
        <p:nvSpPr>
          <p:cNvPr id="4" name="Rounded Rectangle 3"/>
          <p:cNvSpPr/>
          <p:nvPr/>
        </p:nvSpPr>
        <p:spPr>
          <a:xfrm>
            <a:off x="548640" y="2468880"/>
            <a:ext cx="543290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990774" y="2697480"/>
            <a:ext cx="548640" cy="548640"/>
          </a:xfrm>
          <a:prstGeom prst="rect">
            <a:avLst/>
          </a:prstGeom>
        </p:spPr>
      </p:pic>
      <p:sp>
        <p:nvSpPr>
          <p:cNvPr id="6" name="TextBox 5"/>
          <p:cNvSpPr txBox="1"/>
          <p:nvPr/>
        </p:nvSpPr>
        <p:spPr>
          <a:xfrm>
            <a:off x="685800" y="3429000"/>
            <a:ext cx="5158588" cy="1463040"/>
          </a:xfrm>
          <a:prstGeom prst="rect">
            <a:avLst/>
          </a:prstGeom>
          <a:noFill/>
        </p:spPr>
        <p:txBody>
          <a:bodyPr wrap="square" anchor="t" lIns="0" rIns="0" tIns="0" bIns="0">
            <a:noAutofit/>
          </a:bodyPr>
          <a:lstStyle/>
          <a:p>
            <a:pPr algn="ctr"/>
            <a:r>
              <a:rPr sz="2600" b="1" i="0" u="none">
                <a:solidFill>
                  <a:srgbClr val="261F1D"/>
                </a:solidFill>
                <a:latin typeface="Helvetica"/>
              </a:rPr>
              <a:t>Chained CTE</a:t>
            </a:r>
          </a:p>
        </p:txBody>
      </p:sp>
      <p:sp>
        <p:nvSpPr>
          <p:cNvPr id="7" name="Rounded Rectangle 6"/>
          <p:cNvSpPr/>
          <p:nvPr/>
        </p:nvSpPr>
        <p:spPr>
          <a:xfrm>
            <a:off x="6210148" y="2468880"/>
            <a:ext cx="543290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8652281" y="2697480"/>
            <a:ext cx="548640" cy="548640"/>
          </a:xfrm>
          <a:prstGeom prst="rect">
            <a:avLst/>
          </a:prstGeom>
        </p:spPr>
      </p:pic>
      <p:sp>
        <p:nvSpPr>
          <p:cNvPr id="9" name="TextBox 8"/>
          <p:cNvSpPr txBox="1"/>
          <p:nvPr/>
        </p:nvSpPr>
        <p:spPr>
          <a:xfrm>
            <a:off x="6347308" y="3429000"/>
            <a:ext cx="5158588" cy="1463040"/>
          </a:xfrm>
          <a:prstGeom prst="rect">
            <a:avLst/>
          </a:prstGeom>
          <a:noFill/>
        </p:spPr>
        <p:txBody>
          <a:bodyPr wrap="square" anchor="t" lIns="0" rIns="0" tIns="0" bIns="0">
            <a:noAutofit/>
          </a:bodyPr>
          <a:lstStyle/>
          <a:p>
            <a:pPr algn="ctr"/>
            <a:r>
              <a:rPr sz="2600" b="1" i="0" u="none">
                <a:solidFill>
                  <a:srgbClr val="261F1D"/>
                </a:solidFill>
                <a:latin typeface="Helvetica"/>
              </a:rPr>
              <a:t>Decomposition plan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Yesterday's One CTE</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One Quick Check</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A fast recall check before today's question needs two.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TURN AND TALK</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Quick recall: What's the actual difference between a subquery and a CTE — in terms of what each one computes?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Still Solid</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A Third Table Joins the Database</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One level deeper than inspections — real violations, per inspection.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A Third Table: Violations, Per Inspection</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0">
                <a:solidFill>
                  <a:srgbClr val="EEBC32"/>
                </a:solidFill>
                <a:latin typeface="Roboto Mono"/>
              </a:rPr>
              <a:t>CREATE</a:t>
            </a:r>
            <a:r>
              <a:rPr sz="2600" i="0">
                <a:solidFill>
                  <a:srgbClr val="FFFCF7"/>
                </a:solidFill>
                <a:latin typeface="Roboto Mono"/>
              </a:rPr>
              <a:t> </a:t>
            </a:r>
            <a:r>
              <a:rPr sz="2600" i="0">
                <a:solidFill>
                  <a:srgbClr val="EEBC32"/>
                </a:solidFill>
                <a:latin typeface="Roboto Mono"/>
              </a:rPr>
              <a:t>TABLE</a:t>
            </a:r>
            <a:r>
              <a:rPr sz="2600" i="0">
                <a:solidFill>
                  <a:srgbClr val="FFFCF7"/>
                </a:solidFill>
                <a:latin typeface="Roboto Mono"/>
              </a:rPr>
              <a:t> </a:t>
            </a:r>
            <a:r>
              <a:rPr sz="2600" i="0">
                <a:solidFill>
                  <a:srgbClr val="FFFCF7"/>
                </a:solidFill>
                <a:latin typeface="Roboto Mono"/>
              </a:rPr>
              <a:t>violations</a:t>
            </a:r>
            <a:r>
              <a:rPr sz="2600" i="0">
                <a:solidFill>
                  <a:srgbClr val="FFFCF7"/>
                </a:solidFill>
                <a:latin typeface="Roboto Mono"/>
              </a:rPr>
              <a:t> </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  </a:t>
            </a:r>
            <a:r>
              <a:rPr sz="2600" i="0">
                <a:solidFill>
                  <a:srgbClr val="FFFCF7"/>
                </a:solidFill>
                <a:latin typeface="Roboto Mono"/>
              </a:rPr>
              <a:t>violation_id</a:t>
            </a:r>
            <a:r>
              <a:rPr sz="2600" i="0">
                <a:solidFill>
                  <a:srgbClr val="FFFCF7"/>
                </a:solidFill>
                <a:latin typeface="Roboto Mono"/>
              </a:rPr>
              <a:t> </a:t>
            </a:r>
            <a:r>
              <a:rPr sz="2600" i="0">
                <a:solidFill>
                  <a:srgbClr val="5996C7"/>
                </a:solidFill>
                <a:latin typeface="Roboto Mono"/>
              </a:rPr>
              <a:t>INT</a:t>
            </a:r>
            <a:r>
              <a:rPr sz="2600" i="0">
                <a:solidFill>
                  <a:srgbClr val="FFFCF7"/>
                </a:solidFill>
                <a:latin typeface="Roboto Mono"/>
              </a:rPr>
              <a:t> </a:t>
            </a:r>
            <a:r>
              <a:rPr sz="2600" i="0">
                <a:solidFill>
                  <a:srgbClr val="EEBC32"/>
                </a:solidFill>
                <a:latin typeface="Roboto Mono"/>
              </a:rPr>
              <a:t>PRIMARY</a:t>
            </a:r>
            <a:r>
              <a:rPr sz="2600" i="0">
                <a:solidFill>
                  <a:srgbClr val="FFFCF7"/>
                </a:solidFill>
                <a:latin typeface="Roboto Mono"/>
              </a:rPr>
              <a:t> </a:t>
            </a:r>
            <a:r>
              <a:rPr sz="2600" i="0">
                <a:solidFill>
                  <a:srgbClr val="EEBC32"/>
                </a:solidFill>
                <a:latin typeface="Roboto Mono"/>
              </a:rPr>
              <a:t>KEY</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  </a:t>
            </a:r>
            <a:r>
              <a:rPr sz="2600" i="0">
                <a:solidFill>
                  <a:srgbClr val="FFFCF7"/>
                </a:solidFill>
                <a:latin typeface="Roboto Mono"/>
              </a:rPr>
              <a:t>inspection_id</a:t>
            </a:r>
            <a:r>
              <a:rPr sz="2600" i="0">
                <a:solidFill>
                  <a:srgbClr val="FFFCF7"/>
                </a:solidFill>
                <a:latin typeface="Roboto Mono"/>
              </a:rPr>
              <a:t> </a:t>
            </a:r>
            <a:r>
              <a:rPr sz="2600" i="0">
                <a:solidFill>
                  <a:srgbClr val="5996C7"/>
                </a:solidFill>
                <a:latin typeface="Roboto Mono"/>
              </a:rPr>
              <a:t>INT</a:t>
            </a:r>
            <a:r>
              <a:rPr sz="2600" i="0">
                <a:solidFill>
                  <a:srgbClr val="FFFCF7"/>
                </a:solidFill>
                <a:latin typeface="Roboto Mono"/>
              </a:rPr>
              <a:t> </a:t>
            </a:r>
            <a:r>
              <a:rPr sz="2600" i="0">
                <a:solidFill>
                  <a:srgbClr val="EEBC32"/>
                </a:solidFill>
                <a:latin typeface="Roboto Mono"/>
              </a:rPr>
              <a:t>REFERENCES</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  </a:t>
            </a:r>
            <a:r>
              <a:rPr sz="2600" i="0">
                <a:solidFill>
                  <a:srgbClr val="FFFCF7"/>
                </a:solidFill>
                <a:latin typeface="Roboto Mono"/>
              </a:rPr>
              <a:t>violation_code</a:t>
            </a:r>
            <a:r>
              <a:rPr sz="2600" i="0">
                <a:solidFill>
                  <a:srgbClr val="FFFCF7"/>
                </a:solidFill>
                <a:latin typeface="Roboto Mono"/>
              </a:rPr>
              <a:t> </a:t>
            </a:r>
            <a:r>
              <a:rPr sz="2600" i="0">
                <a:solidFill>
                  <a:srgbClr val="5996C7"/>
                </a:solidFill>
                <a:latin typeface="Roboto Mono"/>
              </a:rPr>
              <a:t>TEXT</a:t>
            </a:r>
            <a:r>
              <a:rPr sz="2600" i="0">
                <a:solidFill>
                  <a:srgbClr val="FFFCF7"/>
                </a:solidFill>
                <a:latin typeface="Roboto Mono"/>
              </a:rPr>
              <a:t> </a:t>
            </a:r>
            <a:r>
              <a:rPr sz="2600" i="0">
                <a:solidFill>
                  <a:srgbClr val="EEBC32"/>
                </a:solidFill>
                <a:latin typeface="Roboto Mono"/>
              </a:rPr>
              <a:t>NOT</a:t>
            </a:r>
            <a:r>
              <a:rPr sz="2600" i="0">
                <a:solidFill>
                  <a:srgbClr val="FFFCF7"/>
                </a:solidFill>
                <a:latin typeface="Roboto Mono"/>
              </a:rPr>
              <a:t> </a:t>
            </a:r>
            <a:r>
              <a:rPr sz="2600" i="0">
                <a:solidFill>
                  <a:srgbClr val="EEBC32"/>
                </a:solidFill>
                <a:latin typeface="Roboto Mono"/>
              </a:rPr>
              <a:t>NULL</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  </a:t>
            </a:r>
            <a:r>
              <a:rPr sz="2600" i="0">
                <a:solidFill>
                  <a:srgbClr val="FFFCF7"/>
                </a:solidFill>
                <a:latin typeface="Roboto Mono"/>
              </a:rPr>
              <a:t>violation_description</a:t>
            </a:r>
            <a:r>
              <a:rPr sz="2600" i="0">
                <a:solidFill>
                  <a:srgbClr val="FFFCF7"/>
                </a:solidFill>
                <a:latin typeface="Roboto Mono"/>
              </a:rPr>
              <a:t> </a:t>
            </a:r>
            <a:r>
              <a:rPr sz="2600" i="0">
                <a:solidFill>
                  <a:srgbClr val="5996C7"/>
                </a:solidFill>
                <a:latin typeface="Roboto Mono"/>
              </a:rPr>
              <a:t>TEXT</a:t>
            </a:r>
            <a:r>
              <a:rPr sz="2600" i="0">
                <a:solidFill>
                  <a:srgbClr val="FFFCF7"/>
                </a:solidFill>
                <a:latin typeface="Roboto Mono"/>
              </a:rPr>
              <a:t> </a:t>
            </a:r>
            <a:r>
              <a:rPr sz="2600" i="0">
                <a:solidFill>
                  <a:srgbClr val="EEBC32"/>
                </a:solidFill>
                <a:latin typeface="Roboto Mono"/>
              </a:rPr>
              <a:t>NOT</a:t>
            </a:r>
            <a:r>
              <a:rPr sz="2600" i="0">
                <a:solidFill>
                  <a:srgbClr val="FFFCF7"/>
                </a:solidFill>
                <a:latin typeface="Roboto Mono"/>
              </a:rPr>
              <a:t> </a:t>
            </a:r>
            <a:r>
              <a:rPr sz="2600" i="0">
                <a:solidFill>
                  <a:srgbClr val="EEBC32"/>
                </a:solidFill>
                <a:latin typeface="Roboto Mono"/>
              </a:rPr>
              <a:t>NULL</a:t>
            </a:r>
          </a:p>
          <a:p>
            <a:pPr>
              <a:lnSpc>
                <a:spcPct val="120000"/>
              </a:lnSpc>
              <a:defRPr sz="2600">
                <a:latin typeface="Roboto Mono"/>
              </a:defRPr>
            </a:pP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Adding Real Violation Records</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0">
                <a:solidFill>
                  <a:srgbClr val="EEBC32"/>
                </a:solidFill>
                <a:latin typeface="Roboto Mono"/>
              </a:rPr>
              <a:t>INSERT</a:t>
            </a:r>
            <a:r>
              <a:rPr sz="2600" i="0">
                <a:solidFill>
                  <a:srgbClr val="FFFCF7"/>
                </a:solidFill>
                <a:latin typeface="Roboto Mono"/>
              </a:rPr>
              <a:t> </a:t>
            </a:r>
            <a:r>
              <a:rPr sz="2600" i="0">
                <a:solidFill>
                  <a:srgbClr val="EEBC32"/>
                </a:solidFill>
                <a:latin typeface="Roboto Mono"/>
              </a:rPr>
              <a:t>INTO</a:t>
            </a:r>
            <a:r>
              <a:rPr sz="2600" i="0">
                <a:solidFill>
                  <a:srgbClr val="FFFCF7"/>
                </a:solidFill>
                <a:latin typeface="Roboto Mono"/>
              </a:rPr>
              <a:t> </a:t>
            </a:r>
            <a:r>
              <a:rPr sz="2600" i="0">
                <a:solidFill>
                  <a:srgbClr val="FFFCF7"/>
                </a:solidFill>
                <a:latin typeface="Roboto Mono"/>
              </a:rPr>
              <a:t>violations</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violation_id</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inspection_id</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violation_code</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violation_description</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VALUES</a:t>
            </a:r>
          </a:p>
          <a:p>
            <a:pPr>
              <a:lnSpc>
                <a:spcPct val="120000"/>
              </a:lnSpc>
              <a:defRPr sz="2600">
                <a:latin typeface="Roboto Mono"/>
              </a:defRPr>
            </a:pPr>
            <a:r>
              <a:rPr sz="2600" i="0">
                <a:solidFill>
                  <a:srgbClr val="FFFCF7"/>
                </a:solidFill>
                <a:latin typeface="Roboto Mono"/>
              </a:rPr>
              <a:t>  </a:t>
            </a:r>
            <a:r>
              <a:rPr sz="2600" i="0">
                <a:solidFill>
                  <a:srgbClr val="FFFCF7"/>
                </a:solidFill>
                <a:latin typeface="Roboto Mono"/>
              </a:rPr>
              <a:t>(</a:t>
            </a:r>
            <a:r>
              <a:rPr sz="2600" i="0">
                <a:solidFill>
                  <a:srgbClr val="659B87"/>
                </a:solidFill>
                <a:latin typeface="Roboto Mono"/>
              </a:rPr>
              <a:t>1</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1</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'04L'</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'Evidence of mice'</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  </a:t>
            </a:r>
            <a:r>
              <a:rPr sz="2600" i="0">
                <a:solidFill>
                  <a:srgbClr val="FFFCF7"/>
                </a:solidFill>
                <a:latin typeface="Roboto Mono"/>
              </a:rPr>
              <a:t>(</a:t>
            </a:r>
            <a:r>
              <a:rPr sz="2600" i="0">
                <a:solidFill>
                  <a:srgbClr val="659B87"/>
                </a:solidFill>
                <a:latin typeface="Roboto Mono"/>
              </a:rPr>
              <a:t>2</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1</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'02G'</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'Cold food held above 41F'</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  </a:t>
            </a:r>
            <a:r>
              <a:rPr sz="2600" i="0">
                <a:solidFill>
                  <a:srgbClr val="FFFCF7"/>
                </a:solidFill>
                <a:latin typeface="Roboto Mono"/>
              </a:rPr>
              <a:t>(</a:t>
            </a:r>
            <a:r>
              <a:rPr sz="2600" i="0">
                <a:solidFill>
                  <a:srgbClr val="659B87"/>
                </a:solidFill>
                <a:latin typeface="Roboto Mono"/>
              </a:rPr>
              <a:t>3</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2</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'08A'</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'Facility not vermin proof'</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  </a:t>
            </a:r>
            <a:r>
              <a:rPr sz="2600" i="0">
                <a:solidFill>
                  <a:srgbClr val="FFFCF7"/>
                </a:solidFill>
                <a:latin typeface="Roboto Mono"/>
              </a:rPr>
              <a:t>(</a:t>
            </a:r>
            <a:r>
              <a:rPr sz="2600" i="0">
                <a:solidFill>
                  <a:srgbClr val="659B87"/>
                </a:solidFill>
                <a:latin typeface="Roboto Mono"/>
              </a:rPr>
              <a:t>4</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3</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'10F'</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'Non-food surface improperly built'</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For Each Restaurant: Inspections AND Violations</a:t>
            </a:r>
          </a:p>
        </p:txBody>
      </p:sp>
      <p:sp>
        <p:nvSpPr>
          <p:cNvPr id="4" name="TextBox 3"/>
          <p:cNvSpPr txBox="1"/>
          <p:nvPr/>
        </p:nvSpPr>
        <p:spPr>
          <a:xfrm>
            <a:off x="548640" y="1188720"/>
            <a:ext cx="670529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Spans all 3 tables at once</a:t>
            </a:r>
          </a:p>
          <a:p>
            <a:pPr>
              <a:spcAft>
                <a:spcPts val="1000"/>
              </a:spcAft>
            </a:pPr>
            <a:r>
              <a:rPr sz="2600">
                <a:solidFill>
                  <a:srgbClr val="261F1D"/>
                </a:solidFill>
                <a:latin typeface="Helvetica"/>
              </a:rPr>
              <a:t>•  </a:t>
            </a:r>
            <a:r>
              <a:rPr sz="2600" b="0" i="0" u="none">
                <a:solidFill>
                  <a:srgbClr val="261F1D"/>
                </a:solidFill>
                <a:latin typeface="Helvetica"/>
              </a:rPr>
              <a:t>Two counts, two different levels</a:t>
            </a:r>
          </a:p>
          <a:p>
            <a:pPr>
              <a:spcAft>
                <a:spcPts val="1000"/>
              </a:spcAft>
            </a:pPr>
            <a:r>
              <a:rPr sz="2600">
                <a:solidFill>
                  <a:srgbClr val="261F1D"/>
                </a:solidFill>
                <a:latin typeface="Helvetica"/>
              </a:rPr>
              <a:t>•  </a:t>
            </a:r>
            <a:r>
              <a:rPr sz="2600" b="0" i="0" u="none">
                <a:solidFill>
                  <a:srgbClr val="261F1D"/>
                </a:solidFill>
                <a:latin typeface="Helvetica"/>
              </a:rPr>
              <a:t>A real question, not a drill</a:t>
            </a:r>
          </a:p>
        </p:txBody>
      </p:sp>
      <p:sp>
        <p:nvSpPr>
          <p:cNvPr id="5" name="Oval 4"/>
          <p:cNvSpPr/>
          <p:nvPr/>
        </p:nvSpPr>
        <p:spPr>
          <a:xfrm>
            <a:off x="8532266" y="2581351"/>
            <a:ext cx="2381098" cy="2381098"/>
          </a:xfrm>
          <a:prstGeom prst="ellipse">
            <a:avLst/>
          </a:prstGeom>
          <a:solidFill>
            <a:srgbClr val="FECC5B"/>
          </a:solidFill>
          <a:ln w="50800">
            <a:solidFill>
              <a:srgbClr val="83671C"/>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3176626"/>
            <a:ext cx="1190549" cy="119054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ADD TO THE BOARD</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With a partner: Sketch a decomposition plan (a plain-language, step-by-step approach, decided before writing any SQL) for "each restaurant's total inspections and total violations." Name each CTE you'd use and what it computes.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Chaining CTEs: One WITH, Two Names</a:t>
            </a:r>
          </a:p>
        </p:txBody>
      </p:sp>
      <p:sp>
        <p:nvSpPr>
          <p:cNvPr id="4" name="TextBox 3"/>
          <p:cNvSpPr txBox="1"/>
          <p:nvPr/>
        </p:nvSpPr>
        <p:spPr>
          <a:xfrm>
            <a:off x="548640" y="1188720"/>
            <a:ext cx="6705295" cy="31445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WITH a AS (...), b AS (...)</a:t>
            </a:r>
          </a:p>
          <a:p>
            <a:pPr>
              <a:spcAft>
                <a:spcPts val="1000"/>
              </a:spcAft>
            </a:pPr>
            <a:r>
              <a:rPr sz="2600">
                <a:solidFill>
                  <a:srgbClr val="261F1D"/>
                </a:solidFill>
                <a:latin typeface="Helvetica"/>
              </a:rPr>
              <a:t>•  </a:t>
            </a:r>
            <a:r>
              <a:rPr sz="2600" b="0" i="0" u="none">
                <a:solidFill>
                  <a:srgbClr val="261F1D"/>
                </a:solidFill>
                <a:latin typeface="Helvetica"/>
              </a:rPr>
              <a:t>b can reference a</a:t>
            </a:r>
          </a:p>
          <a:p>
            <a:pPr>
              <a:spcAft>
                <a:spcPts val="1000"/>
              </a:spcAft>
            </a:pPr>
            <a:r>
              <a:rPr sz="2600">
                <a:solidFill>
                  <a:srgbClr val="261F1D"/>
                </a:solidFill>
                <a:latin typeface="Helvetica"/>
              </a:rPr>
              <a:t>•  </a:t>
            </a:r>
            <a:r>
              <a:rPr sz="2600" b="0" i="0" u="none">
                <a:solidFill>
                  <a:srgbClr val="261F1D"/>
                </a:solidFill>
                <a:latin typeface="Helvetica"/>
              </a:rPr>
              <a:t>Each one builds on the last</a:t>
            </a:r>
          </a:p>
        </p:txBody>
      </p:sp>
      <p:sp>
        <p:nvSpPr>
          <p:cNvPr id="5" name="Oval 4"/>
          <p:cNvSpPr/>
          <p:nvPr/>
        </p:nvSpPr>
        <p:spPr>
          <a:xfrm>
            <a:off x="8733841" y="1794866"/>
            <a:ext cx="1977949" cy="1977949"/>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228328" y="2289353"/>
            <a:ext cx="988974" cy="988974"/>
          </a:xfrm>
          <a:prstGeom prst="rect">
            <a:avLst/>
          </a:prstGeom>
        </p:spPr>
      </p:pic>
      <p:sp>
        <p:nvSpPr>
          <p:cNvPr id="7" name="Rounded Rectangle 6"/>
          <p:cNvSpPr/>
          <p:nvPr/>
        </p:nvSpPr>
        <p:spPr>
          <a:xfrm>
            <a:off x="548640" y="4516120"/>
            <a:ext cx="11094415" cy="18389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516120"/>
            <a:ext cx="10637215" cy="18389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Like planning a trip in stages — book the flight first, then the hotel that depends on your arrival date. Each stage can lean on the one before it, instead of solving the whole trip in one tangled step.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The Plan</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The Real, Chained Solution</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Compare this to what your pair sketched.</a:t>
            </a:r>
          </a:p>
        </p:txBody>
      </p:sp>
      <p:pic>
        <p:nvPicPr>
          <p:cNvPr id="6" name="Picture 5" descr=""/>
          <p:cNvPicPr>
            <a:picLocks noChangeAspect="1"/>
          </p:cNvPicPr>
          <p:nvPr/>
        </p:nvPicPr>
        <p:blipFill>
          <a:blip r:embed="rId3"/>
          <a:stretch>
            <a:fillRect/>
          </a:stretch>
        </p:blipFill>
        <p:spPr>
          <a:xfrm>
            <a:off x="3093644" y="4937760"/>
            <a:ext cx="457200" cy="457200"/>
          </a:xfrm>
          <a:prstGeom prst="rect">
            <a:avLst/>
          </a:prstGeom>
        </p:spPr>
      </p:pic>
      <p:sp>
        <p:nvSpPr>
          <p:cNvPr id="7" name="TextBox 6"/>
          <p:cNvSpPr txBox="1"/>
          <p:nvPr/>
        </p:nvSpPr>
        <p:spPr>
          <a:xfrm>
            <a:off x="685800"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Violations Per Inspection</a:t>
            </a:r>
          </a:p>
        </p:txBody>
      </p:sp>
      <p:pic>
        <p:nvPicPr>
          <p:cNvPr id="8" name="Picture 7" descr=""/>
          <p:cNvPicPr>
            <a:picLocks noChangeAspect="1"/>
          </p:cNvPicPr>
          <p:nvPr/>
        </p:nvPicPr>
        <p:blipFill>
          <a:blip r:embed="rId4"/>
          <a:stretch>
            <a:fillRect/>
          </a:stretch>
        </p:blipFill>
        <p:spPr>
          <a:xfrm>
            <a:off x="8640851" y="4937760"/>
            <a:ext cx="457200" cy="457200"/>
          </a:xfrm>
          <a:prstGeom prst="rect">
            <a:avLst/>
          </a:prstGeom>
        </p:spPr>
      </p:pic>
      <p:sp>
        <p:nvSpPr>
          <p:cNvPr id="9" name="TextBox 8"/>
          <p:cNvSpPr txBox="1"/>
          <p:nvPr/>
        </p:nvSpPr>
        <p:spPr>
          <a:xfrm>
            <a:off x="6233008"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Totals Per Restaurant</a:t>
            </a:r>
          </a:p>
        </p:txBody>
      </p:sp>
      <p:cxnSp>
        <p:nvCxnSpPr>
          <p:cNvPr id="10" name="Connector 9"/>
          <p:cNvCxnSpPr/>
          <p:nvPr/>
        </p:nvCxnSpPr>
        <p:spPr>
          <a:xfrm>
            <a:off x="6095848" y="4937760"/>
            <a:ext cx="0" cy="1188720"/>
          </a:xfrm>
          <a:prstGeom prst="line">
            <a:avLst/>
          </a:prstGeom>
          <a:ln w="19050">
            <a:solidFill>
              <a:srgbClr val="B3BBB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Step 1: Violations Per Inspection</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0">
                <a:solidFill>
                  <a:srgbClr val="EEBC32"/>
                </a:solidFill>
                <a:latin typeface="Roboto Mono"/>
              </a:rPr>
              <a:t>WITH</a:t>
            </a:r>
            <a:r>
              <a:rPr sz="2600" i="0">
                <a:solidFill>
                  <a:srgbClr val="FFFCF7"/>
                </a:solidFill>
                <a:latin typeface="Roboto Mono"/>
              </a:rPr>
              <a:t> </a:t>
            </a:r>
            <a:r>
              <a:rPr sz="2600" i="0">
                <a:solidFill>
                  <a:srgbClr val="FFFCF7"/>
                </a:solidFill>
                <a:latin typeface="Roboto Mono"/>
              </a:rPr>
              <a:t>violation_counts</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  </a:t>
            </a: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i</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i</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v</a:t>
            </a:r>
            <a:r>
              <a:rPr sz="2600" i="0">
                <a:solidFill>
                  <a:srgbClr val="FFFCF7"/>
                </a:solidFill>
                <a:latin typeface="Roboto Mono"/>
              </a:rPr>
              <a:t>.</a:t>
            </a:r>
            <a:r>
              <a:rPr sz="2600" i="0">
                <a:solidFill>
                  <a:srgbClr val="FFFCF7"/>
                </a:solidFill>
                <a:latin typeface="Roboto Mono"/>
              </a:rPr>
              <a:t>violation_id</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nv</a:t>
            </a:r>
          </a:p>
          <a:p>
            <a:pPr>
              <a:lnSpc>
                <a:spcPct val="120000"/>
              </a:lnSpc>
              <a:defRPr sz="2600">
                <a:latin typeface="Roboto Mono"/>
              </a:defRPr>
            </a:pP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FFFCF7"/>
                </a:solidFill>
                <a:latin typeface="Roboto Mono"/>
              </a:rPr>
              <a:t>i</a:t>
            </a:r>
          </a:p>
          <a:p>
            <a:pPr>
              <a:lnSpc>
                <a:spcPct val="120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violations</a:t>
            </a:r>
            <a:r>
              <a:rPr sz="2600" i="0">
                <a:solidFill>
                  <a:srgbClr val="FFFCF7"/>
                </a:solidFill>
                <a:latin typeface="Roboto Mono"/>
              </a:rPr>
              <a:t> </a:t>
            </a:r>
            <a:r>
              <a:rPr sz="2600" i="0">
                <a:solidFill>
                  <a:srgbClr val="FFFCF7"/>
                </a:solidFill>
                <a:latin typeface="Roboto Mono"/>
              </a:rPr>
              <a:t>v</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  </a:t>
            </a:r>
            <a:r>
              <a:rPr sz="2600" i="0">
                <a:solidFill>
                  <a:srgbClr val="EEBC32"/>
                </a:solidFill>
                <a:latin typeface="Roboto Mono"/>
              </a:rPr>
              <a:t>GROUP</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i</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i</a:t>
            </a:r>
            <a:r>
              <a:rPr sz="2600" i="0">
                <a:solidFill>
                  <a:srgbClr val="FFFCF7"/>
                </a:solidFill>
                <a:latin typeface="Roboto Mono"/>
              </a:rPr>
              <a:t>.</a:t>
            </a:r>
            <a:r>
              <a:rPr sz="2600" i="0">
                <a:solidFill>
                  <a:srgbClr val="FFFCF7"/>
                </a:solidFill>
                <a:latin typeface="Roboto Mono"/>
              </a:rPr>
              <a:t>camis</a:t>
            </a:r>
          </a:p>
          <a:p>
            <a:pPr>
              <a:lnSpc>
                <a:spcPct val="120000"/>
              </a:lnSpc>
              <a:defRPr sz="2600">
                <a:latin typeface="Roboto Mono"/>
              </a:defRPr>
            </a:pPr>
            <a:r>
              <a:rPr sz="2600" i="0">
                <a:solidFill>
                  <a:srgbClr val="FFFCF7"/>
                </a:solidFill>
                <a:latin typeface="Roboto Mono"/>
              </a:rPr>
              <a:t>)</a:t>
            </a:r>
          </a:p>
          <a:p>
            <a:pPr>
              <a:lnSpc>
                <a:spcPct val="120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violation_counts</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Step 2: Chaining the Second CTE</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05000"/>
              </a:lnSpc>
              <a:defRPr sz="2600">
                <a:latin typeface="Roboto Mono"/>
              </a:defRPr>
            </a:pPr>
            <a:r>
              <a:rPr sz="2600" i="0">
                <a:solidFill>
                  <a:srgbClr val="EEBC32"/>
                </a:solidFill>
                <a:latin typeface="Roboto Mono"/>
              </a:rPr>
              <a:t>WITH</a:t>
            </a:r>
            <a:r>
              <a:rPr sz="2600" i="0">
                <a:solidFill>
                  <a:srgbClr val="FFFCF7"/>
                </a:solidFill>
                <a:latin typeface="Roboto Mono"/>
              </a:rPr>
              <a:t> </a:t>
            </a:r>
            <a:r>
              <a:rPr sz="2600" i="0">
                <a:solidFill>
                  <a:srgbClr val="FFFCF7"/>
                </a:solidFill>
                <a:latin typeface="Roboto Mono"/>
              </a:rPr>
              <a:t>violation_counts</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inspection_id</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camis</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violation_id</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nv</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inspections</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violations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GROUP</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inspection_id</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camis</a:t>
            </a:r>
          </a:p>
          <a:p>
            <a:pPr>
              <a:lnSpc>
                <a:spcPct val="105000"/>
              </a:lnSpc>
              <a:defRPr sz="2600">
                <a:latin typeface="Roboto Mono"/>
              </a:defRPr>
            </a:pP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totals</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a:t>
            </a: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ni</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COALESCE</a:t>
            </a:r>
            <a:r>
              <a:rPr sz="2600" i="0">
                <a:solidFill>
                  <a:srgbClr val="FFFCF7"/>
                </a:solidFill>
                <a:latin typeface="Roboto Mono"/>
              </a:rPr>
              <a:t>(</a:t>
            </a:r>
            <a:r>
              <a:rPr sz="2600" i="0">
                <a:solidFill>
                  <a:srgbClr val="EEBC32"/>
                </a:solidFill>
                <a:latin typeface="Roboto Mono"/>
              </a:rPr>
              <a:t>SUM</a:t>
            </a:r>
            <a:r>
              <a:rPr sz="2600" i="0">
                <a:solidFill>
                  <a:srgbClr val="FFFCF7"/>
                </a:solidFill>
                <a:latin typeface="Roboto Mono"/>
              </a:rPr>
              <a:t>(</a:t>
            </a:r>
            <a:r>
              <a:rPr sz="2600" i="0">
                <a:solidFill>
                  <a:srgbClr val="FFFCF7"/>
                </a:solidFill>
                <a:latin typeface="Roboto Mono"/>
              </a:rPr>
              <a:t>nv</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0</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tv</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violation_counts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GROUP</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p>
          <a:p>
            <a:pPr>
              <a:lnSpc>
                <a:spcPct val="105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totals</a:t>
            </a:r>
            <a:r>
              <a:rPr sz="2600" i="0">
                <a:solidFill>
                  <a:srgbClr val="FFFCF7"/>
                </a:solidFill>
                <a:latin typeface="Roboto Mono"/>
              </a:rPr>
              <a:t> </a:t>
            </a:r>
            <a:r>
              <a:rPr sz="2600" i="0">
                <a:solidFill>
                  <a:srgbClr val="EEBC32"/>
                </a:solidFill>
                <a:latin typeface="Roboto Mono"/>
              </a:rPr>
              <a:t>ORDER</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tv</a:t>
            </a:r>
            <a:r>
              <a:rPr sz="2600" i="0">
                <a:solidFill>
                  <a:srgbClr val="FFFCF7"/>
                </a:solidFill>
                <a:latin typeface="Roboto Mono"/>
              </a:rPr>
              <a:t> </a:t>
            </a:r>
            <a:r>
              <a:rPr sz="2600" i="0">
                <a:solidFill>
                  <a:srgbClr val="EEBC32"/>
                </a:solidFill>
                <a:latin typeface="Roboto Mono"/>
              </a:rPr>
              <a:t>DESC</a:t>
            </a:r>
            <a:r>
              <a:rPr sz="2600" i="0">
                <a:solidFill>
                  <a:srgbClr val="FFFCF7"/>
                </a:solidFill>
                <a:latin typeface="Roboto Mono"/>
              </a:rPr>
              <a:t>;</a:t>
            </a:r>
          </a:p>
          <a:p>
            <a:pPr>
              <a:lnSpc>
                <a:spcPct val="105000"/>
              </a:lnSpc>
              <a:defRPr sz="2600">
                <a:latin typeface="Roboto Mono"/>
              </a:defRPr>
            </a:p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CHECK FOR UNDERSTANDING</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Predict it: How many total violations does Green Leaf Cafe actually have?</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1</a:t>
            </a:r>
          </a:p>
          <a:p>
            <a:pPr>
              <a:spcAft>
                <a:spcPts val="1000"/>
              </a:spcAft>
            </a:pPr>
            <a:r>
              <a:rPr sz="2600" b="0" i="0" u="none">
                <a:solidFill>
                  <a:srgbClr val="261F1D"/>
                </a:solidFill>
                <a:latin typeface="Helvetica"/>
              </a:rPr>
              <a:t>B.  0</a:t>
            </a:r>
          </a:p>
          <a:p>
            <a:pPr>
              <a:spcAft>
                <a:spcPts val="1000"/>
              </a:spcAft>
            </a:pPr>
            <a:r>
              <a:rPr sz="2600" b="0" i="0" u="none">
                <a:solidFill>
                  <a:srgbClr val="261F1D"/>
                </a:solidFill>
                <a:latin typeface="Helvetica"/>
              </a:rPr>
              <a:t>C.  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Predicting the Chained Result</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1</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Green Leaf Cafe has exactly 1 inspection, and that inspection has exactly 1 recorded violation — </a:t>
            </a:r>
            <a:r>
              <a:rPr sz="2600" b="0" i="0" u="none">
                <a:solidFill>
                  <a:srgbClr val="261F1D"/>
                </a:solidFill>
                <a:latin typeface="Roboto Mono"/>
              </a:rPr>
              <a:t>08A</a:t>
            </a:r>
            <a:r>
              <a:rPr sz="2600" b="0" i="0" u="none">
                <a:solidFill>
                  <a:srgbClr val="261F1D"/>
                </a:solidFill>
                <a:latin typeface="Helvetica"/>
              </a:rPr>
              <a:t>, facility not vermin proof.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One Big CTE vs. Two Chained CTEs</a:t>
            </a:r>
          </a:p>
        </p:txBody>
      </p:sp>
      <p:sp>
        <p:nvSpPr>
          <p:cNvPr id="4" name="Rectangle 3"/>
          <p:cNvSpPr/>
          <p:nvPr/>
        </p:nvSpPr>
        <p:spPr>
          <a:xfrm>
            <a:off x="548640" y="1188720"/>
            <a:ext cx="5410048" cy="3611880"/>
          </a:xfrm>
          <a:prstGeom prst="rect">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777240" y="1371600"/>
            <a:ext cx="457200" cy="457200"/>
          </a:xfrm>
          <a:prstGeom prst="rect">
            <a:avLst/>
          </a:prstGeom>
        </p:spPr>
      </p:pic>
      <p:sp>
        <p:nvSpPr>
          <p:cNvPr id="6" name="TextBox 5"/>
          <p:cNvSpPr txBox="1"/>
          <p:nvPr/>
        </p:nvSpPr>
        <p:spPr>
          <a:xfrm>
            <a:off x="1371600"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One Big CTE</a:t>
            </a:r>
          </a:p>
        </p:txBody>
      </p:sp>
      <p:sp>
        <p:nvSpPr>
          <p:cNvPr id="7" name="TextBox 6"/>
          <p:cNvSpPr txBox="1"/>
          <p:nvPr/>
        </p:nvSpPr>
        <p:spPr>
          <a:xfrm>
            <a:off x="777240" y="2011680"/>
            <a:ext cx="4952848" cy="25603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Joins all 3 tables at once</a:t>
            </a:r>
          </a:p>
          <a:p>
            <a:pPr>
              <a:spcAft>
                <a:spcPts val="1000"/>
              </a:spcAft>
            </a:pPr>
            <a:r>
              <a:rPr sz="2600">
                <a:solidFill>
                  <a:srgbClr val="261F1D"/>
                </a:solidFill>
                <a:latin typeface="Helvetica"/>
              </a:rPr>
              <a:t>•  </a:t>
            </a:r>
            <a:r>
              <a:rPr sz="2600" b="0" i="0" u="none">
                <a:solidFill>
                  <a:srgbClr val="261F1D"/>
                </a:solidFill>
                <a:latin typeface="Helvetica"/>
              </a:rPr>
              <a:t>Real risk of overcounting again</a:t>
            </a:r>
          </a:p>
          <a:p>
            <a:pPr>
              <a:spcAft>
                <a:spcPts val="1000"/>
              </a:spcAft>
            </a:pPr>
            <a:r>
              <a:rPr sz="2600">
                <a:solidFill>
                  <a:srgbClr val="261F1D"/>
                </a:solidFill>
                <a:latin typeface="Helvetica"/>
              </a:rPr>
              <a:t>•  </a:t>
            </a:r>
            <a:r>
              <a:rPr sz="2600" b="0" i="0" u="none">
                <a:solidFill>
                  <a:srgbClr val="261F1D"/>
                </a:solidFill>
                <a:latin typeface="Helvetica"/>
              </a:rPr>
              <a:t>Harder to check partway through</a:t>
            </a:r>
          </a:p>
        </p:txBody>
      </p:sp>
      <p:sp>
        <p:nvSpPr>
          <p:cNvPr id="8" name="Rectangle 7"/>
          <p:cNvSpPr/>
          <p:nvPr/>
        </p:nvSpPr>
        <p:spPr>
          <a:xfrm>
            <a:off x="6233008" y="1188720"/>
            <a:ext cx="5410048" cy="3611880"/>
          </a:xfrm>
          <a:prstGeom prst="rect">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
          <p:cNvPicPr>
            <a:picLocks noChangeAspect="1"/>
          </p:cNvPicPr>
          <p:nvPr/>
        </p:nvPicPr>
        <p:blipFill>
          <a:blip r:embed="rId4"/>
          <a:stretch>
            <a:fillRect/>
          </a:stretch>
        </p:blipFill>
        <p:spPr>
          <a:xfrm>
            <a:off x="6461608" y="1371600"/>
            <a:ext cx="457200" cy="457200"/>
          </a:xfrm>
          <a:prstGeom prst="rect">
            <a:avLst/>
          </a:prstGeom>
        </p:spPr>
      </p:pic>
      <p:sp>
        <p:nvSpPr>
          <p:cNvPr id="10" name="TextBox 9"/>
          <p:cNvSpPr txBox="1"/>
          <p:nvPr/>
        </p:nvSpPr>
        <p:spPr>
          <a:xfrm>
            <a:off x="7055968"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Two Chained CTEs</a:t>
            </a:r>
          </a:p>
        </p:txBody>
      </p:sp>
      <p:sp>
        <p:nvSpPr>
          <p:cNvPr id="11" name="TextBox 10"/>
          <p:cNvSpPr txBox="1"/>
          <p:nvPr/>
        </p:nvSpPr>
        <p:spPr>
          <a:xfrm>
            <a:off x="6461608" y="2011680"/>
            <a:ext cx="4952848" cy="25603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Each step, one clear job</a:t>
            </a:r>
          </a:p>
          <a:p>
            <a:pPr>
              <a:spcAft>
                <a:spcPts val="1000"/>
              </a:spcAft>
            </a:pPr>
            <a:r>
              <a:rPr sz="2600">
                <a:solidFill>
                  <a:srgbClr val="261F1D"/>
                </a:solidFill>
                <a:latin typeface="Helvetica"/>
              </a:rPr>
              <a:t>•  </a:t>
            </a:r>
            <a:r>
              <a:rPr sz="2600" b="0" i="0" u="none">
                <a:solidFill>
                  <a:srgbClr val="261F1D"/>
                </a:solidFill>
                <a:latin typeface="Helvetica"/>
              </a:rPr>
              <a:t>Verifiable one step at a time</a:t>
            </a:r>
          </a:p>
          <a:p>
            <a:pPr>
              <a:spcAft>
                <a:spcPts val="1000"/>
              </a:spcAft>
            </a:pPr>
            <a:r>
              <a:rPr sz="2600">
                <a:solidFill>
                  <a:srgbClr val="261F1D"/>
                </a:solidFill>
                <a:latin typeface="Helvetica"/>
              </a:rPr>
              <a:t>•  </a:t>
            </a:r>
            <a:r>
              <a:rPr sz="2600" b="0" i="0" u="none">
                <a:solidFill>
                  <a:srgbClr val="261F1D"/>
                </a:solidFill>
                <a:latin typeface="Helvetica"/>
              </a:rPr>
              <a:t>Matches how a pair actually plans</a:t>
            </a:r>
          </a:p>
        </p:txBody>
      </p:sp>
      <p:cxnSp>
        <p:nvCxnSpPr>
          <p:cNvPr id="12" name="Connector 11"/>
          <p:cNvCxnSpPr/>
          <p:nvPr/>
        </p:nvCxnSpPr>
        <p:spPr>
          <a:xfrm>
            <a:off x="6095848" y="1188720"/>
            <a:ext cx="0" cy="3611880"/>
          </a:xfrm>
          <a:prstGeom prst="line">
            <a:avLst/>
          </a:prstGeom>
          <a:ln w="19050">
            <a:solidFill>
              <a:srgbClr val="E1E3E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4983480"/>
            <a:ext cx="2926080" cy="411480"/>
          </a:xfrm>
          <a:prstGeom prst="rect">
            <a:avLst/>
          </a:prstGeom>
          <a:noFill/>
        </p:spPr>
        <p:txBody>
          <a:bodyPr wrap="square" anchor="t" lIns="0" rIns="0" tIns="0" bIns="0">
            <a:noAutofit/>
          </a:bodyPr>
          <a:lstStyle/>
          <a:p>
            <a:pPr algn="l"/>
            <a:r>
              <a:rPr sz="2600" b="1" i="0" u="none">
                <a:solidFill>
                  <a:srgbClr val="327A5F"/>
                </a:solidFill>
                <a:latin typeface="Helvetica"/>
              </a:rPr>
              <a:t>IN COMMON:</a:t>
            </a:r>
          </a:p>
        </p:txBody>
      </p:sp>
      <p:sp>
        <p:nvSpPr>
          <p:cNvPr id="14" name="TextBox 13"/>
          <p:cNvSpPr txBox="1"/>
          <p:nvPr/>
        </p:nvSpPr>
        <p:spPr>
          <a:xfrm>
            <a:off x="548640" y="5440680"/>
            <a:ext cx="11094415" cy="91440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Both can reach the same correct answer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TURN AND TALK</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Evaluate it: Did you really need two CTEs? Would one big CTE, joining all 3 tables, have worked just as well?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Why This Matters for Your Project</a:t>
            </a:r>
          </a:p>
        </p:txBody>
      </p:sp>
      <p:sp>
        <p:nvSpPr>
          <p:cNvPr id="4" name="TextBox 3"/>
          <p:cNvSpPr txBox="1"/>
          <p:nvPr/>
        </p:nvSpPr>
        <p:spPr>
          <a:xfrm>
            <a:off x="548640" y="1188720"/>
            <a:ext cx="670529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Q4 rewards a CTE you truly needed</a:t>
            </a:r>
          </a:p>
          <a:p>
            <a:pPr>
              <a:spcAft>
                <a:spcPts val="1000"/>
              </a:spcAft>
            </a:pPr>
            <a:r>
              <a:rPr sz="2600">
                <a:solidFill>
                  <a:srgbClr val="261F1D"/>
                </a:solidFill>
                <a:latin typeface="Helvetica"/>
              </a:rPr>
              <a:t>•  </a:t>
            </a:r>
            <a:r>
              <a:rPr sz="2600" b="0" i="0" u="none">
                <a:solidFill>
                  <a:srgbClr val="261F1D"/>
                </a:solidFill>
                <a:latin typeface="Helvetica"/>
              </a:rPr>
              <a:t>That only shows up with 3+ tables</a:t>
            </a:r>
          </a:p>
          <a:p>
            <a:pPr>
              <a:spcAft>
                <a:spcPts val="1000"/>
              </a:spcAft>
            </a:pPr>
            <a:r>
              <a:rPr sz="2600">
                <a:solidFill>
                  <a:srgbClr val="261F1D"/>
                </a:solidFill>
                <a:latin typeface="Helvetica"/>
              </a:rPr>
              <a:t>•  </a:t>
            </a:r>
            <a:r>
              <a:rPr sz="2600" b="0" i="0" u="none">
                <a:solidFill>
                  <a:srgbClr val="261F1D"/>
                </a:solidFill>
                <a:latin typeface="Helvetica"/>
              </a:rPr>
              <a:t>Plan first, with a partner</a:t>
            </a:r>
          </a:p>
        </p:txBody>
      </p:sp>
      <p:sp>
        <p:nvSpPr>
          <p:cNvPr id="5" name="Oval 4"/>
          <p:cNvSpPr/>
          <p:nvPr/>
        </p:nvSpPr>
        <p:spPr>
          <a:xfrm>
            <a:off x="8532266" y="2581351"/>
            <a:ext cx="2381098" cy="2381098"/>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3176626"/>
            <a:ext cx="1190549" cy="1190549"/>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5" name="TextBox 4"/>
          <p:cNvSpPr txBox="1"/>
          <p:nvPr/>
        </p:nvSpPr>
        <p:spPr>
          <a:xfrm>
            <a:off x="548640" y="155448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Topics You Might Get Asked About</a:t>
            </a:r>
          </a:p>
        </p:txBody>
      </p:sp>
      <p:sp>
        <p:nvSpPr>
          <p:cNvPr id="6" name="TextBox 5"/>
          <p:cNvSpPr txBox="1"/>
          <p:nvPr/>
        </p:nvSpPr>
        <p:spPr>
          <a:xfrm>
            <a:off x="822960" y="2560320"/>
            <a:ext cx="10545775" cy="34747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How would you approach a business question that needs data from 3 or more tables?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4864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731520" y="548640"/>
            <a:ext cx="365760" cy="365760"/>
          </a:xfrm>
          <a:prstGeom prst="rect">
            <a:avLst/>
          </a:prstGeom>
        </p:spPr>
      </p:pic>
      <p:sp>
        <p:nvSpPr>
          <p:cNvPr id="5" name="TextBox 4"/>
          <p:cNvSpPr txBox="1"/>
          <p:nvPr/>
        </p:nvSpPr>
        <p:spPr>
          <a:xfrm>
            <a:off x="1234440" y="457200"/>
            <a:ext cx="10271455" cy="54864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6" name="TextBox 5"/>
          <p:cNvSpPr txBox="1"/>
          <p:nvPr/>
        </p:nvSpPr>
        <p:spPr>
          <a:xfrm>
            <a:off x="548640" y="1280160"/>
            <a:ext cx="11094415" cy="1188720"/>
          </a:xfrm>
          <a:prstGeom prst="rect">
            <a:avLst/>
          </a:prstGeom>
          <a:noFill/>
        </p:spPr>
        <p:txBody>
          <a:bodyPr wrap="square" anchor="t" lIns="0" rIns="0" tIns="0" bIns="0">
            <a:noAutofit/>
          </a:bodyPr>
          <a:lstStyle/>
          <a:p>
            <a:pPr algn="l"/>
            <a:r>
              <a:rPr sz="3200" b="1" i="0" u="none">
                <a:solidFill>
                  <a:srgbClr val="261F1D"/>
                </a:solidFill>
                <a:latin typeface="Helvetica"/>
              </a:rPr>
              <a:t>How would you approach a business question that needs data from 3 or more tables?</a:t>
            </a:r>
          </a:p>
        </p:txBody>
      </p:sp>
      <p:sp>
        <p:nvSpPr>
          <p:cNvPr id="7" name="Rounded Rectangle 6"/>
          <p:cNvSpPr/>
          <p:nvPr/>
        </p:nvSpPr>
        <p:spPr>
          <a:xfrm>
            <a:off x="548640" y="2743200"/>
            <a:ext cx="11094415" cy="361188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971800"/>
            <a:ext cx="10545775" cy="3154680"/>
          </a:xfrm>
          <a:prstGeom prst="rect">
            <a:avLst/>
          </a:prstGeom>
          <a:noFill/>
        </p:spPr>
        <p:txBody>
          <a:bodyPr wrap="square" anchor="t" lIns="0" rIns="0" tIns="0" bIns="0">
            <a:noAutofit/>
          </a:bodyPr>
          <a:lstStyle/>
          <a:p>
            <a:pPr algn="l"/>
            <a:r>
              <a:rPr sz="2600" b="1" i="0" u="none">
                <a:solidFill>
                  <a:srgbClr val="264326"/>
                </a:solidFill>
                <a:latin typeface="Helvetica"/>
              </a:rPr>
              <a:t>Answer:</a:t>
            </a:r>
            <a:r>
              <a:rPr sz="2600" b="0" i="0" u="none">
                <a:solidFill>
                  <a:srgbClr val="261F1D"/>
                </a:solidFill>
                <a:latin typeface="Helvetica"/>
              </a:rPr>
              <a:t> Understand the business question first — clarify exactly what's being asked before touching SQL. Plan the approach in plain language: which tables are involved, and what does each intermediate step actually compute? Write the query as a sequence of named CTEs, one per logical step, rather than one dense nested statement. Explain each CTE's purpose as you go. Validate the final result against a small, hand-checked sample before trusting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 Recap</a:t>
            </a:r>
          </a:p>
        </p:txBody>
      </p:sp>
      <p:graphicFrame>
        <p:nvGraphicFramePr>
          <p:cNvPr id="4" name="Table 3"/>
          <p:cNvGraphicFramePr>
            <a:graphicFrameLocks noGrp="1"/>
          </p:cNvGraphicFramePr>
          <p:nvPr/>
        </p:nvGraphicFramePr>
        <p:xfrm>
          <a:off x="548640" y="2619756"/>
          <a:ext cx="11094415" cy="2258568"/>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877824">
                <a:tc>
                  <a:txBody>
                    <a:bodyPr wrap="square"/>
                    <a:lstStyle/>
                    <a:p>
                      <a:r>
                        <a:rPr sz="2600" b="0" i="0" u="none">
                          <a:solidFill>
                            <a:srgbClr val="261F1D"/>
                          </a:solidFill>
                          <a:latin typeface="Helvetica"/>
                        </a:rPr>
                        <a:t>Chained CTE</a:t>
                      </a:r>
                    </a:p>
                  </a:txBody>
                  <a:tcPr marL="109728" marR="109728" marT="54864" marB="54864" anchor="ctr">
                    <a:solidFill>
                      <a:srgbClr val="FFFCF7"/>
                    </a:solidFill>
                  </a:tcPr>
                </a:tc>
                <a:tc>
                  <a:txBody>
                    <a:bodyPr wrap="square"/>
                    <a:lstStyle/>
                    <a:p>
                      <a:r>
                        <a:rPr sz="2600" b="0" i="0" u="none">
                          <a:solidFill>
                            <a:srgbClr val="261F1D"/>
                          </a:solidFill>
                          <a:latin typeface="Helvetica"/>
                        </a:rPr>
                        <a:t>Multiple CTEs, one referencing another</a:t>
                      </a:r>
                    </a:p>
                  </a:txBody>
                  <a:tcPr marL="109728" marR="109728" marT="54864" marB="54864" anchor="ctr">
                    <a:solidFill>
                      <a:srgbClr val="FFFCF7"/>
                    </a:solidFill>
                  </a:tcPr>
                </a:tc>
              </a:tr>
              <a:tr h="877824">
                <a:tc>
                  <a:txBody>
                    <a:bodyPr wrap="square"/>
                    <a:lstStyle/>
                    <a:p>
                      <a:r>
                        <a:rPr sz="2600" b="0" i="0" u="none">
                          <a:solidFill>
                            <a:srgbClr val="261F1D"/>
                          </a:solidFill>
                          <a:latin typeface="Helvetica"/>
                        </a:rPr>
                        <a:t>Decomposition plan</a:t>
                      </a:r>
                    </a:p>
                  </a:txBody>
                  <a:tcPr marL="109728" marR="109728" marT="54864" marB="54864" anchor="ctr">
                    <a:solidFill>
                      <a:srgbClr val="FFF6E4"/>
                    </a:solidFill>
                  </a:tcPr>
                </a:tc>
                <a:tc>
                  <a:txBody>
                    <a:bodyPr wrap="square"/>
                    <a:lstStyle/>
                    <a:p>
                      <a:r>
                        <a:rPr sz="2600" b="0" i="0" u="none">
                          <a:solidFill>
                            <a:srgbClr val="261F1D"/>
                          </a:solidFill>
                          <a:latin typeface="Helvetica"/>
                        </a:rPr>
                        <a:t>A sketched approach, before real SQL</a:t>
                      </a:r>
                    </a:p>
                  </a:txBody>
                  <a:tcPr marL="109728" marR="109728" marT="54864" marB="54864" anchor="ctr">
                    <a:solidFill>
                      <a:srgbClr val="FFF6E4"/>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6E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So Far, We've Covered...</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A real 3-table business question</a:t>
            </a:r>
          </a:p>
          <a:p>
            <a:pPr>
              <a:spcAft>
                <a:spcPts val="1000"/>
              </a:spcAft>
            </a:pPr>
            <a:r>
              <a:rPr sz="2600">
                <a:solidFill>
                  <a:srgbClr val="261F1D"/>
                </a:solidFill>
                <a:latin typeface="Helvetica"/>
              </a:rPr>
              <a:t>•  </a:t>
            </a:r>
            <a:r>
              <a:rPr sz="2600" b="0" i="0" u="none">
                <a:solidFill>
                  <a:srgbClr val="261F1D"/>
                </a:solidFill>
                <a:latin typeface="Helvetica"/>
              </a:rPr>
              <a:t>Two CTEs, chained together</a:t>
            </a:r>
          </a:p>
          <a:p>
            <a:pPr>
              <a:spcAft>
                <a:spcPts val="1000"/>
              </a:spcAft>
            </a:pPr>
            <a:r>
              <a:rPr sz="2600">
                <a:solidFill>
                  <a:srgbClr val="261F1D"/>
                </a:solidFill>
                <a:latin typeface="Helvetica"/>
              </a:rPr>
              <a:t>•  </a:t>
            </a:r>
            <a:r>
              <a:rPr sz="2600" b="0" i="0" u="none">
                <a:solidFill>
                  <a:srgbClr val="261F1D"/>
                </a:solidFill>
                <a:latin typeface="Helvetica"/>
              </a:rPr>
              <a:t>Plan first, with a partner, then type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188720"/>
            <a:ext cx="11094415" cy="1005840"/>
          </a:xfrm>
          <a:prstGeom prst="rect">
            <a:avLst/>
          </a:prstGeom>
          <a:noFill/>
        </p:spPr>
        <p:txBody>
          <a:bodyPr wrap="square" anchor="t" lIns="0" rIns="0" tIns="0" bIns="0">
            <a:noAutofit/>
          </a:bodyPr>
          <a:lstStyle/>
          <a:p>
            <a:pPr algn="l"/>
            <a:r>
              <a:rPr sz="4000" b="1" i="0" u="none">
                <a:solidFill>
                  <a:srgbClr val="FFFCF7"/>
                </a:solidFill>
                <a:latin typeface="Helvetica"/>
              </a:rPr>
              <a:t>Before Next Class</a:t>
            </a:r>
          </a:p>
        </p:txBody>
      </p:sp>
      <p:sp>
        <p:nvSpPr>
          <p:cNvPr id="4" name="TextBox 3"/>
          <p:cNvSpPr txBox="1"/>
          <p:nvPr/>
        </p:nvSpPr>
        <p:spPr>
          <a:xfrm>
            <a:off x="548640" y="2651760"/>
            <a:ext cx="11094415" cy="2103120"/>
          </a:xfrm>
          <a:prstGeom prst="rect">
            <a:avLst/>
          </a:prstGeom>
          <a:noFill/>
        </p:spPr>
        <p:txBody>
          <a:bodyPr wrap="square" lIns="0" rIns="0" tIns="0" bIns="0">
            <a:noAutofit/>
          </a:bodyPr>
          <a:lstStyle/>
          <a:p>
            <a:pPr>
              <a:spcAft>
                <a:spcPts val="1000"/>
              </a:spcAft>
            </a:pPr>
            <a:r>
              <a:rPr sz="2600">
                <a:solidFill>
                  <a:srgbClr val="FFFCF7"/>
                </a:solidFill>
                <a:latin typeface="Helvetica"/>
              </a:rPr>
              <a:t>•  </a:t>
            </a:r>
            <a:r>
              <a:rPr sz="2600" b="0" i="0" u="none">
                <a:solidFill>
                  <a:srgbClr val="FFFCF7"/>
                </a:solidFill>
                <a:latin typeface="Helvetica"/>
              </a:rPr>
              <a:t>No new exercise today</a:t>
            </a:r>
          </a:p>
          <a:p>
            <a:pPr>
              <a:spcAft>
                <a:spcPts val="1000"/>
              </a:spcAft>
            </a:pPr>
            <a:r>
              <a:rPr sz="2600">
                <a:solidFill>
                  <a:srgbClr val="FFFCF7"/>
                </a:solidFill>
                <a:latin typeface="Helvetica"/>
              </a:rPr>
              <a:t>•  </a:t>
            </a:r>
            <a:r>
              <a:rPr sz="2600" b="0" i="0" u="none">
                <a:solidFill>
                  <a:srgbClr val="FFFCF7"/>
                </a:solidFill>
                <a:latin typeface="Helvetica"/>
              </a:rPr>
              <a:t>Next class: Window functions</a:t>
            </a:r>
          </a:p>
          <a:p>
            <a:pPr>
              <a:spcAft>
                <a:spcPts val="1000"/>
              </a:spcAft>
            </a:pPr>
            <a:r>
              <a:rPr sz="2600">
                <a:solidFill>
                  <a:srgbClr val="FFFCF7"/>
                </a:solidFill>
                <a:latin typeface="Helvetica"/>
              </a:rPr>
              <a:t>•  </a:t>
            </a:r>
            <a:r>
              <a:rPr sz="2600" b="0" i="0" u="none">
                <a:solidFill>
                  <a:srgbClr val="FFFCF7"/>
                </a:solidFill>
                <a:latin typeface="Helvetica"/>
              </a:rPr>
              <a:t>Keep your database running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365760"/>
            <a:ext cx="11094415" cy="64008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545775" cy="640080"/>
          </a:xfrm>
          <a:prstGeom prst="rect">
            <a:avLst/>
          </a:prstGeom>
          <a:noFill/>
        </p:spPr>
        <p:txBody>
          <a:bodyPr wrap="square" anchor="ctr" lIns="0" rIns="0" tIns="0" bIns="0">
            <a:noAutofit/>
          </a:bodyPr>
          <a:lstStyle/>
          <a:p>
            <a:pPr algn="l"/>
            <a:r>
              <a:rPr sz="2600" b="1" i="0" u="none">
                <a:solidFill>
                  <a:srgbClr val="261F1D"/>
                </a:solidFill>
                <a:latin typeface="Helvetica"/>
              </a:rPr>
              <a:t>KEEP LEARNING</a:t>
            </a:r>
          </a:p>
        </p:txBody>
      </p:sp>
      <p:sp>
        <p:nvSpPr>
          <p:cNvPr id="5" name="TextBox 4"/>
          <p:cNvSpPr txBox="1"/>
          <p:nvPr/>
        </p:nvSpPr>
        <p:spPr>
          <a:xfrm>
            <a:off x="548640" y="123444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Where to Go From Here</a:t>
            </a:r>
          </a:p>
        </p:txBody>
      </p:sp>
      <p:pic>
        <p:nvPicPr>
          <p:cNvPr id="6" name="Picture 5" descr=""/>
          <p:cNvPicPr>
            <a:picLocks noChangeAspect="1"/>
          </p:cNvPicPr>
          <p:nvPr/>
        </p:nvPicPr>
        <p:blipFill>
          <a:blip r:embed="rId3"/>
          <a:stretch>
            <a:fillRect/>
          </a:stretch>
        </p:blipFill>
        <p:spPr>
          <a:xfrm>
            <a:off x="548640" y="1984248"/>
            <a:ext cx="365760" cy="365760"/>
          </a:xfrm>
          <a:prstGeom prst="rect">
            <a:avLst/>
          </a:prstGeom>
        </p:spPr>
      </p:pic>
      <p:sp>
        <p:nvSpPr>
          <p:cNvPr id="7" name="TextBox 6"/>
          <p:cNvSpPr txBox="1"/>
          <p:nvPr/>
        </p:nvSpPr>
        <p:spPr>
          <a:xfrm>
            <a:off x="1051560" y="1965960"/>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4"/>
              </a:rPr>
              <a:t>PostgreSQL Tutorial: WITH Queries (CTEs)</a:t>
            </a:r>
          </a:p>
        </p:txBody>
      </p:sp>
      <p:sp>
        <p:nvSpPr>
          <p:cNvPr id="8" name="TextBox 7"/>
          <p:cNvSpPr txBox="1"/>
          <p:nvPr/>
        </p:nvSpPr>
        <p:spPr>
          <a:xfrm>
            <a:off x="1051560" y="2350008"/>
            <a:ext cx="10591495" cy="768096"/>
          </a:xfrm>
          <a:prstGeom prst="rect">
            <a:avLst/>
          </a:prstGeom>
          <a:noFill/>
        </p:spPr>
        <p:txBody>
          <a:bodyPr wrap="square" anchor="t" lIns="0" rIns="0" tIns="0" bIns="0">
            <a:noAutofit/>
          </a:bodyPr>
          <a:lstStyle/>
          <a:p>
            <a:pPr algn="l"/>
            <a:r>
              <a:rPr sz="2600" b="1" i="0" u="none">
                <a:solidFill>
                  <a:srgbClr val="327A5F"/>
                </a:solidFill>
                <a:latin typeface="Helvetica"/>
              </a:rPr>
              <a:t>PostgreSQL Global Development Group  ·  DOCS  ·  ~10 min read</a:t>
            </a:r>
          </a:p>
        </p:txBody>
      </p:sp>
      <p:sp>
        <p:nvSpPr>
          <p:cNvPr id="9" name="TextBox 8"/>
          <p:cNvSpPr txBox="1"/>
          <p:nvPr/>
        </p:nvSpPr>
        <p:spPr>
          <a:xfrm>
            <a:off x="1051560" y="3118104"/>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The same official reference from yesterday</a:t>
            </a:r>
          </a:p>
        </p:txBody>
      </p:sp>
      <p:pic>
        <p:nvPicPr>
          <p:cNvPr id="10" name="Picture 9" descr=""/>
          <p:cNvPicPr>
            <a:picLocks noChangeAspect="1"/>
          </p:cNvPicPr>
          <p:nvPr/>
        </p:nvPicPr>
        <p:blipFill>
          <a:blip r:embed="rId5"/>
          <a:stretch>
            <a:fillRect/>
          </a:stretch>
        </p:blipFill>
        <p:spPr>
          <a:xfrm>
            <a:off x="548640" y="3749040"/>
            <a:ext cx="365760" cy="365760"/>
          </a:xfrm>
          <a:prstGeom prst="rect">
            <a:avLst/>
          </a:prstGeom>
        </p:spPr>
      </p:pic>
      <p:sp>
        <p:nvSpPr>
          <p:cNvPr id="11" name="TextBox 10"/>
          <p:cNvSpPr txBox="1"/>
          <p:nvPr/>
        </p:nvSpPr>
        <p:spPr>
          <a:xfrm>
            <a:off x="1051560" y="3730752"/>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6"/>
              </a:rPr>
              <a:t>CTE in SQL</a:t>
            </a:r>
          </a:p>
        </p:txBody>
      </p:sp>
      <p:sp>
        <p:nvSpPr>
          <p:cNvPr id="12" name="TextBox 11"/>
          <p:cNvSpPr txBox="1"/>
          <p:nvPr/>
        </p:nvSpPr>
        <p:spPr>
          <a:xfrm>
            <a:off x="1051560" y="4114800"/>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GeeksforGeeks  ·  READING  ·  ~8 min read</a:t>
            </a:r>
          </a:p>
        </p:txBody>
      </p:sp>
      <p:sp>
        <p:nvSpPr>
          <p:cNvPr id="13" name="TextBox 12"/>
          <p:cNvSpPr txBox="1"/>
          <p:nvPr/>
        </p:nvSpPr>
        <p:spPr>
          <a:xfrm>
            <a:off x="1051560" y="4498848"/>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Includes real multi-CTE, chained examples</a:t>
            </a:r>
          </a:p>
        </p:txBody>
      </p:sp>
      <p:pic>
        <p:nvPicPr>
          <p:cNvPr id="14" name="Picture 13" descr=""/>
          <p:cNvPicPr>
            <a:picLocks noChangeAspect="1"/>
          </p:cNvPicPr>
          <p:nvPr/>
        </p:nvPicPr>
        <p:blipFill>
          <a:blip r:embed="rId7"/>
          <a:stretch>
            <a:fillRect/>
          </a:stretch>
        </p:blipFill>
        <p:spPr>
          <a:xfrm>
            <a:off x="548640" y="5129784"/>
            <a:ext cx="365760" cy="365760"/>
          </a:xfrm>
          <a:prstGeom prst="rect">
            <a:avLst/>
          </a:prstGeom>
        </p:spPr>
      </p:pic>
      <p:sp>
        <p:nvSpPr>
          <p:cNvPr id="15" name="TextBox 14"/>
          <p:cNvSpPr txBox="1"/>
          <p:nvPr/>
        </p:nvSpPr>
        <p:spPr>
          <a:xfrm>
            <a:off x="1051560" y="5111496"/>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8"/>
              </a:rPr>
              <a:t>SQLBolt</a:t>
            </a:r>
          </a:p>
        </p:txBody>
      </p:sp>
      <p:sp>
        <p:nvSpPr>
          <p:cNvPr id="16" name="TextBox 15"/>
          <p:cNvSpPr txBox="1"/>
          <p:nvPr/>
        </p:nvSpPr>
        <p:spPr>
          <a:xfrm>
            <a:off x="1051560" y="5495544"/>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SQLBolt  ·  PRACTICE  ·  ~15 min hands-on</a:t>
            </a:r>
          </a:p>
        </p:txBody>
      </p:sp>
      <p:sp>
        <p:nvSpPr>
          <p:cNvPr id="17" name="TextBox 16"/>
          <p:cNvSpPr txBox="1"/>
          <p:nvPr/>
        </p:nvSpPr>
        <p:spPr>
          <a:xfrm>
            <a:off x="1051560" y="5879592"/>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The same free interactive lessons from earlier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