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Private instructor reference - never presented to Fellows. Read once before teaching Module 3 for the first time.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All 4 skills are Technical Skills - no Professional or AI Skills category is graded this module. This slide and the next.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Unlike every prior module, this module has NO SQL/database prerequisite coming in - Day 1 teaches from zero.</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 1 has this module's only case study - see the Case Studies section later in this deck. Day 2 is Fellows' first new installed tool since Module 0's git - see "Nice to Know."</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 6 is a genuinely collaborative partner activity - see "Nice to Know."</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Days 7-8 are BOTH window functions - a deliberate 2-day split, harder concept, worth the extra rep. See "Nice to Know."</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Days 11-12 are ONE lab spanning 2 days - see "Nice to Know." Day 13 already uses a varied mode mix (game/poll/discussion/ whiteboard) - see "Nice to Know" before assuming it needs a gamification nudge.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 real 7-day sprint - see PROJECT.md for the full day-by-day breakdown.</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Every one of the 7 given business questions is engineered to demand one specific technique from this module's own lectures.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 separate, anonymous peer schema &amp; query review session happens right after Day 20 - not part of the sprint itself.</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Several days below get their own dedicated slide because they're genuinely different from a normal lecture day.</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Today assumes psql is already installed and can connect - confirm this before class if you can.</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real skill here is deciding what to compute FIRST, before deciding how to join it to everything else.</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Same design principle as Module 1's Big-O split across two lecture days - a hard concept earns a second, practical rep rather than being compressed into one day.</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Compare query PLAN SHAPES and row counts, not one run's millisecond timing - execution time is not reproducible run to run.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Grade with the lab's own RUBRIC.md (relational-databases, database-administration) - formative, not the graded project.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If time allows, a live tool is still an option - but this day doesn't have the same flat 'poll/game only' gap other modules' recall days sometimes do.</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Confirmed via DataCamp's own public course pages: "Joining Data in SQL" (2-3 hrs, prereq "Intermediate SQL") and "PostgreSQL Summary Stats and Window Functions" (4h12m, prereq "Data Manipulation in SQL"). No single DataCamp course maps onto this whole module the way Module 2's pandas course did.</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Real, verified comparison - not assumed. If Fellows complete either course before its matching day, treat that day as reinforcement, not first exposure.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Section: two real overlaps worth confirming landed, and a real, sizable gap DataCamp simply doesn't fill.</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Same distinction Module 0's own DataCamp section drew for `git revert` - already covered elsewhere, just verify it stuck.</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A real, confirmed gap - not assumed. Worth knowing so you don't assume DataCamp already covered any of Days 1-2, 5-6, 9, 11-12.</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module has exactly one case_study slide, on Day 1 - confirmed via a full pass of all 11 lecture deck_specs.</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Real, not fictional - Public Health England's own automated pipeline used an outdated .xls row-limit format. Ties directly into Day 1's own normalization/real-database framing.</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Section: the module's full glossary - the largest of any module so far (40 real terms across 11 lectures).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Neither position nor data type makes a primary key - only uniqueness does. See the Day 1 misconception.</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project's own schema must reach at least 3NF - this is the exact bar Objective 5 grades independently spotting a violation of.</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2NF/3NF distinction Fellows most often mix up - see the Day 1 misconception.</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Constraints are active enforcement, not optional style - see the Day 2 misconception.</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JOIN syntax itself is a real gap this planning session found - Objective 2 stops at SELECT/WHERE/ORDER BY, Objective 3 jumps straight to CTEs assuming joins are already known.</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INNER vs. LEFT only diverge the moment a row genuinely has no match - easy to miss until it's a real problem.</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"overcounting trap" (a one-to-many JOIN inflating COUNT(*)) is introduced here and recurs for the rest of the module.</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rubric grades whether a CTE "genuinely improves readability" - not just whether one appears at all.</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 7 deliberately has no PARTITION BY yet - see the Day 7-8 "Nice to Know" slide.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RANK() and ROW_NUMBER() only diverge the moment a real tie shows up - see the Day 7 misconception.</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most common wrong guess here is GROUP BY boro - see the Day 8 misconception.</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 NULL" and "!= NULL" both silently return nothing - the single most common silent bug in SQL, named explicitly this day.</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EXPLAIN ANALYZE is a first look only - see the Day 9 "Nice to Know" slide.</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 10 has NO new syntax - it names patterns already written earlier in the module.</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project grades whether every answer was spot-checked against known values, not trusted because it looked right.</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Section: say the graded connection out loud in every lecture, not just here.</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Days 1-3 map onto the project's schema/Q1/Q2 requirements almost one-to-one.</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Days 5-6 map directly onto the CTE requirement graded in `business_questions_and_schema.md`.</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Day 9 alone previews 3 distinct project deliverables - worth naming all 3 out loud in class.</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lab and Day 13 are the last two rehearsals before the project sprint begins on Day 14.</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Section: the most common early-confusion points across the module, day by day.</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Per this Fellowship's stereotype-threat research, naming a misconception explicitly before a Fellow hits it live matters more than any individual correction after the fact.</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The Day 13 silent-bug framing is the module's own capstone misconception - name it explicitly before the sprint.</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Section: which skills get reused, where, and one real continuity note worth knowing in advance.</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Straight from this module's own INSTRUCTOR_MODULE_SUMMARY.md - not a guess. Whatever schema a student builds now is what Module 7 builds on top of.</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Module 4 builds a live Python connection directly on top of whatever database this module leaves behind.</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This deck is a one-time read before the module starts - each lecture's own instructor_prep.md is the day-of reference.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The-Marcy-Lab-School/DA_INSTRUCTOR_CodeAlongs_Labs/tree/main/module-3-sql-relational-databases/lectures/relational-thinking-normalization" TargetMode="External"/><Relationship Id="rId4" Type="http://schemas.openxmlformats.org/officeDocument/2006/relationships/hyperlink" Target="https://github.com/The-Marcy-Lab-School/DA_INSTRUCTOR_CodeAlongs_Labs/blob/main/module-3-sql-relational-databases/lectures/relational-thinking-normalization/instructor_prep.md" TargetMode="External"/><Relationship Id="rId5" Type="http://schemas.openxmlformats.org/officeDocument/2006/relationships/hyperlink" Target="https://github.com/The-Marcy-Lab-School/DA_INSTRUCTOR_CodeAlongs_Labs/tree/main/module-3-sql-relational-databases/lectures/your-first-database-psql-tables-constraints" TargetMode="External"/><Relationship Id="rId6" Type="http://schemas.openxmlformats.org/officeDocument/2006/relationships/hyperlink" Target="https://github.com/The-Marcy-Lab-School/DA_INSTRUCTOR_CodeAlongs_Labs/blob/main/module-3-sql-relational-databases/lectures/your-first-database-psql-tables-constraints/instructor_prep.md" TargetMode="External"/><Relationship Id="rId7" Type="http://schemas.openxmlformats.org/officeDocument/2006/relationships/hyperlink" Target="https://github.com/The-Marcy-Lab-School/DA_INSTRUCTOR_CodeAlongs_Labs/tree/main/module-3-sql-relational-databases/lectures/joins-inner-vs-left" TargetMode="External"/><Relationship Id="rId8" Type="http://schemas.openxmlformats.org/officeDocument/2006/relationships/hyperlink" Target="https://github.com/The-Marcy-Lab-School/DA_INSTRUCTOR_CodeAlongs_Labs/blob/main/module-3-sql-relational-databases/lectures/joins-inner-vs-left/instructor_prep.md" TargetMode="Externa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The-Marcy-Lab-School/DA_INSTRUCTOR_CodeAlongs_Labs/tree/main/module-3-sql-relational-databases/lectures/aggregating-with-group-by-having" TargetMode="External"/><Relationship Id="rId4" Type="http://schemas.openxmlformats.org/officeDocument/2006/relationships/hyperlink" Target="https://github.com/The-Marcy-Lab-School/DA_INSTRUCTOR_CodeAlongs_Labs/blob/main/module-3-sql-relational-databases/lectures/aggregating-with-group-by-having/instructor_prep.md" TargetMode="External"/><Relationship Id="rId5" Type="http://schemas.openxmlformats.org/officeDocument/2006/relationships/hyperlink" Target="https://github.com/The-Marcy-Lab-School/DA_INSTRUCTOR_CodeAlongs_Labs/tree/main/module-3-sql-relational-databases/lectures/ctes-i-syntax-rewriting-a-subquery" TargetMode="External"/><Relationship Id="rId6" Type="http://schemas.openxmlformats.org/officeDocument/2006/relationships/hyperlink" Target="https://github.com/The-Marcy-Lab-School/DA_INSTRUCTOR_CodeAlongs_Labs/blob/main/module-3-sql-relational-databases/lectures/ctes-i-syntax-rewriting-a-subquery/instructor_prep.md" TargetMode="External"/><Relationship Id="rId7" Type="http://schemas.openxmlformats.org/officeDocument/2006/relationships/hyperlink" Target="https://github.com/The-Marcy-Lab-School/DA_INSTRUCTOR_CodeAlongs_Labs/tree/main/module-3-sql-relational-databases/lectures/ctes-ii-decomposing-a-multi-table-question-with-a-peer" TargetMode="External"/><Relationship Id="rId8" Type="http://schemas.openxmlformats.org/officeDocument/2006/relationships/hyperlink" Target="https://github.com/The-Marcy-Lab-School/DA_INSTRUCTOR_CodeAlongs_Labs/blob/main/module-3-sql-relational-databases/lectures/ctes-ii-decomposing-a-multi-table-question-with-a-peer/instructor_prep.md" TargetMode="Externa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The-Marcy-Lab-School/DA_INSTRUCTOR_CodeAlongs_Labs/tree/main/module-3-sql-relational-databases/lectures/window-functions-i-syntax" TargetMode="External"/><Relationship Id="rId4" Type="http://schemas.openxmlformats.org/officeDocument/2006/relationships/hyperlink" Target="https://github.com/The-Marcy-Lab-School/DA_INSTRUCTOR_CodeAlongs_Labs/blob/main/module-3-sql-relational-databases/lectures/window-functions-i-syntax/instructor_prep.md" TargetMode="External"/><Relationship Id="rId5" Type="http://schemas.openxmlformats.org/officeDocument/2006/relationships/hyperlink" Target="https://github.com/The-Marcy-Lab-School/DA_INSTRUCTOR_CodeAlongs_Labs/tree/main/module-3-sql-relational-databases/lectures/window-functions-ii-partition-by-ranking-within-groups" TargetMode="External"/><Relationship Id="rId6" Type="http://schemas.openxmlformats.org/officeDocument/2006/relationships/hyperlink" Target="https://github.com/The-Marcy-Lab-School/DA_INSTRUCTOR_CodeAlongs_Labs/blob/main/module-3-sql-relational-databases/lectures/window-functions-ii-partition-by-ranking-within-groups/instructor_prep.md" TargetMode="External"/><Relationship Id="rId7" Type="http://schemas.openxmlformats.org/officeDocument/2006/relationships/hyperlink" Target="https://github.com/The-Marcy-Lab-School/DA_INSTRUCTOR_CodeAlongs_Labs/tree/main/module-3-sql-relational-databases/lectures/coalesce-materialized-views-a-first-look-at-explain-analyze" TargetMode="External"/><Relationship Id="rId8" Type="http://schemas.openxmlformats.org/officeDocument/2006/relationships/hyperlink" Target="https://github.com/The-Marcy-Lab-School/DA_INSTRUCTOR_CodeAlongs_Labs/blob/main/module-3-sql-relational-databases/lectures/coalesce-materialized-views-a-first-look-at-explain-analyze/instructor_prep.md" TargetMode="Externa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The-Marcy-Lab-School/DA_INSTRUCTOR_CodeAlongs_Labs/tree/main/module-3-sql-relational-databases/lectures/subquery-vs-cte-vs-window-function-choosing-the-right-tool" TargetMode="External"/><Relationship Id="rId4" Type="http://schemas.openxmlformats.org/officeDocument/2006/relationships/hyperlink" Target="https://github.com/The-Marcy-Lab-School/DA_INSTRUCTOR_CodeAlongs_Labs/blob/main/module-3-sql-relational-databases/lectures/subquery-vs-cte-vs-window-function-choosing-the-right-tool/instructor_prep.md" TargetMode="External"/><Relationship Id="rId5" Type="http://schemas.openxmlformats.org/officeDocument/2006/relationships/hyperlink" Target="https://github.com/The-Marcy-Lab-School/DA_INSTRUCTOR_CodeAlongs_Labs/tree/main/module-3-sql-relational-databases/labs/independent-schema-critique-role-setup" TargetMode="External"/><Relationship Id="rId6" Type="http://schemas.openxmlformats.org/officeDocument/2006/relationships/hyperlink" Target="https://github.com/The-Marcy-Lab-School/DA_INSTRUCTOR_CodeAlongs_Labs/blob/main/module-3-sql-relational-databases/labs/independent-schema-critique-role-setup/RUBRIC.md" TargetMode="External"/><Relationship Id="rId7" Type="http://schemas.openxmlformats.org/officeDocument/2006/relationships/hyperlink" Target="https://github.com/The-Marcy-Lab-School/DA_INSTRUCTOR_CodeAlongs_Labs/tree/main/module-3-sql-relational-databases/lectures/cumulative-recall-joins-ctes-window-functions-materialized-views" TargetMode="External"/><Relationship Id="rId8" Type="http://schemas.openxmlformats.org/officeDocument/2006/relationships/hyperlink" Target="https://github.com/The-Marcy-Lab-School/DA_INSTRUCTOR_CodeAlongs_Labs/blob/main/module-3-sql-relational-databases/lectures/cumulative-recall-joins-ctes-window-functions-materialized-views/instructor_prep.md" TargetMode="Externa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theregister.com/2020/10/05/excel_england_coronavirus_contact_error/"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11094415" cy="1463040"/>
          </a:xfrm>
          <a:prstGeom prst="rect">
            <a:avLst/>
          </a:prstGeom>
          <a:noFill/>
        </p:spPr>
        <p:txBody>
          <a:bodyPr wrap="square" anchor="b" lIns="0" rIns="0" tIns="0" bIns="0">
            <a:noAutofit/>
          </a:bodyPr>
          <a:lstStyle/>
          <a:p>
            <a:pPr algn="l"/>
            <a:r>
              <a:rPr sz="4000" b="1" i="0" u="none">
                <a:solidFill>
                  <a:srgbClr val="EEBC32"/>
                </a:solidFill>
                <a:latin typeface="Helvetica"/>
              </a:rPr>
              <a:t>Module 3 — Instructor Launch</a:t>
            </a:r>
          </a:p>
        </p:txBody>
      </p:sp>
      <p:sp>
        <p:nvSpPr>
          <p:cNvPr id="6" name="TextBox 5"/>
          <p:cNvSpPr txBox="1"/>
          <p:nvPr/>
        </p:nvSpPr>
        <p:spPr>
          <a:xfrm>
            <a:off x="548640" y="5943600"/>
            <a:ext cx="8229600" cy="457200"/>
          </a:xfrm>
          <a:prstGeom prst="rect">
            <a:avLst/>
          </a:prstGeom>
          <a:noFill/>
        </p:spPr>
        <p:txBody>
          <a:bodyPr wrap="square" anchor="t" lIns="0" rIns="0" tIns="0" bIns="0">
            <a:noAutofit/>
          </a:bodyPr>
          <a:lstStyle/>
          <a:p>
            <a:pPr algn="l"/>
            <a:r>
              <a:rPr sz="2600" b="0" i="0" u="none">
                <a:solidFill>
                  <a:srgbClr val="FFFCF7"/>
                </a:solidFill>
                <a:latin typeface="Helvetica"/>
              </a:rPr>
              <a:t>Module 3: SQL &amp; Relational Databases with PostgreSQL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Skills This Module Covers</a:t>
            </a:r>
          </a:p>
        </p:txBody>
      </p:sp>
      <p:graphicFrame>
        <p:nvGraphicFramePr>
          <p:cNvPr id="4" name="Table 3"/>
          <p:cNvGraphicFramePr>
            <a:graphicFrameLocks noGrp="1"/>
          </p:cNvGraphicFramePr>
          <p:nvPr/>
        </p:nvGraphicFramePr>
        <p:xfrm>
          <a:off x="548640" y="2235708"/>
          <a:ext cx="11094415" cy="302666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Skill</a:t>
                      </a:r>
                    </a:p>
                  </a:txBody>
                  <a:tcPr marL="109728" marR="109728" marT="54864" marB="54864" anchor="ctr">
                    <a:solidFill>
                      <a:srgbClr val="264326"/>
                    </a:solidFill>
                  </a:tcPr>
                </a:tc>
                <a:tc>
                  <a:txBody>
                    <a:bodyPr wrap="square"/>
                    <a:lstStyle/>
                    <a:p>
                      <a:r>
                        <a:rPr sz="2600" b="1" i="0" u="none">
                          <a:solidFill>
                            <a:srgbClr val="FFFCF7"/>
                          </a:solidFill>
                          <a:latin typeface="Helvetica"/>
                        </a:rPr>
                        <a:t>What It Means</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SQL</a:t>
                      </a:r>
                    </a:p>
                  </a:txBody>
                  <a:tcPr marL="109728" marR="109728" marT="54864" marB="54864" anchor="ctr">
                    <a:solidFill>
                      <a:srgbClr val="FFFCF7"/>
                    </a:solidFill>
                  </a:tcPr>
                </a:tc>
                <a:tc>
                  <a:txBody>
                    <a:bodyPr wrap="square"/>
                    <a:lstStyle/>
                    <a:p>
                      <a:r>
                        <a:rPr sz="2600" b="0" i="0" u="none">
                          <a:solidFill>
                            <a:srgbClr val="261F1D"/>
                          </a:solidFill>
                          <a:latin typeface="Helvetica"/>
                        </a:rPr>
                        <a:t>Writing correct, spot-checked queries - joins, aggregation, CTEs, window functions</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Relational Databases</a:t>
                      </a:r>
                    </a:p>
                  </a:txBody>
                  <a:tcPr marL="109728" marR="109728" marT="54864" marB="54864" anchor="ctr">
                    <a:solidFill>
                      <a:srgbClr val="FFF6E4"/>
                    </a:solidFill>
                  </a:tcPr>
                </a:tc>
                <a:tc>
                  <a:txBody>
                    <a:bodyPr wrap="square"/>
                    <a:lstStyle/>
                    <a:p>
                      <a:r>
                        <a:rPr sz="2600" b="0" i="0" u="none">
                          <a:solidFill>
                            <a:srgbClr val="261F1D"/>
                          </a:solidFill>
                          <a:latin typeface="Helvetica"/>
                        </a:rPr>
                        <a:t>Real primary/foreign keys expressing real relationships, normalized to 3NF</a:t>
                      </a:r>
                    </a:p>
                  </a:txBody>
                  <a:tcPr marL="109728" marR="109728" marT="54864" marB="54864" anchor="ctr">
                    <a:solidFill>
                      <a:srgbClr val="FFF6E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Skills This Module Covers (cont.)</a:t>
            </a:r>
          </a:p>
        </p:txBody>
      </p:sp>
      <p:graphicFrame>
        <p:nvGraphicFramePr>
          <p:cNvPr id="4" name="Table 3"/>
          <p:cNvGraphicFramePr>
            <a:graphicFrameLocks noGrp="1"/>
          </p:cNvGraphicFramePr>
          <p:nvPr/>
        </p:nvGraphicFramePr>
        <p:xfrm>
          <a:off x="548640" y="2427732"/>
          <a:ext cx="11094415" cy="264261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Skill</a:t>
                      </a:r>
                    </a:p>
                  </a:txBody>
                  <a:tcPr marL="109728" marR="109728" marT="54864" marB="54864" anchor="ctr">
                    <a:solidFill>
                      <a:srgbClr val="264326"/>
                    </a:solidFill>
                  </a:tcPr>
                </a:tc>
                <a:tc>
                  <a:txBody>
                    <a:bodyPr wrap="square"/>
                    <a:lstStyle/>
                    <a:p>
                      <a:r>
                        <a:rPr sz="2600" b="1" i="0" u="none">
                          <a:solidFill>
                            <a:srgbClr val="FFFCF7"/>
                          </a:solidFill>
                          <a:latin typeface="Helvetica"/>
                        </a:rPr>
                        <a:t>What It Means</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Database Administration</a:t>
                      </a:r>
                    </a:p>
                  </a:txBody>
                  <a:tcPr marL="109728" marR="109728" marT="54864" marB="54864" anchor="ctr">
                    <a:solidFill>
                      <a:srgbClr val="FFFCF7"/>
                    </a:solidFill>
                  </a:tcPr>
                </a:tc>
                <a:tc>
                  <a:txBody>
                    <a:bodyPr wrap="square"/>
                    <a:lstStyle/>
                    <a:p>
                      <a:r>
                        <a:rPr sz="2600" b="0" i="0" u="none">
                          <a:solidFill>
                            <a:srgbClr val="261F1D"/>
                          </a:solidFill>
                          <a:latin typeface="Helvetica"/>
                        </a:rPr>
                        <a:t>Creating a real database/tables via psql, and correctly granting a role</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Data Modeling</a:t>
                      </a:r>
                    </a:p>
                  </a:txBody>
                  <a:tcPr marL="109728" marR="109728" marT="54864" marB="54864" anchor="ctr">
                    <a:solidFill>
                      <a:srgbClr val="FFF6E4"/>
                    </a:solidFill>
                  </a:tcPr>
                </a:tc>
                <a:tc>
                  <a:txBody>
                    <a:bodyPr wrap="square"/>
                    <a:lstStyle/>
                    <a:p>
                      <a:r>
                        <a:rPr sz="2600" b="0" i="0" u="none">
                          <a:solidFill>
                            <a:srgbClr val="261F1D"/>
                          </a:solidFill>
                          <a:latin typeface="Helvetica"/>
                        </a:rPr>
                        <a:t>Mapping business questions to a schema before writing any SQL</a:t>
                      </a:r>
                    </a:p>
                  </a:txBody>
                  <a:tcPr marL="109728" marR="109728" marT="54864" marB="54864" anchor="ctr">
                    <a:solidFill>
                      <a:srgbClr val="FFF6E4"/>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Lecture &amp; Lab Order (Days 1-3)</a:t>
            </a:r>
          </a:p>
        </p:txBody>
      </p:sp>
      <p:graphicFrame>
        <p:nvGraphicFramePr>
          <p:cNvPr id="4" name="Table 3"/>
          <p:cNvGraphicFramePr>
            <a:graphicFrameLocks noGrp="1"/>
          </p:cNvGraphicFramePr>
          <p:nvPr/>
        </p:nvGraphicFramePr>
        <p:xfrm>
          <a:off x="548640" y="2176272"/>
          <a:ext cx="11094415" cy="3145536"/>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Type</a:t>
                      </a:r>
                    </a:p>
                  </a:txBody>
                  <a:tcPr marL="109728" marR="109728" marT="54864" marB="54864" anchor="ctr">
                    <a:solidFill>
                      <a:srgbClr val="264326"/>
                    </a:solidFill>
                  </a:tcPr>
                </a:tc>
                <a:tc>
                  <a:txBody>
                    <a:bodyPr wrap="square"/>
                    <a:lstStyle/>
                    <a:p>
                      <a:r>
                        <a:rPr sz="2600" b="1" i="0" u="none">
                          <a:solidFill>
                            <a:srgbClr val="FFFCF7"/>
                          </a:solidFill>
                          <a:latin typeface="Helvetica"/>
                        </a:rPr>
                        <a:t>Name</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1</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3"/>
                        </a:rPr>
                        <a:t>Lecture</a:t>
                      </a:r>
                      <a:r>
                        <a:rPr sz="2600" b="0" i="0" u="none">
                          <a:solidFill>
                            <a:srgbClr val="261F1D"/>
                          </a:solidFill>
                          <a:latin typeface="Helvetica"/>
                        </a:rPr>
                        <a:t> / </a:t>
                      </a:r>
                      <a:r>
                        <a:rPr sz="2600" b="0" i="0" u="sng">
                          <a:solidFill>
                            <a:srgbClr val="261F1D"/>
                          </a:solidFill>
                          <a:latin typeface="Helvetica"/>
                          <a:hlinkClick r:id="rId4"/>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Relational Thinking &amp; Normalization</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2</a:t>
                      </a:r>
                    </a:p>
                  </a:txBody>
                  <a:tcPr marL="109728" marR="109728" marT="54864" marB="54864" anchor="ctr">
                    <a:solidFill>
                      <a:srgbClr val="FFF6E4"/>
                    </a:solidFill>
                  </a:tcPr>
                </a:tc>
                <a:tc>
                  <a:txBody>
                    <a:bodyPr wrap="square"/>
                    <a:lstStyle/>
                    <a:p>
                      <a:r>
                        <a:rPr sz="2600" b="0" i="0" u="sng">
                          <a:solidFill>
                            <a:srgbClr val="261F1D"/>
                          </a:solidFill>
                          <a:latin typeface="Helvetica"/>
                          <a:hlinkClick r:id="rId5"/>
                        </a:rPr>
                        <a:t>Lecture</a:t>
                      </a:r>
                      <a:r>
                        <a:rPr sz="2600" b="0" i="0" u="none">
                          <a:solidFill>
                            <a:srgbClr val="261F1D"/>
                          </a:solidFill>
                          <a:latin typeface="Helvetica"/>
                        </a:rPr>
                        <a:t> / </a:t>
                      </a:r>
                      <a:r>
                        <a:rPr sz="2600" b="0" i="0" u="sng">
                          <a:solidFill>
                            <a:srgbClr val="261F1D"/>
                          </a:solidFill>
                          <a:latin typeface="Helvetica"/>
                          <a:hlinkClick r:id="rId6"/>
                        </a:rPr>
                        <a:t>Prep</a:t>
                      </a:r>
                    </a:p>
                  </a:txBody>
                  <a:tcPr marL="109728" marR="109728" marT="54864" marB="54864" anchor="ctr">
                    <a:solidFill>
                      <a:srgbClr val="FFF6E4"/>
                    </a:solidFill>
                  </a:tcPr>
                </a:tc>
                <a:tc>
                  <a:txBody>
                    <a:bodyPr wrap="square"/>
                    <a:lstStyle/>
                    <a:p>
                      <a:r>
                        <a:rPr sz="2600" b="0" i="0" u="none">
                          <a:solidFill>
                            <a:srgbClr val="261F1D"/>
                          </a:solidFill>
                          <a:latin typeface="Helvetica"/>
                        </a:rPr>
                        <a:t>Your First Database: psql, Tables &amp; Constraints</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3</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7"/>
                        </a:rPr>
                        <a:t>Lecture</a:t>
                      </a:r>
                      <a:r>
                        <a:rPr sz="2600" b="0" i="0" u="none">
                          <a:solidFill>
                            <a:srgbClr val="261F1D"/>
                          </a:solidFill>
                          <a:latin typeface="Helvetica"/>
                        </a:rPr>
                        <a:t> / </a:t>
                      </a:r>
                      <a:r>
                        <a:rPr sz="2600" b="0" i="0" u="sng">
                          <a:solidFill>
                            <a:srgbClr val="261F1D"/>
                          </a:solidFill>
                          <a:latin typeface="Helvetica"/>
                          <a:hlinkClick r:id="rId8"/>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Joins: INNER vs. LEFT</a:t>
                      </a:r>
                    </a:p>
                  </a:txBody>
                  <a:tcPr marL="109728" marR="109728" marT="54864" marB="54864" anchor="ctr">
                    <a:solidFill>
                      <a:srgbClr val="FFFCF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Lecture &amp; Lab Order (Days 4-6)</a:t>
            </a:r>
          </a:p>
        </p:txBody>
      </p:sp>
      <p:graphicFrame>
        <p:nvGraphicFramePr>
          <p:cNvPr id="4" name="Table 3"/>
          <p:cNvGraphicFramePr>
            <a:graphicFrameLocks noGrp="1"/>
          </p:cNvGraphicFramePr>
          <p:nvPr/>
        </p:nvGraphicFramePr>
        <p:xfrm>
          <a:off x="548640" y="1988820"/>
          <a:ext cx="11094415" cy="3520440"/>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Type</a:t>
                      </a:r>
                    </a:p>
                  </a:txBody>
                  <a:tcPr marL="109728" marR="109728" marT="54864" marB="54864" anchor="ctr">
                    <a:solidFill>
                      <a:srgbClr val="264326"/>
                    </a:solidFill>
                  </a:tcPr>
                </a:tc>
                <a:tc>
                  <a:txBody>
                    <a:bodyPr wrap="square"/>
                    <a:lstStyle/>
                    <a:p>
                      <a:r>
                        <a:rPr sz="2600" b="1" i="0" u="none">
                          <a:solidFill>
                            <a:srgbClr val="FFFCF7"/>
                          </a:solidFill>
                          <a:latin typeface="Helvetica"/>
                        </a:rPr>
                        <a:t>Name</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4</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3"/>
                        </a:rPr>
                        <a:t>Lecture</a:t>
                      </a:r>
                      <a:r>
                        <a:rPr sz="2600" b="0" i="0" u="none">
                          <a:solidFill>
                            <a:srgbClr val="261F1D"/>
                          </a:solidFill>
                          <a:latin typeface="Helvetica"/>
                        </a:rPr>
                        <a:t> / </a:t>
                      </a:r>
                      <a:r>
                        <a:rPr sz="2600" b="0" i="0" u="sng">
                          <a:solidFill>
                            <a:srgbClr val="261F1D"/>
                          </a:solidFill>
                          <a:latin typeface="Helvetica"/>
                          <a:hlinkClick r:id="rId4"/>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Aggregating with GROUP BY + HAVING</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5</a:t>
                      </a:r>
                    </a:p>
                  </a:txBody>
                  <a:tcPr marL="109728" marR="109728" marT="54864" marB="54864" anchor="ctr">
                    <a:solidFill>
                      <a:srgbClr val="FFF6E4"/>
                    </a:solidFill>
                  </a:tcPr>
                </a:tc>
                <a:tc>
                  <a:txBody>
                    <a:bodyPr wrap="square"/>
                    <a:lstStyle/>
                    <a:p>
                      <a:r>
                        <a:rPr sz="2600" b="0" i="0" u="sng">
                          <a:solidFill>
                            <a:srgbClr val="261F1D"/>
                          </a:solidFill>
                          <a:latin typeface="Helvetica"/>
                          <a:hlinkClick r:id="rId5"/>
                        </a:rPr>
                        <a:t>Lecture</a:t>
                      </a:r>
                      <a:r>
                        <a:rPr sz="2600" b="0" i="0" u="none">
                          <a:solidFill>
                            <a:srgbClr val="261F1D"/>
                          </a:solidFill>
                          <a:latin typeface="Helvetica"/>
                        </a:rPr>
                        <a:t> / </a:t>
                      </a:r>
                      <a:r>
                        <a:rPr sz="2600" b="0" i="0" u="sng">
                          <a:solidFill>
                            <a:srgbClr val="261F1D"/>
                          </a:solidFill>
                          <a:latin typeface="Helvetica"/>
                          <a:hlinkClick r:id="rId6"/>
                        </a:rPr>
                        <a:t>Prep</a:t>
                      </a:r>
                    </a:p>
                  </a:txBody>
                  <a:tcPr marL="109728" marR="109728" marT="54864" marB="54864" anchor="ctr">
                    <a:solidFill>
                      <a:srgbClr val="FFF6E4"/>
                    </a:solidFill>
                  </a:tcPr>
                </a:tc>
                <a:tc>
                  <a:txBody>
                    <a:bodyPr wrap="square"/>
                    <a:lstStyle/>
                    <a:p>
                      <a:r>
                        <a:rPr sz="2600" b="0" i="0" u="none">
                          <a:solidFill>
                            <a:srgbClr val="261F1D"/>
                          </a:solidFill>
                          <a:latin typeface="Helvetica"/>
                        </a:rPr>
                        <a:t>CTEs I: Syntax &amp; Rewriting a Subquery</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6</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7"/>
                        </a:rPr>
                        <a:t>Lecture</a:t>
                      </a:r>
                      <a:r>
                        <a:rPr sz="2600" b="0" i="0" u="none">
                          <a:solidFill>
                            <a:srgbClr val="261F1D"/>
                          </a:solidFill>
                          <a:latin typeface="Helvetica"/>
                        </a:rPr>
                        <a:t> / </a:t>
                      </a:r>
                      <a:r>
                        <a:rPr sz="2600" b="0" i="0" u="sng">
                          <a:solidFill>
                            <a:srgbClr val="261F1D"/>
                          </a:solidFill>
                          <a:latin typeface="Helvetica"/>
                          <a:hlinkClick r:id="rId8"/>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CTEs II: Decomposing a Question, With a Peer</a:t>
                      </a:r>
                    </a:p>
                  </a:txBody>
                  <a:tcPr marL="109728" marR="109728" marT="54864" marB="54864" anchor="ctr">
                    <a:solidFill>
                      <a:srgbClr val="FFFCF7"/>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Lecture &amp; Lab Order (Days 7-9)</a:t>
            </a:r>
          </a:p>
        </p:txBody>
      </p:sp>
      <p:graphicFrame>
        <p:nvGraphicFramePr>
          <p:cNvPr id="4" name="Table 3"/>
          <p:cNvGraphicFramePr>
            <a:graphicFrameLocks noGrp="1"/>
          </p:cNvGraphicFramePr>
          <p:nvPr/>
        </p:nvGraphicFramePr>
        <p:xfrm>
          <a:off x="548640" y="1604772"/>
          <a:ext cx="11094415" cy="4288536"/>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Type</a:t>
                      </a:r>
                    </a:p>
                  </a:txBody>
                  <a:tcPr marL="109728" marR="109728" marT="54864" marB="54864" anchor="ctr">
                    <a:solidFill>
                      <a:srgbClr val="264326"/>
                    </a:solidFill>
                  </a:tcPr>
                </a:tc>
                <a:tc>
                  <a:txBody>
                    <a:bodyPr wrap="square"/>
                    <a:lstStyle/>
                    <a:p>
                      <a:r>
                        <a:rPr sz="2600" b="1" i="0" u="none">
                          <a:solidFill>
                            <a:srgbClr val="FFFCF7"/>
                          </a:solidFill>
                          <a:latin typeface="Helvetica"/>
                        </a:rPr>
                        <a:t>Name</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7</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3"/>
                        </a:rPr>
                        <a:t>Lecture</a:t>
                      </a:r>
                      <a:r>
                        <a:rPr sz="2600" b="0" i="0" u="none">
                          <a:solidFill>
                            <a:srgbClr val="261F1D"/>
                          </a:solidFill>
                          <a:latin typeface="Helvetica"/>
                        </a:rPr>
                        <a:t> / </a:t>
                      </a:r>
                      <a:r>
                        <a:rPr sz="2600" b="0" i="0" u="sng">
                          <a:solidFill>
                            <a:srgbClr val="261F1D"/>
                          </a:solidFill>
                          <a:latin typeface="Helvetica"/>
                          <a:hlinkClick r:id="rId4"/>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Window Functions I: RANK()/ROW_NUMBER() Syntax</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8</a:t>
                      </a:r>
                    </a:p>
                  </a:txBody>
                  <a:tcPr marL="109728" marR="109728" marT="54864" marB="54864" anchor="ctr">
                    <a:solidFill>
                      <a:srgbClr val="FFF6E4"/>
                    </a:solidFill>
                  </a:tcPr>
                </a:tc>
                <a:tc>
                  <a:txBody>
                    <a:bodyPr wrap="square"/>
                    <a:lstStyle/>
                    <a:p>
                      <a:r>
                        <a:rPr sz="2600" b="0" i="0" u="sng">
                          <a:solidFill>
                            <a:srgbClr val="261F1D"/>
                          </a:solidFill>
                          <a:latin typeface="Helvetica"/>
                          <a:hlinkClick r:id="rId5"/>
                        </a:rPr>
                        <a:t>Lecture</a:t>
                      </a:r>
                      <a:r>
                        <a:rPr sz="2600" b="0" i="0" u="none">
                          <a:solidFill>
                            <a:srgbClr val="261F1D"/>
                          </a:solidFill>
                          <a:latin typeface="Helvetica"/>
                        </a:rPr>
                        <a:t> / </a:t>
                      </a:r>
                      <a:r>
                        <a:rPr sz="2600" b="0" i="0" u="sng">
                          <a:solidFill>
                            <a:srgbClr val="261F1D"/>
                          </a:solidFill>
                          <a:latin typeface="Helvetica"/>
                          <a:hlinkClick r:id="rId6"/>
                        </a:rPr>
                        <a:t>Prep</a:t>
                      </a:r>
                    </a:p>
                  </a:txBody>
                  <a:tcPr marL="109728" marR="109728" marT="54864" marB="54864" anchor="ctr">
                    <a:solidFill>
                      <a:srgbClr val="FFF6E4"/>
                    </a:solidFill>
                  </a:tcPr>
                </a:tc>
                <a:tc>
                  <a:txBody>
                    <a:bodyPr wrap="square"/>
                    <a:lstStyle/>
                    <a:p>
                      <a:r>
                        <a:rPr sz="2600" b="0" i="0" u="none">
                          <a:solidFill>
                            <a:srgbClr val="261F1D"/>
                          </a:solidFill>
                          <a:latin typeface="Helvetica"/>
                        </a:rPr>
                        <a:t>Window Functions II: PARTITION BY &amp; Ranking Within Groups</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9</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7"/>
                        </a:rPr>
                        <a:t>Lecture</a:t>
                      </a:r>
                      <a:r>
                        <a:rPr sz="2600" b="0" i="0" u="none">
                          <a:solidFill>
                            <a:srgbClr val="261F1D"/>
                          </a:solidFill>
                          <a:latin typeface="Helvetica"/>
                        </a:rPr>
                        <a:t> / </a:t>
                      </a:r>
                      <a:r>
                        <a:rPr sz="2600" b="0" i="0" u="sng">
                          <a:solidFill>
                            <a:srgbClr val="261F1D"/>
                          </a:solidFill>
                          <a:latin typeface="Helvetica"/>
                          <a:hlinkClick r:id="rId8"/>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COALESCE, Materialized Views &amp; EXPLAIN ANALYZE</a:t>
                      </a:r>
                    </a:p>
                  </a:txBody>
                  <a:tcPr marL="109728" marR="109728" marT="54864" marB="54864" anchor="ctr">
                    <a:solidFill>
                      <a:srgbClr val="FFFC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Lecture &amp; Lab Order (Days 10-13)</a:t>
            </a:r>
          </a:p>
        </p:txBody>
      </p:sp>
      <p:graphicFrame>
        <p:nvGraphicFramePr>
          <p:cNvPr id="4" name="Table 3"/>
          <p:cNvGraphicFramePr>
            <a:graphicFrameLocks noGrp="1"/>
          </p:cNvGraphicFramePr>
          <p:nvPr/>
        </p:nvGraphicFramePr>
        <p:xfrm>
          <a:off x="548640" y="1604772"/>
          <a:ext cx="11094415" cy="4288536"/>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Type</a:t>
                      </a:r>
                    </a:p>
                  </a:txBody>
                  <a:tcPr marL="109728" marR="109728" marT="54864" marB="54864" anchor="ctr">
                    <a:solidFill>
                      <a:srgbClr val="264326"/>
                    </a:solidFill>
                  </a:tcPr>
                </a:tc>
                <a:tc>
                  <a:txBody>
                    <a:bodyPr wrap="square"/>
                    <a:lstStyle/>
                    <a:p>
                      <a:r>
                        <a:rPr sz="2600" b="1" i="0" u="none">
                          <a:solidFill>
                            <a:srgbClr val="FFFCF7"/>
                          </a:solidFill>
                          <a:latin typeface="Helvetica"/>
                        </a:rPr>
                        <a:t>Name</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10</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3"/>
                        </a:rPr>
                        <a:t>Lecture</a:t>
                      </a:r>
                      <a:r>
                        <a:rPr sz="2600" b="0" i="0" u="none">
                          <a:solidFill>
                            <a:srgbClr val="261F1D"/>
                          </a:solidFill>
                          <a:latin typeface="Helvetica"/>
                        </a:rPr>
                        <a:t> / </a:t>
                      </a:r>
                      <a:r>
                        <a:rPr sz="2600" b="0" i="0" u="sng">
                          <a:solidFill>
                            <a:srgbClr val="261F1D"/>
                          </a:solidFill>
                          <a:latin typeface="Helvetica"/>
                          <a:hlinkClick r:id="rId4"/>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Subquery vs. CTE vs. Window Function</a:t>
                      </a:r>
                    </a:p>
                  </a:txBody>
                  <a:tcPr marL="109728" marR="109728" marT="54864" marB="54864" anchor="ctr">
                    <a:solidFill>
                      <a:srgbClr val="FFFCF7"/>
                    </a:solidFill>
                  </a:tcPr>
                </a:tc>
              </a:tr>
              <a:tr h="1645920">
                <a:tc>
                  <a:txBody>
                    <a:bodyPr wrap="square"/>
                    <a:lstStyle/>
                    <a:p>
                      <a:r>
                        <a:rPr sz="2600" b="0" i="0" u="none">
                          <a:solidFill>
                            <a:srgbClr val="261F1D"/>
                          </a:solidFill>
                          <a:latin typeface="Helvetica"/>
                        </a:rPr>
                        <a:t>11-12</a:t>
                      </a:r>
                    </a:p>
                  </a:txBody>
                  <a:tcPr marL="109728" marR="109728" marT="54864" marB="54864" anchor="ctr">
                    <a:solidFill>
                      <a:srgbClr val="FFF6E4"/>
                    </a:solidFill>
                  </a:tcPr>
                </a:tc>
                <a:tc>
                  <a:txBody>
                    <a:bodyPr wrap="square"/>
                    <a:lstStyle/>
                    <a:p>
                      <a:r>
                        <a:rPr sz="2600" b="0" i="0" u="sng">
                          <a:solidFill>
                            <a:srgbClr val="261F1D"/>
                          </a:solidFill>
                          <a:latin typeface="Helvetica"/>
                          <a:hlinkClick r:id="rId5"/>
                        </a:rPr>
                        <a:t>Lab</a:t>
                      </a:r>
                      <a:r>
                        <a:rPr sz="2600" b="0" i="0" u="none">
                          <a:solidFill>
                            <a:srgbClr val="261F1D"/>
                          </a:solidFill>
                          <a:latin typeface="Helvetica"/>
                        </a:rPr>
                        <a:t> / </a:t>
                      </a:r>
                      <a:r>
                        <a:rPr sz="2600" b="0" i="0" u="sng">
                          <a:solidFill>
                            <a:srgbClr val="261F1D"/>
                          </a:solidFill>
                          <a:latin typeface="Helvetica"/>
                          <a:hlinkClick r:id="rId6"/>
                        </a:rPr>
                        <a:t>Rubric</a:t>
                      </a:r>
                    </a:p>
                  </a:txBody>
                  <a:tcPr marL="109728" marR="109728" marT="54864" marB="54864" anchor="ctr">
                    <a:solidFill>
                      <a:srgbClr val="FFF6E4"/>
                    </a:solidFill>
                  </a:tcPr>
                </a:tc>
                <a:tc>
                  <a:txBody>
                    <a:bodyPr wrap="square"/>
                    <a:lstStyle/>
                    <a:p>
                      <a:r>
                        <a:rPr sz="2600" b="0" i="0" u="none">
                          <a:solidFill>
                            <a:srgbClr val="261F1D"/>
                          </a:solidFill>
                          <a:latin typeface="Helvetica"/>
                        </a:rPr>
                        <a:t>Independent Schema Critique &amp; Read-Only Role (this module's only lab, 2 days)</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13</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7"/>
                        </a:rPr>
                        <a:t>Lecture</a:t>
                      </a:r>
                      <a:r>
                        <a:rPr sz="2600" b="0" i="0" u="none">
                          <a:solidFill>
                            <a:srgbClr val="261F1D"/>
                          </a:solidFill>
                          <a:latin typeface="Helvetica"/>
                        </a:rPr>
                        <a:t> / </a:t>
                      </a:r>
                      <a:r>
                        <a:rPr sz="2600" b="0" i="0" u="sng">
                          <a:solidFill>
                            <a:srgbClr val="261F1D"/>
                          </a:solidFill>
                          <a:latin typeface="Helvetica"/>
                          <a:hlinkClick r:id="rId8"/>
                        </a:rPr>
                        <a:t>Prep</a:t>
                      </a:r>
                    </a:p>
                  </a:txBody>
                  <a:tcPr marL="109728" marR="109728" marT="54864" marB="54864" anchor="ctr">
                    <a:solidFill>
                      <a:srgbClr val="FFFCF7"/>
                    </a:solidFill>
                  </a:tcPr>
                </a:tc>
                <a:tc>
                  <a:txBody>
                    <a:bodyPr wrap="square"/>
                    <a:lstStyle/>
                    <a:p>
                      <a:r>
                        <a:rPr sz="2600" b="0" i="0" u="none">
                          <a:solidFill>
                            <a:srgbClr val="261F1D"/>
                          </a:solidFill>
                          <a:latin typeface="Helvetica"/>
                        </a:rPr>
                        <a:t>Cumulative Recall (1st and only recall lecture)</a:t>
                      </a:r>
                    </a:p>
                  </a:txBody>
                  <a:tcPr marL="109728" marR="109728" marT="54864" marB="54864" anchor="ctr">
                    <a:solidFill>
                      <a:srgbClr val="FFFCF7"/>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Lecture &amp; Lab Order (Days 14-15: Project Sprint)</a:t>
            </a:r>
          </a:p>
        </p:txBody>
      </p:sp>
      <p:graphicFrame>
        <p:nvGraphicFramePr>
          <p:cNvPr id="4" name="Table 3"/>
          <p:cNvGraphicFramePr>
            <a:graphicFrameLocks noGrp="1"/>
          </p:cNvGraphicFramePr>
          <p:nvPr/>
        </p:nvGraphicFramePr>
        <p:xfrm>
          <a:off x="548640" y="2427732"/>
          <a:ext cx="11094415" cy="2642616"/>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Type</a:t>
                      </a:r>
                    </a:p>
                  </a:txBody>
                  <a:tcPr marL="109728" marR="109728" marT="54864" marB="54864" anchor="ctr">
                    <a:solidFill>
                      <a:srgbClr val="264326"/>
                    </a:solidFill>
                  </a:tcPr>
                </a:tc>
                <a:tc>
                  <a:txBody>
                    <a:bodyPr wrap="square"/>
                    <a:lstStyle/>
                    <a:p>
                      <a:r>
                        <a:rPr sz="2600" b="1" i="0" u="none">
                          <a:solidFill>
                            <a:srgbClr val="FFFCF7"/>
                          </a:solidFill>
                          <a:latin typeface="Helvetica"/>
                        </a:rPr>
                        <a:t>Name</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14</a:t>
                      </a:r>
                    </a:p>
                  </a:txBody>
                  <a:tcPr marL="109728" marR="109728" marT="54864" marB="54864" anchor="ctr">
                    <a:solidFill>
                      <a:srgbClr val="FFFCF7"/>
                    </a:solidFill>
                  </a:tcPr>
                </a:tc>
                <a:tc>
                  <a:txBody>
                    <a:bodyPr wrap="square"/>
                    <a:lstStyle/>
                    <a:p>
                      <a:r>
                        <a:rPr sz="2600" b="0" i="0" u="none">
                          <a:solidFill>
                            <a:srgbClr val="261F1D"/>
                          </a:solidFill>
                          <a:latin typeface="Helvetica"/>
                        </a:rPr>
                        <a:t>Project</a:t>
                      </a:r>
                    </a:p>
                  </a:txBody>
                  <a:tcPr marL="109728" marR="109728" marT="54864" marB="54864" anchor="ctr">
                    <a:solidFill>
                      <a:srgbClr val="FFFCF7"/>
                    </a:solidFill>
                  </a:tcPr>
                </a:tc>
                <a:tc>
                  <a:txBody>
                    <a:bodyPr wrap="square"/>
                    <a:lstStyle/>
                    <a:p>
                      <a:r>
                        <a:rPr sz="2600" b="0" i="0" u="none">
                          <a:solidFill>
                            <a:srgbClr val="261F1D"/>
                          </a:solidFill>
                          <a:latin typeface="Helvetica"/>
                        </a:rPr>
                        <a:t>Sprint Day 1 — Setup + design, not SQL yet</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15</a:t>
                      </a:r>
                    </a:p>
                  </a:txBody>
                  <a:tcPr marL="109728" marR="109728" marT="54864" marB="54864" anchor="ctr">
                    <a:solidFill>
                      <a:srgbClr val="FFF6E4"/>
                    </a:solidFill>
                  </a:tcPr>
                </a:tc>
                <a:tc>
                  <a:txBody>
                    <a:bodyPr wrap="square"/>
                    <a:lstStyle/>
                    <a:p>
                      <a:r>
                        <a:rPr sz="2600" b="0" i="0" u="none">
                          <a:solidFill>
                            <a:srgbClr val="261F1D"/>
                          </a:solidFill>
                          <a:latin typeface="Helvetica"/>
                        </a:rPr>
                        <a:t>Project</a:t>
                      </a:r>
                    </a:p>
                  </a:txBody>
                  <a:tcPr marL="109728" marR="109728" marT="54864" marB="54864" anchor="ctr">
                    <a:solidFill>
                      <a:srgbClr val="FFF6E4"/>
                    </a:solidFill>
                  </a:tcPr>
                </a:tc>
                <a:tc>
                  <a:txBody>
                    <a:bodyPr wrap="square"/>
                    <a:lstStyle/>
                    <a:p>
                      <a:r>
                        <a:rPr sz="2600" b="0" i="0" u="none">
                          <a:solidFill>
                            <a:srgbClr val="261F1D"/>
                          </a:solidFill>
                          <a:latin typeface="Helvetica"/>
                        </a:rPr>
                        <a:t>Sprint Day 2 — Schema critique, then build your real schema</a:t>
                      </a:r>
                    </a:p>
                  </a:txBody>
                  <a:tcPr marL="109728" marR="109728" marT="54864" marB="54864" anchor="ctr">
                    <a:solidFill>
                      <a:srgbClr val="FFF6E4"/>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Lecture &amp; Lab Order (Days 16-18: Project Sprint)</a:t>
            </a:r>
          </a:p>
        </p:txBody>
      </p:sp>
      <p:graphicFrame>
        <p:nvGraphicFramePr>
          <p:cNvPr id="4" name="Table 3"/>
          <p:cNvGraphicFramePr>
            <a:graphicFrameLocks noGrp="1"/>
          </p:cNvGraphicFramePr>
          <p:nvPr/>
        </p:nvGraphicFramePr>
        <p:xfrm>
          <a:off x="548640" y="1796796"/>
          <a:ext cx="11094415" cy="3904488"/>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Type</a:t>
                      </a:r>
                    </a:p>
                  </a:txBody>
                  <a:tcPr marL="109728" marR="109728" marT="54864" marB="54864" anchor="ctr">
                    <a:solidFill>
                      <a:srgbClr val="264326"/>
                    </a:solidFill>
                  </a:tcPr>
                </a:tc>
                <a:tc>
                  <a:txBody>
                    <a:bodyPr wrap="square"/>
                    <a:lstStyle/>
                    <a:p>
                      <a:r>
                        <a:rPr sz="2600" b="1" i="0" u="none">
                          <a:solidFill>
                            <a:srgbClr val="FFFCF7"/>
                          </a:solidFill>
                          <a:latin typeface="Helvetica"/>
                        </a:rPr>
                        <a:t>Name</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16</a:t>
                      </a:r>
                    </a:p>
                  </a:txBody>
                  <a:tcPr marL="109728" marR="109728" marT="54864" marB="54864" anchor="ctr">
                    <a:solidFill>
                      <a:srgbClr val="FFFCF7"/>
                    </a:solidFill>
                  </a:tcPr>
                </a:tc>
                <a:tc>
                  <a:txBody>
                    <a:bodyPr wrap="square"/>
                    <a:lstStyle/>
                    <a:p>
                      <a:r>
                        <a:rPr sz="2600" b="0" i="0" u="none">
                          <a:solidFill>
                            <a:srgbClr val="261F1D"/>
                          </a:solidFill>
                          <a:latin typeface="Helvetica"/>
                        </a:rPr>
                        <a:t>Project</a:t>
                      </a:r>
                    </a:p>
                  </a:txBody>
                  <a:tcPr marL="109728" marR="109728" marT="54864" marB="54864" anchor="ctr">
                    <a:solidFill>
                      <a:srgbClr val="FFFCF7"/>
                    </a:solidFill>
                  </a:tcPr>
                </a:tc>
                <a:tc>
                  <a:txBody>
                    <a:bodyPr wrap="square"/>
                    <a:lstStyle/>
                    <a:p>
                      <a:r>
                        <a:rPr sz="2600" b="0" i="0" u="none">
                          <a:solidFill>
                            <a:srgbClr val="261F1D"/>
                          </a:solidFill>
                          <a:latin typeface="Helvetica"/>
                        </a:rPr>
                        <a:t>Sprint Day 3 — Load your data, answer Q1 and Q2</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17</a:t>
                      </a:r>
                    </a:p>
                  </a:txBody>
                  <a:tcPr marL="109728" marR="109728" marT="54864" marB="54864" anchor="ctr">
                    <a:solidFill>
                      <a:srgbClr val="FFF6E4"/>
                    </a:solidFill>
                  </a:tcPr>
                </a:tc>
                <a:tc>
                  <a:txBody>
                    <a:bodyPr wrap="square"/>
                    <a:lstStyle/>
                    <a:p>
                      <a:r>
                        <a:rPr sz="2600" b="0" i="0" u="none">
                          <a:solidFill>
                            <a:srgbClr val="261F1D"/>
                          </a:solidFill>
                          <a:latin typeface="Helvetica"/>
                        </a:rPr>
                        <a:t>Project</a:t>
                      </a:r>
                    </a:p>
                  </a:txBody>
                  <a:tcPr marL="109728" marR="109728" marT="54864" marB="54864" anchor="ctr">
                    <a:solidFill>
                      <a:srgbClr val="FFF6E4"/>
                    </a:solidFill>
                  </a:tcPr>
                </a:tc>
                <a:tc>
                  <a:txBody>
                    <a:bodyPr wrap="square"/>
                    <a:lstStyle/>
                    <a:p>
                      <a:r>
                        <a:rPr sz="2600" b="0" i="0" u="none">
                          <a:solidFill>
                            <a:srgbClr val="261F1D"/>
                          </a:solidFill>
                          <a:latin typeface="Helvetica"/>
                        </a:rPr>
                        <a:t>Sprint Day 4 — Answer Q3 and Q4</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18</a:t>
                      </a:r>
                    </a:p>
                  </a:txBody>
                  <a:tcPr marL="109728" marR="109728" marT="54864" marB="54864" anchor="ctr">
                    <a:solidFill>
                      <a:srgbClr val="FFFCF7"/>
                    </a:solidFill>
                  </a:tcPr>
                </a:tc>
                <a:tc>
                  <a:txBody>
                    <a:bodyPr wrap="square"/>
                    <a:lstStyle/>
                    <a:p>
                      <a:r>
                        <a:rPr sz="2600" b="0" i="0" u="none">
                          <a:solidFill>
                            <a:srgbClr val="261F1D"/>
                          </a:solidFill>
                          <a:latin typeface="Helvetica"/>
                        </a:rPr>
                        <a:t>Project</a:t>
                      </a:r>
                    </a:p>
                  </a:txBody>
                  <a:tcPr marL="109728" marR="109728" marT="54864" marB="54864" anchor="ctr">
                    <a:solidFill>
                      <a:srgbClr val="FFFCF7"/>
                    </a:solidFill>
                  </a:tcPr>
                </a:tc>
                <a:tc>
                  <a:txBody>
                    <a:bodyPr wrap="square"/>
                    <a:lstStyle/>
                    <a:p>
                      <a:r>
                        <a:rPr sz="2600" b="0" i="0" u="none">
                          <a:solidFill>
                            <a:srgbClr val="261F1D"/>
                          </a:solidFill>
                          <a:latin typeface="Helvetica"/>
                        </a:rPr>
                        <a:t>Sprint Day 5 — Answer Q5 and Q6, then the read-only role</a:t>
                      </a:r>
                    </a:p>
                  </a:txBody>
                  <a:tcPr marL="109728" marR="109728" marT="54864" marB="54864" anchor="ctr">
                    <a:solidFill>
                      <a:srgbClr val="FFFCF7"/>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Lecture &amp; Lab Order (Days 19-20: Project Sprint)</a:t>
            </a:r>
          </a:p>
        </p:txBody>
      </p:sp>
      <p:graphicFrame>
        <p:nvGraphicFramePr>
          <p:cNvPr id="4" name="Table 3"/>
          <p:cNvGraphicFramePr>
            <a:graphicFrameLocks noGrp="1"/>
          </p:cNvGraphicFramePr>
          <p:nvPr/>
        </p:nvGraphicFramePr>
        <p:xfrm>
          <a:off x="548640" y="2043684"/>
          <a:ext cx="11094415" cy="3410712"/>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Type</a:t>
                      </a:r>
                    </a:p>
                  </a:txBody>
                  <a:tcPr marL="109728" marR="109728" marT="54864" marB="54864" anchor="ctr">
                    <a:solidFill>
                      <a:srgbClr val="264326"/>
                    </a:solidFill>
                  </a:tcPr>
                </a:tc>
                <a:tc>
                  <a:txBody>
                    <a:bodyPr wrap="square"/>
                    <a:lstStyle/>
                    <a:p>
                      <a:r>
                        <a:rPr sz="2600" b="1" i="0" u="none">
                          <a:solidFill>
                            <a:srgbClr val="FFFCF7"/>
                          </a:solidFill>
                          <a:latin typeface="Helvetica"/>
                        </a:rPr>
                        <a:t>Name</a:t>
                      </a:r>
                    </a:p>
                  </a:txBody>
                  <a:tcPr marL="109728" marR="109728" marT="54864" marB="54864" anchor="ctr">
                    <a:solidFill>
                      <a:srgbClr val="264326"/>
                    </a:solidFill>
                  </a:tcPr>
                </a:tc>
              </a:tr>
              <a:tr h="1645920">
                <a:tc>
                  <a:txBody>
                    <a:bodyPr wrap="square"/>
                    <a:lstStyle/>
                    <a:p>
                      <a:r>
                        <a:rPr sz="2600" b="0" i="0" u="none">
                          <a:solidFill>
                            <a:srgbClr val="261F1D"/>
                          </a:solidFill>
                          <a:latin typeface="Helvetica"/>
                        </a:rPr>
                        <a:t>19</a:t>
                      </a:r>
                    </a:p>
                  </a:txBody>
                  <a:tcPr marL="109728" marR="109728" marT="54864" marB="54864" anchor="ctr">
                    <a:solidFill>
                      <a:srgbClr val="FFFCF7"/>
                    </a:solidFill>
                  </a:tcPr>
                </a:tc>
                <a:tc>
                  <a:txBody>
                    <a:bodyPr wrap="square"/>
                    <a:lstStyle/>
                    <a:p>
                      <a:r>
                        <a:rPr sz="2600" b="0" i="0" u="none">
                          <a:solidFill>
                            <a:srgbClr val="261F1D"/>
                          </a:solidFill>
                          <a:latin typeface="Helvetica"/>
                        </a:rPr>
                        <a:t>Project</a:t>
                      </a:r>
                    </a:p>
                  </a:txBody>
                  <a:tcPr marL="109728" marR="109728" marT="54864" marB="54864" anchor="ctr">
                    <a:solidFill>
                      <a:srgbClr val="FFFCF7"/>
                    </a:solidFill>
                  </a:tcPr>
                </a:tc>
                <a:tc>
                  <a:txBody>
                    <a:bodyPr wrap="square"/>
                    <a:lstStyle/>
                    <a:p>
                      <a:r>
                        <a:rPr sz="2600" b="0" i="0" u="none">
                          <a:solidFill>
                            <a:srgbClr val="261F1D"/>
                          </a:solidFill>
                          <a:latin typeface="Helvetica"/>
                        </a:rPr>
                        <a:t>Sprint Day 6 — Question 7 (materialized view) and the performance check</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20</a:t>
                      </a:r>
                    </a:p>
                  </a:txBody>
                  <a:tcPr marL="109728" marR="109728" marT="54864" marB="54864" anchor="ctr">
                    <a:solidFill>
                      <a:srgbClr val="FFF6E4"/>
                    </a:solidFill>
                  </a:tcPr>
                </a:tc>
                <a:tc>
                  <a:txBody>
                    <a:bodyPr wrap="square"/>
                    <a:lstStyle/>
                    <a:p>
                      <a:r>
                        <a:rPr sz="2600" b="0" i="0" u="none">
                          <a:solidFill>
                            <a:srgbClr val="261F1D"/>
                          </a:solidFill>
                          <a:latin typeface="Helvetica"/>
                        </a:rPr>
                        <a:t>Project</a:t>
                      </a:r>
                    </a:p>
                  </a:txBody>
                  <a:tcPr marL="109728" marR="109728" marT="54864" marB="54864" anchor="ctr">
                    <a:solidFill>
                      <a:srgbClr val="FFF6E4"/>
                    </a:solidFill>
                  </a:tcPr>
                </a:tc>
                <a:tc>
                  <a:txBody>
                    <a:bodyPr wrap="square"/>
                    <a:lstStyle/>
                    <a:p>
                      <a:r>
                        <a:rPr sz="2600" b="0" i="0" u="none">
                          <a:solidFill>
                            <a:srgbClr val="261F1D"/>
                          </a:solidFill>
                          <a:latin typeface="Helvetica"/>
                        </a:rPr>
                        <a:t>Sprint Day 7 — Schema tradeoffs, finish, verify, submit</a:t>
                      </a:r>
                    </a:p>
                  </a:txBody>
                  <a:tcPr marL="109728" marR="109728" marT="54864" marB="54864" anchor="ctr">
                    <a:solidFill>
                      <a:srgbClr val="FFF6E4"/>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Nice to Know Before You Start</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No SQL/database prerequisite exists coming in - Day 1 teaches relational thinking entirely from zero</a:t>
            </a:r>
          </a:p>
          <a:p>
            <a:pPr>
              <a:spcAft>
                <a:spcPts val="1000"/>
              </a:spcAft>
            </a:pPr>
            <a:r>
              <a:rPr sz="2600">
                <a:solidFill>
                  <a:srgbClr val="261F1D"/>
                </a:solidFill>
                <a:latin typeface="Helvetica"/>
              </a:rPr>
              <a:t>•  </a:t>
            </a:r>
            <a:r>
              <a:rPr sz="2600" b="0" i="0" u="none">
                <a:solidFill>
                  <a:srgbClr val="261F1D"/>
                </a:solidFill>
                <a:latin typeface="Helvetica"/>
              </a:rPr>
              <a:t>All 11 lectures share ONE synthetic, hand-built </a:t>
            </a:r>
            <a:r>
              <a:rPr sz="2600" b="0" i="0" u="none">
                <a:solidFill>
                  <a:srgbClr val="261F1D"/>
                </a:solidFill>
                <a:latin typeface="Roboto Mono"/>
              </a:rPr>
              <a:t>nyc_restaurants</a:t>
            </a:r>
            <a:r>
              <a:rPr sz="2600" b="0" i="0" u="none">
                <a:solidFill>
                  <a:srgbClr val="261F1D"/>
                </a:solidFill>
                <a:latin typeface="Helvetica"/>
              </a:rPr>
              <a:t> database - never a live pull from real NYC/FEMA data, despite this module's own docs naming those as real-world inspirations</a:t>
            </a:r>
          </a:p>
          <a:p>
            <a:pPr>
              <a:spcAft>
                <a:spcPts val="1000"/>
              </a:spcAft>
            </a:pPr>
            <a:r>
              <a:rPr sz="2600">
                <a:solidFill>
                  <a:srgbClr val="261F1D"/>
                </a:solidFill>
                <a:latin typeface="Helvetica"/>
              </a:rPr>
              <a:t>•  </a:t>
            </a:r>
            <a:r>
              <a:rPr sz="2600" b="0" i="0" u="none">
                <a:solidFill>
                  <a:srgbClr val="261F1D"/>
                </a:solidFill>
                <a:latin typeface="Helvetica"/>
              </a:rPr>
              <a:t>This module has exactly ONE lab (Days 11-12, spanning 2 days) - no lab continues an earlier lab</a:t>
            </a:r>
          </a:p>
          <a:p>
            <a:pPr>
              <a:spcAft>
                <a:spcPts val="1000"/>
              </a:spcAft>
            </a:pPr>
            <a:r>
              <a:rPr sz="2600">
                <a:solidFill>
                  <a:srgbClr val="261F1D"/>
                </a:solidFill>
                <a:latin typeface="Helvetica"/>
              </a:rPr>
              <a:t>•  </a:t>
            </a:r>
            <a:r>
              <a:rPr sz="2600" b="0" i="0" u="none">
                <a:solidFill>
                  <a:srgbClr val="261F1D"/>
                </a:solidFill>
                <a:latin typeface="Helvetica"/>
              </a:rPr>
              <a:t>Every lecture's own instructor_prep.md has lecture-specific timing/misconceptions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Day 2: Fellows' First New Installed Tool — psql</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psql is Fellows' first new installed tool since Module 0's git - same 'confirm it's working' discipline applies</a:t>
            </a:r>
          </a:p>
          <a:p>
            <a:pPr>
              <a:spcAft>
                <a:spcPts val="1000"/>
              </a:spcAft>
            </a:pPr>
            <a:r>
              <a:rPr sz="2600">
                <a:solidFill>
                  <a:srgbClr val="261F1D"/>
                </a:solidFill>
                <a:latin typeface="Helvetica"/>
              </a:rPr>
              <a:t>•  </a:t>
            </a:r>
            <a:r>
              <a:rPr sz="2600" b="0" i="0" u="none">
                <a:solidFill>
                  <a:srgbClr val="261F1D"/>
                </a:solidFill>
                <a:latin typeface="Helvetica"/>
              </a:rPr>
              <a:t>Installing PostgreSQL itself is explicitly OUT of scope today - already handled by the project's own GETTING_STARTED.md</a:t>
            </a:r>
          </a:p>
          <a:p>
            <a:pPr>
              <a:spcAft>
                <a:spcPts val="1000"/>
              </a:spcAft>
            </a:pPr>
            <a:r>
              <a:rPr sz="2600">
                <a:solidFill>
                  <a:srgbClr val="261F1D"/>
                </a:solidFill>
                <a:latin typeface="Helvetica"/>
              </a:rPr>
              <a:t>•  </a:t>
            </a:r>
            <a:r>
              <a:rPr sz="2600" b="0" i="0" u="none">
                <a:solidFill>
                  <a:srgbClr val="261F1D"/>
                </a:solidFill>
                <a:latin typeface="Helvetica"/>
              </a:rPr>
              <a:t>If anyone's setup isn't working, troubleshoot 1-on-1 - don't stall the whole room on an install issue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Day 6: This Lecture Is a Partner Activity</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CTEs II is done WITH a peer, during lecture itself - decomposing a real multi-table question together</a:t>
            </a:r>
          </a:p>
          <a:p>
            <a:pPr>
              <a:spcAft>
                <a:spcPts val="1000"/>
              </a:spcAft>
            </a:pPr>
            <a:r>
              <a:rPr sz="2600">
                <a:solidFill>
                  <a:srgbClr val="261F1D"/>
                </a:solidFill>
                <a:latin typeface="Helvetica"/>
              </a:rPr>
              <a:t>•  </a:t>
            </a:r>
            <a:r>
              <a:rPr sz="2600" b="0" i="0" u="none">
                <a:solidFill>
                  <a:srgbClr val="261F1D"/>
                </a:solidFill>
                <a:latin typeface="Helvetica"/>
              </a:rPr>
              <a:t>A pair that reaches for one CTE joining all 3 tables at once will likely hit the same overcounting trap from Day 4 - let them discover this, don't preempt it</a:t>
            </a:r>
          </a:p>
          <a:p>
            <a:pPr>
              <a:spcAft>
                <a:spcPts val="1000"/>
              </a:spcAft>
            </a:pPr>
            <a:r>
              <a:rPr sz="2600">
                <a:solidFill>
                  <a:srgbClr val="261F1D"/>
                </a:solidFill>
                <a:latin typeface="Helvetica"/>
              </a:rPr>
              <a:t>•  </a:t>
            </a:r>
            <a:r>
              <a:rPr sz="2600" b="0" i="0" u="none">
                <a:solidFill>
                  <a:srgbClr val="261F1D"/>
                </a:solidFill>
                <a:latin typeface="Helvetica"/>
              </a:rPr>
              <a:t>Plan pairing before class starts, same as any genuinely collaborative exercise elsewhere in the program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Days 7-8: Window Functions Get 2 Real Days, By Design</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User-directed expansion: window functions (and CTEs, Days 5-6) each got a second lecture day instead of one - harder concepts, worth the extra guided rep</a:t>
            </a:r>
          </a:p>
          <a:p>
            <a:pPr>
              <a:spcAft>
                <a:spcPts val="1000"/>
              </a:spcAft>
            </a:pPr>
            <a:r>
              <a:rPr sz="2600">
                <a:solidFill>
                  <a:srgbClr val="261F1D"/>
                </a:solidFill>
                <a:latin typeface="Helvetica"/>
              </a:rPr>
              <a:t>•  </a:t>
            </a:r>
            <a:r>
              <a:rPr sz="2600" b="0" i="0" u="none">
                <a:solidFill>
                  <a:srgbClr val="261F1D"/>
                </a:solidFill>
                <a:latin typeface="Helvetica"/>
              </a:rPr>
              <a:t>Day 7 deliberately has NO PARTITION BY yet - ranking against the whole table only, so the OVER (ORDER BY ...) clause itself lands first</a:t>
            </a:r>
          </a:p>
          <a:p>
            <a:pPr>
              <a:spcAft>
                <a:spcPts val="1000"/>
              </a:spcAft>
            </a:pPr>
            <a:r>
              <a:rPr sz="2600">
                <a:solidFill>
                  <a:srgbClr val="261F1D"/>
                </a:solidFill>
                <a:latin typeface="Helvetica"/>
              </a:rPr>
              <a:t>•  </a:t>
            </a:r>
            <a:r>
              <a:rPr sz="2600" b="0" i="0" u="none">
                <a:solidFill>
                  <a:srgbClr val="261F1D"/>
                </a:solidFill>
                <a:latin typeface="Helvetica"/>
              </a:rPr>
              <a:t>Don't rush to Day 8 if the room isn't there yet - PARTITION BY is genuinely a second, separate idea layered on top</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Day 9: EXPLAIN ANALYZE Is a First Look Only</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COALESCE, materialized views, and EXPLAIN ANALYZE are all genuinely new content - none were in the module's original learning objectives</a:t>
            </a:r>
          </a:p>
          <a:p>
            <a:pPr>
              <a:spcAft>
                <a:spcPts val="1000"/>
              </a:spcAft>
            </a:pPr>
            <a:r>
              <a:rPr sz="2600">
                <a:solidFill>
                  <a:srgbClr val="261F1D"/>
                </a:solidFill>
                <a:latin typeface="Helvetica"/>
              </a:rPr>
              <a:t>•  </a:t>
            </a:r>
            <a:r>
              <a:rPr sz="2600" b="0" i="0" u="none">
                <a:solidFill>
                  <a:srgbClr val="261F1D"/>
                </a:solidFill>
                <a:latin typeface="Helvetica"/>
              </a:rPr>
              <a:t>EXPLAIN ANALYZE today is deliberately a first look, not the full optimization workflow - that's Module 7's own teaching moment</a:t>
            </a:r>
          </a:p>
          <a:p>
            <a:pPr>
              <a:spcAft>
                <a:spcPts val="1000"/>
              </a:spcAft>
            </a:pPr>
            <a:r>
              <a:rPr sz="2600">
                <a:solidFill>
                  <a:srgbClr val="261F1D"/>
                </a:solidFill>
                <a:latin typeface="Helvetica"/>
              </a:rPr>
              <a:t>•  </a:t>
            </a:r>
            <a:r>
              <a:rPr sz="2600" b="0" i="0" u="none">
                <a:solidFill>
                  <a:srgbClr val="261F1D"/>
                </a:solidFill>
                <a:latin typeface="Helvetica"/>
              </a:rPr>
              <a:t>Don't let the room pull you into indexing/query-rewriting discussions - reading a plan is today's whole bar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Days 11-12: The Module's Only Lab Spans 2 Days</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Real timing review found this lab's honest scope needs ~155 minutes - split at the natural seam: Day 11 evaluate (~65 min), Day 12 build + prove (~90 min)</a:t>
            </a:r>
          </a:p>
          <a:p>
            <a:pPr>
              <a:spcAft>
                <a:spcPts val="1000"/>
              </a:spcAft>
            </a:pPr>
            <a:r>
              <a:rPr sz="2600">
                <a:solidFill>
                  <a:srgbClr val="261F1D"/>
                </a:solidFill>
                <a:latin typeface="Helvetica"/>
              </a:rPr>
              <a:t>•  </a:t>
            </a:r>
            <a:r>
              <a:rPr sz="2600" b="0" i="0" u="none">
                <a:solidFill>
                  <a:srgbClr val="261F1D"/>
                </a:solidFill>
                <a:latin typeface="Helvetica"/>
              </a:rPr>
              <a:t>Uses a DIFFERENT flawed schema (</a:t>
            </a:r>
            <a:r>
              <a:rPr sz="2600" b="0" i="0" u="none">
                <a:solidFill>
                  <a:srgbClr val="261F1D"/>
                </a:solidFill>
                <a:latin typeface="Roboto Mono"/>
              </a:rPr>
              <a:t>record_store</a:t>
            </a:r>
            <a:r>
              <a:rPr sz="2600" b="0" i="0" u="none">
                <a:solidFill>
                  <a:srgbClr val="261F1D"/>
                </a:solidFill>
                <a:latin typeface="Helvetica"/>
              </a:rPr>
              <a:t>) than the project's own </a:t>
            </a:r>
            <a:r>
              <a:rPr sz="2600" b="0" i="0" u="none">
                <a:solidFill>
                  <a:srgbClr val="261F1D"/>
                </a:solidFill>
                <a:latin typeface="Roboto Mono"/>
              </a:rPr>
              <a:t>schema_critique.md</a:t>
            </a:r>
            <a:r>
              <a:rPr sz="2600" b="0" i="0" u="none">
                <a:solidFill>
                  <a:srgbClr val="261F1D"/>
                </a:solidFill>
                <a:latin typeface="Helvetica"/>
              </a:rPr>
              <a:t> - so the project's critique exercise is still genuinely new to students</a:t>
            </a:r>
          </a:p>
          <a:p>
            <a:pPr>
              <a:spcAft>
                <a:spcPts val="1000"/>
              </a:spcAft>
            </a:pPr>
            <a:r>
              <a:rPr sz="2600">
                <a:solidFill>
                  <a:srgbClr val="261F1D"/>
                </a:solidFill>
                <a:latin typeface="Helvetica"/>
              </a:rPr>
              <a:t>•  </a:t>
            </a:r>
            <a:r>
              <a:rPr sz="2600" b="0" i="0" u="none">
                <a:solidFill>
                  <a:srgbClr val="261F1D"/>
                </a:solidFill>
                <a:latin typeface="Helvetica"/>
              </a:rPr>
              <a:t>This is the module's only </a:t>
            </a:r>
            <a:r>
              <a:rPr sz="2600" b="0" i="0" u="none">
                <a:solidFill>
                  <a:srgbClr val="261F1D"/>
                </a:solidFill>
                <a:latin typeface="Roboto Mono"/>
              </a:rPr>
              <a:t>evaluate</a:t>
            </a:r>
            <a:r>
              <a:rPr sz="2600" b="0" i="0" u="none">
                <a:solidFill>
                  <a:srgbClr val="261F1D"/>
                </a:solidFill>
                <a:latin typeface="Helvetica"/>
              </a:rPr>
              <a:t>+</a:t>
            </a:r>
            <a:r>
              <a:rPr sz="2600" b="0" i="0" u="none">
                <a:solidFill>
                  <a:srgbClr val="261F1D"/>
                </a:solidFill>
                <a:latin typeface="Roboto Mono"/>
              </a:rPr>
              <a:t>independent</a:t>
            </a:r>
            <a:r>
              <a:rPr sz="2600" b="0" i="0" u="none">
                <a:solidFill>
                  <a:srgbClr val="261F1D"/>
                </a:solidFill>
                <a:latin typeface="Helvetica"/>
              </a:rPr>
              <a:t> objective (Objective 5) - no template, no partner scaffolding during the actual critique/role work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Day 13: Already a Varied Recall Format</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Uses game, poll, discussion, AND whiteboard modes across its 6 check_understanding slides - more varied than a typical single-mode recall day</a:t>
            </a:r>
          </a:p>
          <a:p>
            <a:pPr>
              <a:spcAft>
                <a:spcPts val="1000"/>
              </a:spcAft>
            </a:pPr>
            <a:r>
              <a:rPr sz="2600">
                <a:solidFill>
                  <a:srgbClr val="261F1D"/>
                </a:solidFill>
                <a:latin typeface="Helvetica"/>
              </a:rPr>
              <a:t>•  </a:t>
            </a:r>
            <a:r>
              <a:rPr sz="2600" b="0" i="0" u="none">
                <a:solidFill>
                  <a:srgbClr val="261F1D"/>
                </a:solidFill>
                <a:latin typeface="Helvetica"/>
              </a:rPr>
              <a:t>Closes with the C.R.A.F.T. interview-answer framework (Complete, Reasonable, Accurate, Fresh, Traceable)</a:t>
            </a:r>
          </a:p>
          <a:p>
            <a:pPr>
              <a:spcAft>
                <a:spcPts val="1000"/>
              </a:spcAft>
            </a:pPr>
            <a:r>
              <a:rPr sz="2600">
                <a:solidFill>
                  <a:srgbClr val="261F1D"/>
                </a:solidFill>
                <a:latin typeface="Helvetica"/>
              </a:rPr>
              <a:t>•  </a:t>
            </a:r>
            <a:r>
              <a:rPr sz="2600" b="0" i="0" u="none">
                <a:solidFill>
                  <a:srgbClr val="261F1D"/>
                </a:solidFill>
                <a:latin typeface="Helvetica"/>
              </a:rPr>
              <a:t>Less need for an external gamification tool here than other modules' recall days - the built-in mode variety already carries real engagement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DataCamp</a:t>
            </a:r>
          </a:p>
        </p:txBody>
      </p:sp>
      <p:sp>
        <p:nvSpPr>
          <p:cNvPr id="4" name="TextBox 3"/>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Two real, verified companion courses — neither covers the whole module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The DataCamp Companions</a:t>
            </a:r>
          </a:p>
        </p:txBody>
      </p:sp>
      <p:sp>
        <p:nvSpPr>
          <p:cNvPr id="4" name="Rectangle 3"/>
          <p:cNvSpPr/>
          <p:nvPr/>
        </p:nvSpPr>
        <p:spPr>
          <a:xfrm>
            <a:off x="548640" y="1188720"/>
            <a:ext cx="5410048" cy="539496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DataCamp covers (2 courses, ~6-7 hrs total)</a:t>
            </a:r>
          </a:p>
        </p:txBody>
      </p:sp>
      <p:sp>
        <p:nvSpPr>
          <p:cNvPr id="7" name="TextBox 6"/>
          <p:cNvSpPr txBox="1"/>
          <p:nvPr/>
        </p:nvSpPr>
        <p:spPr>
          <a:xfrm>
            <a:off x="777240"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Joining Data in SQL: inner/outer/self joins, set theory, subqueries</a:t>
            </a:r>
          </a:p>
          <a:p>
            <a:pPr>
              <a:spcAft>
                <a:spcPts val="1000"/>
              </a:spcAft>
            </a:pPr>
            <a:r>
              <a:rPr sz="2600">
                <a:solidFill>
                  <a:srgbClr val="261F1D"/>
                </a:solidFill>
                <a:latin typeface="Helvetica"/>
              </a:rPr>
              <a:t>•  </a:t>
            </a:r>
            <a:r>
              <a:rPr sz="2600" b="0" i="0" u="none">
                <a:solidFill>
                  <a:srgbClr val="261F1D"/>
                </a:solidFill>
                <a:latin typeface="Helvetica"/>
              </a:rPr>
              <a:t>PostgreSQL Window Functions: RANK/ROW_NUMBER/PARTITION BY, frames</a:t>
            </a:r>
          </a:p>
          <a:p>
            <a:pPr>
              <a:spcAft>
                <a:spcPts val="1000"/>
              </a:spcAft>
            </a:pPr>
            <a:r>
              <a:rPr sz="2600">
                <a:solidFill>
                  <a:srgbClr val="261F1D"/>
                </a:solidFill>
                <a:latin typeface="Helvetica"/>
              </a:rPr>
              <a:t>•  </a:t>
            </a:r>
            <a:r>
              <a:rPr sz="2600" b="0" i="0" u="none">
                <a:solidFill>
                  <a:srgbClr val="261F1D"/>
                </a:solidFill>
                <a:latin typeface="Helvetica"/>
              </a:rPr>
              <a:t>Neither course teaches CTEs, roles/GRANT, or materialized views</a:t>
            </a:r>
          </a:p>
        </p:txBody>
      </p:sp>
      <p:sp>
        <p:nvSpPr>
          <p:cNvPr id="8" name="Rectangle 7"/>
          <p:cNvSpPr/>
          <p:nvPr/>
        </p:nvSpPr>
        <p:spPr>
          <a:xfrm>
            <a:off x="6233008" y="1188720"/>
            <a:ext cx="5410048" cy="539496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This module's lectures cover</a:t>
            </a:r>
          </a:p>
        </p:txBody>
      </p:sp>
      <p:sp>
        <p:nvSpPr>
          <p:cNvPr id="11" name="TextBox 10"/>
          <p:cNvSpPr txBox="1"/>
          <p:nvPr/>
        </p:nvSpPr>
        <p:spPr>
          <a:xfrm>
            <a:off x="6461608"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Day 3: the same join fundamentals, on a shared class dataset</a:t>
            </a:r>
          </a:p>
          <a:p>
            <a:pPr>
              <a:spcAft>
                <a:spcPts val="1000"/>
              </a:spcAft>
            </a:pPr>
            <a:r>
              <a:rPr sz="2600">
                <a:solidFill>
                  <a:srgbClr val="261F1D"/>
                </a:solidFill>
                <a:latin typeface="Helvetica"/>
              </a:rPr>
              <a:t>•  </a:t>
            </a:r>
            <a:r>
              <a:rPr sz="2600" b="0" i="0" u="none">
                <a:solidFill>
                  <a:srgbClr val="261F1D"/>
                </a:solidFill>
                <a:latin typeface="Helvetica"/>
              </a:rPr>
              <a:t>Days 7-8: the same window-function syntax, 2 real guided days</a:t>
            </a:r>
          </a:p>
          <a:p>
            <a:pPr>
              <a:spcAft>
                <a:spcPts val="1000"/>
              </a:spcAft>
            </a:pPr>
            <a:r>
              <a:rPr sz="2600">
                <a:solidFill>
                  <a:srgbClr val="261F1D"/>
                </a:solidFill>
                <a:latin typeface="Helvetica"/>
              </a:rPr>
              <a:t>•  </a:t>
            </a:r>
            <a:r>
              <a:rPr sz="2600" b="0" i="0" u="none">
                <a:solidFill>
                  <a:srgbClr val="261F1D"/>
                </a:solidFill>
                <a:latin typeface="Helvetica"/>
              </a:rPr>
              <a:t>Days 1-2, 5-6, 9, 11-12: normalization, CTEs, roles, materialized views - none of it in DataCamp's own catalog</a:t>
            </a:r>
          </a:p>
        </p:txBody>
      </p:sp>
      <p:cxnSp>
        <p:nvCxnSpPr>
          <p:cNvPr id="12" name="Connector 11"/>
          <p:cNvCxnSpPr/>
          <p:nvPr/>
        </p:nvCxnSpPr>
        <p:spPr>
          <a:xfrm>
            <a:off x="6095848" y="1188720"/>
            <a:ext cx="0" cy="539496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Overlaps &amp; Gaps</a:t>
            </a:r>
          </a:p>
        </p:txBody>
      </p:sp>
      <p:sp>
        <p:nvSpPr>
          <p:cNvPr id="4" name="TextBox 3"/>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Where lecture already covers it vs. where DataCamp has nothing at all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Two Real Overlaps, Worth Confirming Landed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Day 3 (Joins) covers almost exactly Joining Data in SQL's own Ch1-2: inner, outer, self joins</a:t>
            </a:r>
          </a:p>
          <a:p>
            <a:pPr>
              <a:spcAft>
                <a:spcPts val="1000"/>
              </a:spcAft>
            </a:pPr>
            <a:r>
              <a:rPr sz="2600">
                <a:solidFill>
                  <a:srgbClr val="261F1D"/>
                </a:solidFill>
                <a:latin typeface="Helvetica"/>
              </a:rPr>
              <a:t>•  </a:t>
            </a:r>
            <a:r>
              <a:rPr sz="2600" b="0" i="0" u="none">
                <a:solidFill>
                  <a:srgbClr val="261F1D"/>
                </a:solidFill>
                <a:latin typeface="Helvetica"/>
              </a:rPr>
              <a:t>Days 7-8 (Window Functions) cover almost exactly PostgreSQL Summary Stats and Window Functions' own Ch1-2: RANK, ROW_NUMBER, PARTITION BY</a:t>
            </a:r>
          </a:p>
          <a:p>
            <a:pPr>
              <a:spcAft>
                <a:spcPts val="1000"/>
              </a:spcAft>
            </a:pPr>
            <a:r>
              <a:rPr sz="2600">
                <a:solidFill>
                  <a:srgbClr val="261F1D"/>
                </a:solidFill>
                <a:latin typeface="Helvetica"/>
              </a:rPr>
              <a:t>•  </a:t>
            </a:r>
            <a:r>
              <a:rPr sz="2600" b="0" i="0" u="none">
                <a:solidFill>
                  <a:srgbClr val="261F1D"/>
                </a:solidFill>
                <a:latin typeface="Helvetica"/>
              </a:rPr>
              <a:t>If Fellows completed either course first, treat these days as a 'confirm it landed' check-in, not new content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The Real Gap: CTEs, Roles, and Materialized Views</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Neither DataCamp course teaches CTEs at all - Joining Data in SQL teaches subqueries/semi-joins/anti-joins instead, a genuinely different pattern</a:t>
            </a:r>
          </a:p>
          <a:p>
            <a:pPr>
              <a:spcAft>
                <a:spcPts val="1000"/>
              </a:spcAft>
            </a:pPr>
            <a:r>
              <a:rPr sz="2600">
                <a:solidFill>
                  <a:srgbClr val="261F1D"/>
                </a:solidFill>
                <a:latin typeface="Helvetica"/>
              </a:rPr>
              <a:t>•  </a:t>
            </a:r>
            <a:r>
              <a:rPr sz="2600" b="0" i="0" u="none">
                <a:solidFill>
                  <a:srgbClr val="261F1D"/>
                </a:solidFill>
                <a:latin typeface="Helvetica"/>
              </a:rPr>
              <a:t>Neither course covers PostgreSQL roles/GRANT, materialized views, or EXPLAIN ANALYZE - this module's lecture is the only place Fellows see any of it</a:t>
            </a:r>
          </a:p>
          <a:p>
            <a:pPr>
              <a:spcAft>
                <a:spcPts val="1000"/>
              </a:spcAft>
            </a:pPr>
            <a:r>
              <a:rPr sz="2600">
                <a:solidFill>
                  <a:srgbClr val="261F1D"/>
                </a:solidFill>
                <a:latin typeface="Helvetica"/>
              </a:rPr>
              <a:t>•  </a:t>
            </a:r>
            <a:r>
              <a:rPr sz="2600" b="0" i="0" u="none">
                <a:solidFill>
                  <a:srgbClr val="261F1D"/>
                </a:solidFill>
                <a:latin typeface="Helvetica"/>
              </a:rPr>
              <a:t>No aside needed here - unlike Module 2's </a:t>
            </a:r>
            <a:r>
              <a:rPr sz="2600" b="0" i="0" u="none">
                <a:solidFill>
                  <a:srgbClr val="261F1D"/>
                </a:solidFill>
                <a:latin typeface="Roboto Mono"/>
              </a:rPr>
              <a:t>.loc</a:t>
            </a:r>
            <a:r>
              <a:rPr sz="2600" b="0" i="0" u="none">
                <a:solidFill>
                  <a:srgbClr val="261F1D"/>
                </a:solidFill>
                <a:latin typeface="Helvetica"/>
              </a:rPr>
              <a:t>/</a:t>
            </a:r>
            <a:r>
              <a:rPr sz="2600" b="0" i="0" u="none">
                <a:solidFill>
                  <a:srgbClr val="261F1D"/>
                </a:solidFill>
                <a:latin typeface="Roboto Mono"/>
              </a:rPr>
              <a:t>.iloc</a:t>
            </a:r>
            <a:r>
              <a:rPr sz="2600" b="0" i="0" u="none">
                <a:solidFill>
                  <a:srgbClr val="261F1D"/>
                </a:solidFill>
                <a:latin typeface="Helvetica"/>
              </a:rPr>
              <a:t> gap, this is core, already-taught content, not an optional add-on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Case Studies</a:t>
            </a:r>
          </a:p>
        </p:txBody>
      </p:sp>
      <p:sp>
        <p:nvSpPr>
          <p:cNvPr id="4" name="TextBox 3"/>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One real, cited case this module — linked with a brief description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Case Study Index</a:t>
            </a:r>
          </a:p>
        </p:txBody>
      </p:sp>
      <p:graphicFrame>
        <p:nvGraphicFramePr>
          <p:cNvPr id="4" name="Table 3"/>
          <p:cNvGraphicFramePr>
            <a:graphicFrameLocks noGrp="1"/>
          </p:cNvGraphicFramePr>
          <p:nvPr/>
        </p:nvGraphicFramePr>
        <p:xfrm>
          <a:off x="548640" y="2290572"/>
          <a:ext cx="11094415" cy="2916936"/>
        </p:xfrm>
        <a:graphic>
          <a:graphicData uri="http://schemas.openxmlformats.org/drawingml/2006/table">
            <a:tbl>
              <a:tblPr>
                <a:tableStyleId>{5C22544A-7EE6-4342-B048-85BDC9FD1C3A}</a:tableStyleId>
              </a:tblPr>
              <a:tblGrid>
                <a:gridCol w="3698138"/>
                <a:gridCol w="3698138"/>
                <a:gridCol w="3698139"/>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Case</a:t>
                      </a:r>
                    </a:p>
                  </a:txBody>
                  <a:tcPr marL="109728" marR="109728" marT="54864" marB="54864" anchor="ctr">
                    <a:solidFill>
                      <a:srgbClr val="264326"/>
                    </a:solidFill>
                  </a:tcPr>
                </a:tc>
                <a:tc>
                  <a:txBody>
                    <a:bodyPr wrap="square"/>
                    <a:lstStyle/>
                    <a:p>
                      <a:r>
                        <a:rPr sz="2600" b="1" i="0" u="none">
                          <a:solidFill>
                            <a:srgbClr val="FFFCF7"/>
                          </a:solidFill>
                          <a:latin typeface="Helvetica"/>
                        </a:rPr>
                        <a:t>Source</a:t>
                      </a:r>
                    </a:p>
                  </a:txBody>
                  <a:tcPr marL="109728" marR="109728" marT="54864" marB="54864" anchor="ctr">
                    <a:solidFill>
                      <a:srgbClr val="264326"/>
                    </a:solidFill>
                  </a:tcPr>
                </a:tc>
              </a:tr>
              <a:tr h="2414016">
                <a:tc>
                  <a:txBody>
                    <a:bodyPr wrap="square"/>
                    <a:lstStyle/>
                    <a:p>
                      <a:r>
                        <a:rPr sz="2600" b="0" i="0" u="none">
                          <a:solidFill>
                            <a:srgbClr val="261F1D"/>
                          </a:solidFill>
                          <a:latin typeface="Helvetica"/>
                        </a:rPr>
                        <a:t>1</a:t>
                      </a:r>
                    </a:p>
                  </a:txBody>
                  <a:tcPr marL="109728" marR="109728" marT="54864" marB="54864" anchor="ctr">
                    <a:solidFill>
                      <a:srgbClr val="FFFCF7"/>
                    </a:solidFill>
                  </a:tcPr>
                </a:tc>
                <a:tc>
                  <a:txBody>
                    <a:bodyPr wrap="square"/>
                    <a:lstStyle/>
                    <a:p>
                      <a:r>
                        <a:rPr sz="2600" b="0" i="0" u="none">
                          <a:solidFill>
                            <a:srgbClr val="261F1D"/>
                          </a:solidFill>
                          <a:latin typeface="Helvetica"/>
                        </a:rPr>
                        <a:t>A spreadsheet row limit silently dropped 16,000 real COVID-19 cases from UK contact tracing (Sept-Oct 2020)</a:t>
                      </a:r>
                    </a:p>
                  </a:txBody>
                  <a:tcPr marL="109728" marR="109728" marT="54864" marB="54864" anchor="ctr">
                    <a:solidFill>
                      <a:srgbClr val="FFFCF7"/>
                    </a:solidFill>
                  </a:tcPr>
                </a:tc>
                <a:tc>
                  <a:txBody>
                    <a:bodyPr wrap="square"/>
                    <a:lstStyle/>
                    <a:p>
                      <a:r>
                        <a:rPr sz="2600" b="0" i="0" u="sng">
                          <a:solidFill>
                            <a:srgbClr val="261F1D"/>
                          </a:solidFill>
                          <a:latin typeface="Helvetica"/>
                          <a:hlinkClick r:id="rId3"/>
                        </a:rPr>
                        <a:t>The Register, 2020-10-05</a:t>
                      </a:r>
                    </a:p>
                  </a:txBody>
                  <a:tcPr marL="109728" marR="109728" marT="54864" marB="54864" anchor="ctr">
                    <a:solidFill>
                      <a:srgbClr val="FFFCF7"/>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Vocabulary</a:t>
            </a:r>
          </a:p>
        </p:txBody>
      </p:sp>
      <p:sp>
        <p:nvSpPr>
          <p:cNvPr id="4" name="TextBox 3"/>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Every term Fellows see this module, in one place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1 (Part 1)</a:t>
            </a:r>
          </a:p>
        </p:txBody>
      </p:sp>
      <p:graphicFrame>
        <p:nvGraphicFramePr>
          <p:cNvPr id="4" name="Table 3"/>
          <p:cNvGraphicFramePr>
            <a:graphicFrameLocks noGrp="1"/>
          </p:cNvGraphicFramePr>
          <p:nvPr/>
        </p:nvGraphicFramePr>
        <p:xfrm>
          <a:off x="548640" y="1604772"/>
          <a:ext cx="11094415" cy="428853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Primary key</a:t>
                      </a:r>
                    </a:p>
                  </a:txBody>
                  <a:tcPr marL="109728" marR="109728" marT="54864" marB="54864" anchor="ctr">
                    <a:solidFill>
                      <a:srgbClr val="FFFCF7"/>
                    </a:solidFill>
                  </a:tcPr>
                </a:tc>
                <a:tc>
                  <a:txBody>
                    <a:bodyPr wrap="square"/>
                    <a:lstStyle/>
                    <a:p>
                      <a:r>
                        <a:rPr sz="2600" b="0" i="0" u="none">
                          <a:solidFill>
                            <a:srgbClr val="261F1D"/>
                          </a:solidFill>
                          <a:latin typeface="Helvetica"/>
                        </a:rPr>
                        <a:t>The column (or columns) that uniquely identifies each row in a table</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Foreign key</a:t>
                      </a:r>
                    </a:p>
                  </a:txBody>
                  <a:tcPr marL="109728" marR="109728" marT="54864" marB="54864" anchor="ctr">
                    <a:solidFill>
                      <a:srgbClr val="FFF6E4"/>
                    </a:solidFill>
                  </a:tcPr>
                </a:tc>
                <a:tc>
                  <a:txBody>
                    <a:bodyPr wrap="square"/>
                    <a:lstStyle/>
                    <a:p>
                      <a:r>
                        <a:rPr sz="2600" b="0" i="0" u="none">
                          <a:solidFill>
                            <a:srgbClr val="261F1D"/>
                          </a:solidFill>
                          <a:latin typeface="Helvetica"/>
                        </a:rPr>
                        <a:t>A column that references another table's primary key, linking the two tables together</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Normalization</a:t>
                      </a:r>
                    </a:p>
                  </a:txBody>
                  <a:tcPr marL="109728" marR="109728" marT="54864" marB="54864" anchor="ctr">
                    <a:solidFill>
                      <a:srgbClr val="FFFCF7"/>
                    </a:solidFill>
                  </a:tcPr>
                </a:tc>
                <a:tc>
                  <a:txBody>
                    <a:bodyPr wrap="square"/>
                    <a:lstStyle/>
                    <a:p>
                      <a:r>
                        <a:rPr sz="2600" b="0" i="0" u="none">
                          <a:solidFill>
                            <a:srgbClr val="261F1D"/>
                          </a:solidFill>
                          <a:latin typeface="Helvetica"/>
                        </a:rPr>
                        <a:t>Organizing a database's tables so each fact lives in exactly one place</a:t>
                      </a:r>
                    </a:p>
                  </a:txBody>
                  <a:tcPr marL="109728" marR="109728" marT="54864" marB="54864" anchor="ctr">
                    <a:solidFill>
                      <a:srgbClr val="FFFCF7"/>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1 (Part 2)</a:t>
            </a:r>
          </a:p>
        </p:txBody>
      </p:sp>
      <p:graphicFrame>
        <p:nvGraphicFramePr>
          <p:cNvPr id="4" name="Table 3"/>
          <p:cNvGraphicFramePr>
            <a:graphicFrameLocks noGrp="1"/>
          </p:cNvGraphicFramePr>
          <p:nvPr/>
        </p:nvGraphicFramePr>
        <p:xfrm>
          <a:off x="548640" y="1604772"/>
          <a:ext cx="11094415" cy="428853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1NF</a:t>
                      </a:r>
                    </a:p>
                  </a:txBody>
                  <a:tcPr marL="109728" marR="109728" marT="54864" marB="54864" anchor="ctr">
                    <a:solidFill>
                      <a:srgbClr val="FFFCF7"/>
                    </a:solidFill>
                  </a:tcPr>
                </a:tc>
                <a:tc>
                  <a:txBody>
                    <a:bodyPr wrap="square"/>
                    <a:lstStyle/>
                    <a:p>
                      <a:r>
                        <a:rPr sz="2600" b="0" i="0" u="none">
                          <a:solidFill>
                            <a:srgbClr val="261F1D"/>
                          </a:solidFill>
                          <a:latin typeface="Helvetica"/>
                        </a:rPr>
                        <a:t>First Normal Form - every cell holds exactly one value, not a list crammed into one</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2NF</a:t>
                      </a:r>
                    </a:p>
                  </a:txBody>
                  <a:tcPr marL="109728" marR="109728" marT="54864" marB="54864" anchor="ctr">
                    <a:solidFill>
                      <a:srgbClr val="FFF6E4"/>
                    </a:solidFill>
                  </a:tcPr>
                </a:tc>
                <a:tc>
                  <a:txBody>
                    <a:bodyPr wrap="square"/>
                    <a:lstStyle/>
                    <a:p>
                      <a:r>
                        <a:rPr sz="2600" b="0" i="0" u="none">
                          <a:solidFill>
                            <a:srgbClr val="261F1D"/>
                          </a:solidFill>
                          <a:latin typeface="Helvetica"/>
                        </a:rPr>
                        <a:t>Second Normal Form - 1NF, plus no column depends on only part of a multi-column key</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3NF</a:t>
                      </a:r>
                    </a:p>
                  </a:txBody>
                  <a:tcPr marL="109728" marR="109728" marT="54864" marB="54864" anchor="ctr">
                    <a:solidFill>
                      <a:srgbClr val="FFFCF7"/>
                    </a:solidFill>
                  </a:tcPr>
                </a:tc>
                <a:tc>
                  <a:txBody>
                    <a:bodyPr wrap="square"/>
                    <a:lstStyle/>
                    <a:p>
                      <a:r>
                        <a:rPr sz="2600" b="0" i="0" u="none">
                          <a:solidFill>
                            <a:srgbClr val="261F1D"/>
                          </a:solidFill>
                          <a:latin typeface="Helvetica"/>
                        </a:rPr>
                        <a:t>Third Normal Form - 2NF, plus no non-key column depends on another non-key column</a:t>
                      </a:r>
                    </a:p>
                  </a:txBody>
                  <a:tcPr marL="109728" marR="109728" marT="54864" marB="54864" anchor="ctr">
                    <a:solidFill>
                      <a:srgbClr val="FFFCF7"/>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1 (Part 3)</a:t>
            </a:r>
          </a:p>
        </p:txBody>
      </p:sp>
      <p:graphicFrame>
        <p:nvGraphicFramePr>
          <p:cNvPr id="4" name="Table 3"/>
          <p:cNvGraphicFramePr>
            <a:graphicFrameLocks noGrp="1"/>
          </p:cNvGraphicFramePr>
          <p:nvPr/>
        </p:nvGraphicFramePr>
        <p:xfrm>
          <a:off x="548640" y="2235708"/>
          <a:ext cx="11094415" cy="302666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Partial dependency</a:t>
                      </a:r>
                    </a:p>
                  </a:txBody>
                  <a:tcPr marL="109728" marR="109728" marT="54864" marB="54864" anchor="ctr">
                    <a:solidFill>
                      <a:srgbClr val="FFFCF7"/>
                    </a:solidFill>
                  </a:tcPr>
                </a:tc>
                <a:tc>
                  <a:txBody>
                    <a:bodyPr wrap="square"/>
                    <a:lstStyle/>
                    <a:p>
                      <a:r>
                        <a:rPr sz="2600" b="0" i="0" u="none">
                          <a:solidFill>
                            <a:srgbClr val="261F1D"/>
                          </a:solidFill>
                          <a:latin typeface="Helvetica"/>
                        </a:rPr>
                        <a:t>A column that only really depends on part of a table's key, not the whole key</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Transitive dependency</a:t>
                      </a:r>
                    </a:p>
                  </a:txBody>
                  <a:tcPr marL="109728" marR="109728" marT="54864" marB="54864" anchor="ctr">
                    <a:solidFill>
                      <a:srgbClr val="FFF6E4"/>
                    </a:solidFill>
                  </a:tcPr>
                </a:tc>
                <a:tc>
                  <a:txBody>
                    <a:bodyPr wrap="square"/>
                    <a:lstStyle/>
                    <a:p>
                      <a:r>
                        <a:rPr sz="2600" b="0" i="0" u="none">
                          <a:solidFill>
                            <a:srgbClr val="261F1D"/>
                          </a:solidFill>
                          <a:latin typeface="Helvetica"/>
                        </a:rPr>
                        <a:t>A column that depends on another non-key column, instead of depending on the key directly</a:t>
                      </a:r>
                    </a:p>
                  </a:txBody>
                  <a:tcPr marL="109728" marR="109728" marT="54864" marB="54864" anchor="ctr">
                    <a:solidFill>
                      <a:srgbClr val="FFF6E4"/>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2</a:t>
            </a:r>
          </a:p>
        </p:txBody>
      </p:sp>
      <p:graphicFrame>
        <p:nvGraphicFramePr>
          <p:cNvPr id="4" name="Table 3"/>
          <p:cNvGraphicFramePr>
            <a:graphicFrameLocks noGrp="1"/>
          </p:cNvGraphicFramePr>
          <p:nvPr/>
        </p:nvGraphicFramePr>
        <p:xfrm>
          <a:off x="548640" y="1796796"/>
          <a:ext cx="11094415" cy="3904488"/>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psql</a:t>
                      </a:r>
                    </a:p>
                  </a:txBody>
                  <a:tcPr marL="109728" marR="109728" marT="54864" marB="54864" anchor="ctr">
                    <a:solidFill>
                      <a:srgbClr val="FFFCF7"/>
                    </a:solidFill>
                  </a:tcPr>
                </a:tc>
                <a:tc>
                  <a:txBody>
                    <a:bodyPr wrap="square"/>
                    <a:lstStyle/>
                    <a:p>
                      <a:r>
                        <a:rPr sz="2600" b="0" i="0" u="none">
                          <a:solidFill>
                            <a:srgbClr val="261F1D"/>
                          </a:solidFill>
                          <a:latin typeface="Helvetica"/>
                        </a:rPr>
                        <a:t>PostgreSQL's own command-line client - how every query this module gets run</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Constraint</a:t>
                      </a:r>
                    </a:p>
                  </a:txBody>
                  <a:tcPr marL="109728" marR="109728" marT="54864" marB="54864" anchor="ctr">
                    <a:solidFill>
                      <a:srgbClr val="FFF6E4"/>
                    </a:solidFill>
                  </a:tcPr>
                </a:tc>
                <a:tc>
                  <a:txBody>
                    <a:bodyPr wrap="square"/>
                    <a:lstStyle/>
                    <a:p>
                      <a:r>
                        <a:rPr sz="2600" b="0" i="0" u="none">
                          <a:solidFill>
                            <a:srgbClr val="261F1D"/>
                          </a:solidFill>
                          <a:latin typeface="Helvetica"/>
                        </a:rPr>
                        <a:t>A rule attached to a column that the database itself enforces on every insert or update</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NOT NULL constraint</a:t>
                      </a:r>
                    </a:p>
                  </a:txBody>
                  <a:tcPr marL="109728" marR="109728" marT="54864" marB="54864" anchor="ctr">
                    <a:solidFill>
                      <a:srgbClr val="FFFCF7"/>
                    </a:solidFill>
                  </a:tcPr>
                </a:tc>
                <a:tc>
                  <a:txBody>
                    <a:bodyPr wrap="square"/>
                    <a:lstStyle/>
                    <a:p>
                      <a:r>
                        <a:rPr sz="2600" b="0" i="0" u="none">
                          <a:solidFill>
                            <a:srgbClr val="261F1D"/>
                          </a:solidFill>
                          <a:latin typeface="Helvetica"/>
                        </a:rPr>
                        <a:t>Requires a column to always have a real value - never left blank</a:t>
                      </a:r>
                    </a:p>
                  </a:txBody>
                  <a:tcPr marL="109728" marR="109728" marT="54864" marB="54864" anchor="ctr">
                    <a:solidFill>
                      <a:srgbClr val="FFFCF7"/>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Days 2-3</a:t>
            </a:r>
          </a:p>
        </p:txBody>
      </p:sp>
      <p:graphicFrame>
        <p:nvGraphicFramePr>
          <p:cNvPr id="4" name="Table 3"/>
          <p:cNvGraphicFramePr>
            <a:graphicFrameLocks noGrp="1"/>
          </p:cNvGraphicFramePr>
          <p:nvPr/>
        </p:nvGraphicFramePr>
        <p:xfrm>
          <a:off x="548640" y="1988820"/>
          <a:ext cx="11094415" cy="352044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CHECK constraint</a:t>
                      </a:r>
                    </a:p>
                  </a:txBody>
                  <a:tcPr marL="109728" marR="109728" marT="54864" marB="54864" anchor="ctr">
                    <a:solidFill>
                      <a:srgbClr val="FFFCF7"/>
                    </a:solidFill>
                  </a:tcPr>
                </a:tc>
                <a:tc>
                  <a:txBody>
                    <a:bodyPr wrap="square"/>
                    <a:lstStyle/>
                    <a:p>
                      <a:r>
                        <a:rPr sz="2600" b="0" i="0" u="none">
                          <a:solidFill>
                            <a:srgbClr val="261F1D"/>
                          </a:solidFill>
                          <a:latin typeface="Helvetica"/>
                        </a:rPr>
                        <a:t>Restricts a column's values to a specific, allowed set or condition</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JOIN</a:t>
                      </a:r>
                    </a:p>
                  </a:txBody>
                  <a:tcPr marL="109728" marR="109728" marT="54864" marB="54864" anchor="ctr">
                    <a:solidFill>
                      <a:srgbClr val="FFF6E4"/>
                    </a:solidFill>
                  </a:tcPr>
                </a:tc>
                <a:tc>
                  <a:txBody>
                    <a:bodyPr wrap="square"/>
                    <a:lstStyle/>
                    <a:p>
                      <a:r>
                        <a:rPr sz="2600" b="0" i="0" u="none">
                          <a:solidFill>
                            <a:srgbClr val="261F1D"/>
                          </a:solidFill>
                          <a:latin typeface="Helvetica"/>
                        </a:rPr>
                        <a:t>Combines rows from two tables based on a matching key column</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INNER JOIN</a:t>
                      </a:r>
                    </a:p>
                  </a:txBody>
                  <a:tcPr marL="109728" marR="109728" marT="54864" marB="54864" anchor="ctr">
                    <a:solidFill>
                      <a:srgbClr val="FFFCF7"/>
                    </a:solidFill>
                  </a:tcPr>
                </a:tc>
                <a:tc>
                  <a:txBody>
                    <a:bodyPr wrap="square"/>
                    <a:lstStyle/>
                    <a:p>
                      <a:r>
                        <a:rPr sz="2600" b="0" i="0" u="none">
                          <a:solidFill>
                            <a:srgbClr val="261F1D"/>
                          </a:solidFill>
                          <a:latin typeface="Helvetica"/>
                        </a:rPr>
                        <a:t>Keeps only rows that have a match in both tables</a:t>
                      </a:r>
                    </a:p>
                  </a:txBody>
                  <a:tcPr marL="109728" marR="109728" marT="54864" marB="54864" anchor="ctr">
                    <a:solidFill>
                      <a:srgbClr val="FFFCF7"/>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3 (cont.)</a:t>
            </a:r>
          </a:p>
        </p:txBody>
      </p:sp>
      <p:graphicFrame>
        <p:nvGraphicFramePr>
          <p:cNvPr id="4" name="Table 3"/>
          <p:cNvGraphicFramePr>
            <a:graphicFrameLocks noGrp="1"/>
          </p:cNvGraphicFramePr>
          <p:nvPr/>
        </p:nvGraphicFramePr>
        <p:xfrm>
          <a:off x="548640" y="2235708"/>
          <a:ext cx="11094415" cy="302666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LEFT JOIN</a:t>
                      </a:r>
                    </a:p>
                  </a:txBody>
                  <a:tcPr marL="109728" marR="109728" marT="54864" marB="54864" anchor="ctr">
                    <a:solidFill>
                      <a:srgbClr val="FFFCF7"/>
                    </a:solidFill>
                  </a:tcPr>
                </a:tc>
                <a:tc>
                  <a:txBody>
                    <a:bodyPr wrap="square"/>
                    <a:lstStyle/>
                    <a:p>
                      <a:r>
                        <a:rPr sz="2600" b="0" i="0" u="none">
                          <a:solidFill>
                            <a:srgbClr val="261F1D"/>
                          </a:solidFill>
                          <a:latin typeface="Helvetica"/>
                        </a:rPr>
                        <a:t>Keeps every row from the left table, with NULLs where no match exists</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Anti-join</a:t>
                      </a:r>
                    </a:p>
                  </a:txBody>
                  <a:tcPr marL="109728" marR="109728" marT="54864" marB="54864" anchor="ctr">
                    <a:solidFill>
                      <a:srgbClr val="FFF6E4"/>
                    </a:solidFill>
                  </a:tcPr>
                </a:tc>
                <a:tc>
                  <a:txBody>
                    <a:bodyPr wrap="square"/>
                    <a:lstStyle/>
                    <a:p>
                      <a:r>
                        <a:rPr sz="2600" b="0" i="0" u="none">
                          <a:solidFill>
                            <a:srgbClr val="261F1D"/>
                          </a:solidFill>
                          <a:latin typeface="Helvetica"/>
                        </a:rPr>
                        <a:t>A LEFT JOIN plus a WHERE check for NULL, used to find rows with no match at all</a:t>
                      </a:r>
                    </a:p>
                  </a:txBody>
                  <a:tcPr marL="109728" marR="109728" marT="54864" marB="54864" anchor="ctr">
                    <a:solidFill>
                      <a:srgbClr val="FFF6E4"/>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4</a:t>
            </a:r>
          </a:p>
        </p:txBody>
      </p:sp>
      <p:graphicFrame>
        <p:nvGraphicFramePr>
          <p:cNvPr id="4" name="Table 3"/>
          <p:cNvGraphicFramePr>
            <a:graphicFrameLocks noGrp="1"/>
          </p:cNvGraphicFramePr>
          <p:nvPr/>
        </p:nvGraphicFramePr>
        <p:xfrm>
          <a:off x="548640" y="1604772"/>
          <a:ext cx="11094415" cy="428853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GROUP BY</a:t>
                      </a:r>
                    </a:p>
                  </a:txBody>
                  <a:tcPr marL="109728" marR="109728" marT="54864" marB="54864" anchor="ctr">
                    <a:solidFill>
                      <a:srgbClr val="FFFCF7"/>
                    </a:solidFill>
                  </a:tcPr>
                </a:tc>
                <a:tc>
                  <a:txBody>
                    <a:bodyPr wrap="square"/>
                    <a:lstStyle/>
                    <a:p>
                      <a:r>
                        <a:rPr sz="2600" b="0" i="0" u="none">
                          <a:solidFill>
                            <a:srgbClr val="261F1D"/>
                          </a:solidFill>
                          <a:latin typeface="Helvetica"/>
                        </a:rPr>
                        <a:t>Collapses rows into one row per group, so an aggregate function can run per group</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Aggregate function</a:t>
                      </a:r>
                    </a:p>
                  </a:txBody>
                  <a:tcPr marL="109728" marR="109728" marT="54864" marB="54864" anchor="ctr">
                    <a:solidFill>
                      <a:srgbClr val="FFF6E4"/>
                    </a:solidFill>
                  </a:tcPr>
                </a:tc>
                <a:tc>
                  <a:txBody>
                    <a:bodyPr wrap="square"/>
                    <a:lstStyle/>
                    <a:p>
                      <a:r>
                        <a:rPr sz="2600" b="0" i="0" u="none">
                          <a:solidFill>
                            <a:srgbClr val="261F1D"/>
                          </a:solidFill>
                          <a:latin typeface="Helvetica"/>
                        </a:rPr>
                        <a:t>A function like COUNT, AVG, or SUM that computes one value from many rows</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HAVING</a:t>
                      </a:r>
                    </a:p>
                  </a:txBody>
                  <a:tcPr marL="109728" marR="109728" marT="54864" marB="54864" anchor="ctr">
                    <a:solidFill>
                      <a:srgbClr val="FFFCF7"/>
                    </a:solidFill>
                  </a:tcPr>
                </a:tc>
                <a:tc>
                  <a:txBody>
                    <a:bodyPr wrap="square"/>
                    <a:lstStyle/>
                    <a:p>
                      <a:r>
                        <a:rPr sz="2600" b="0" i="0" u="none">
                          <a:solidFill>
                            <a:srgbClr val="261F1D"/>
                          </a:solidFill>
                          <a:latin typeface="Helvetica"/>
                        </a:rPr>
                        <a:t>Filters groups after aggregation - the WHERE clause for an aggregated value</a:t>
                      </a:r>
                    </a:p>
                  </a:txBody>
                  <a:tcPr marL="109728" marR="109728" marT="54864" marB="54864" anchor="ctr">
                    <a:solidFill>
                      <a:srgbClr val="FFFCF7"/>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Days 5-6</a:t>
            </a:r>
          </a:p>
        </p:txBody>
      </p:sp>
      <p:graphicFrame>
        <p:nvGraphicFramePr>
          <p:cNvPr id="4" name="Table 3"/>
          <p:cNvGraphicFramePr>
            <a:graphicFrameLocks noGrp="1"/>
          </p:cNvGraphicFramePr>
          <p:nvPr/>
        </p:nvGraphicFramePr>
        <p:xfrm>
          <a:off x="548640" y="1412748"/>
          <a:ext cx="11094415" cy="467258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CTE</a:t>
                      </a:r>
                    </a:p>
                  </a:txBody>
                  <a:tcPr marL="109728" marR="109728" marT="54864" marB="54864" anchor="ctr">
                    <a:solidFill>
                      <a:srgbClr val="FFFCF7"/>
                    </a:solidFill>
                  </a:tcPr>
                </a:tc>
                <a:tc>
                  <a:txBody>
                    <a:bodyPr wrap="square"/>
                    <a:lstStyle/>
                    <a:p>
                      <a:r>
                        <a:rPr sz="2600" b="0" i="0" u="none">
                          <a:solidFill>
                            <a:srgbClr val="261F1D"/>
                          </a:solidFill>
                          <a:latin typeface="Helvetica"/>
                        </a:rPr>
                        <a:t>Common Table Expression - a named, temporary result set defined with WITH, usable like a table</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WITH clause</a:t>
                      </a:r>
                    </a:p>
                  </a:txBody>
                  <a:tcPr marL="109728" marR="109728" marT="54864" marB="54864" anchor="ctr">
                    <a:solidFill>
                      <a:srgbClr val="FFF6E4"/>
                    </a:solidFill>
                  </a:tcPr>
                </a:tc>
                <a:tc>
                  <a:txBody>
                    <a:bodyPr wrap="square"/>
                    <a:lstStyle/>
                    <a:p>
                      <a:r>
                        <a:rPr sz="2600" b="0" i="0" u="none">
                          <a:solidFill>
                            <a:srgbClr val="261F1D"/>
                          </a:solidFill>
                          <a:latin typeface="Helvetica"/>
                        </a:rPr>
                        <a:t>The SQL syntax that defines a CTE, written before the main SELECT</a:t>
                      </a:r>
                    </a:p>
                  </a:txBody>
                  <a:tcPr marL="109728" marR="109728" marT="54864" marB="54864" anchor="ctr">
                    <a:solidFill>
                      <a:srgbClr val="FFF6E4"/>
                    </a:solidFill>
                  </a:tcPr>
                </a:tc>
              </a:tr>
              <a:tr h="1645920">
                <a:tc>
                  <a:txBody>
                    <a:bodyPr wrap="square"/>
                    <a:lstStyle/>
                    <a:p>
                      <a:r>
                        <a:rPr sz="2600" b="0" i="0" u="none">
                          <a:solidFill>
                            <a:srgbClr val="261F1D"/>
                          </a:solidFill>
                          <a:latin typeface="Helvetica"/>
                        </a:rPr>
                        <a:t>Chained CTE</a:t>
                      </a:r>
                    </a:p>
                  </a:txBody>
                  <a:tcPr marL="109728" marR="109728" marT="54864" marB="54864" anchor="ctr">
                    <a:solidFill>
                      <a:srgbClr val="FFFCF7"/>
                    </a:solidFill>
                  </a:tcPr>
                </a:tc>
                <a:tc>
                  <a:txBody>
                    <a:bodyPr wrap="square"/>
                    <a:lstStyle/>
                    <a:p>
                      <a:r>
                        <a:rPr sz="2600" b="0" i="0" u="none">
                          <a:solidFill>
                            <a:srgbClr val="261F1D"/>
                          </a:solidFill>
                          <a:latin typeface="Helvetica"/>
                        </a:rPr>
                        <a:t>Two or more CTEs in one WITH clause, separated by commas, where a later one can reference an earlier one</a:t>
                      </a:r>
                    </a:p>
                  </a:txBody>
                  <a:tcPr marL="109728" marR="109728" marT="54864" marB="54864" anchor="ctr">
                    <a:solidFill>
                      <a:srgbClr val="FFFCF7"/>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Days 6-7</a:t>
            </a:r>
          </a:p>
        </p:txBody>
      </p:sp>
      <p:graphicFrame>
        <p:nvGraphicFramePr>
          <p:cNvPr id="4" name="Table 3"/>
          <p:cNvGraphicFramePr>
            <a:graphicFrameLocks noGrp="1"/>
          </p:cNvGraphicFramePr>
          <p:nvPr/>
        </p:nvGraphicFramePr>
        <p:xfrm>
          <a:off x="548640" y="1220724"/>
          <a:ext cx="11094415" cy="5056632"/>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645920">
                <a:tc>
                  <a:txBody>
                    <a:bodyPr wrap="square"/>
                    <a:lstStyle/>
                    <a:p>
                      <a:r>
                        <a:rPr sz="2600" b="0" i="0" u="none">
                          <a:solidFill>
                            <a:srgbClr val="261F1D"/>
                          </a:solidFill>
                          <a:latin typeface="Helvetica"/>
                        </a:rPr>
                        <a:t>Decomposition plan</a:t>
                      </a:r>
                    </a:p>
                  </a:txBody>
                  <a:tcPr marL="109728" marR="109728" marT="54864" marB="54864" anchor="ctr">
                    <a:solidFill>
                      <a:srgbClr val="FFFCF7"/>
                    </a:solidFill>
                  </a:tcPr>
                </a:tc>
                <a:tc>
                  <a:txBody>
                    <a:bodyPr wrap="square"/>
                    <a:lstStyle/>
                    <a:p>
                      <a:r>
                        <a:rPr sz="2600" b="0" i="0" u="none">
                          <a:solidFill>
                            <a:srgbClr val="261F1D"/>
                          </a:solidFill>
                          <a:latin typeface="Helvetica"/>
                        </a:rPr>
                        <a:t>A sketched-out sequence of steps for answering a question with SQL, decided before writing the query</a:t>
                      </a:r>
                    </a:p>
                  </a:txBody>
                  <a:tcPr marL="109728" marR="109728" marT="54864" marB="54864" anchor="ctr">
                    <a:solidFill>
                      <a:srgbClr val="FFFCF7"/>
                    </a:solidFill>
                  </a:tcPr>
                </a:tc>
              </a:tr>
              <a:tr h="1645920">
                <a:tc>
                  <a:txBody>
                    <a:bodyPr wrap="square"/>
                    <a:lstStyle/>
                    <a:p>
                      <a:r>
                        <a:rPr sz="2600" b="0" i="0" u="none">
                          <a:solidFill>
                            <a:srgbClr val="261F1D"/>
                          </a:solidFill>
                          <a:latin typeface="Helvetica"/>
                        </a:rPr>
                        <a:t>Window function</a:t>
                      </a:r>
                    </a:p>
                  </a:txBody>
                  <a:tcPr marL="109728" marR="109728" marT="54864" marB="54864" anchor="ctr">
                    <a:solidFill>
                      <a:srgbClr val="FFF6E4"/>
                    </a:solidFill>
                  </a:tcPr>
                </a:tc>
                <a:tc>
                  <a:txBody>
                    <a:bodyPr wrap="square"/>
                    <a:lstStyle/>
                    <a:p>
                      <a:r>
                        <a:rPr sz="2600" b="0" i="0" u="none">
                          <a:solidFill>
                            <a:srgbClr val="261F1D"/>
                          </a:solidFill>
                          <a:latin typeface="Helvetica"/>
                        </a:rPr>
                        <a:t>A calculation across a set of rows that keeps every row separate, instead of collapsing them the way GROUP BY does</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OVER clause</a:t>
                      </a:r>
                    </a:p>
                  </a:txBody>
                  <a:tcPr marL="109728" marR="109728" marT="54864" marB="54864" anchor="ctr">
                    <a:solidFill>
                      <a:srgbClr val="FFFCF7"/>
                    </a:solidFill>
                  </a:tcPr>
                </a:tc>
                <a:tc>
                  <a:txBody>
                    <a:bodyPr wrap="square"/>
                    <a:lstStyle/>
                    <a:p>
                      <a:r>
                        <a:rPr sz="2600" b="0" i="0" u="none">
                          <a:solidFill>
                            <a:srgbClr val="261F1D"/>
                          </a:solidFill>
                          <a:latin typeface="Helvetica"/>
                        </a:rPr>
                        <a:t>The part of a window function's syntax that defines which rows it looks across</a:t>
                      </a:r>
                    </a:p>
                  </a:txBody>
                  <a:tcPr marL="109728" marR="109728" marT="54864" marB="54864" anchor="ctr">
                    <a:solidFill>
                      <a:srgbClr val="FFFCF7"/>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7-8</a:t>
            </a:r>
          </a:p>
        </p:txBody>
      </p:sp>
      <p:graphicFrame>
        <p:nvGraphicFramePr>
          <p:cNvPr id="4" name="Table 3"/>
          <p:cNvGraphicFramePr>
            <a:graphicFrameLocks noGrp="1"/>
          </p:cNvGraphicFramePr>
          <p:nvPr/>
        </p:nvGraphicFramePr>
        <p:xfrm>
          <a:off x="548640" y="1220724"/>
          <a:ext cx="11094415" cy="5056632"/>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645920">
                <a:tc>
                  <a:txBody>
                    <a:bodyPr wrap="square"/>
                    <a:lstStyle/>
                    <a:p>
                      <a:r>
                        <a:rPr sz="2600" b="0" i="0" u="none">
                          <a:solidFill>
                            <a:srgbClr val="261F1D"/>
                          </a:solidFill>
                          <a:latin typeface="Helvetica"/>
                        </a:rPr>
                        <a:t>RANK()</a:t>
                      </a:r>
                    </a:p>
                  </a:txBody>
                  <a:tcPr marL="109728" marR="109728" marT="54864" marB="54864" anchor="ctr">
                    <a:solidFill>
                      <a:srgbClr val="FFFCF7"/>
                    </a:solidFill>
                  </a:tcPr>
                </a:tc>
                <a:tc>
                  <a:txBody>
                    <a:bodyPr wrap="square"/>
                    <a:lstStyle/>
                    <a:p>
                      <a:r>
                        <a:rPr sz="2600" b="0" i="0" u="none">
                          <a:solidFill>
                            <a:srgbClr val="261F1D"/>
                          </a:solidFill>
                          <a:latin typeface="Helvetica"/>
                        </a:rPr>
                        <a:t>A window function that numbers rows by order, giving tied rows the same number and skipping ahead after the tie</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ROW_NUMBER()</a:t>
                      </a:r>
                    </a:p>
                  </a:txBody>
                  <a:tcPr marL="109728" marR="109728" marT="54864" marB="54864" anchor="ctr">
                    <a:solidFill>
                      <a:srgbClr val="FFF6E4"/>
                    </a:solidFill>
                  </a:tcPr>
                </a:tc>
                <a:tc>
                  <a:txBody>
                    <a:bodyPr wrap="square"/>
                    <a:lstStyle/>
                    <a:p>
                      <a:r>
                        <a:rPr sz="2600" b="0" i="0" u="none">
                          <a:solidFill>
                            <a:srgbClr val="261F1D"/>
                          </a:solidFill>
                          <a:latin typeface="Helvetica"/>
                        </a:rPr>
                        <a:t>A window function that gives every row a unique, sequential number, even when values tie</a:t>
                      </a:r>
                    </a:p>
                  </a:txBody>
                  <a:tcPr marL="109728" marR="109728" marT="54864" marB="54864" anchor="ctr">
                    <a:solidFill>
                      <a:srgbClr val="FFF6E4"/>
                    </a:solidFill>
                  </a:tcPr>
                </a:tc>
              </a:tr>
              <a:tr h="1645920">
                <a:tc>
                  <a:txBody>
                    <a:bodyPr wrap="square"/>
                    <a:lstStyle/>
                    <a:p>
                      <a:r>
                        <a:rPr sz="2600" b="0" i="0" u="none">
                          <a:solidFill>
                            <a:srgbClr val="261F1D"/>
                          </a:solidFill>
                          <a:latin typeface="Helvetica"/>
                        </a:rPr>
                        <a:t>PARTITION BY</a:t>
                      </a:r>
                    </a:p>
                  </a:txBody>
                  <a:tcPr marL="109728" marR="109728" marT="54864" marB="54864" anchor="ctr">
                    <a:solidFill>
                      <a:srgbClr val="FFFCF7"/>
                    </a:solidFill>
                  </a:tcPr>
                </a:tc>
                <a:tc>
                  <a:txBody>
                    <a:bodyPr wrap="square"/>
                    <a:lstStyle/>
                    <a:p>
                      <a:r>
                        <a:rPr sz="2600" b="0" i="0" u="none">
                          <a:solidFill>
                            <a:srgbClr val="261F1D"/>
                          </a:solidFill>
                          <a:latin typeface="Helvetica"/>
                        </a:rPr>
                        <a:t>The part of an OVER clause that splits rows into groups, so the window function starts its count over inside each one</a:t>
                      </a:r>
                    </a:p>
                  </a:txBody>
                  <a:tcPr marL="109728" marR="109728" marT="54864" marB="54864" anchor="ctr">
                    <a:solidFill>
                      <a:srgbClr val="FFFCF7"/>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8 (cont.)</a:t>
            </a:r>
          </a:p>
        </p:txBody>
      </p:sp>
      <p:graphicFrame>
        <p:nvGraphicFramePr>
          <p:cNvPr id="4" name="Table 3"/>
          <p:cNvGraphicFramePr>
            <a:graphicFrameLocks noGrp="1"/>
          </p:cNvGraphicFramePr>
          <p:nvPr/>
        </p:nvGraphicFramePr>
        <p:xfrm>
          <a:off x="548640" y="2043684"/>
          <a:ext cx="11094415" cy="3410712"/>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Partition</a:t>
                      </a:r>
                    </a:p>
                  </a:txBody>
                  <a:tcPr marL="109728" marR="109728" marT="54864" marB="54864" anchor="ctr">
                    <a:solidFill>
                      <a:srgbClr val="FFFCF7"/>
                    </a:solidFill>
                  </a:tcPr>
                </a:tc>
                <a:tc>
                  <a:txBody>
                    <a:bodyPr wrap="square"/>
                    <a:lstStyle/>
                    <a:p>
                      <a:r>
                        <a:rPr sz="2600" b="0" i="0" u="none">
                          <a:solidFill>
                            <a:srgbClr val="261F1D"/>
                          </a:solidFill>
                          <a:latin typeface="Helvetica"/>
                        </a:rPr>
                        <a:t>One group of rows that a window function treats separately from every other group</a:t>
                      </a:r>
                    </a:p>
                  </a:txBody>
                  <a:tcPr marL="109728" marR="109728" marT="54864" marB="54864" anchor="ctr">
                    <a:solidFill>
                      <a:srgbClr val="FFFCF7"/>
                    </a:solidFill>
                  </a:tcPr>
                </a:tc>
              </a:tr>
              <a:tr h="1645920">
                <a:tc>
                  <a:txBody>
                    <a:bodyPr wrap="square"/>
                    <a:lstStyle/>
                    <a:p>
                      <a:r>
                        <a:rPr sz="2600" b="0" i="0" u="none">
                          <a:solidFill>
                            <a:srgbClr val="261F1D"/>
                          </a:solidFill>
                          <a:latin typeface="Helvetica"/>
                        </a:rPr>
                        <a:t>Top-N per group</a:t>
                      </a:r>
                    </a:p>
                  </a:txBody>
                  <a:tcPr marL="109728" marR="109728" marT="54864" marB="54864" anchor="ctr">
                    <a:solidFill>
                      <a:srgbClr val="FFF6E4"/>
                    </a:solidFill>
                  </a:tcPr>
                </a:tc>
                <a:tc>
                  <a:txBody>
                    <a:bodyPr wrap="square"/>
                    <a:lstStyle/>
                    <a:p>
                      <a:r>
                        <a:rPr sz="2600" b="0" i="0" u="none">
                          <a:solidFill>
                            <a:srgbClr val="261F1D"/>
                          </a:solidFill>
                          <a:latin typeface="Helvetica"/>
                        </a:rPr>
                        <a:t>A very common query pattern that returns the highest-ranked rows inside each group, not just the highest overall</a:t>
                      </a:r>
                    </a:p>
                  </a:txBody>
                  <a:tcPr marL="109728" marR="109728" marT="54864" marB="54864" anchor="ctr">
                    <a:solidFill>
                      <a:srgbClr val="FFF6E4"/>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9</a:t>
            </a:r>
          </a:p>
        </p:txBody>
      </p:sp>
      <p:graphicFrame>
        <p:nvGraphicFramePr>
          <p:cNvPr id="4" name="Table 3"/>
          <p:cNvGraphicFramePr>
            <a:graphicFrameLocks noGrp="1"/>
          </p:cNvGraphicFramePr>
          <p:nvPr/>
        </p:nvGraphicFramePr>
        <p:xfrm>
          <a:off x="548640" y="1604772"/>
          <a:ext cx="11094415" cy="428853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NULL</a:t>
                      </a:r>
                    </a:p>
                  </a:txBody>
                  <a:tcPr marL="109728" marR="109728" marT="54864" marB="54864" anchor="ctr">
                    <a:solidFill>
                      <a:srgbClr val="FFFCF7"/>
                    </a:solidFill>
                  </a:tcPr>
                </a:tc>
                <a:tc>
                  <a:txBody>
                    <a:bodyPr wrap="square"/>
                    <a:lstStyle/>
                    <a:p>
                      <a:r>
                        <a:rPr sz="2600" b="0" i="0" u="none">
                          <a:solidFill>
                            <a:srgbClr val="261F1D"/>
                          </a:solidFill>
                          <a:latin typeface="Helvetica"/>
                        </a:rPr>
                        <a:t>A missing or unknown value - not zero, and not an empty piece of text</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COALESCE</a:t>
                      </a:r>
                    </a:p>
                  </a:txBody>
                  <a:tcPr marL="109728" marR="109728" marT="54864" marB="54864" anchor="ctr">
                    <a:solidFill>
                      <a:srgbClr val="FFF6E4"/>
                    </a:solidFill>
                  </a:tcPr>
                </a:tc>
                <a:tc>
                  <a:txBody>
                    <a:bodyPr wrap="square"/>
                    <a:lstStyle/>
                    <a:p>
                      <a:r>
                        <a:rPr sz="2600" b="0" i="0" u="none">
                          <a:solidFill>
                            <a:srgbClr val="261F1D"/>
                          </a:solidFill>
                          <a:latin typeface="Helvetica"/>
                        </a:rPr>
                        <a:t>A function that returns the first value in its list that is not NULL</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Materialized view</a:t>
                      </a:r>
                    </a:p>
                  </a:txBody>
                  <a:tcPr marL="109728" marR="109728" marT="54864" marB="54864" anchor="ctr">
                    <a:solidFill>
                      <a:srgbClr val="FFFCF7"/>
                    </a:solidFill>
                  </a:tcPr>
                </a:tc>
                <a:tc>
                  <a:txBody>
                    <a:bodyPr wrap="square"/>
                    <a:lstStyle/>
                    <a:p>
                      <a:r>
                        <a:rPr sz="2600" b="0" i="0" u="none">
                          <a:solidFill>
                            <a:srgbClr val="261F1D"/>
                          </a:solidFill>
                          <a:latin typeface="Helvetica"/>
                        </a:rPr>
                        <a:t>A saved query whose result rows are actually stored, instead of being recomputed every time</a:t>
                      </a:r>
                    </a:p>
                  </a:txBody>
                  <a:tcPr marL="109728" marR="109728" marT="54864" marB="54864" anchor="ctr">
                    <a:solidFill>
                      <a:srgbClr val="FFFCF7"/>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Days 9-10</a:t>
            </a:r>
          </a:p>
        </p:txBody>
      </p:sp>
      <p:graphicFrame>
        <p:nvGraphicFramePr>
          <p:cNvPr id="4" name="Table 3"/>
          <p:cNvGraphicFramePr>
            <a:graphicFrameLocks noGrp="1"/>
          </p:cNvGraphicFramePr>
          <p:nvPr/>
        </p:nvGraphicFramePr>
        <p:xfrm>
          <a:off x="548640" y="2180844"/>
          <a:ext cx="11094415" cy="3136392"/>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Query plan</a:t>
                      </a:r>
                    </a:p>
                  </a:txBody>
                  <a:tcPr marL="109728" marR="109728" marT="54864" marB="54864" anchor="ctr">
                    <a:solidFill>
                      <a:srgbClr val="FFFCF7"/>
                    </a:solidFill>
                  </a:tcPr>
                </a:tc>
                <a:tc>
                  <a:txBody>
                    <a:bodyPr wrap="square"/>
                    <a:lstStyle/>
                    <a:p>
                      <a:r>
                        <a:rPr sz="2600" b="0" i="0" u="none">
                          <a:solidFill>
                            <a:srgbClr val="261F1D"/>
                          </a:solidFill>
                          <a:latin typeface="Helvetica"/>
                        </a:rPr>
                        <a:t>The step-by-step method PostgreSQL chose for running your query</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Scalar subquery</a:t>
                      </a:r>
                    </a:p>
                  </a:txBody>
                  <a:tcPr marL="109728" marR="109728" marT="54864" marB="54864" anchor="ctr">
                    <a:solidFill>
                      <a:srgbClr val="FFF6E4"/>
                    </a:solidFill>
                  </a:tcPr>
                </a:tc>
                <a:tc>
                  <a:txBody>
                    <a:bodyPr wrap="square"/>
                    <a:lstStyle/>
                    <a:p>
                      <a:r>
                        <a:rPr sz="2600" b="0" i="0" u="none">
                          <a:solidFill>
                            <a:srgbClr val="261F1D"/>
                          </a:solidFill>
                          <a:latin typeface="Helvetica"/>
                        </a:rPr>
                        <a:t>A query inside another query that hands back exactly one value</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Derived table</a:t>
                      </a:r>
                    </a:p>
                  </a:txBody>
                  <a:tcPr marL="109728" marR="109728" marT="54864" marB="54864" anchor="ctr">
                    <a:solidFill>
                      <a:srgbClr val="FFFCF7"/>
                    </a:solidFill>
                  </a:tcPr>
                </a:tc>
                <a:tc>
                  <a:txBody>
                    <a:bodyPr wrap="square"/>
                    <a:lstStyle/>
                    <a:p>
                      <a:r>
                        <a:rPr sz="2600" b="0" i="0" u="none">
                          <a:solidFill>
                            <a:srgbClr val="261F1D"/>
                          </a:solidFill>
                          <a:latin typeface="Helvetica"/>
                        </a:rPr>
                        <a:t>A query inside a FROM clause, given a name and used like a table</a:t>
                      </a:r>
                    </a:p>
                  </a:txBody>
                  <a:tcPr marL="109728" marR="109728" marT="54864" marB="54864" anchor="ctr">
                    <a:solidFill>
                      <a:srgbClr val="FFFCF7"/>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Days 10, 13</a:t>
            </a:r>
          </a:p>
        </p:txBody>
      </p:sp>
      <p:graphicFrame>
        <p:nvGraphicFramePr>
          <p:cNvPr id="4" name="Table 3"/>
          <p:cNvGraphicFramePr>
            <a:graphicFrameLocks noGrp="1"/>
          </p:cNvGraphicFramePr>
          <p:nvPr/>
        </p:nvGraphicFramePr>
        <p:xfrm>
          <a:off x="548640" y="1604772"/>
          <a:ext cx="11094415" cy="4288536"/>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645920">
                <a:tc>
                  <a:txBody>
                    <a:bodyPr wrap="square"/>
                    <a:lstStyle/>
                    <a:p>
                      <a:r>
                        <a:rPr sz="2600" b="0" i="0" u="none">
                          <a:solidFill>
                            <a:srgbClr val="261F1D"/>
                          </a:solidFill>
                          <a:latin typeface="Helvetica"/>
                        </a:rPr>
                        <a:t>Correlated subquery</a:t>
                      </a:r>
                    </a:p>
                  </a:txBody>
                  <a:tcPr marL="109728" marR="109728" marT="54864" marB="54864" anchor="ctr">
                    <a:solidFill>
                      <a:srgbClr val="FFFCF7"/>
                    </a:solidFill>
                  </a:tcPr>
                </a:tc>
                <a:tc>
                  <a:txBody>
                    <a:bodyPr wrap="square"/>
                    <a:lstStyle/>
                    <a:p>
                      <a:r>
                        <a:rPr sz="2600" b="0" i="0" u="none">
                          <a:solidFill>
                            <a:srgbClr val="261F1D"/>
                          </a:solidFill>
                          <a:latin typeface="Helvetica"/>
                        </a:rPr>
                        <a:t>An inner query that refers to a column from the outer query, so its answer depends on which row is being looked at</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Spot-check</a:t>
                      </a:r>
                    </a:p>
                  </a:txBody>
                  <a:tcPr marL="109728" marR="109728" marT="54864" marB="54864" anchor="ctr">
                    <a:solidFill>
                      <a:srgbClr val="FFF6E4"/>
                    </a:solidFill>
                  </a:tcPr>
                </a:tc>
                <a:tc>
                  <a:txBody>
                    <a:bodyPr wrap="square"/>
                    <a:lstStyle/>
                    <a:p>
                      <a:r>
                        <a:rPr sz="2600" b="0" i="0" u="none">
                          <a:solidFill>
                            <a:srgbClr val="261F1D"/>
                          </a:solidFill>
                          <a:latin typeface="Helvetica"/>
                        </a:rPr>
                        <a:t>Checking a query's result against an answer you worked out by hand first</a:t>
                      </a:r>
                    </a:p>
                  </a:txBody>
                  <a:tcPr marL="109728" marR="109728" marT="54864" marB="54864" anchor="ctr">
                    <a:solidFill>
                      <a:srgbClr val="FFF6E4"/>
                    </a:solidFill>
                  </a:tcPr>
                </a:tc>
              </a:tr>
              <a:tr h="877824">
                <a:tc>
                  <a:txBody>
                    <a:bodyPr wrap="square"/>
                    <a:lstStyle/>
                    <a:p>
                      <a:r>
                        <a:rPr sz="2600" b="0" i="0" u="none">
                          <a:solidFill>
                            <a:srgbClr val="261F1D"/>
                          </a:solidFill>
                          <a:latin typeface="Helvetica"/>
                        </a:rPr>
                        <a:t>Silent bug</a:t>
                      </a:r>
                    </a:p>
                  </a:txBody>
                  <a:tcPr marL="109728" marR="109728" marT="54864" marB="54864" anchor="ctr">
                    <a:solidFill>
                      <a:srgbClr val="FFFCF7"/>
                    </a:solidFill>
                  </a:tcPr>
                </a:tc>
                <a:tc>
                  <a:txBody>
                    <a:bodyPr wrap="square"/>
                    <a:lstStyle/>
                    <a:p>
                      <a:r>
                        <a:rPr sz="2600" b="0" i="0" u="none">
                          <a:solidFill>
                            <a:srgbClr val="261F1D"/>
                          </a:solidFill>
                          <a:latin typeface="Helvetica"/>
                        </a:rPr>
                        <a:t>A query that runs with no error but hands back the wrong rows</a:t>
                      </a:r>
                    </a:p>
                  </a:txBody>
                  <a:tcPr marL="109728" marR="109728" marT="54864" marB="54864" anchor="ctr">
                    <a:solidFill>
                      <a:srgbClr val="FFFCF7"/>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Vocabulary: Day 13 (cont.)</a:t>
            </a:r>
          </a:p>
        </p:txBody>
      </p:sp>
      <p:graphicFrame>
        <p:nvGraphicFramePr>
          <p:cNvPr id="4" name="Table 3"/>
          <p:cNvGraphicFramePr>
            <a:graphicFrameLocks noGrp="1"/>
          </p:cNvGraphicFramePr>
          <p:nvPr/>
        </p:nvGraphicFramePr>
        <p:xfrm>
          <a:off x="548640" y="2866644"/>
          <a:ext cx="11094415" cy="1764792"/>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Row count check</a:t>
                      </a:r>
                    </a:p>
                  </a:txBody>
                  <a:tcPr marL="109728" marR="109728" marT="54864" marB="54864" anchor="ctr">
                    <a:solidFill>
                      <a:srgbClr val="FFFCF7"/>
                    </a:solidFill>
                  </a:tcPr>
                </a:tc>
                <a:tc>
                  <a:txBody>
                    <a:bodyPr wrap="square"/>
                    <a:lstStyle/>
                    <a:p>
                      <a:r>
                        <a:rPr sz="2600" b="0" i="0" u="none">
                          <a:solidFill>
                            <a:srgbClr val="261F1D"/>
                          </a:solidFill>
                          <a:latin typeface="Helvetica"/>
                        </a:rPr>
                        <a:t>Adding a breakdown back up and confirming it matches the source table's own total</a:t>
                      </a:r>
                    </a:p>
                  </a:txBody>
                  <a:tcPr marL="109728" marR="109728" marT="54864" marB="54864" anchor="ctr">
                    <a:solidFill>
                      <a:srgbClr val="FFFCF7"/>
                    </a:solidFill>
                  </a:tcPr>
                </a:tc>
              </a:tr>
            </a:tbl>
          </a:graphicData>
        </a:graphic>
      </p:graphicFrame>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Project Connection</a:t>
            </a:r>
          </a:p>
        </p:txBody>
      </p:sp>
      <p:sp>
        <p:nvSpPr>
          <p:cNvPr id="4" name="TextBox 3"/>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How each day explicitly feeds the sprint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How Each Lecture Connects to the Project (Days 1-3)</a:t>
            </a:r>
          </a:p>
        </p:txBody>
      </p:sp>
      <p:graphicFrame>
        <p:nvGraphicFramePr>
          <p:cNvPr id="4" name="Table 3"/>
          <p:cNvGraphicFramePr>
            <a:graphicFrameLocks noGrp="1"/>
          </p:cNvGraphicFramePr>
          <p:nvPr/>
        </p:nvGraphicFramePr>
        <p:xfrm>
          <a:off x="548640" y="1412748"/>
          <a:ext cx="11094415" cy="467258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Project Connection</a:t>
                      </a:r>
                    </a:p>
                  </a:txBody>
                  <a:tcPr marL="109728" marR="109728" marT="54864" marB="54864" anchor="ctr">
                    <a:solidFill>
                      <a:srgbClr val="264326"/>
                    </a:solidFill>
                  </a:tcPr>
                </a:tc>
              </a:tr>
              <a:tr h="1645920">
                <a:tc>
                  <a:txBody>
                    <a:bodyPr wrap="square"/>
                    <a:lstStyle/>
                    <a:p>
                      <a:r>
                        <a:rPr sz="2600" b="0" i="0" u="none">
                          <a:solidFill>
                            <a:srgbClr val="261F1D"/>
                          </a:solidFill>
                          <a:latin typeface="Helvetica"/>
                        </a:rPr>
                        <a:t>1</a:t>
                      </a:r>
                    </a:p>
                  </a:txBody>
                  <a:tcPr marL="109728" marR="109728" marT="54864" marB="54864" anchor="ctr">
                    <a:solidFill>
                      <a:srgbClr val="FFFCF7"/>
                    </a:solidFill>
                  </a:tcPr>
                </a:tc>
                <a:tc>
                  <a:txBody>
                    <a:bodyPr wrap="square"/>
                    <a:lstStyle/>
                    <a:p>
                      <a:r>
                        <a:rPr sz="2600" b="0" i="0" u="none">
                          <a:solidFill>
                            <a:srgbClr val="261F1D"/>
                          </a:solidFill>
                          <a:latin typeface="Helvetica"/>
                        </a:rPr>
                        <a:t>Objective 5 grades independently spotting a schema below 3NF - today's where that judgment starts</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2</a:t>
                      </a:r>
                    </a:p>
                  </a:txBody>
                  <a:tcPr marL="109728" marR="109728" marT="54864" marB="54864" anchor="ctr">
                    <a:solidFill>
                      <a:srgbClr val="FFF6E4"/>
                    </a:solidFill>
                  </a:tcPr>
                </a:tc>
                <a:tc>
                  <a:txBody>
                    <a:bodyPr wrap="square"/>
                    <a:lstStyle/>
                    <a:p>
                      <a:r>
                        <a:rPr sz="2600" b="0" i="0" u="none">
                          <a:solidFill>
                            <a:srgbClr val="261F1D"/>
                          </a:solidFill>
                          <a:latin typeface="Helvetica"/>
                        </a:rPr>
                        <a:t>First real, typed rep of writing your own schema.sql with real constraints</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3</a:t>
                      </a:r>
                    </a:p>
                  </a:txBody>
                  <a:tcPr marL="109728" marR="109728" marT="54864" marB="54864" anchor="ctr">
                    <a:solidFill>
                      <a:srgbClr val="FFFCF7"/>
                    </a:solidFill>
                  </a:tcPr>
                </a:tc>
                <a:tc>
                  <a:txBody>
                    <a:bodyPr wrap="square"/>
                    <a:lstStyle/>
                    <a:p>
                      <a:r>
                        <a:rPr sz="2600" b="0" i="0" u="none">
                          <a:solidFill>
                            <a:srgbClr val="261F1D"/>
                          </a:solidFill>
                          <a:latin typeface="Helvetica"/>
                        </a:rPr>
                        <a:t>Every domain's Q1 (join) and Q2 (left join) are exactly today's two query shapes</a:t>
                      </a:r>
                    </a:p>
                  </a:txBody>
                  <a:tcPr marL="109728" marR="109728" marT="54864" marB="54864" anchor="ctr">
                    <a:solidFill>
                      <a:srgbClr val="FFFCF7"/>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How Each Lecture Connects to the Project (Days 4-6)</a:t>
            </a:r>
          </a:p>
        </p:txBody>
      </p:sp>
      <p:graphicFrame>
        <p:nvGraphicFramePr>
          <p:cNvPr id="4" name="Table 3"/>
          <p:cNvGraphicFramePr>
            <a:graphicFrameLocks noGrp="1"/>
          </p:cNvGraphicFramePr>
          <p:nvPr/>
        </p:nvGraphicFramePr>
        <p:xfrm>
          <a:off x="548640" y="1412748"/>
          <a:ext cx="11094415" cy="467258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Project Connection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4</a:t>
                      </a:r>
                    </a:p>
                  </a:txBody>
                  <a:tcPr marL="109728" marR="109728" marT="54864" marB="54864" anchor="ctr">
                    <a:solidFill>
                      <a:srgbClr val="FFFCF7"/>
                    </a:solidFill>
                  </a:tcPr>
                </a:tc>
                <a:tc>
                  <a:txBody>
                    <a:bodyPr wrap="square"/>
                    <a:lstStyle/>
                    <a:p>
                      <a:r>
                        <a:rPr sz="2600" b="0" i="0" u="none">
                          <a:solidFill>
                            <a:srgbClr val="261F1D"/>
                          </a:solidFill>
                          <a:latin typeface="Helvetica"/>
                        </a:rPr>
                        <a:t>Every domain's Q3 is a GROUP BY + HAVING question - today's exact two-step pattern</a:t>
                      </a:r>
                    </a:p>
                  </a:txBody>
                  <a:tcPr marL="109728" marR="109728" marT="54864" marB="54864" anchor="ctr">
                    <a:solidFill>
                      <a:srgbClr val="FFFCF7"/>
                    </a:solidFill>
                  </a:tcPr>
                </a:tc>
              </a:tr>
              <a:tr h="1645920">
                <a:tc>
                  <a:txBody>
                    <a:bodyPr wrap="square"/>
                    <a:lstStyle/>
                    <a:p>
                      <a:r>
                        <a:rPr sz="2600" b="0" i="0" u="none">
                          <a:solidFill>
                            <a:srgbClr val="261F1D"/>
                          </a:solidFill>
                          <a:latin typeface="Helvetica"/>
                        </a:rPr>
                        <a:t>5</a:t>
                      </a:r>
                    </a:p>
                  </a:txBody>
                  <a:tcPr marL="109728" marR="109728" marT="54864" marB="54864" anchor="ctr">
                    <a:solidFill>
                      <a:srgbClr val="FFF6E4"/>
                    </a:solidFill>
                  </a:tcPr>
                </a:tc>
                <a:tc>
                  <a:txBody>
                    <a:bodyPr wrap="square"/>
                    <a:lstStyle/>
                    <a:p>
                      <a:r>
                        <a:rPr sz="2600" b="0" i="0" u="none">
                          <a:solidFill>
                            <a:srgbClr val="261F1D"/>
                          </a:solidFill>
                          <a:latin typeface="Helvetica"/>
                        </a:rPr>
                        <a:t>The rubric grades whether a CTE genuinely improves readability - today's rewrite is that judgment call</a:t>
                      </a:r>
                    </a:p>
                  </a:txBody>
                  <a:tcPr marL="109728" marR="109728" marT="54864" marB="54864" anchor="ctr">
                    <a:solidFill>
                      <a:srgbClr val="FFF6E4"/>
                    </a:solidFill>
                  </a:tcPr>
                </a:tc>
              </a:tr>
              <a:tr h="1261872">
                <a:tc>
                  <a:txBody>
                    <a:bodyPr wrap="square"/>
                    <a:lstStyle/>
                    <a:p>
                      <a:r>
                        <a:rPr sz="2600" b="0" i="0" u="none">
                          <a:solidFill>
                            <a:srgbClr val="261F1D"/>
                          </a:solidFill>
                          <a:latin typeface="Helvetica"/>
                        </a:rPr>
                        <a:t>6</a:t>
                      </a:r>
                    </a:p>
                  </a:txBody>
                  <a:tcPr marL="109728" marR="109728" marT="54864" marB="54864" anchor="ctr">
                    <a:solidFill>
                      <a:srgbClr val="FFFCF7"/>
                    </a:solidFill>
                  </a:tcPr>
                </a:tc>
                <a:tc>
                  <a:txBody>
                    <a:bodyPr wrap="square"/>
                    <a:lstStyle/>
                    <a:p>
                      <a:r>
                        <a:rPr sz="2600" b="0" i="0" u="none">
                          <a:solidFill>
                            <a:srgbClr val="261F1D"/>
                          </a:solidFill>
                          <a:latin typeface="Helvetica"/>
                        </a:rPr>
                        <a:t>The real CTE test: a 3+-table question that would be unreadable as one dense statement</a:t>
                      </a:r>
                    </a:p>
                  </a:txBody>
                  <a:tcPr marL="109728" marR="109728" marT="54864" marB="54864" anchor="ctr">
                    <a:solidFill>
                      <a:srgbClr val="FFFCF7"/>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How Each Lecture Connects to the Project (Days 7-9)</a:t>
            </a:r>
          </a:p>
        </p:txBody>
      </p:sp>
      <p:graphicFrame>
        <p:nvGraphicFramePr>
          <p:cNvPr id="4" name="Table 3"/>
          <p:cNvGraphicFramePr>
            <a:graphicFrameLocks noGrp="1"/>
          </p:cNvGraphicFramePr>
          <p:nvPr/>
        </p:nvGraphicFramePr>
        <p:xfrm>
          <a:off x="548640" y="1412748"/>
          <a:ext cx="11094415" cy="4672584"/>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Project Connection</a:t>
                      </a:r>
                    </a:p>
                  </a:txBody>
                  <a:tcPr marL="109728" marR="109728" marT="54864" marB="54864" anchor="ctr">
                    <a:solidFill>
                      <a:srgbClr val="264326"/>
                    </a:solidFill>
                  </a:tcPr>
                </a:tc>
              </a:tr>
              <a:tr h="1261872">
                <a:tc>
                  <a:txBody>
                    <a:bodyPr wrap="square"/>
                    <a:lstStyle/>
                    <a:p>
                      <a:r>
                        <a:rPr sz="2600" b="0" i="0" u="none">
                          <a:solidFill>
                            <a:srgbClr val="261F1D"/>
                          </a:solidFill>
                          <a:latin typeface="Helvetica"/>
                        </a:rPr>
                        <a:t>7</a:t>
                      </a:r>
                    </a:p>
                  </a:txBody>
                  <a:tcPr marL="109728" marR="109728" marT="54864" marB="54864" anchor="ctr">
                    <a:solidFill>
                      <a:srgbClr val="FFFCF7"/>
                    </a:solidFill>
                  </a:tcPr>
                </a:tc>
                <a:tc>
                  <a:txBody>
                    <a:bodyPr wrap="square"/>
                    <a:lstStyle/>
                    <a:p>
                      <a:r>
                        <a:rPr sz="2600" b="0" i="0" u="none">
                          <a:solidFill>
                            <a:srgbClr val="261F1D"/>
                          </a:solidFill>
                          <a:latin typeface="Helvetica"/>
                        </a:rPr>
                        <a:t>The project's window-function question needs exactly this RANK()/ROW_NUMBER() syntax</a:t>
                      </a:r>
                    </a:p>
                  </a:txBody>
                  <a:tcPr marL="109728" marR="109728" marT="54864" marB="54864" anchor="ctr">
                    <a:solidFill>
                      <a:srgbClr val="FFFCF7"/>
                    </a:solidFill>
                  </a:tcPr>
                </a:tc>
              </a:tr>
              <a:tr h="1261872">
                <a:tc>
                  <a:txBody>
                    <a:bodyPr wrap="square"/>
                    <a:lstStyle/>
                    <a:p>
                      <a:r>
                        <a:rPr sz="2600" b="0" i="0" u="none">
                          <a:solidFill>
                            <a:srgbClr val="261F1D"/>
                          </a:solidFill>
                          <a:latin typeface="Helvetica"/>
                        </a:rPr>
                        <a:t>8</a:t>
                      </a:r>
                    </a:p>
                  </a:txBody>
                  <a:tcPr marL="109728" marR="109728" marT="54864" marB="54864" anchor="ctr">
                    <a:solidFill>
                      <a:srgbClr val="FFF6E4"/>
                    </a:solidFill>
                  </a:tcPr>
                </a:tc>
                <a:tc>
                  <a:txBody>
                    <a:bodyPr wrap="square"/>
                    <a:lstStyle/>
                    <a:p>
                      <a:r>
                        <a:rPr sz="2600" b="0" i="0" u="none">
                          <a:solidFill>
                            <a:srgbClr val="261F1D"/>
                          </a:solidFill>
                          <a:latin typeface="Helvetica"/>
                        </a:rPr>
                        <a:t>PARTITION BY + a CTE wrapper is how you get each group's real winner from your own schema</a:t>
                      </a:r>
                    </a:p>
                  </a:txBody>
                  <a:tcPr marL="109728" marR="109728" marT="54864" marB="54864" anchor="ctr">
                    <a:solidFill>
                      <a:srgbClr val="FFF6E4"/>
                    </a:solidFill>
                  </a:tcPr>
                </a:tc>
              </a:tr>
              <a:tr h="1645920">
                <a:tc>
                  <a:txBody>
                    <a:bodyPr wrap="square"/>
                    <a:lstStyle/>
                    <a:p>
                      <a:r>
                        <a:rPr sz="2600" b="0" i="0" u="none">
                          <a:solidFill>
                            <a:srgbClr val="261F1D"/>
                          </a:solidFill>
                          <a:latin typeface="Helvetica"/>
                        </a:rPr>
                        <a:t>9</a:t>
                      </a:r>
                    </a:p>
                  </a:txBody>
                  <a:tcPr marL="109728" marR="109728" marT="54864" marB="54864" anchor="ctr">
                    <a:solidFill>
                      <a:srgbClr val="FFFCF7"/>
                    </a:solidFill>
                  </a:tcPr>
                </a:tc>
                <a:tc>
                  <a:txBody>
                    <a:bodyPr wrap="square"/>
                    <a:lstStyle/>
                    <a:p>
                      <a:r>
                        <a:rPr sz="2600" b="0" i="0" u="none">
                          <a:solidFill>
                            <a:srgbClr val="261F1D"/>
                          </a:solidFill>
                          <a:latin typeface="Helvetica"/>
                        </a:rPr>
                        <a:t>Rehearses 3 separate graded requirements at once: COALESCE, a materialized view, and EXPLAIN ANALYZE</a:t>
                      </a:r>
                    </a:p>
                  </a:txBody>
                  <a:tcPr marL="109728" marR="109728" marT="54864" marB="54864" anchor="ctr">
                    <a:solidFill>
                      <a:srgbClr val="FFFCF7"/>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How Each Lecture Connects to the Project (Day 10, Lab, Day 13)</a:t>
            </a:r>
          </a:p>
        </p:txBody>
      </p:sp>
      <p:graphicFrame>
        <p:nvGraphicFramePr>
          <p:cNvPr id="4" name="Table 3"/>
          <p:cNvGraphicFramePr>
            <a:graphicFrameLocks noGrp="1"/>
          </p:cNvGraphicFramePr>
          <p:nvPr/>
        </p:nvGraphicFramePr>
        <p:xfrm>
          <a:off x="548640" y="1188720"/>
          <a:ext cx="11094415" cy="5440680"/>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Day</a:t>
                      </a:r>
                    </a:p>
                  </a:txBody>
                  <a:tcPr marL="109728" marR="109728" marT="54864" marB="54864" anchor="ctr">
                    <a:solidFill>
                      <a:srgbClr val="264326"/>
                    </a:solidFill>
                  </a:tcPr>
                </a:tc>
                <a:tc>
                  <a:txBody>
                    <a:bodyPr wrap="square"/>
                    <a:lstStyle/>
                    <a:p>
                      <a:r>
                        <a:rPr sz="2600" b="1" i="0" u="none">
                          <a:solidFill>
                            <a:srgbClr val="FFFCF7"/>
                          </a:solidFill>
                          <a:latin typeface="Helvetica"/>
                        </a:rPr>
                        <a:t>Project Connection</a:t>
                      </a:r>
                    </a:p>
                  </a:txBody>
                  <a:tcPr marL="109728" marR="109728" marT="54864" marB="54864" anchor="ctr">
                    <a:solidFill>
                      <a:srgbClr val="264326"/>
                    </a:solidFill>
                  </a:tcPr>
                </a:tc>
              </a:tr>
              <a:tr h="1645920">
                <a:tc>
                  <a:txBody>
                    <a:bodyPr wrap="square"/>
                    <a:lstStyle/>
                    <a:p>
                      <a:r>
                        <a:rPr sz="2600" b="0" i="0" u="none">
                          <a:solidFill>
                            <a:srgbClr val="261F1D"/>
                          </a:solidFill>
                          <a:latin typeface="Helvetica"/>
                        </a:rPr>
                        <a:t>10</a:t>
                      </a:r>
                    </a:p>
                  </a:txBody>
                  <a:tcPr marL="109728" marR="109728" marT="54864" marB="54864" anchor="ctr">
                    <a:solidFill>
                      <a:srgbClr val="FFFCF7"/>
                    </a:solidFill>
                  </a:tcPr>
                </a:tc>
                <a:tc>
                  <a:txBody>
                    <a:bodyPr wrap="square"/>
                    <a:lstStyle/>
                    <a:p>
                      <a:r>
                        <a:rPr sz="2600" b="0" i="0" u="none">
                          <a:solidFill>
                            <a:srgbClr val="261F1D"/>
                          </a:solidFill>
                          <a:latin typeface="Helvetica"/>
                        </a:rPr>
                        <a:t>business_questions_and_schema.md asks you to map every question to a technique before writing SQL - today's the rehearsal</a:t>
                      </a:r>
                    </a:p>
                  </a:txBody>
                  <a:tcPr marL="109728" marR="109728" marT="54864" marB="54864" anchor="ctr">
                    <a:solidFill>
                      <a:srgbClr val="FFFCF7"/>
                    </a:solidFill>
                  </a:tcPr>
                </a:tc>
              </a:tr>
              <a:tr h="1645920">
                <a:tc>
                  <a:txBody>
                    <a:bodyPr wrap="square"/>
                    <a:lstStyle/>
                    <a:p>
                      <a:r>
                        <a:rPr sz="2600" b="0" i="0" u="none">
                          <a:solidFill>
                            <a:srgbClr val="261F1D"/>
                          </a:solidFill>
                          <a:latin typeface="Helvetica"/>
                        </a:rPr>
                        <a:t>11-12</a:t>
                      </a:r>
                    </a:p>
                  </a:txBody>
                  <a:tcPr marL="109728" marR="109728" marT="54864" marB="54864" anchor="ctr">
                    <a:solidFill>
                      <a:srgbClr val="FFF6E4"/>
                    </a:solidFill>
                  </a:tcPr>
                </a:tc>
                <a:tc>
                  <a:txBody>
                    <a:bodyPr wrap="square"/>
                    <a:lstStyle/>
                    <a:p>
                      <a:r>
                        <a:rPr sz="2600" b="0" i="0" u="none">
                          <a:solidFill>
                            <a:srgbClr val="261F1D"/>
                          </a:solidFill>
                          <a:latin typeface="Helvetica"/>
                        </a:rPr>
                        <a:t>Directly rehearses Sprint Day 2's schema critique and Sprint Day 5's role setup, at reduced stakes</a:t>
                      </a:r>
                    </a:p>
                  </a:txBody>
                  <a:tcPr marL="109728" marR="109728" marT="54864" marB="54864" anchor="ctr">
                    <a:solidFill>
                      <a:srgbClr val="FFF6E4"/>
                    </a:solidFill>
                  </a:tcPr>
                </a:tc>
              </a:tr>
              <a:tr h="1645920">
                <a:tc>
                  <a:txBody>
                    <a:bodyPr wrap="square"/>
                    <a:lstStyle/>
                    <a:p>
                      <a:r>
                        <a:rPr sz="2600" b="0" i="0" u="none">
                          <a:solidFill>
                            <a:srgbClr val="261F1D"/>
                          </a:solidFill>
                          <a:latin typeface="Helvetica"/>
                        </a:rPr>
                        <a:t>13</a:t>
                      </a:r>
                    </a:p>
                  </a:txBody>
                  <a:tcPr marL="109728" marR="109728" marT="54864" marB="54864" anchor="ctr">
                    <a:solidFill>
                      <a:srgbClr val="FFFCF7"/>
                    </a:solidFill>
                  </a:tcPr>
                </a:tc>
                <a:tc>
                  <a:txBody>
                    <a:bodyPr wrap="square"/>
                    <a:lstStyle/>
                    <a:p>
                      <a:r>
                        <a:rPr sz="2600" b="0" i="0" u="none">
                          <a:solidFill>
                            <a:srgbClr val="261F1D"/>
                          </a:solidFill>
                          <a:latin typeface="Helvetica"/>
                        </a:rPr>
                        <a:t>Tests whether every technique above survives without a template, right before the sprint grades it for real</a:t>
                      </a:r>
                    </a:p>
                  </a:txBody>
                  <a:tcPr marL="109728" marR="109728" marT="54864" marB="54864" anchor="ctr">
                    <a:solidFill>
                      <a:srgbClr val="FFFCF7"/>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Misconceptions</a:t>
            </a:r>
          </a:p>
        </p:txBody>
      </p:sp>
      <p:sp>
        <p:nvSpPr>
          <p:cNvPr id="4" name="TextBox 3"/>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What to name before a Fellow hits it live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Misconceptions to Watch For (Days 1-6)</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Day 1: a primary key doesn't have to be the first column or a number - only uniqueness matters</a:t>
            </a:r>
          </a:p>
          <a:p>
            <a:pPr>
              <a:spcAft>
                <a:spcPts val="1000"/>
              </a:spcAft>
            </a:pPr>
            <a:r>
              <a:rPr sz="2600">
                <a:solidFill>
                  <a:srgbClr val="261F1D"/>
                </a:solidFill>
                <a:latin typeface="Helvetica"/>
              </a:rPr>
              <a:t>•  </a:t>
            </a:r>
            <a:r>
              <a:rPr sz="2600" b="0" i="0" u="none">
                <a:solidFill>
                  <a:srgbClr val="261F1D"/>
                </a:solidFill>
                <a:latin typeface="Helvetica"/>
              </a:rPr>
              <a:t>Day 2: constraints are active enforcement, not optional 'best practice' documentation</a:t>
            </a:r>
          </a:p>
          <a:p>
            <a:pPr>
              <a:spcAft>
                <a:spcPts val="1000"/>
              </a:spcAft>
            </a:pPr>
            <a:r>
              <a:rPr sz="2600">
                <a:solidFill>
                  <a:srgbClr val="261F1D"/>
                </a:solidFill>
                <a:latin typeface="Helvetica"/>
              </a:rPr>
              <a:t>•  </a:t>
            </a:r>
            <a:r>
              <a:rPr sz="2600" b="0" i="0" u="none">
                <a:solidFill>
                  <a:srgbClr val="261F1D"/>
                </a:solidFill>
                <a:latin typeface="Helvetica"/>
              </a:rPr>
              <a:t>Day 3: INNER vs. LEFT JOIN only diverge the moment a row truly has no match - easy to miss until it's a real problem</a:t>
            </a:r>
          </a:p>
          <a:p>
            <a:pPr>
              <a:spcAft>
                <a:spcPts val="1000"/>
              </a:spcAft>
            </a:pPr>
            <a:r>
              <a:rPr sz="2600">
                <a:solidFill>
                  <a:srgbClr val="261F1D"/>
                </a:solidFill>
                <a:latin typeface="Helvetica"/>
              </a:rPr>
              <a:t>•  </a:t>
            </a:r>
            <a:r>
              <a:rPr sz="2600" b="0" i="0" u="none">
                <a:solidFill>
                  <a:srgbClr val="261F1D"/>
                </a:solidFill>
                <a:latin typeface="Helvetica"/>
              </a:rPr>
              <a:t>Day 4: a JOIN 'duplicating' rows isn't a bug - every row is real; the mistake is counting rows as if they were entities</a:t>
            </a:r>
          </a:p>
          <a:p>
            <a:pPr>
              <a:spcAft>
                <a:spcPts val="1000"/>
              </a:spcAft>
            </a:pPr>
            <a:r>
              <a:rPr sz="2600">
                <a:solidFill>
                  <a:srgbClr val="261F1D"/>
                </a:solidFill>
                <a:latin typeface="Helvetica"/>
              </a:rPr>
              <a:t>•  </a:t>
            </a:r>
            <a:r>
              <a:rPr sz="2600" b="0" i="0" u="none">
                <a:solidFill>
                  <a:srgbClr val="261F1D"/>
                </a:solidFill>
                <a:latin typeface="Helvetica"/>
              </a:rPr>
              <a:t>Day 5: 'correct' and 'readable' aren't the same thing - a CTE's real win is clarity, not speed</a:t>
            </a:r>
          </a:p>
          <a:p>
            <a:pPr>
              <a:spcAft>
                <a:spcPts val="1000"/>
              </a:spcAft>
            </a:pPr>
            <a:r>
              <a:rPr sz="2600">
                <a:solidFill>
                  <a:srgbClr val="261F1D"/>
                </a:solidFill>
                <a:latin typeface="Helvetica"/>
              </a:rPr>
              <a:t>•  </a:t>
            </a:r>
            <a:r>
              <a:rPr sz="2600" b="0" i="0" u="none">
                <a:solidFill>
                  <a:srgbClr val="261F1D"/>
                </a:solidFill>
                <a:latin typeface="Helvetica"/>
              </a:rPr>
              <a:t>Day 6: more tables doesn't mean bolting on more JOINs - decide what to compute first, then join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Misconceptions to Watch For (Days 7-13)</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Day 7: a window function doesn't shrink the result the way GROUP BY does - row count in equals row count out</a:t>
            </a:r>
          </a:p>
          <a:p>
            <a:pPr>
              <a:spcAft>
                <a:spcPts val="1000"/>
              </a:spcAft>
            </a:pPr>
            <a:r>
              <a:rPr sz="2600">
                <a:solidFill>
                  <a:srgbClr val="261F1D"/>
                </a:solidFill>
                <a:latin typeface="Helvetica"/>
              </a:rPr>
              <a:t>•  </a:t>
            </a:r>
            <a:r>
              <a:rPr sz="2600" b="0" i="0" u="none">
                <a:solidFill>
                  <a:srgbClr val="261F1D"/>
                </a:solidFill>
                <a:latin typeface="Helvetica"/>
              </a:rPr>
              <a:t>Day 8: the most common wrong guess is GROUP BY boro when the real ask is PARTITION BY - same word 'group,' opposite effect on row count</a:t>
            </a:r>
          </a:p>
          <a:p>
            <a:pPr>
              <a:spcAft>
                <a:spcPts val="1000"/>
              </a:spcAft>
            </a:pPr>
            <a:r>
              <a:rPr sz="2600">
                <a:solidFill>
                  <a:srgbClr val="261F1D"/>
                </a:solidFill>
                <a:latin typeface="Helvetica"/>
              </a:rPr>
              <a:t>•  </a:t>
            </a:r>
            <a:r>
              <a:rPr sz="2600" b="0" i="0" u="none">
                <a:solidFill>
                  <a:srgbClr val="261F1D"/>
                </a:solidFill>
                <a:latin typeface="Helvetica"/>
              </a:rPr>
              <a:t>Day 9: NULL is not zero - it's the database refusing to guess, and != NULL also silently returns nothing</a:t>
            </a:r>
          </a:p>
          <a:p>
            <a:pPr>
              <a:spcAft>
                <a:spcPts val="1000"/>
              </a:spcAft>
            </a:pPr>
            <a:r>
              <a:rPr sz="2600">
                <a:solidFill>
                  <a:srgbClr val="261F1D"/>
                </a:solidFill>
                <a:latin typeface="Helvetica"/>
              </a:rPr>
              <a:t>•  </a:t>
            </a:r>
            <a:r>
              <a:rPr sz="2600" b="0" i="0" u="none">
                <a:solidFill>
                  <a:srgbClr val="261F1D"/>
                </a:solidFill>
                <a:latin typeface="Helvetica"/>
              </a:rPr>
              <a:t>Day 9: 'materialized view' doesn't mean 'faster view' - it trades freshness for speed, a different job entirely</a:t>
            </a:r>
          </a:p>
          <a:p>
            <a:pPr>
              <a:spcAft>
                <a:spcPts val="1000"/>
              </a:spcAft>
            </a:pPr>
            <a:r>
              <a:rPr sz="2600">
                <a:solidFill>
                  <a:srgbClr val="261F1D"/>
                </a:solidFill>
                <a:latin typeface="Helvetica"/>
              </a:rPr>
              <a:t>•  </a:t>
            </a:r>
            <a:r>
              <a:rPr sz="2600" b="0" i="0" u="none">
                <a:solidFill>
                  <a:srgbClr val="261F1D"/>
                </a:solidFill>
                <a:latin typeface="Helvetica"/>
              </a:rPr>
              <a:t>Day 10: a window function isn't just a fancier GROUP BY - it answers a differently shaped question</a:t>
            </a:r>
          </a:p>
          <a:p>
            <a:pPr>
              <a:spcAft>
                <a:spcPts val="1000"/>
              </a:spcAft>
            </a:pPr>
            <a:r>
              <a:rPr sz="2600">
                <a:solidFill>
                  <a:srgbClr val="261F1D"/>
                </a:solidFill>
                <a:latin typeface="Helvetica"/>
              </a:rPr>
              <a:t>•  </a:t>
            </a:r>
            <a:r>
              <a:rPr sz="2600" b="0" i="0" u="none">
                <a:solidFill>
                  <a:srgbClr val="261F1D"/>
                </a:solidFill>
                <a:latin typeface="Helvetica"/>
              </a:rPr>
              <a:t>Day 13: a SQL error is the easy case; the dangerous case is a query that runs, returns rows, and is silently wrong</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Future Module Relationships</a:t>
            </a:r>
          </a:p>
        </p:txBody>
      </p:sp>
      <p:sp>
        <p:nvSpPr>
          <p:cNvPr id="4" name="TextBox 3"/>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What Module 3 sets up for everything after it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What Gets Reused, and Where</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SQL: an assumed prerequisite for Modules 4, 8, 9, and 15 - never re-taught from scratch</a:t>
            </a:r>
          </a:p>
          <a:p>
            <a:pPr>
              <a:spcAft>
                <a:spcPts val="1000"/>
              </a:spcAft>
            </a:pPr>
            <a:r>
              <a:rPr sz="2600">
                <a:solidFill>
                  <a:srgbClr val="261F1D"/>
                </a:solidFill>
                <a:latin typeface="Helvetica"/>
              </a:rPr>
              <a:t>•  </a:t>
            </a:r>
            <a:r>
              <a:rPr sz="2600" b="0" i="0" u="none">
                <a:solidFill>
                  <a:srgbClr val="261F1D"/>
                </a:solidFill>
                <a:latin typeface="Helvetica"/>
              </a:rPr>
              <a:t>Relational Databases, Data Modeling, Database Administration: all reused when Module 7 explicitly reviews this module and builds its dbt project directly on this module's own database</a:t>
            </a:r>
          </a:p>
          <a:p>
            <a:pPr>
              <a:spcAft>
                <a:spcPts val="1000"/>
              </a:spcAft>
            </a:pPr>
            <a:r>
              <a:rPr sz="2600">
                <a:solidFill>
                  <a:srgbClr val="261F1D"/>
                </a:solidFill>
                <a:latin typeface="Helvetica"/>
              </a:rPr>
              <a:t>•  </a:t>
            </a:r>
            <a:r>
              <a:rPr sz="2600" b="0" i="0" u="none">
                <a:solidFill>
                  <a:srgbClr val="261F1D"/>
                </a:solidFill>
                <a:latin typeface="Helvetica"/>
              </a:rPr>
              <a:t>Data Modeling: also an explicit prerequisite for Module 10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Immediate Next: Module 4</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Module 4 (Python for Data Analysis &amp; Database Connectivity) connects to the EXACT database students build here - not a fresh one</a:t>
            </a:r>
          </a:p>
          <a:p>
            <a:pPr>
              <a:spcAft>
                <a:spcPts val="1000"/>
              </a:spcAft>
            </a:pPr>
            <a:r>
              <a:rPr sz="2600">
                <a:solidFill>
                  <a:srgbClr val="261F1D"/>
                </a:solidFill>
                <a:latin typeface="Helvetica"/>
              </a:rPr>
              <a:t>•  </a:t>
            </a:r>
            <a:r>
              <a:rPr sz="2600" b="0" i="0" u="none">
                <a:solidFill>
                  <a:srgbClr val="261F1D"/>
                </a:solidFill>
                <a:latin typeface="Helvetica"/>
              </a:rPr>
              <a:t>sql and relational-databases are explicit prerequisites - it will not re-teach schema/query basics</a:t>
            </a:r>
          </a:p>
          <a:p>
            <a:pPr>
              <a:spcAft>
                <a:spcPts val="1000"/>
              </a:spcAft>
            </a:pPr>
            <a:r>
              <a:rPr sz="2600">
                <a:solidFill>
                  <a:srgbClr val="261F1D"/>
                </a:solidFill>
                <a:latin typeface="Helvetica"/>
              </a:rPr>
              <a:t>•  </a:t>
            </a:r>
            <a:r>
              <a:rPr sz="2600" b="0" i="0" u="none">
                <a:solidFill>
                  <a:srgbClr val="261F1D"/>
                </a:solidFill>
                <a:latin typeface="Helvetica"/>
              </a:rPr>
              <a:t>If a Fellow's schema or queries are shaky by the end of this module, that's worth catching now</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You're Ready to Launch Module 3</a:t>
            </a:r>
          </a:p>
        </p:txBody>
      </p:sp>
      <p:sp>
        <p:nvSpPr>
          <p:cNvPr id="4" name="TextBox 3"/>
          <p:cNvSpPr txBox="1"/>
          <p:nvPr/>
        </p:nvSpPr>
        <p:spPr>
          <a:xfrm>
            <a:off x="548640" y="2651760"/>
            <a:ext cx="11094415" cy="274320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Flow: Days 1-13 content (11 lectures + a 2-day lab), Days 14-20 the 7-day sprint</a:t>
            </a:r>
          </a:p>
          <a:p>
            <a:pPr>
              <a:spcAft>
                <a:spcPts val="1000"/>
              </a:spcAft>
            </a:pPr>
            <a:r>
              <a:rPr sz="2600">
                <a:solidFill>
                  <a:srgbClr val="FFFCF7"/>
                </a:solidFill>
                <a:latin typeface="Helvetica"/>
              </a:rPr>
              <a:t>•  </a:t>
            </a:r>
            <a:r>
              <a:rPr sz="2600" b="0" i="0" u="none">
                <a:solidFill>
                  <a:srgbClr val="FFFCF7"/>
                </a:solidFill>
                <a:latin typeface="Helvetica"/>
              </a:rPr>
              <a:t>Two real slow-down moments, by design: Day 1 (normalization) and Days 7-8 (window functions, split across 2 days)</a:t>
            </a:r>
          </a:p>
          <a:p>
            <a:pPr>
              <a:spcAft>
                <a:spcPts val="1000"/>
              </a:spcAft>
            </a:pPr>
            <a:r>
              <a:rPr sz="2600">
                <a:solidFill>
                  <a:srgbClr val="FFFCF7"/>
                </a:solidFill>
                <a:latin typeface="Helvetica"/>
              </a:rPr>
              <a:t>•  </a:t>
            </a:r>
            <a:r>
              <a:rPr sz="2600" b="0" i="0" u="none">
                <a:solidFill>
                  <a:srgbClr val="FFFCF7"/>
                </a:solidFill>
                <a:latin typeface="Helvetica"/>
              </a:rPr>
              <a:t>A real gap DataCamp doesn't fill: CTEs, roles/GRANT, and materialized views only exist in this module's own lecture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