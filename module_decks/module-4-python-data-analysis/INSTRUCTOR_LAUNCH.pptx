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Private instructor reference - never presented to Fellows. Read once before teaching Module 4 for the first time.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module tests all 3 skill categories - Technical, Professional, and AI - unlike Module 3, which graded Technical only.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No labs this module - see "Nice to Know" for why that's a deliberate design choice, not a gap.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 1 is a conceptual watch-along day - see "Nice to Know." Day 2 is where the real typing starts.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 4 is a partner activity - see "Nice to Know." This module's only collaborative-scaffolding lecture day.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real 5-day sprint - see PROJECT.md for the full day-by-day breakdown.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required peer share-out (anonymized review of the data-quality log, groups of 3) happens right after Day 9 - not part of the sprint itself, formative only.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If a Fellow's pandas-cleaning fundamentals are shaky (imputation, null-handling), that's a Module 2 gap surfacing here, not something this module's own lecture time is built to catch.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Don't let today feel padded - it's the conceptual half of the module's central idea (a query result and a DataFrame are the same rows in a different container), not filler before Day 2.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module's interview-prep bank is genuinely thin (one carried-over, unverified entry) - Day 4 is a strong natural fit for an additional freshly-researched interview-style question.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Confirmed via DataCamp's own public course page: 4h20m, prereq "Intermediate Python," 5 chapters (SQLAlchemy connecting/ querying, filtering/ordering/grouping + pandas, advanced queries, creating/manipulating databases, a census-data capstone).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Real, verified comparison - not assumed. If Fellows complete this course before Day 1, treat Days 1-2 as reinforcement, not first exposure.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one real overlap worth confirming landed, one real gap DataCamp simply doesn't fill.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Same distinction Module 0's own DataCamp section drew for `git revert` - already covered elsewhere, just verify it stuck.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real, confirmed gap - not assumed. Don't assume DataCamp already covered any of Day 3's own content.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All 4 lectures have a real case_study slide - confirmed via a full pass of all 4 deck_specs. All real, none fictional.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A real, cited data-quality case - ties into Day 1's own DataFrame/SQL-table correspondence framing.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Ties directly into the environment-variable habit Day 2's lecture builds.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Ties directly into Day 3's connection-pooling content.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module's flagship AI-verification moment - real, not hypothetical.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the module's full glossary, split by the day each term is first taught.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"One type per column" is the exact idea the Day 1 misconception targets - see the Misconceptions section.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uv is genuinely new syntax this module - Fellows haven't used it before Day 1.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Connection and cursor are two separate objects, not one merged idea - see the Day 2 misconception.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environment-variable habit is one of the project's own 4 graded common mistakes if skipped.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psycopg2 and SQLAlchemy are stacked, not parallel - see the Day 3 misconception.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 4's code review process is deliberately structured - 3 distinct issues to find, one genuinely dangerous.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SQL injection is the "genuinely dangerous" third issue Day 4's own transition slide raises the stakes for.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fix for SQL injection, named explicitly.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say the graded connection out loud in every lecture, not just here.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Days 1-2 map onto the project's Sprint Day 1-2 setup and connect-both-ways requirement almost one-to-one.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Day 4 is the last rehearsal before the project asks for the same skill completely solo.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the most common early-confusion points across the module, day by day.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Per this Fellowship's stereotype-threat research, naming a misconception explicitly before a Fellow hits it live matters more than any individual correction after the fact.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The Day 3 "stacked, not parallel" framing is worth stating explicitly in an interview-prep context too - the source brief flags it as a real interview tell.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Section: which skills get reused, where, and one real standout - this module's Python skill has the widest downstream reach of any skill in the program.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Straight from this module's own INSTRUCTOR_MODULE_SUMMARY.md - not a guess.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If a Fellow is still shaky on connecting to a database or justifying a cleaning decision by the end of Module 4, that's worth catching now.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[SCRIPT] This deck is a one-time read before the module starts - each lecture's own instructor_prep.md is the day-of reference.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-Marcy-Lab-School/DA_INSTRUCTOR_CodeAlongs_Labs/tree/main/module-4-python-data-analysis/lectures/dataframe-and-sql-table-same-data-two-shapes" TargetMode="External"/><Relationship Id="rId4" Type="http://schemas.openxmlformats.org/officeDocument/2006/relationships/hyperlink" Target="https://github.com/The-Marcy-Lab-School/DA_INSTRUCTOR_CodeAlongs_Labs/blob/main/module-4-python-data-analysis/lectures/dataframe-and-sql-table-same-data-two-shapes/instructor_prep.md" TargetMode="External"/><Relationship Id="rId5" Type="http://schemas.openxmlformats.org/officeDocument/2006/relationships/hyperlink" Target="https://github.com/The-Marcy-Lab-School/DA_INSTRUCTOR_CodeAlongs_Labs/tree/main/module-4-python-data-analysis/lectures/connecting-two-ways-psycopg2-and-sqlalchemy-to-pandas" TargetMode="External"/><Relationship Id="rId6" Type="http://schemas.openxmlformats.org/officeDocument/2006/relationships/hyperlink" Target="https://github.com/The-Marcy-Lab-School/DA_INSTRUCTOR_CodeAlongs_Labs/blob/main/module-4-python-data-analysis/lectures/connecting-two-ways-psycopg2-and-sqlalchemy-to-pandas/instructor_prep.md" TargetMode="Externa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The-Marcy-Lab-School/DA_INSTRUCTOR_CodeAlongs_Labs/tree/main/module-4-python-data-analysis/lectures/psycopg2-vs-sqlalchemy-real-tradeoffs" TargetMode="External"/><Relationship Id="rId4" Type="http://schemas.openxmlformats.org/officeDocument/2006/relationships/hyperlink" Target="https://github.com/The-Marcy-Lab-School/DA_INSTRUCTOR_CodeAlongs_Labs/blob/main/module-4-python-data-analysis/lectures/psycopg2-vs-sqlalchemy-real-tradeoffs/instructor_prep.md" TargetMode="External"/><Relationship Id="rId5" Type="http://schemas.openxmlformats.org/officeDocument/2006/relationships/hyperlink" Target="https://github.com/The-Marcy-Lab-School/DA_INSTRUCTOR_CodeAlongs_Labs/tree/main/module-4-python-data-analysis/lectures/ai-assisted-code-review-find-the-bug-with-a-partner" TargetMode="External"/><Relationship Id="rId6" Type="http://schemas.openxmlformats.org/officeDocument/2006/relationships/hyperlink" Target="https://github.com/The-Marcy-Lab-School/DA_INSTRUCTOR_CodeAlongs_Labs/blob/main/module-4-python-data-analysis/lectures/ai-assisted-code-review-find-the-bug-with-a-partner/instructor_prep.md" TargetMode="Externa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theverge.com/2020/8/6/21355674/human-genes-rename-microsoft-excel-misreading-dates" TargetMode="Externa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bleepingcomputer.com/news/security/toyota-discloses-data-leak-after-access-key-exposed-on-github/" TargetMode="Externa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clerk.com/blog/2025-09-18-database-incident-postmortem" TargetMode="Externa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fortune.com/2025/07/23/ai-coding-tool-replit-wiped-database-called-it-a-catastrophic-failure/" TargetMode="Externa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1" i="0" u="none">
                <a:solidFill>
                  <a:srgbClr val="FFFCF7"/>
                </a:solidFill>
                <a:latin typeface="Helvetica"/>
              </a:rPr>
              <a:t>THE MARCY LAB SCHOOL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8534186" cy="54864"/>
          </a:xfrm>
          <a:prstGeom prst="rect">
            <a:avLst/>
          </a:prstGeom>
          <a:solidFill>
            <a:srgbClr val="EEBC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94415" cy="1463040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EEBC32"/>
                </a:solidFill>
                <a:latin typeface="Helvetica"/>
              </a:rPr>
              <a:t>Module 4 — Instructor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600" b="0" i="0" u="none">
                <a:solidFill>
                  <a:srgbClr val="FFFCF7"/>
                </a:solidFill>
                <a:latin typeface="Helvetica"/>
              </a:rPr>
              <a:t>Module 4: Python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Skills This Module Covers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96796"/>
          <a:ext cx="11094415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Skill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What It Means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Python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Querying via both psycopg2 and SQLAlchemy, loading results into a real pandas DataFrame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Data Analysis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Finding and justifying real data-quality fixes, tied to what the data actually means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AI-Assisted Coding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Tracing through an AI's draft for a real bug before trusting it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Skills This Module Covers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Skill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What It Means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Git &amp; Version Control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Independent .gitignore/LICENSE, 3+ atomic well-messaged commits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General Programming &amp; Coding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Clear variable names, a script that reads top-to-bottom logically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Lecture Order (Days 1-2)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35708"/>
          <a:ext cx="11094415" cy="30266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4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DataFrame ↔ SQL Table: Same Data, Two Shapes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5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6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Connecting Two Ways: psycopg2 &amp; SQLAlchemy → pandas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Lecture Order (Days 3-4)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4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psycopg2 vs. SQLAlchemy: Real Tradeoffs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5"/>
                        </a:rPr>
                        <a:t>Lecture</a:t>
                      </a:r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 / </a:t>
                      </a:r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6"/>
                        </a:rPr>
                        <a:t>Prep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AI-Assisted Code Review: Find the Bug, With a Partner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Project Sprint (Days 5-7)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96796"/>
          <a:ext cx="11094415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Sprint Day 1 — Setup (repo, env, DATABASE_URL, pick a domain)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Sprint Day 2 — Connect both ways, compare tradeoffs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Sprint Day 3 — AI-assisted coding exercise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Project Sprint (Days 8-9)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Name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Sprint Day 4 — Independent data-quality cleaning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9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Project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Sprint Day 5 — Finish, verify, submit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Nice to Know 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No labs this module - the 5-day project sprint itself supplies the guided → independent progression a lab day would otherwise provide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Objective 5 (independent data-quality cleaning) has NO dedicated lecture rep - it deliberately relies on Module 2's earlier pandas-cleaning scaffolding, not a gap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This module formally introduces AI-Assisted Coding as a graded skill for the first time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Every lecture's own instructor_prep.md has lecture-specific timing/misconceptions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Day 1: A Watch-Along Day,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Purely conceptual - set the expectation honestly up front, the real typing starts Day 2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Uses a CSV export standing in for a live database connection, deliberately - the live connection is next class's whole point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Confirms Module 2 pandas fluency and Module 3's own database, both assumed solid coming 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Day 4: This Lecture Is a Partner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AI-Assisted Code Review is done WITH a partner, during lecture itself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Plan pairing before class starts - different from every other lecture day this module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The checklist pairs build today is the exact one used solo on the project's own Sprint Day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DataCamp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Introduction to Databases in Python — a real, verified companion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DataCamp Companion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10048" cy="5394960"/>
          </a:xfrm>
          <a:prstGeom prst="rect">
            <a:avLst/>
          </a:prstGeom>
          <a:solidFill>
            <a:srgbClr val="DEEAF4"/>
          </a:solidFill>
          <a:ln w="50800">
            <a:solidFill>
              <a:srgbClr val="22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DataCamp covers (4h20m)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4952848" cy="434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Ch1-2: SQLAlchemy connect/query, filter/order/group + pandas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Ch3-4: joins, calculated fields, creating/manipulating databases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psycopg2 and connection pooling are NOT covered at 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8" y="1188720"/>
            <a:ext cx="5410048" cy="5394960"/>
          </a:xfrm>
          <a:prstGeom prst="rect">
            <a:avLst/>
          </a:prstGeom>
          <a:solidFill>
            <a:srgbClr val="FECC5B"/>
          </a:solidFill>
          <a:ln w="50800">
            <a:solidFill>
              <a:srgbClr val="836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608" y="1371600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55968" y="1371600"/>
            <a:ext cx="4358488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 u="none">
                <a:solidFill>
                  <a:srgbClr val="261F1D"/>
                </a:solidFill>
                <a:latin typeface="Helvetica"/>
              </a:rPr>
              <a:t>This module's lectures 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8" y="2011680"/>
            <a:ext cx="4952848" cy="434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Days 1-2: the same connect/query/pandas fundamentals, on a live database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3: deeper - psycopg2 vs. SQLAlchemy tradeoffs, connection pooling, dialects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4: AI-assisted code review - not in any DataCamp course's own catalog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8" y="1188720"/>
            <a:ext cx="0" cy="5394960"/>
          </a:xfrm>
          <a:prstGeom prst="line">
            <a:avLst/>
          </a:prstGeom>
          <a:ln w="19050">
            <a:solidFill>
              <a:srgbClr val="E1E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Overlaps &amp;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Where lecture already covers it vs. where DataCamp has nothing at all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One Real Overlap, Worth Confirming Landed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Days 1-2 cover almost exactly DataCamp's own Ch1-2: connecting via SQLAlchemy, basic querying, pandas integration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If Fellows completed DataCamp before Day 1, treat these two days as a 'confirm it landed' check-in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 quick cold-call or poll at the start of Day 1 is enough - don't re-teach syntax DataCamp already covered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The Real Gap: psycopg2 Itself, and Connection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DataCamp's own course explicitly does NOT cover psycopg2 or connection pooling/management at all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Days 2-3's entire psycopg2-vs-SQLAlchemy comparison, and the connection-pool/dialect vocabulary, exist nowhere in DataCamp's catalog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No aside needed - this is core, already-taught content in Days 2-3, not an optional add-on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Four real, cited cases this module — linked with a brief description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Case Study Index (Day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98548"/>
          <a:ext cx="11094415" cy="3300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Case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79806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spreadsheet silently turned gene names like SEPT2 into calendar dates - 1 in 5 genomics papers hit, so the genes got renamed instead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The Verge, 2020-08-06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Case Study Index (Day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290572"/>
          <a:ext cx="11094415" cy="2916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Case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414016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An access key typed into source code sat in a public repo for 5 years, 296,019 records potentially reachable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BleepingComputer, 2022-10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Case Study Index (Day 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98548"/>
          <a:ext cx="11094415" cy="3300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Case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79806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cloud provider's routine upgrade removed a hidden connection brake - all connections reset at once, sign-ins failed for 4 days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Clerk engineering postmortem, 2025-09-18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Case Study Index (Day 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98548"/>
          <a:ext cx="11094415" cy="3300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Case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Source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79806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An AI coding agent was told, more than once, to make no changes - it ran destructive commands anyway and deleted a real production database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sng">
                          <a:solidFill>
                            <a:srgbClr val="261F1D"/>
                          </a:solidFill>
                          <a:latin typeface="Helvetica"/>
                          <a:hlinkClick r:id="rId3"/>
                        </a:rPr>
                        <a:t>Fortune, 2025-07-23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Every term Fellows see this module, in one place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96796"/>
          <a:ext cx="11094415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DataFrame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pandas table held in memory, with rows, named columns, and one type per column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Series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single column of a DataFrame, on its own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dtype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type pandas gives a column, the way SQL declares a column's type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1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in-memory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Held in your computer's working memory, not saved on disk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uv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fast Python package and environment manager, used here instead of bare pip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96796"/>
          <a:ext cx="11094415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Connection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An open, live link between your Python program and a running database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Cursor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psycopg2 object you send SQL through and read rows back from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Driver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The library that actually speaks a specific database's own language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2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7732"/>
          <a:ext cx="11094415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Engine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SQLAlchemy's reusable connection manager for one database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Environment variable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value your computer holds for a program, stored outside the code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4772"/>
          <a:ext cx="11094415" cy="4288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Abstraction layer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Code that hides messier detail behind a simpler surface you call instead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Connection pool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small set of open connections kept ready and handed out on request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Dialect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SQLAlchemy's translation for one specific database and its driver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3 (cont.) - Day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43684"/>
          <a:ext cx="11094415" cy="3410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ORM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 tool that maps database tables onto Python classes and rows onto objects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Code review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Reading someone else's code closely enough to actually catch what's wrong with it, before it ships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4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51660"/>
          <a:ext cx="11094415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261872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Hallucination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An AI stating something confidently and fluently that is simply not true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2029968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SQL injection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Building a query by dropping raw user input directly into the query string, so that input can change what the query actually does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Vocabulary: Day 4 (cont.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82596"/>
          <a:ext cx="11094415" cy="2532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Term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Definition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2029968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Parameterized query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Handing user input to the database driver as a separate value instead of pasting it into the query string, so it can never be read as SQL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Project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How each day explicitly feeds the sprint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How Each Lecture Connects to the Project (Days 1-2)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51660"/>
          <a:ext cx="11094415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Project Connection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Builds the core idea Part 1 rests on: a query result and a DataFrame are the same rows, different container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Builds 2 of the project's own 4 graded mistakes directly: a typed-in password, and a connection nobody closed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How Each Lecture Connects to the Project (Days 3-4)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51660"/>
          <a:ext cx="11094415" cy="379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7207"/>
                <a:gridCol w="5547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Day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1" i="0" u="none">
                          <a:solidFill>
                            <a:srgbClr val="FFFCF7"/>
                          </a:solidFill>
                          <a:latin typeface="Helvetica"/>
                        </a:rPr>
                        <a:t>Project Connection</a:t>
                      </a:r>
                    </a:p>
                  </a:txBody>
                  <a:tcPr marL="109728" marR="109728" marT="54864" marB="54864" anchor="ctr">
                    <a:solidFill>
                      <a:srgbClr val="264326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Today's 3 timed cells are the evidence the project's own required tradeoff_comparison.md gets written from</a:t>
                      </a:r>
                    </a:p>
                  </a:txBody>
                  <a:tcPr marL="109728" marR="109728" marT="54864" marB="54864" anchor="ctr">
                    <a:solidFill>
                      <a:srgbClr val="FFFCF7"/>
                    </a:solidFill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600" b="0" i="0" u="none">
                          <a:solidFill>
                            <a:srgbClr val="261F1D"/>
                          </a:solidFill>
                          <a:latin typeface="Helvetica"/>
                        </a:rPr>
                        <a:t>Today's partnered rehearsal is the exact solo AI-assisted-coding rep the project grades independently on Sprint Day 3</a:t>
                      </a:r>
                    </a:p>
                  </a:txBody>
                  <a:tcPr marL="109728" marR="109728" marT="54864" marB="54864" anchor="ctr">
                    <a:solidFill>
                      <a:srgbClr val="FFF6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Misconceptions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What to name before a Fellow hits it live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Misconceptions to Watch For (Days 1-2)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1: a DataFrame is not 'a spreadsheet in Python' - a spreadsheet lets any cell hold anything, a DataFrame gives the whole column one type, exactly like SQL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1: a type is not a property of the value itself - it's the column's own type, assigned by how the data was loaded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2: closing a connection isn't optional politeness like closing a file - a forgotten connection costs the shared server a slot nobody else can use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2: 'connection' and 'cursor' are two separate objects, not one merged idea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Misconceptions to Watch For (Days 3-4)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3: psycopg2 and SQLAlchemy aren't 'two separate roads, pick a lane' - they're stacked, not parallel; SQLAlchemy's own PostgreSQL dialect uses psycopg2 as its default driver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3: that stacking isn't universal - it's scoped to PostgreSQL specifically, a different database puts a different driver in that slot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4: 'it works' and 'it's correct' aren't the same thing - an AI draft can return the right rows while still leaking a credential or never closing a connection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Day 4: waving off a bug as 'an edge case that would never really happen' is exactly the reasoning that lets a real one ship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11094415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Future Module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0" i="0" u="none">
                <a:solidFill>
                  <a:srgbClr val="B3BBB0"/>
                </a:solidFill>
                <a:latin typeface="Helvetica"/>
              </a:rPr>
              <a:t>What Module 4 sets up for everything after 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What Gets Reused, and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Python: the widest downstream reach of any skill this module teaches - carries forward through every module to the Capstone (Modules 5, 8, 9, 11, 12, 13)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AI-Assisted Coding: an explicit prerequisite for Module 12's agentic-tools work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Data Analysis: feeds Modules 5, 6, and 11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Git &amp; Version Control: feeds Modules 8 and 13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200" b="1" i="0" u="none">
                <a:solidFill>
                  <a:srgbClr val="261F1D"/>
                </a:solidFill>
                <a:latin typeface="Helvetica"/>
              </a:rPr>
              <a:t>Immediate Next: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Module 5 (Inferential Statistics &amp; Experimental Design Foundations) reuses this module's Python fluency directly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It will not re-teach live database connectivity or the psycopg2/SQLAlchemy split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261F1D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261F1D"/>
                </a:solidFill>
                <a:latin typeface="Helvetica"/>
              </a:rPr>
              <a:t>If a Fellow's connection or cleaning code is still shaky by the end of this module, that's worth catching now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255" y="6400800"/>
            <a:ext cx="1806983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1" i="0" u="none">
                <a:solidFill>
                  <a:srgbClr val="FFFCF7"/>
                </a:solidFill>
                <a:latin typeface="Helvetica"/>
              </a:rPr>
              <a:t>You're Ready to Launch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2349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Flow: Days 1-4 content, Days 5-9 the 5-day sprint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The one real slow-down moment: Day 3's psycopg2-vs-SQLAlchemy tradeoffs - genuinely new territory, not in any DataCamp course</a:t>
            </a:r>
          </a:p>
          <a:p>
            <a:pPr>
              <a:spcAft>
                <a:spcPts val="1000"/>
              </a:spcAft>
            </a:pPr>
            <a:r>
              <a:rPr sz="2600">
                <a:solidFill>
                  <a:srgbClr val="FFFCF7"/>
                </a:solidFill>
                <a:latin typeface="Helvetica"/>
              </a:rPr>
              <a:t>•  </a:t>
            </a:r>
            <a:r>
              <a:rPr sz="2600" b="0" i="0" u="none">
                <a:solidFill>
                  <a:srgbClr val="FFFCF7"/>
                </a:solidFill>
                <a:latin typeface="Helvetica"/>
              </a:rPr>
              <a:t>No labs this module, by design - the sprint itself supplies the guided → independent progression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