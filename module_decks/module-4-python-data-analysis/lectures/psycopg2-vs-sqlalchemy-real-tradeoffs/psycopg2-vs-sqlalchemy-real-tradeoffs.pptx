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Open by naming the exact question this lesson exists to answer. Last class ended with an honest limit said out loud: both libraries work and both agree, and nobody had any real basis for choosing between them. Today is that basis, and it is built from numbers everyone prints themselves, not from opinion.</a:t>
            </a:r>
          </a:p>
          <a:p/>
          <a:p>
            <a:r>
              <a:t>[SCRIPT] Set the register early. This is a judgment lesson, not a syntax lesson. The typing is short. The reasoning is the work, and the writing that comes out of it is graded on the project.</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Read all three, then say the project tie out loud, because it is unusually direct today. The project's connect-and-compare day asks for a written tradeoff comparison reasoned from what you actually experienced running both libraries. Everything on this slide exists to make that document real instead of copied.</a:t>
            </a:r>
          </a:p>
          <a:p/>
          <a:p>
            <a:r>
              <a:t>[SCRIPT] Be blunt about the third one. "Recommend" is the objective, not "know." An answer that says one library is simply better is the answer this lesson is built to take away from you.</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Names only for now. Every one of these gets a real definition and a real example before today is over, and all four come back with their definitions right before the summary.</a:t>
            </a:r>
          </a:p>
          <a:p/>
          <a:p>
            <a:r>
              <a:t>[MISCONCEPTIONS] Two of these get blurred together constantly. An abstraction layer is the general idea of hiding detail behind a simpler surface. An ORM is one specific, optional example of that idea. Flag now that using SQLAlchemy does not mean using an ORM, because a lot of people arrive assuming those are the same decision.</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In person: quick shout-outs, no hands, just call them out and keep a running list on the board. Online: everyone drops one difference in chat, then unmute two people to say theirs out loud. 90 seconds, and collect four or five before moving on.</a:t>
            </a:r>
          </a:p>
          <a:p/>
          <a:p>
            <a:r>
              <a:t>[SCRIPT] Fish for the concrete ones from the code they typed: one side needed a cursor and the other did not, the column names had to be recovered by hand on one side, closing was manual on one side and automatic inside a `with` block on the other. All of those count.</a:t>
            </a:r>
          </a:p>
          <a:p/>
          <a:p>
            <a:r>
              <a:t>[SCRIPT] Then say why this is today's warm-up rather than trivia. Every difference the room just listed was a difference in what you type. Today is about the differences you cannot see from the code at all, and those are the ones that decide which library a real script should use.</a:t>
            </a:r>
          </a:p>
          <a:p/>
          <a:p>
            <a:r>
              <a:t>[MISCONCEPTIONS] Someone will say one is "faster" or "better." Do not settle it now. Write it on the board as an open claim and promise the room it gets tested with real output before the hour is up.</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the mechanism, because it is genuinely surprising and it frames the whole lesson. A company that sells sign-in infrastructure had its database quietly upgraded by its cloud provider. The upgrade made Postgres faster at accepting new connections. That sounds like good news and it was the direct cause of a four-day incident.</a:t>
            </a:r>
          </a:p>
          <a:p/>
          <a:p>
            <a:r>
              <a:t>[SCRIPT] Explain why, slowly, because this is the twist. The old, slower behavior had been acting as an accidental brake, spacing out how fast new connections could arrive. Their system was set to throw away and remake every connection on a fixed fifteen-minute timer, and hundreds of copies of their service were doing it in lockstep. With the brake gone, all of those arrived at once, every fifteen minutes, and the database buckled. Users could not sign in, on and off, for days.</a:t>
            </a:r>
          </a:p>
          <a:p/>
          <a:p>
            <a:r>
              <a:t>[SCRIPT] Land the point this lesson actually needs. Nobody wrote that fifteen-minute behavior by hand. It came from a setting inside the layer that manages connections for you. Today's whole question is what a layer like that does on your behalf, and whether you want it to.</a:t>
            </a:r>
          </a:p>
          <a:p/>
          <a:p>
            <a:r>
              <a:t>[SCRIPT] Do not resolve the hook yet. Ask it, take a few answers, and say the room will have run the smaller version of this themselves before the hour is out.</a:t>
            </a:r>
          </a:p>
          <a:p/>
          <a:p>
            <a:r>
              <a:t>[MISCONCEPTIONS] The obvious read is "so managing connections yourself is safer." That is the wrong lesson and it will come up. The company had a sophisticated setup. The point is not that the fancier option failed, it is that a layer making decisions for you is still a decision, and one somebody has to understand.</a:t>
            </a:r>
          </a:p>
          <a:p/>
          <a:p>
            <a:r>
              <a:t>[ARTICLE SUMMARY] Clerk's cloud provider automatically applied a minor PostgreSQL version upgrade on 14 September 2025, which removed an internal inefficiency in how Postgres granted new connections. That inefficiency had been accidentally acting as a rate limiter, spacing out how quickly new connections could be created. Clerk's connection pooler was configured to close and replace every connection after exactly 15 minutes, so with the brake gone, hundreds of Cloud Run containers recreated their connections at the same moment, producing a synchronized surge every 15 minutes. Customers saw intermittent request failures, latency spikes, and windows where sign-up and sign-in failed, from 15 to 18 September. The fix was to stagger connection recycling randomly rather than on a fixed timer, which dropped database load below where it had been before the incident.</a:t>
            </a:r>
          </a:p>
          <a:p/>
          <a:p>
            <a:r>
              <a:t>[SOURCES] Clerk, "Database incident postmortem," clerk.com engineering blog, 2025-09-18, clerk.com/blog/2025-09-18-database-incident-postmortem. Verified live. Two verbatim lines worth having ready: the pooler was "configured with a static maximum connection lifetime of 15 minutes, which causes each connection to be closed and replaced every 15 minutes," and the failure was that "all expired connections were recreated simultaneously, leading to synchronized connection recycling." Domain tagged `professional_services` on the Cybersecurity sub-area basis: the company sells authentication infrastructure and the user-visible failure was failed sign-ins.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[~11 min mark] Short beat. Say plainly that the mental picture most of the room is carrying about these two libraries is wrong, and that fixing it is the whole first section.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the term. Auto-aim is doing something real: it is placing your shot for you, and most of the time it places it better and faster than you would. The cost only shows up on the one shot you actually wanted to line up yourself. Then attach the word: an abstraction layer is code that hides messier detail behind a simpler surface you call instead.</a:t>
            </a:r>
          </a:p>
          <a:p/>
          <a:p>
            <a:r>
              <a:t>[SCRIPT] Make the fourth bullet the one they leave with. Every layer is a trade. It is never only a gain, and the interesting question is never "which is better" but "what am I giving up, and do I need it here."</a:t>
            </a:r>
          </a:p>
          <a:p/>
          <a:p>
            <a:r>
              <a:t>[MISCONCEPTIONS] People hear "abstraction" as a synonym for "advanced" or "professional," so choosing the higher layer feels like the grown-up answer. Push back directly: plenty of working analysts deliberately use the lower layer, and being able to say why is what makes the choice look senior, not the choice itself.</a:t>
            </a:r>
          </a:p>
          <a:p/>
          <a:p>
            <a:r>
              <a:t>[OTHER EXAMPLES] Two backups are in the notebook if auto-aim does not land: a pitching machine, and buying a suit off the rack versus getting one tailored.</a:t>
            </a:r>
          </a:p>
          <a:p/>
          <a:p>
            <a:r>
              <a:t>[SOURCES] The claim here is definitional rather than product-specific, so it is deliberately stated about layers in general, not about SQLAlchemy specifically. The SQLAlchemy-specific version arrives on the next slide, where it can be sourced properly.</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it left to right slowly, because this is the picture the previous lesson deliberately left as words and saved for today. Your code hands over a SQL string. SQLAlchemy takes it, decides which connection to use, and passes it down. `psycopg2` is what actually speaks PostgreSQL's own language. PostgreSQL is what runs the query. Then say the punchline: when you use SQLAlchemy against Postgres, you are using `psycopg2` too. You just are not typing it.</a:t>
            </a:r>
          </a:p>
          <a:p/>
          <a:p>
            <a:r>
              <a:t>[SCRIPT] Now show them the other picture by removing a box out loud. A raw `psycopg2` script is the same diagram with the second box taken out. Same driver, same database, one less floor. That is the entire structural difference between the two things this lesson compares.</a:t>
            </a:r>
          </a:p>
          <a:p/>
          <a:p>
            <a:r>
              <a:t>[SCOPE] Resist going deeper on the middle box today. SQLAlchemy also has a whole object layer above this, which gets exactly one slide later, and the project treats it as an optional stretch goal, not a requirement.</a:t>
            </a:r>
          </a:p>
          <a:p/>
          <a:p>
            <a:r>
              <a:t>[MISCONCEPTIONS] The dominant wrong picture is side by side: two separate roads, pick a lane. Correct it explicitly by pointing at the diagram. They are stacked, not parallel, and someone who says "we replaced psycopg2 with SQLAlchemy" in an interview has just told the interviewer they do not know what a driver is.</a:t>
            </a:r>
          </a:p>
          <a:p/>
          <a:p>
            <a:r>
              <a:t>[MISCONCEPTIONS] The second wrong picture is that this stacking is universal. It is not. Say the scoped version: for PostgreSQL, SQLAlchemy's default driver is `psycopg2`. Point it at a different database and an entirely different driver sits in that third box.</a:t>
            </a:r>
          </a:p>
          <a:p/>
          <a:p>
            <a:r>
              <a:t>[SOURCES] SQLAlchemy's own engine documentation describes the `Engine` as "'home base' for the actual database and its DBAPI, delivered to the SQLAlchemy application through a connection pool and a Dialect," and states that the PostgreSQL dialect uses psycopg2 as the default DBAPI (docs.sqlalchemy.org/en/20/core/engines.html). Verified locally against SQLAlchemy 2.0.52: an engine built from a plain `postgresql://` URL reports `dialect.name` as `postgresql` and `dialect.driver` as `psycopg2`.</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Poll: read all three options out loud, then everyone answers at once. In person: call out A, B, or C together on a count of three. Online: type A, B, or C in chat on the same count. Use the letters the slide itself shows rather than numbers. 45 seconds.</a:t>
            </a:r>
          </a:p>
          <a:p/>
          <a:p>
            <a:r>
              <a:t>[SCRIPT] Option B is the one worth spending time on, because whoever picks it has the stack upside down, and that is the single most common way to mis-picture this. Ask whoever chose it to say out loud which box sits under which, and fix it against the diagram rather than just marking it wrong.</a:t>
            </a:r>
          </a:p>
          <a:p/>
          <a:p>
            <a:r>
              <a:t>[SCRIPT] Do not let the room settle on "so the layer is strictly better." Say the next section exists to price the layer, not to praise it.</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Everything that layer adds, like the one-call `pd.read_sql`</a:t>
            </a:r>
          </a:p>
          <a:p>
            <a:r>
              <a:t>Why: The layer is where the extras live, so skipping it means writing those extras yourself, including the cursor, the column names, and the connection handling this lesson is about to measure. It does not skip the driver, because `psycopg2` is the floor below SQLAlchemy, not the same floor. And it is not a rename, because the layer adds real machinery rather than new spellings for old calls.</a:t>
            </a:r>
          </a:p>
          <a:p>
            <a:r>
              <a:t>Source: SQLAlchemy's own Engine documentation, plus the layer diagram this lesson just walked through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[~18 min mark] Pivot into the measuring half. Say the standard out loud: nothing in this section gets asserted, everything gets printed.</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Name the analogy before the term, then attach the term. Nobody at a gym buys a racket for each game. There is a rack of them, you take one, you put it back, and the next person gets that same racket. A connection pool is that rack. Then the definition: a small set of open connections kept ready and handed out on request.</a:t>
            </a:r>
          </a:p>
          <a:p/>
          <a:p>
            <a:r>
              <a:t>[SCRIPT] Give the first bullet a real number so it is not vague. On PostgreSQL, a connection is not a lookup, it is a whole operating-system process the server starts for you, with its own memory. The default ceiling on how many can exist at once is one hundred. That is why "just open another one" has a limit, and the next two cells make the cost visible.</a:t>
            </a:r>
          </a:p>
          <a:p/>
          <a:p>
            <a:r>
              <a:t>[MISCONCEPTIONS] "Pool" sounds like a cache, so people expect it to store query results. It does not store any data at all. It stores the open connections themselves, and every query still goes to the database.</a:t>
            </a:r>
          </a:p>
          <a:p/>
          <a:p>
            <a:r>
              <a:t>[MISCONCEPTIONS] The second one, and it matters for the honest version of today's comparison: a pool is not free either. A held connection is a slot nobody else can use for as long as you hold it. This comes back as a real question in a few slides, so plant it now rather than selling pooling as pure upside.</a:t>
            </a:r>
          </a:p>
          <a:p/>
          <a:p>
            <a:r>
              <a:t>[SCOPE] Say this limit out loud, because it is what the case study was actually about and it is easy to walk away with the wrong version. A pool lives inside one running program. It reuses connections for that program. It does not put a ceiling on how many connections your database gets in total, because ten copies of your script each holding five connections is fifty at the database, not five. That is exactly the shape of the incident from the start of class: many separate copies, each managing connections correctly on its own, all arriving together. Protecting a shared database from many programs at once is a different tool and a different lesson.</a:t>
            </a:r>
          </a:p>
          <a:p/>
          <a:p>
            <a:r>
              <a:t>[OTHER EXAMPLES] Two backups are in the notebook: a rehearsal room's house amps, and a neighborhood tool library.</a:t>
            </a:r>
          </a:p>
          <a:p/>
          <a:p>
            <a:r>
              <a:t>[SOURCES] PostgreSQL's own architecture documentation states the server "starts ('forks') a new process for each connection" (postgresql.org/docs/current/tutorial-arch.html), and its configuration documentation gives `max_connections` a default of 100 (postgresql.org/docs/current/runtime-config-connection.html).</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Everyone opens the notebook now and keeps it open through the next three cells. Confirm out loud that `DATABASE_URL` is already set in everyone's environment before typing starts.</a:t>
            </a:r>
          </a:p>
          <a:p/>
          <a:p>
            <a:r>
              <a:t>[SCRIPT] Introduce the measuring tool in one sentence before the cell, so it is not magic: PostgreSQL can tell you the id of the server process handling your connection. Different number means a different connection. Same number means the same connection came back.</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Everyone runs this cell and reads their three numbers out loud or into chat. You want the room to notice, unprompted, that nobody's three numbers match each other. Do not say it first.</a:t>
            </a:r>
          </a:p>
          <a:p/>
          <a:p>
            <a:r>
              <a:t>[SCRIPT] Once the numbers are up, name what they mean. Three different process ids means PostgreSQL started three separate server processes for one loop that asked one question three times. The Python code is completely correct. It closes everything. It is still doing three times the setup work it needed to.</a:t>
            </a:r>
          </a:p>
          <a:p/>
          <a:p>
            <a:r>
              <a:t>[SCRIPT] Scale it out loud, because three is not scary. A script that runs every ten minutes all day does this a hundred and forty-four times a day. A dashboard doing it per user request does it thousands of times. That is the cost the next cell removes.</a:t>
            </a:r>
          </a:p>
          <a:p/>
          <a:p>
            <a:r>
              <a:t>[MISCONCEPTIONS] Some people will read a different number as a bug or as something they typed wrong. It is not. Different is the expected, correct output here, and the point of the cell.</a:t>
            </a:r>
          </a:p>
          <a:p/>
          <a:p>
            <a:r>
              <a:t>[MISCONCEPTIONS] Somebody will ask whether `psycopg2` can pool at all. It can, and saying otherwise would be wrong: `psycopg2.pool` ships `SimpleConnectionPool` and `ThreadedConnectionPool` in the library itself. Two honest qualifications to have ready. You have to reach for it and wire it up yourself, while the other library hands you one without being asked. And psycopg2's own documentation calls that module "simple" and pure Python, so treat it as a real option rather than as an equal to a purpose-built pooler.</a:t>
            </a:r>
          </a:p>
          <a:p/>
          <a:p>
            <a:r>
              <a:t>[SCOPE] Someone searching mid-class will find that `psycopg2` is no longer the newest generation, so say it first rather than getting caught. Its successor, psycopg version 3, exists and has a much stronger pool. This module teaches `psycopg2` because it is what SQLAlchemy still reaches for by default on a plain `postgresql://` URL, and because it is what the project's own environment installs. Name it in one sentence and move on; migrating between the two is not this lesson.</a:t>
            </a:r>
          </a:p>
          <a:p/>
          <a:p>
            <a:r>
              <a:t>[SOURCES] Verified by running this exact code against a real PostgreSQL 16 table holding this module's own NYC 311 sample: three iterations printed three different backend process ids. `pg_backend_pid()` is documented as returning the process id of the server process attached to the current session (postgresql.org/docs/current/functions-info.html). The `psycopg2.pool` classes named above were confirmed present in psycopg2 2.9.12.</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Run it, then ask the room to compare this cell's three numbers against the previous cell's three. Wait for someone to say they are all the same before you say it.</a:t>
            </a:r>
          </a:p>
          <a:p/>
          <a:p>
            <a:r>
              <a:t>[SCRIPT] Explain what happened without hand-waving. The engine opened one real connection, lent it to the first `with` block, took it back at the end of the block, and lent the same one out again. Nothing was closed and reopened. That is the pool doing its job, and nobody asked it to.</a:t>
            </a:r>
          </a:p>
          <a:p/>
          <a:p>
            <a:r>
              <a:t>[SCRIPT] Read the last line together and translate it, because the wording is confusing on purpose. `Pool size: 5` is the ceiling this engine will keep. `Connections in pool: 1` is how many are actually sitting on the rack right now, which is one because one question at a time never needed a second. A negative overflow number just means the pool has not grown past its own size, so read it as "no overflow," not as an error.</a:t>
            </a:r>
          </a:p>
          <a:p/>
          <a:p>
            <a:r>
              <a:t>[SCRIPT] Say the honest scope of this win out loud, because it is the difference between a memorized rule and real judgment. This engine saved two connection setups across three queries. On a script that opens once and exits, it saves nothing at all. Pooling pays off with repetition, and repetition is a property of the script, not of the library.</a:t>
            </a:r>
          </a:p>
          <a:p/>
          <a:p>
            <a:r>
              <a:t>[MISCONCEPTIONS] People assume the pool is something you configure before it works. On a normal engine you do not: `create_engine` gives a Postgres connection a pooling engine by default, and the default class is `QueuePool`.</a:t>
            </a:r>
          </a:p>
          <a:p/>
          <a:p>
            <a:r>
              <a:t>[MISCONCEPTIONS] A few will expect the `with` block to close the connection, because a `with` block closed things last class. It returns the connection to the pool instead of closing it, which is exactly why the same process id comes back.</a:t>
            </a:r>
          </a:p>
          <a:p/>
          <a:p>
            <a:r>
              <a:t>[MISCONCEPTIONS] The last one is worth knowing before a Fellow tries this somewhere else and thinks they broke it. The same-number result holds for a pool living inside your own program, which is what today's cell is. Put a separate connection manager in between your code and the database, or let the pool's own recycle timer fire, and the number can legitimately change between queries. That is not a broken demo, it is a different setup.</a:t>
            </a:r>
          </a:p>
          <a:p/>
          <a:p>
            <a:r>
              <a:t>[SOURCES] Verified by running this exact code against a real PostgreSQL 16 instance with SQLAlchemy 2.0.52: three iterations printed the identical backend process id, and `engine.pool.status()` reported `Pool size: 5 Connections in pool: 1`. The default pool class for this engine was confirmed to be `QueuePool` by inspecting `type(engine.pool)`. SQLAlchemy's own pooling documentation states that "the Engine returned by the create_engine() function in most cases has a QueuePool integrated, pre-configured with reasonable pooling defaults," and that `QueuePool` is used for every engine other than SQLite with an in-memory database, where the default is `SingletonThreadPool` instead (docs.sqlalchemy.org/en/20/core/pooling.html). The same page documents the default `pool_size` of five, which is the number printed on this slide.</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Force a pick before any discussion. In person: everyone stands and moves to one side of the room, then two people from each side say why. Online: everyone types "fresh" or "held" in chat at the same time, then unmute one from each side. Say plainly that a spoken or typed answer counts exactly the same as moving, so nobody is shut out by the format. Four minutes total.</a:t>
            </a:r>
          </a:p>
          <a:p/>
          <a:p>
            <a:r>
              <a:t>[SCRIPT] There is genuinely no right answer here, and that is the point. Steer toward the real cost on each side. Fresh every time: the server does full setup work over and over, and a busy script can eat through the server's connection ceiling. Held all day: your script is sitting on a slot nobody else can use, even during the twenty-three hours it is idle, and a connection that has been open for hours can quietly go stale.</a:t>
            </a:r>
          </a:p>
          <a:p/>
          <a:p>
            <a:r>
              <a:t>[SCRIPT] Land the transferable idea rather than a verdict. The right answer depends on how often the script asks a question and how long it lives. That is a fact about the script, not about the library, which is exactly how the framework at the end of this lesson is built.</a:t>
            </a:r>
          </a:p>
          <a:p/>
          <a:p>
            <a:r>
              <a:t>[MISCONCEPTIONS] Most of the room will pick pooled and stop thinking, because the last cell made pooling look free. Push whoever picks it to name one real cost, and do not accept "none."</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[~34 min mark] Last cell of the day, and it is a fill-in-the-blank, so tell everyone to read it before typing rather than copying straight through.</a:t>
            </a:r>
          </a:p>
          <a:p/>
          <a:p>
            <a:r>
              <a:t>[SCRIPT] Give the reasoning before they fill anything in. Every database speaks its own slightly different SQL and needs its own driver. So the blank is asking: if the layer handles both of those for you, what is left for you to change?</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45 seconds, before advancing to the answer. In person: someone says the missing string out loud. Online: everyone types it in chat at the same time on a count of three. This is deliberately the one cell with no separate notebook exercise, so the student notebook shows the same single blank the slide does.</a:t>
            </a:r>
          </a:p>
          <a:p/>
          <a:p>
            <a:r>
              <a:t>[SCRIPT] After the reveal, count what changed. One string. Not the query, not `pd.read_sql`, not the `to_sql` call, not a single import. And SQLite is not a variation on Postgres, it is a completely different database with a different driver, which SQLAlchemy picked on its own from the URL.</a:t>
            </a:r>
          </a:p>
          <a:p/>
          <a:p>
            <a:r>
              <a:t>[SCRIPT] Read the printed line together. The word `sqlite` is the dialect SQLAlchemy chose, and that is the term itself arriving as output rather than as a claim: a dialect is SQLAlchemy's translation for one specific database and its driver. The `True` is `pg_df.equals(lite_df)`, which compares shape, column names, and every column's type, so the two databases really did hand back the same table.</a:t>
            </a:r>
          </a:p>
          <a:p/>
          <a:p>
            <a:r>
              <a:t>[SCOPE] State the limit of this honestly and then stop, because this is the easiest slide in the deck to overclaim from. What just moved was the connection code. Your SQL did not become portable. This query is plain enough to run anywhere, but date functions, data types, and plenty of syntax genuinely differ between databases, and no layer makes that go away. Say that sentence out loud rather than leaving it in notes.</a:t>
            </a:r>
          </a:p>
          <a:p/>
          <a:p>
            <a:r>
              <a:t>[MISCONCEPTIONS] Someone will conclude they should always use SQLAlchemy "in case we switch databases." Most teams never switch. The real everyday version of this benefit is smaller and more useful: running the same code against a throwaway local database for testing and against the real one in production.</a:t>
            </a:r>
          </a:p>
          <a:p/>
          <a:p>
            <a:r>
              <a:t>[MISCONCEPTIONS] A few will expect `psycopg2` to do this too. It cannot, and that is not a flaw. It is a PostgreSQL adapter on purpose, and being one specific database's driver is the whole reason it exists.</a:t>
            </a:r>
          </a:p>
          <a:p/>
          <a:p>
            <a:r>
              <a:t>[SOURCES] Verified by running this exact code: the SQLite engine reported `dialect.name` as `sqlite` with driver `pysqlite`, the Postgres engine reported `postgresql` with driver `psycopg2`, and `pg_df.equals(lite_df)` printed `True`. SQLAlchemy's engine documentation describes the database URL as carrying the dialect and driver it selects (docs.sqlalchemy.org/en/20/core/engines.html). The scope caveat above is the important one: SQLAlchemy's own documentation is explicit that a textual SQL string is passed through to the database essentially as written, so dialect differences in the SQL itself remain the author's problem.</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Fill in the blank, 45 seconds, before advancing to the answer. In person: someone says the missing string out loud. Online: everyone types it in chat at the same time on a count of three. This is deliberately the one cell with no separate notebook exercise, so the student notebook shows the same single blank the slide does.</a:t>
            </a:r>
          </a:p>
          <a:p/>
          <a:p>
            <a:r>
              <a:t>[SCRIPT] After the reveal, count what changed. One string. Not the query, not `pd.read_sql`, not the `to_sql` call, not a single import. And SQLite is not a variation on Postgres, it is a completely different database with a different driver, which SQLAlchemy picked on its own from the URL.</a:t>
            </a:r>
          </a:p>
          <a:p/>
          <a:p>
            <a:r>
              <a:t>[SCRIPT] Read the printed line together. The word `sqlite` is the dialect SQLAlchemy chose, and that is the term itself arriving as output rather than as a claim: a dialect is SQLAlchemy's translation for one specific database and its driver. The `True` is `pg_df.equals(lite_df)`, which compares shape, column names, and every column's type, so the two databases really did hand back the same table.</a:t>
            </a:r>
          </a:p>
          <a:p/>
          <a:p>
            <a:r>
              <a:t>[SCOPE] State the limit of this honestly and then stop, because this is the easiest slide in the deck to overclaim from. What just moved was the connection code. Your SQL did not become portable. This query is plain enough to run anywhere, but date functions, data types, and plenty of syntax genuinely differ between databases, and no layer makes that go away. Say that sentence out loud rather than leaving it in notes.</a:t>
            </a:r>
          </a:p>
          <a:p/>
          <a:p>
            <a:r>
              <a:t>[MISCONCEPTIONS] Someone will conclude they should always use SQLAlchemy "in case we switch databases." Most teams never switch. The real everyday version of this benefit is smaller and more useful: running the same code against a throwaway local database for testing and against the real one in production.</a:t>
            </a:r>
          </a:p>
          <a:p/>
          <a:p>
            <a:r>
              <a:t>[MISCONCEPTIONS] A few will expect `psycopg2` to do this too. It cannot, and that is not a flaw. It is a PostgreSQL adapter on purpose, and being one specific database's driver is the whole reason it exists.</a:t>
            </a:r>
          </a:p>
          <a:p/>
          <a:p>
            <a:r>
              <a:t>[SOURCES] Verified by running this exact code: the SQLite engine reported `dialect.name` as `sqlite` with driver `pysqlite`, the Postgres engine reported `postgresql` with driver `psycopg2`, and `pg_df.equals(lite_df)` printed `True`. SQLAlchemy's engine documentation describes the database URL as carrying the dialect and driver it selects (docs.sqlalchemy.org/en/20/core/engines.html). The scope caveat above is the important one: SQLAlchemy's own documentation is explicit that a textual SQL string is passed through to the database essentially as written, so dialect differences in the SQL itself remain the author's problem.</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Do this as a recap of things the room already watched happen, not as new information. Point at each row and name which cell proved it. The pooling row is the two process-id cells. The DataFrame row is last class, where the column names had to be recovered off the cursor on one side and arrived attached on the other. The URL row is the cell they just filled in. The error row is the one claim nobody ran, so state it as a claim and say where it comes from.</a:t>
            </a:r>
          </a:p>
          <a:p/>
          <a:p>
            <a:r>
              <a:t>[SCRIPT] On the error row, be concrete rather than vague about "better errors." Ask `psycopg2` for a table that does not exist and it raises `psycopg2.errors.UndefinedTable`, which is PostgreSQL's own complaint handed straight back. Ask SQLAlchemy the same thing and it raises `sqlalchemy.exc.ProgrammingError` instead, wrapping that same original error and keeping it available underneath. Neither is better. One is shorter to read, the other is consistent across every database the layer supports, and which you want depends on whether you are debugging one database or maintaining code across several.</a:t>
            </a:r>
          </a:p>
          <a:p/>
          <a:p>
            <a:r>
              <a:t>[SCRIPT] The word "supported" in the second row on the right is doing real work, so do not read past it. pandas' own documentation says its `con` argument takes a SQLAlchemy connectable, a connection string, or a `sqlite3` connection, and that if a raw driver object is passed, only SQLite is supported. Handing `pd.read_sql` a bare `psycopg2` connection does generally work, and it warns, and it is outside what pandas promises. That is the most concrete, least hand-wavy reason to reach for the layer that exists, and it is a better interview answer than anything about portability.</a:t>
            </a:r>
          </a:p>
          <a:p/>
          <a:p>
            <a:r>
              <a:t>[SCOPE] The ORM row gets one sentence and no more today. Tables become Python classes and rows become objects, so you can query without writing a SQL string. It is entirely optional, plenty of professional SQLAlchemy code never uses it, and the project treats defining one as an optional stretch goal rather than a requirement. Say the precise version out loud while you are here, because the sloppy version is everywhere: SQLAlchemy is not an ORM. It is a toolkit that contains one. Every cell run in this room across both classes used the other half, and never touched the ORM.</a:t>
            </a:r>
          </a:p>
          <a:p/>
          <a:p>
            <a:r>
              <a:t>[SCRIPT] Do not skip the third row on the right, because it is the honest correction to the row directly above it and it is the only line on this slide that qualifies a benefit rather than stating one. The connection code moved to a different database; the query language did not. Also name what both columns share, since the slide no longer says it: both send the exact same SQL, both read the password out of the environment, and both go through `psycopg2` when the database is Postgres.</a:t>
            </a:r>
          </a:p>
          <a:p/>
          <a:p>
            <a:r>
              <a:t>[MISCONCEPTIONS] The belief this whole slide exists to break is that one of these columns is the professional choice and the other is the beginner choice. Say it plainly: working teams ship both, and an interviewer asking this question is listening for whether you know what each column costs, not which one you like.</a:t>
            </a:r>
          </a:p>
          <a:p/>
          <a:p>
            <a:r>
              <a:t>[SOURCES] The error behavior was verified locally against PostgreSQL 16 with psycopg2 2.9.12 and SQLAlchemy 2.0.52: a missing-table query raised `psycopg2.errors.UndefinedTable` through the driver, and `sqlalchemy.exc.ProgrammingError` through the engine, with the original `psycopg2.errors.UndefinedTable` still reachable on the wrapper's `orig` attribute. psycopg2's own documentation describes it as a PostgreSQL adapter implementing the Python DB API 2.0 specification (psycopg.org/docs).</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[~44 min mark] Last section. Say the shift out loud: everything up to here was measurement, and everything after here is judgment.</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Walk all four, and after each one say which part of today answered it. Lifespan is the two process-id cells: repetition is what makes a pool pay. Control is the error row: a raw driver hands you the database's own complaint. Reach is the cell where one string changed. Shape is the ORM row, which is the one most people have never had to think about.</a:t>
            </a:r>
          </a:p>
          <a:p/>
          <a:p>
            <a:r>
              <a:t>[SCRIPT] Point out what is deliberately missing from these four. There is no question about which library is better, which is more professional, or which is more popular. Every question is about the script. That is the whole method.</a:t>
            </a:r>
          </a:p>
          <a:p/>
          <a:p>
            <a:r>
              <a:t>[SCRIPT] Say the project tie explicitly and out loud, because this slide is the deliverable in disguise. The project asks for a written tradeoff comparison reasoned from what you actually experienced. These four questions are its outline: one short paragraph each, answered for your own script, and it is written.</a:t>
            </a:r>
          </a:p>
          <a:p/>
          <a:p>
            <a:r>
              <a:t>[MISCONCEPTIONS] People will want a scoring rule, like "three out of four means SQLAlchemy." Refuse it. Two of these can point in opposite directions for the same script, and saying which one you weighted most and why is the actual answer an interviewer is listening for.</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Use PREP, Point then Reason then Example then Point. A recommendation question is exactly the shape PREP is for: state the pick first, give the reason, give one concrete consequence, then restate the pick. Coach whoever answers to open with the verdict rather than narrating their thinking for thirty seconds and arriving at one. An interviewer is listening for the pick up front.</a:t>
            </a:r>
          </a:p>
          <a:p/>
          <a:p>
            <a:r>
              <a:t>[ACTIVITY] Quick-fire game: read all three, count down from three out loud, then everyone calls out A, B, or C at the same time. Online: everyone types A, B, or C in chat on the count of three so nobody copies the first answer posted. Use the letters the slide shows, not numbers. Then have one person deliver the full answer in PREP shape before you reveal it.</a:t>
            </a:r>
          </a:p>
          <a:p/>
          <a:p>
            <a:r>
              <a:t>[SCRIPT] Do not stop at the correct letter. Ask the room what would have to change about this script to flip the answer, and take two responses. Runs every ten minutes instead of nightly. Asks eight questions instead of one. Might get pointed at a different database next quarter. Any of those genuinely moves the recommendation, and being able to say so is the whole objective.</a:t>
            </a:r>
          </a:p>
          <a:p/>
          <a:p>
            <a:r>
              <a:t>[MISCONCEPTIONS] Some will read option A as "psycopg2 is better for small things," which is a rule rather than reasoning. Correct it to the version that survives an interview: nothing about the size is the point, only that one query cannot reuse a connection there is no second question for.</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answer: `psycopg2`, since one query gains nothing from a pool</a:t>
            </a:r>
          </a:p>
          <a:p>
            <a:r>
              <a:t>Why: A script that opens once, asks once, and exits has no second query to reuse a connection, so the pool that made the earlier cell impressive does nothing here. The strongest reason names the script's lifespan, not the library's reputation. The tempting wrong answer, that pooling is always the safer default, is the exact belief this lesson is built to break. Saying the choice never matters is wrong for a different reason, because it does have a consequence: whoever inherits this script has to learn whichever layer you left behind. Either library would run correctly here, which is precisely why the reasoning is what gets graded.</a:t>
            </a:r>
          </a:p>
          <a:p>
            <a:r>
              <a:t>Source: This lesson's own four-question framework, applied to the script's lifespan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[TECHNIQUE] The first one uses QAR, Question then Assumption then Risk, because it is genuinely underspecified as asked. The honest answer depends on facts the interviewer has not given, so the strong move is to ask for one of them, state the assumption you are running on, and name what breaks if the assumption is wrong. Coach people to chain PREP after QAR once the ambiguity is resolved: state the pick, the reason, the example, the pick again.</a:t>
            </a:r>
          </a:p>
          <a:p/>
          <a:p>
            <a:r>
              <a:t>[TECHNIQUE] The second uses Teach-Back, Audience then Simplify then Analogy then Check. The step almost everyone drops is the last one. Finishing with a real check, rather than trailing off, is what separates explaining from lecturing, and interviewers notice it.</a:t>
            </a:r>
          </a:p>
          <a:p/>
          <a:p>
            <a:r>
              <a:t>[SCRIPT] [~52 min mark] If you are already past 54 minutes, show the answers and skip the cold attempt. Otherwise have someone attempt the first one cold before advancing. Keep the register serious here even though the rest of today is energetic.</a:t>
            </a:r>
          </a:p>
          <a:p/>
          <a:p>
            <a:r>
              <a:t>[SCRIPT] Be honest about how these get asked, because overselling them would be a disservice. Nobody is likely to ask a junior analyst to pick between two Postgres drivers by name. What is genuinely common is the shape underneath: how do you connect Python to a database safely, and what would make you use SQLAlchemy rather than raw SQL. Say that out loud, and say the same about the second one: "explain a technical concept to a non-technical audience" is a very common data-analyst question, and connection pooling is simply a hard thing to practise it on, not something you should expect to be quizzed on directly.</a:t>
            </a:r>
          </a:p>
          <a:p/>
          <a:p>
            <a:r>
              <a:t>[SOURCES] The first question's shape is verified in circulation: interviewprep.org's SQLAlchemy question bank asks "What are the benefits of using SQLAlchemy for database manipulation over raw SQL queries?", and Datavidhya's 2026 Python-for-data-engineers list asks "How do you connect Python to a SQL database safely?" with SQLAlchemy and psycopg2 named together in its own model answer. The second question's wrapper is verified on DataCamp's data-analyst interview guide, which lists "How do you communicate technical concepts to a non-technical audience?" directly. Connection pooling itself is a well-catalogued question in backend, DBA, and system-design banks rather than analyst ones, which is exactly why the script above frames it as practice material and not as a prediction.</a:t>
            </a:r>
          </a:p>
          <a:p/>
          <a:p/>
          <a:p>
            <a:r>
              <a:t>Short answers:</a:t>
            </a:r>
          </a:p>
          <a:p/>
          <a:p>
            <a:r>
              <a:t>Q: How would you connect a Python script to Postgres, and what would make you reach for SQLAlchemy over the raw driver?</a:t>
            </a:r>
          </a:p>
          <a:p>
            <a:r>
              <a:t>A: Question: Is this a one-off analysis script, or something that runs continuously? Assumption: I will assume a scheduled job against one Postgres database, with the credential read from the environment. Risk: If it turns out to be a long-running service, a raw driver opening a connection per request is exactly what runs a database out of slots, and that is the case where I reach for an engine and its pool.</a:t>
            </a:r>
          </a:p>
          <a:p/>
          <a:p>
            <a:r>
              <a:t>Q: Explain connection pooling to someone who does not write code.</a:t>
            </a:r>
          </a:p>
          <a:p>
            <a:r>
              <a:t>A: Audience: Someone approving the work, not reading the code. Simplify: Opening a link to a database is slow, and the database only allows so many at once. Analogy: It is the rack of loaner rackets at a gym, taken and put back, instead of buying a new one every game. Check: So if I say we reuse a few links instead of making a new one every time, does that land?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Fast round trip before the summary. Ask the room to supply `connection pool` and `dialect` rather than reading every row yourself, since those two are the ones today actually put numbers behind.</a:t>
            </a:r>
          </a:p>
          <a:p/>
          <a:p>
            <a:r>
              <a:t>[MISCONCEPTIONS] Watch for anyone defining an ORM as "SQLAlchemy." An ORM is one optional part of SQLAlchemy, and every cell run today used SQLAlchemy without touching it.</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Resolve the case study first, since it is the frame the whole lesson hangs on, and answer its hook question directly. Five hundred copies of a correct script, each opening and closing connections properly, can still take a database down by all doing it at the same instant. That is what happened to the sign-in company, and the setting that made it happen came from a layer nobody was thinking about. Point at the fourth bullet as the sentence to leave with.</a:t>
            </a:r>
          </a:p>
          <a:p/>
          <a:p>
            <a:r>
              <a:t>[SCRIPT] Then answer the notebook warm-up out loud one more time, because it is the cleanest thing to leave with. Five hundred correct, properly closed connections is still five hundred times the server started a process it did not need to start. Everyone watched the smaller version of that print itself today.</a:t>
            </a:r>
          </a:p>
          <a:p/>
          <a:p>
            <a:r>
              <a:t>[SCRIPT] Tie forward to the project without naming a day. The project asks for a written tradeoff comparison reasoned from what you actually experienced running both libraries. Today produced that experience, and the four questions are the outline. Tell people to keep the numbers their own cells printed, because those numbers are the evidence that makes the write-up genuinely theirs.</a:t>
            </a:r>
          </a:p>
          <a:p/>
          <a:p>
            <a:r>
              <a:t>[SCRIPT] Name today's honest limit the same way the previous lesson did. You can now defend a choice between two libraries. You still have not had to judge code somebody else wrote, and that is what comes next.</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Be specific about why the practice ask is what it is. Today everyone measured a shared class database with a handful of rows. Your own database has your own row counts and your own connection limit, and the numbers coming back different from the room's is the interesting part, not a mistake.</a:t>
            </a:r>
          </a:p>
          <a:p/>
          <a:p>
            <a:r>
              <a:t>[SCRIPT] Push hardest on the last two bullets, because they are the ones that look optional and are not. Four short paragraphs written tonight, on a script you already understand, is a rehearsal for a graded document. Four paragraphs written cold on project day, about code you wrote that morning, is much harder.</a:t>
            </a:r>
          </a:p>
          <a:p/>
          <a:p>
            <a:r>
              <a:t>[SCRIPT] Say what a weak version looks like so nobody hands one in. "SQLAlchemy is more modern and has more features" is not a comparison. "My script runs once a week, so pooling buys nothing, and I picked the raw driver so the next person has one less library to learn" is.</a:t>
            </a:r>
          </a:p>
          <a:p/>
          <a:p>
            <a:r>
              <a:t>[SCRIPT] Remind people how to reach office hours rather than naming a time, and encourage anyone whose own database will not connect to bring that in rather than quietly working around it.</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 Point at the first one as the reference to keep open. It is the page that actually answers "wait, is pooling on by default," and it names the default pool size everyone saw printed today.</a:t>
            </a:r>
          </a:p>
          <a:p/>
          <a:p>
            <a:r>
              <a:t>[SCRIPT] The middle one is the best read here and the one to recommend if someone asks for just one. It is plain language, it is not tied to any single library, and it explains what a connection genuinely costs a server, which is the piece today only had time to demonstrate rather than explain in depth.</a:t>
            </a:r>
          </a:p>
          <a:p/>
          <a:p>
            <a:r>
              <a:t>[SCRIPT] Say the honest caveat on the video rather than letting people discover it. It measures pooling's speedup with real before-and-after numbers, which is exactly the persuasive part, but its demo is in Node.js, not Python. Watch it for the numbers and the reasoning, not for syntax. It is about twelve minutes.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clerk.com/blog/2025-09-18-database-incident-postmortem"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image" Target="../media/image16.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21.png"/><Relationship Id="rId4" Type="http://schemas.openxmlformats.org/officeDocument/2006/relationships/hyperlink" Target="https://docs.sqlalchemy.org/en/20/core/pooling.html" TargetMode="External"/><Relationship Id="rId5" Type="http://schemas.openxmlformats.org/officeDocument/2006/relationships/image" Target="../media/image22.png"/><Relationship Id="rId6" Type="http://schemas.openxmlformats.org/officeDocument/2006/relationships/hyperlink" Target="https://sudhir.io/understanding-connections-pools" TargetMode="External"/><Relationship Id="rId7" Type="http://schemas.openxmlformats.org/officeDocument/2006/relationships/image" Target="../media/image23.png"/><Relationship Id="rId8" Type="http://schemas.openxmlformats.org/officeDocument/2006/relationships/hyperlink" Target="https://www.youtube.com/watch?v=GTeCtIoV2Tw" TargetMode="External"/><Relationship Id="rId9"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320040"/>
            <a:ext cx="11094415" cy="274320"/>
          </a:xfrm>
          <a:prstGeom prst="rect">
            <a:avLst/>
          </a:prstGeom>
          <a:noFill/>
        </p:spPr>
        <p:txBody>
          <a:bodyPr wrap="square" anchor="t" lIns="0" rIns="0" tIns="0" bIns="0">
            <a:noAutofit/>
          </a:bodyPr>
          <a:lstStyle/>
          <a:p>
            <a:pPr algn="l"/>
            <a:r>
              <a:rPr sz="2600" b="1" i="0" u="none">
                <a:solidFill>
                  <a:srgbClr val="FFFCF7"/>
                </a:solidFill>
                <a:latin typeface="Helvetica"/>
              </a:rPr>
              <a:t>THE MARCY LAB SCHOOL</a:t>
            </a:r>
          </a:p>
        </p:txBody>
      </p:sp>
      <p:sp>
        <p:nvSpPr>
          <p:cNvPr id="4" name="Rectangle 3"/>
          <p:cNvSpPr/>
          <p:nvPr/>
        </p:nvSpPr>
        <p:spPr>
          <a:xfrm>
            <a:off x="0" y="6748272"/>
            <a:ext cx="8534186" cy="54864"/>
          </a:xfrm>
          <a:prstGeom prst="rect">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2286000"/>
            <a:ext cx="6705295" cy="1463040"/>
          </a:xfrm>
          <a:prstGeom prst="rect">
            <a:avLst/>
          </a:prstGeom>
          <a:noFill/>
        </p:spPr>
        <p:txBody>
          <a:bodyPr wrap="square" anchor="b" lIns="0" rIns="0" tIns="0" bIns="0">
            <a:noAutofit/>
          </a:bodyPr>
          <a:lstStyle/>
          <a:p>
            <a:pPr algn="l"/>
            <a:r>
              <a:rPr sz="4000" b="1" i="0" u="none">
                <a:solidFill>
                  <a:srgbClr val="EEBC32"/>
                </a:solidFill>
                <a:latin typeface="Roboto Mono"/>
              </a:rPr>
              <a:t>psycopg2</a:t>
            </a:r>
            <a:r>
              <a:rPr sz="4000" b="1" i="0" u="none">
                <a:solidFill>
                  <a:srgbClr val="EEBC32"/>
                </a:solidFill>
                <a:latin typeface="Helvetica"/>
              </a:rPr>
              <a:t> vs. SQLAlchemy: Pooling, Portability, Real Tradeoffs</a:t>
            </a:r>
          </a:p>
        </p:txBody>
      </p:sp>
      <p:sp>
        <p:nvSpPr>
          <p:cNvPr id="6" name="TextBox 5"/>
          <p:cNvSpPr txBox="1"/>
          <p:nvPr/>
        </p:nvSpPr>
        <p:spPr>
          <a:xfrm>
            <a:off x="548640" y="5943600"/>
            <a:ext cx="6705295" cy="457200"/>
          </a:xfrm>
          <a:prstGeom prst="rect">
            <a:avLst/>
          </a:prstGeom>
          <a:noFill/>
        </p:spPr>
        <p:txBody>
          <a:bodyPr wrap="square" anchor="t" lIns="0" rIns="0" tIns="0" bIns="0">
            <a:noAutofit/>
          </a:bodyPr>
          <a:lstStyle/>
          <a:p>
            <a:pPr algn="l"/>
            <a:r>
              <a:rPr sz="2600" b="0" i="0" u="none">
                <a:solidFill>
                  <a:srgbClr val="FFFCF7"/>
                </a:solidFill>
                <a:latin typeface="Helvetica"/>
              </a:rPr>
              <a:t>Module 4: Python Data Analysis</a:t>
            </a:r>
          </a:p>
        </p:txBody>
      </p:sp>
      <p:sp>
        <p:nvSpPr>
          <p:cNvPr id="7" name="Rounded Rectangle 6"/>
          <p:cNvSpPr/>
          <p:nvPr/>
        </p:nvSpPr>
        <p:spPr>
          <a:xfrm>
            <a:off x="7802575" y="914400"/>
            <a:ext cx="3840480" cy="502920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459468" y="1719072"/>
            <a:ext cx="181051" cy="181051"/>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Isosceles Triangle 8"/>
          <p:cNvSpPr/>
          <p:nvPr/>
        </p:nvSpPr>
        <p:spPr>
          <a:xfrm>
            <a:off x="9311335" y="1867205"/>
            <a:ext cx="822960" cy="452628"/>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39735" y="2459736"/>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1" name="TextBox 10"/>
          <p:cNvSpPr txBox="1"/>
          <p:nvPr/>
        </p:nvSpPr>
        <p:spPr>
          <a:xfrm>
            <a:off x="8031175" y="2889504"/>
            <a:ext cx="3383280" cy="2962656"/>
          </a:xfrm>
          <a:prstGeom prst="rect">
            <a:avLst/>
          </a:prstGeom>
          <a:noFill/>
        </p:spPr>
        <p:txBody>
          <a:bodyPr wrap="square" anchor="t" lIns="0" rIns="0" tIns="0" bIns="0">
            <a:noAutofit/>
          </a:bodyPr>
          <a:lstStyle/>
          <a:p>
            <a:pPr algn="ctr"/>
            <a:r>
              <a:rPr sz="2600" b="0" i="1" u="none">
                <a:solidFill>
                  <a:srgbClr val="327A5F"/>
                </a:solidFill>
                <a:latin typeface="Fraunces"/>
              </a:rPr>
              <a:t>Flat illustration: Analyst weighing two toolboxes over one database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By the End of Today, You'll Be Able To...</a:t>
            </a:r>
          </a:p>
        </p:txBody>
      </p:sp>
      <p:sp>
        <p:nvSpPr>
          <p:cNvPr id="4" name="Rounded Rectangle 3"/>
          <p:cNvSpPr/>
          <p:nvPr/>
        </p:nvSpPr>
        <p:spPr>
          <a:xfrm>
            <a:off x="548640" y="2468880"/>
            <a:ext cx="3545738"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2047189" y="2697480"/>
            <a:ext cx="548640" cy="548640"/>
          </a:xfrm>
          <a:prstGeom prst="rect">
            <a:avLst/>
          </a:prstGeom>
        </p:spPr>
      </p:pic>
      <p:sp>
        <p:nvSpPr>
          <p:cNvPr id="6" name="TextBox 5"/>
          <p:cNvSpPr txBox="1"/>
          <p:nvPr/>
        </p:nvSpPr>
        <p:spPr>
          <a:xfrm>
            <a:off x="685800"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Name what the layer buys</a:t>
            </a:r>
          </a:p>
        </p:txBody>
      </p:sp>
      <p:sp>
        <p:nvSpPr>
          <p:cNvPr id="7" name="Rounded Rectangle 6"/>
          <p:cNvSpPr/>
          <p:nvPr/>
        </p:nvSpPr>
        <p:spPr>
          <a:xfrm>
            <a:off x="4322978" y="2468880"/>
            <a:ext cx="3545738"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5821528" y="2697480"/>
            <a:ext cx="548640" cy="548640"/>
          </a:xfrm>
          <a:prstGeom prst="rect">
            <a:avLst/>
          </a:prstGeom>
        </p:spPr>
      </p:pic>
      <p:sp>
        <p:nvSpPr>
          <p:cNvPr id="9" name="TextBox 8"/>
          <p:cNvSpPr txBox="1"/>
          <p:nvPr/>
        </p:nvSpPr>
        <p:spPr>
          <a:xfrm>
            <a:off x="4460138"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Compare the real tradeoffs</a:t>
            </a:r>
          </a:p>
        </p:txBody>
      </p:sp>
      <p:sp>
        <p:nvSpPr>
          <p:cNvPr id="10" name="Rounded Rectangle 9"/>
          <p:cNvSpPr/>
          <p:nvPr/>
        </p:nvSpPr>
        <p:spPr>
          <a:xfrm>
            <a:off x="8097317" y="2468880"/>
            <a:ext cx="3545738"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9595866" y="2697480"/>
            <a:ext cx="548640" cy="548640"/>
          </a:xfrm>
          <a:prstGeom prst="rect">
            <a:avLst/>
          </a:prstGeom>
        </p:spPr>
      </p:pic>
      <p:sp>
        <p:nvSpPr>
          <p:cNvPr id="12" name="TextBox 11"/>
          <p:cNvSpPr txBox="1"/>
          <p:nvPr/>
        </p:nvSpPr>
        <p:spPr>
          <a:xfrm>
            <a:off x="8234477" y="3429000"/>
            <a:ext cx="3271418" cy="1463040"/>
          </a:xfrm>
          <a:prstGeom prst="rect">
            <a:avLst/>
          </a:prstGeom>
          <a:noFill/>
        </p:spPr>
        <p:txBody>
          <a:bodyPr wrap="square" anchor="t" lIns="0" rIns="0" tIns="0" bIns="0">
            <a:noAutofit/>
          </a:bodyPr>
          <a:lstStyle/>
          <a:p>
            <a:pPr algn="ctr"/>
            <a:r>
              <a:rPr sz="2600" b="1" i="0" u="none">
                <a:solidFill>
                  <a:srgbClr val="261F1D"/>
                </a:solidFill>
                <a:latin typeface="Helvetica"/>
              </a:rPr>
              <a:t>Recommend one, and defend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You'll Know by the End of Today</a:t>
            </a:r>
          </a:p>
        </p:txBody>
      </p:sp>
      <p:sp>
        <p:nvSpPr>
          <p:cNvPr id="4" name="Rounded Rectangle 3"/>
          <p:cNvSpPr/>
          <p:nvPr/>
        </p:nvSpPr>
        <p:spPr>
          <a:xfrm>
            <a:off x="548640" y="2468880"/>
            <a:ext cx="2602154" cy="2560320"/>
          </a:xfrm>
          <a:prstGeom prst="roundRect">
            <a:avLst>
              <a:gd name="adj" fmla="val 6000"/>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575397" y="2697480"/>
            <a:ext cx="548640" cy="548640"/>
          </a:xfrm>
          <a:prstGeom prst="rect">
            <a:avLst/>
          </a:prstGeom>
        </p:spPr>
      </p:pic>
      <p:sp>
        <p:nvSpPr>
          <p:cNvPr id="6" name="TextBox 5"/>
          <p:cNvSpPr txBox="1"/>
          <p:nvPr/>
        </p:nvSpPr>
        <p:spPr>
          <a:xfrm>
            <a:off x="685800"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abstraction layer</a:t>
            </a:r>
          </a:p>
        </p:txBody>
      </p:sp>
      <p:sp>
        <p:nvSpPr>
          <p:cNvPr id="7" name="Rounded Rectangle 6"/>
          <p:cNvSpPr/>
          <p:nvPr/>
        </p:nvSpPr>
        <p:spPr>
          <a:xfrm>
            <a:off x="3379394" y="2468880"/>
            <a:ext cx="2602154" cy="25603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
          <p:cNvPicPr>
            <a:picLocks noChangeAspect="1"/>
          </p:cNvPicPr>
          <p:nvPr/>
        </p:nvPicPr>
        <p:blipFill>
          <a:blip r:embed="rId4"/>
          <a:stretch>
            <a:fillRect/>
          </a:stretch>
        </p:blipFill>
        <p:spPr>
          <a:xfrm>
            <a:off x="4406151" y="2697480"/>
            <a:ext cx="548640" cy="548640"/>
          </a:xfrm>
          <a:prstGeom prst="rect">
            <a:avLst/>
          </a:prstGeom>
        </p:spPr>
      </p:pic>
      <p:sp>
        <p:nvSpPr>
          <p:cNvPr id="9" name="TextBox 8"/>
          <p:cNvSpPr txBox="1"/>
          <p:nvPr/>
        </p:nvSpPr>
        <p:spPr>
          <a:xfrm>
            <a:off x="3516554"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connection pool</a:t>
            </a:r>
          </a:p>
        </p:txBody>
      </p:sp>
      <p:sp>
        <p:nvSpPr>
          <p:cNvPr id="10" name="Rounded Rectangle 9"/>
          <p:cNvSpPr/>
          <p:nvPr/>
        </p:nvSpPr>
        <p:spPr>
          <a:xfrm>
            <a:off x="6210148" y="2468880"/>
            <a:ext cx="2602154" cy="2560320"/>
          </a:xfrm>
          <a:prstGeom prst="roundRect">
            <a:avLst>
              <a:gd name="adj" fmla="val 6000"/>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
          <p:cNvPicPr>
            <a:picLocks noChangeAspect="1"/>
          </p:cNvPicPr>
          <p:nvPr/>
        </p:nvPicPr>
        <p:blipFill>
          <a:blip r:embed="rId5"/>
          <a:stretch>
            <a:fillRect/>
          </a:stretch>
        </p:blipFill>
        <p:spPr>
          <a:xfrm>
            <a:off x="7236904" y="2697480"/>
            <a:ext cx="548640" cy="548640"/>
          </a:xfrm>
          <a:prstGeom prst="rect">
            <a:avLst/>
          </a:prstGeom>
        </p:spPr>
      </p:pic>
      <p:sp>
        <p:nvSpPr>
          <p:cNvPr id="12" name="TextBox 11"/>
          <p:cNvSpPr txBox="1"/>
          <p:nvPr/>
        </p:nvSpPr>
        <p:spPr>
          <a:xfrm>
            <a:off x="6347308"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dialect</a:t>
            </a:r>
          </a:p>
        </p:txBody>
      </p:sp>
      <p:sp>
        <p:nvSpPr>
          <p:cNvPr id="13" name="Rounded Rectangle 12"/>
          <p:cNvSpPr/>
          <p:nvPr/>
        </p:nvSpPr>
        <p:spPr>
          <a:xfrm>
            <a:off x="9040901" y="2468880"/>
            <a:ext cx="2602154" cy="2560320"/>
          </a:xfrm>
          <a:prstGeom prst="roundRect">
            <a:avLst>
              <a:gd name="adj" fmla="val 6000"/>
            </a:avLst>
          </a:prstGeom>
          <a:solidFill>
            <a:srgbClr val="F7DFDF"/>
          </a:solidFill>
          <a:ln w="50800">
            <a:solidFill>
              <a:srgbClr val="C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
          <p:cNvPicPr>
            <a:picLocks noChangeAspect="1"/>
          </p:cNvPicPr>
          <p:nvPr/>
        </p:nvPicPr>
        <p:blipFill>
          <a:blip r:embed="rId6"/>
          <a:stretch>
            <a:fillRect/>
          </a:stretch>
        </p:blipFill>
        <p:spPr>
          <a:xfrm>
            <a:off x="10067658" y="2697480"/>
            <a:ext cx="548640" cy="548640"/>
          </a:xfrm>
          <a:prstGeom prst="rect">
            <a:avLst/>
          </a:prstGeom>
        </p:spPr>
      </p:pic>
      <p:sp>
        <p:nvSpPr>
          <p:cNvPr id="15" name="TextBox 14"/>
          <p:cNvSpPr txBox="1"/>
          <p:nvPr/>
        </p:nvSpPr>
        <p:spPr>
          <a:xfrm>
            <a:off x="9178061" y="3429000"/>
            <a:ext cx="2327834" cy="1463040"/>
          </a:xfrm>
          <a:prstGeom prst="rect">
            <a:avLst/>
          </a:prstGeom>
          <a:noFill/>
        </p:spPr>
        <p:txBody>
          <a:bodyPr wrap="square" anchor="t" lIns="0" rIns="0" tIns="0" bIns="0">
            <a:noAutofit/>
          </a:bodyPr>
          <a:lstStyle/>
          <a:p>
            <a:pPr algn="ctr"/>
            <a:r>
              <a:rPr sz="2600" b="1" i="0" u="none">
                <a:solidFill>
                  <a:srgbClr val="261F1D"/>
                </a:solidFill>
                <a:latin typeface="Helvetica"/>
              </a:rPr>
              <a:t>ORM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TURN AND TALK</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Last class both libraries handed back the same DataFrame. Name one thing that was genuinely different about the code you typed.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3108960" cy="54864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2743200" cy="548640"/>
          </a:xfrm>
          <a:prstGeom prst="rect">
            <a:avLst/>
          </a:prstGeom>
          <a:noFill/>
        </p:spPr>
        <p:txBody>
          <a:bodyPr wrap="square" anchor="ctr" lIns="0" rIns="0" tIns="0" bIns="0">
            <a:noAutofit/>
          </a:bodyPr>
          <a:lstStyle/>
          <a:p>
            <a:pPr algn="l"/>
            <a:r>
              <a:rPr sz="2600" b="1" i="0" u="none">
                <a:solidFill>
                  <a:srgbClr val="261F1D"/>
                </a:solidFill>
                <a:latin typeface="Helvetica"/>
              </a:rPr>
              <a:t>IN THE NEWS</a:t>
            </a:r>
          </a:p>
        </p:txBody>
      </p:sp>
      <p:sp>
        <p:nvSpPr>
          <p:cNvPr id="5" name="TextBox 4"/>
          <p:cNvSpPr txBox="1"/>
          <p:nvPr/>
        </p:nvSpPr>
        <p:spPr>
          <a:xfrm>
            <a:off x="548640" y="109728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One Setting Broke Sign-Ins for </a:t>
            </a:r>
            <a:r>
              <a:rPr sz="3200" b="1" i="0" u="none">
                <a:solidFill>
                  <a:srgbClr val="264326"/>
                </a:solidFill>
                <a:latin typeface="Helvetica"/>
              </a:rPr>
              <a:t>Four Days</a:t>
            </a:r>
          </a:p>
        </p:txBody>
      </p:sp>
      <p:sp>
        <p:nvSpPr>
          <p:cNvPr id="6" name="TextBox 5"/>
          <p:cNvSpPr txBox="1"/>
          <p:nvPr/>
        </p:nvSpPr>
        <p:spPr>
          <a:xfrm>
            <a:off x="548640" y="2423160"/>
            <a:ext cx="6705295" cy="173736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An upgrade removed a hidden brake</a:t>
            </a:r>
          </a:p>
          <a:p>
            <a:pPr>
              <a:spcAft>
                <a:spcPts val="1000"/>
              </a:spcAft>
            </a:pPr>
            <a:r>
              <a:rPr sz="2600">
                <a:solidFill>
                  <a:srgbClr val="261F1D"/>
                </a:solidFill>
                <a:latin typeface="Helvetica"/>
              </a:rPr>
              <a:t>•  </a:t>
            </a:r>
            <a:r>
              <a:rPr sz="2600" b="0" i="0" u="none">
                <a:solidFill>
                  <a:srgbClr val="261F1D"/>
                </a:solidFill>
                <a:latin typeface="Helvetica"/>
              </a:rPr>
              <a:t>All the connections reset at once</a:t>
            </a:r>
          </a:p>
          <a:p>
            <a:pPr>
              <a:spcAft>
                <a:spcPts val="1000"/>
              </a:spcAft>
            </a:pPr>
            <a:r>
              <a:rPr sz="2600">
                <a:solidFill>
                  <a:srgbClr val="261F1D"/>
                </a:solidFill>
                <a:latin typeface="Helvetica"/>
              </a:rPr>
              <a:t>•  </a:t>
            </a:r>
            <a:r>
              <a:rPr sz="2600" b="0" i="0" u="none">
                <a:solidFill>
                  <a:srgbClr val="261F1D"/>
                </a:solidFill>
                <a:latin typeface="Helvetica"/>
              </a:rPr>
              <a:t>Sign-ins failed for days</a:t>
            </a:r>
          </a:p>
        </p:txBody>
      </p:sp>
      <p:sp>
        <p:nvSpPr>
          <p:cNvPr id="7" name="TextBox 6"/>
          <p:cNvSpPr txBox="1"/>
          <p:nvPr/>
        </p:nvSpPr>
        <p:spPr>
          <a:xfrm>
            <a:off x="548640" y="4297680"/>
            <a:ext cx="6705295" cy="1920240"/>
          </a:xfrm>
          <a:prstGeom prst="rect">
            <a:avLst/>
          </a:prstGeom>
          <a:noFill/>
        </p:spPr>
        <p:txBody>
          <a:bodyPr wrap="square" anchor="t" lIns="0" rIns="0" tIns="0" bIns="0">
            <a:noAutofit/>
          </a:bodyPr>
          <a:lstStyle/>
          <a:p>
            <a:pPr algn="l"/>
            <a:r>
              <a:rPr sz="2600" b="0" i="1" u="none">
                <a:solidFill>
                  <a:srgbClr val="2274B5"/>
                </a:solidFill>
                <a:latin typeface="Fraunces"/>
              </a:rPr>
              <a:t>Discussion prompt: Last class you opened one connection and closed it. Now picture five hundred copies of that script. What if they all did it at the same second?</a:t>
            </a:r>
          </a:p>
        </p:txBody>
      </p:sp>
      <p:sp>
        <p:nvSpPr>
          <p:cNvPr id="8" name="Rounded Rectangle 7"/>
          <p:cNvSpPr/>
          <p:nvPr/>
        </p:nvSpPr>
        <p:spPr>
          <a:xfrm>
            <a:off x="7802575" y="2423160"/>
            <a:ext cx="3840480" cy="3291840"/>
          </a:xfrm>
          <a:prstGeom prst="roundRect">
            <a:avLst>
              <a:gd name="adj" fmla="val 3000"/>
            </a:avLst>
          </a:prstGeom>
          <a:solidFill>
            <a:srgbClr val="FFF6E4"/>
          </a:solidFill>
          <a:ln w="19050">
            <a:solidFill>
              <a:srgbClr val="A6C2B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471172" y="2949854"/>
            <a:ext cx="173004" cy="173004"/>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Isosceles Triangle 9"/>
          <p:cNvSpPr/>
          <p:nvPr/>
        </p:nvSpPr>
        <p:spPr>
          <a:xfrm>
            <a:off x="9329623" y="3091404"/>
            <a:ext cx="786384" cy="432511"/>
          </a:xfrm>
          <a:prstGeom prst="triangl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39735" y="3657600"/>
            <a:ext cx="3566160" cy="384048"/>
          </a:xfrm>
          <a:prstGeom prst="rect">
            <a:avLst/>
          </a:prstGeom>
          <a:noFill/>
        </p:spPr>
        <p:txBody>
          <a:bodyPr wrap="square" anchor="t" lIns="0" rIns="0" tIns="0" bIns="0">
            <a:noAutofit/>
          </a:bodyPr>
          <a:lstStyle/>
          <a:p>
            <a:pPr algn="ctr"/>
            <a:r>
              <a:rPr sz="2600" b="1" i="0" u="none">
                <a:solidFill>
                  <a:srgbClr val="327A5F"/>
                </a:solidFill>
                <a:latin typeface="Helvetica"/>
              </a:rPr>
              <a:t>AI IMAGE NEEDED</a:t>
            </a:r>
          </a:p>
        </p:txBody>
      </p:sp>
      <p:sp>
        <p:nvSpPr>
          <p:cNvPr id="12" name="TextBox 11"/>
          <p:cNvSpPr txBox="1"/>
          <p:nvPr/>
        </p:nvSpPr>
        <p:spPr>
          <a:xfrm>
            <a:off x="8031175" y="4087368"/>
            <a:ext cx="3383280" cy="1536192"/>
          </a:xfrm>
          <a:prstGeom prst="rect">
            <a:avLst/>
          </a:prstGeom>
          <a:noFill/>
        </p:spPr>
        <p:txBody>
          <a:bodyPr wrap="square" anchor="t" lIns="0" rIns="0" tIns="0" bIns="0">
            <a:noAutofit/>
          </a:bodyPr>
          <a:lstStyle/>
          <a:p>
            <a:pPr algn="ctr"/>
            <a:r>
              <a:rPr sz="2600" b="0" i="1" u="none">
                <a:solidFill>
                  <a:srgbClr val="327A5F"/>
                </a:solidFill>
                <a:latin typeface="Fraunces"/>
              </a:rPr>
              <a:t>Photo-realistic: Engineer watching spiking dashboards during a night incident</a:t>
            </a:r>
          </a:p>
        </p:txBody>
      </p:sp>
      <p:sp>
        <p:nvSpPr>
          <p:cNvPr id="13" name="TextBox 12"/>
          <p:cNvSpPr txBox="1"/>
          <p:nvPr/>
        </p:nvSpPr>
        <p:spPr>
          <a:xfrm>
            <a:off x="7802575" y="5806440"/>
            <a:ext cx="3840480" cy="548640"/>
          </a:xfrm>
          <a:prstGeom prst="rect">
            <a:avLst/>
          </a:prstGeom>
          <a:noFill/>
        </p:spPr>
        <p:txBody>
          <a:bodyPr wrap="square" anchor="t" lIns="0" rIns="0" tIns="0" bIns="0">
            <a:noAutofit/>
          </a:bodyPr>
          <a:lstStyle/>
          <a:p>
            <a:pPr algn="l"/>
            <a:r>
              <a:rPr sz="1800" b="0" i="1" u="none">
                <a:solidFill>
                  <a:srgbClr val="327A5F"/>
                </a:solidFill>
                <a:latin typeface="Fraunces"/>
                <a:hlinkClick r:id="rId3"/>
              </a:rPr>
              <a:t>Clerk engineering postmortem, September 2025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A Setting Nobody Wrote by Hand</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First, Find Out Which Layer Holds It</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That fifteen-minute rule lived inside a library, not in anyone's script. Choosing between today's two libraries starts with knowing which one holds which decisions.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An Abstraction </a:t>
            </a:r>
            <a:r>
              <a:rPr sz="3200" b="1" i="0" u="none">
                <a:solidFill>
                  <a:srgbClr val="264326"/>
                </a:solidFill>
                <a:latin typeface="Helvetica"/>
              </a:rPr>
              <a:t>Hides Work</a:t>
            </a:r>
            <a:r>
              <a:rPr sz="3200" b="1" i="0" u="none">
                <a:solidFill>
                  <a:srgbClr val="261F1D"/>
                </a:solidFill>
                <a:latin typeface="Helvetica"/>
              </a:rPr>
              <a:t> — and Hides Control</a:t>
            </a:r>
          </a:p>
        </p:txBody>
      </p:sp>
      <p:sp>
        <p:nvSpPr>
          <p:cNvPr id="4" name="TextBox 3"/>
          <p:cNvSpPr txBox="1"/>
          <p:nvPr/>
        </p:nvSpPr>
        <p:spPr>
          <a:xfrm>
            <a:off x="548640" y="1188720"/>
            <a:ext cx="6705295" cy="39319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A simpler surface over messier detail</a:t>
            </a:r>
          </a:p>
          <a:p>
            <a:pPr>
              <a:spcAft>
                <a:spcPts val="1000"/>
              </a:spcAft>
            </a:pPr>
            <a:r>
              <a:rPr sz="2600">
                <a:solidFill>
                  <a:srgbClr val="261F1D"/>
                </a:solidFill>
                <a:latin typeface="Helvetica"/>
              </a:rPr>
              <a:t>•  </a:t>
            </a:r>
            <a:r>
              <a:rPr sz="2600" b="0" i="0" u="none">
                <a:solidFill>
                  <a:srgbClr val="261F1D"/>
                </a:solidFill>
                <a:latin typeface="Helvetica"/>
              </a:rPr>
              <a:t>You write less and read less</a:t>
            </a:r>
          </a:p>
          <a:p>
            <a:pPr>
              <a:spcAft>
                <a:spcPts val="1000"/>
              </a:spcAft>
            </a:pPr>
            <a:r>
              <a:rPr sz="2600">
                <a:solidFill>
                  <a:srgbClr val="261F1D"/>
                </a:solidFill>
                <a:latin typeface="Helvetica"/>
              </a:rPr>
              <a:t>•  </a:t>
            </a:r>
            <a:r>
              <a:rPr sz="2600" b="0" i="0" u="none">
                <a:solidFill>
                  <a:srgbClr val="261F1D"/>
                </a:solidFill>
                <a:latin typeface="Helvetica"/>
              </a:rPr>
              <a:t>You also steer less</a:t>
            </a:r>
          </a:p>
          <a:p>
            <a:pPr>
              <a:spcAft>
                <a:spcPts val="1000"/>
              </a:spcAft>
            </a:pPr>
            <a:r>
              <a:rPr sz="2600">
                <a:solidFill>
                  <a:srgbClr val="261F1D"/>
                </a:solidFill>
                <a:latin typeface="Helvetica"/>
              </a:rPr>
              <a:t>•  </a:t>
            </a:r>
            <a:r>
              <a:rPr sz="2600" b="0" i="0" u="none">
                <a:solidFill>
                  <a:srgbClr val="261F1D"/>
                </a:solidFill>
                <a:latin typeface="Helvetica"/>
              </a:rPr>
              <a:t>A layer is always a trade</a:t>
            </a:r>
          </a:p>
        </p:txBody>
      </p:sp>
      <p:sp>
        <p:nvSpPr>
          <p:cNvPr id="5" name="Oval 4"/>
          <p:cNvSpPr/>
          <p:nvPr/>
        </p:nvSpPr>
        <p:spPr>
          <a:xfrm>
            <a:off x="8532266" y="1986991"/>
            <a:ext cx="2381098" cy="2381098"/>
          </a:xfrm>
          <a:prstGeom prst="ellipse">
            <a:avLst/>
          </a:prstGeom>
          <a:solidFill>
            <a:srgbClr val="FECC5B"/>
          </a:solidFill>
          <a:ln w="50800">
            <a:solidFill>
              <a:srgbClr val="83671C"/>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2582266"/>
            <a:ext cx="1190549" cy="1190549"/>
          </a:xfrm>
          <a:prstGeom prst="rect">
            <a:avLst/>
          </a:prstGeom>
        </p:spPr>
      </p:pic>
      <p:sp>
        <p:nvSpPr>
          <p:cNvPr id="7" name="Rounded Rectangle 6"/>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Auto-aim wins most fights faster, and blocks the one shot you wanted to place yourself.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SQLAlchemy Doesn't Replace </a:t>
            </a:r>
            <a:r>
              <a:rPr sz="3200" b="1" i="0" u="none">
                <a:solidFill>
                  <a:srgbClr val="261F1D"/>
                </a:solidFill>
                <a:latin typeface="Roboto Mono"/>
              </a:rPr>
              <a:t>psycopg2</a:t>
            </a:r>
            <a:r>
              <a:rPr sz="3200" b="1" i="0" u="none">
                <a:solidFill>
                  <a:srgbClr val="261F1D"/>
                </a:solidFill>
                <a:latin typeface="Helvetica"/>
              </a:rPr>
              <a:t> — It </a:t>
            </a:r>
            <a:r>
              <a:rPr sz="3200" b="1" i="0" u="none">
                <a:solidFill>
                  <a:srgbClr val="264326"/>
                </a:solidFill>
                <a:latin typeface="Helvetica"/>
              </a:rPr>
              <a:t>Sits On It</a:t>
            </a:r>
          </a:p>
        </p:txBody>
      </p:sp>
      <p:sp>
        <p:nvSpPr>
          <p:cNvPr id="4" name="Oval 3"/>
          <p:cNvSpPr/>
          <p:nvPr/>
        </p:nvSpPr>
        <p:spPr>
          <a:xfrm>
            <a:off x="822960"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1049274" y="2603754"/>
            <a:ext cx="553212" cy="553212"/>
          </a:xfrm>
          <a:prstGeom prst="rect">
            <a:avLst/>
          </a:prstGeom>
        </p:spPr>
      </p:pic>
      <p:cxnSp>
        <p:nvCxnSpPr>
          <p:cNvPr id="6" name="Connector 5"/>
          <p:cNvCxnSpPr/>
          <p:nvPr/>
        </p:nvCxnSpPr>
        <p:spPr>
          <a:xfrm>
            <a:off x="1828800" y="288036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822960"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Your Code</a:t>
            </a:r>
          </a:p>
        </p:txBody>
      </p:sp>
      <p:sp>
        <p:nvSpPr>
          <p:cNvPr id="8" name="TextBox 7"/>
          <p:cNvSpPr txBox="1"/>
          <p:nvPr/>
        </p:nvSpPr>
        <p:spPr>
          <a:xfrm>
            <a:off x="822960"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The </a:t>
            </a:r>
            <a:r>
              <a:rPr sz="2600" b="0" i="0" u="none">
                <a:solidFill>
                  <a:srgbClr val="261F1D"/>
                </a:solidFill>
                <a:latin typeface="Roboto Mono"/>
              </a:rPr>
              <a:t>sql</a:t>
            </a:r>
            <a:r>
              <a:rPr sz="2600" b="0" i="0" u="none">
                <a:solidFill>
                  <a:srgbClr val="261F1D"/>
                </a:solidFill>
                <a:latin typeface="Helvetica"/>
              </a:rPr>
              <a:t> String</a:t>
            </a:r>
          </a:p>
        </p:txBody>
      </p:sp>
      <p:sp>
        <p:nvSpPr>
          <p:cNvPr id="9" name="Oval 8"/>
          <p:cNvSpPr/>
          <p:nvPr/>
        </p:nvSpPr>
        <p:spPr>
          <a:xfrm>
            <a:off x="4002938"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
          <p:cNvPicPr>
            <a:picLocks noChangeAspect="1"/>
          </p:cNvPicPr>
          <p:nvPr/>
        </p:nvPicPr>
        <p:blipFill>
          <a:blip r:embed="rId4"/>
          <a:stretch>
            <a:fillRect/>
          </a:stretch>
        </p:blipFill>
        <p:spPr>
          <a:xfrm>
            <a:off x="4229252" y="2603754"/>
            <a:ext cx="553212" cy="553212"/>
          </a:xfrm>
          <a:prstGeom prst="rect">
            <a:avLst/>
          </a:prstGeom>
        </p:spPr>
      </p:pic>
      <p:cxnSp>
        <p:nvCxnSpPr>
          <p:cNvPr id="11" name="Connector 10"/>
          <p:cNvCxnSpPr/>
          <p:nvPr/>
        </p:nvCxnSpPr>
        <p:spPr>
          <a:xfrm>
            <a:off x="5008778" y="2880360"/>
            <a:ext cx="2174139"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301936"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SQLAlchemy</a:t>
            </a:r>
          </a:p>
        </p:txBody>
      </p:sp>
      <p:sp>
        <p:nvSpPr>
          <p:cNvPr id="13" name="TextBox 12"/>
          <p:cNvSpPr txBox="1"/>
          <p:nvPr/>
        </p:nvSpPr>
        <p:spPr>
          <a:xfrm>
            <a:off x="3301936"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Engine and Pool</a:t>
            </a:r>
          </a:p>
        </p:txBody>
      </p:sp>
      <p:sp>
        <p:nvSpPr>
          <p:cNvPr id="14" name="Oval 13"/>
          <p:cNvSpPr/>
          <p:nvPr/>
        </p:nvSpPr>
        <p:spPr>
          <a:xfrm>
            <a:off x="7182917"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
          <p:cNvPicPr>
            <a:picLocks noChangeAspect="1"/>
          </p:cNvPicPr>
          <p:nvPr/>
        </p:nvPicPr>
        <p:blipFill>
          <a:blip r:embed="rId5"/>
          <a:stretch>
            <a:fillRect/>
          </a:stretch>
        </p:blipFill>
        <p:spPr>
          <a:xfrm>
            <a:off x="7409231" y="2603754"/>
            <a:ext cx="553212" cy="553212"/>
          </a:xfrm>
          <a:prstGeom prst="rect">
            <a:avLst/>
          </a:prstGeom>
        </p:spPr>
      </p:pic>
      <p:cxnSp>
        <p:nvCxnSpPr>
          <p:cNvPr id="16" name="Connector 15"/>
          <p:cNvCxnSpPr/>
          <p:nvPr/>
        </p:nvCxnSpPr>
        <p:spPr>
          <a:xfrm>
            <a:off x="8188757" y="2880360"/>
            <a:ext cx="2174138" cy="0"/>
          </a:xfrm>
          <a:prstGeom prst="line">
            <a:avLst/>
          </a:prstGeom>
          <a:ln w="31750">
            <a:solidFill>
              <a:srgbClr val="26432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481915"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psycopg2</a:t>
            </a:r>
          </a:p>
        </p:txBody>
      </p:sp>
      <p:sp>
        <p:nvSpPr>
          <p:cNvPr id="18" name="TextBox 17"/>
          <p:cNvSpPr txBox="1"/>
          <p:nvPr/>
        </p:nvSpPr>
        <p:spPr>
          <a:xfrm>
            <a:off x="6481915"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Speaks Postgres</a:t>
            </a:r>
          </a:p>
        </p:txBody>
      </p:sp>
      <p:sp>
        <p:nvSpPr>
          <p:cNvPr id="19" name="Oval 18"/>
          <p:cNvSpPr/>
          <p:nvPr/>
        </p:nvSpPr>
        <p:spPr>
          <a:xfrm>
            <a:off x="10362895" y="2377440"/>
            <a:ext cx="1005840" cy="1005840"/>
          </a:xfrm>
          <a:prstGeom prst="ellipse">
            <a:avLst/>
          </a:prstGeom>
          <a:solidFill>
            <a:srgbClr val="2643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0" name="Picture 19" descr=""/>
          <p:cNvPicPr>
            <a:picLocks noChangeAspect="1"/>
          </p:cNvPicPr>
          <p:nvPr/>
        </p:nvPicPr>
        <p:blipFill>
          <a:blip r:embed="rId6"/>
          <a:stretch>
            <a:fillRect/>
          </a:stretch>
        </p:blipFill>
        <p:spPr>
          <a:xfrm>
            <a:off x="10589209" y="2603754"/>
            <a:ext cx="553212" cy="553212"/>
          </a:xfrm>
          <a:prstGeom prst="rect">
            <a:avLst/>
          </a:prstGeom>
        </p:spPr>
      </p:pic>
      <p:sp>
        <p:nvSpPr>
          <p:cNvPr id="21" name="TextBox 20"/>
          <p:cNvSpPr txBox="1"/>
          <p:nvPr/>
        </p:nvSpPr>
        <p:spPr>
          <a:xfrm>
            <a:off x="8960891" y="3520440"/>
            <a:ext cx="2407844" cy="914400"/>
          </a:xfrm>
          <a:prstGeom prst="rect">
            <a:avLst/>
          </a:prstGeom>
          <a:noFill/>
        </p:spPr>
        <p:txBody>
          <a:bodyPr wrap="square" anchor="t" lIns="0" rIns="0" tIns="0" bIns="0">
            <a:noAutofit/>
          </a:bodyPr>
          <a:lstStyle/>
          <a:p>
            <a:pPr algn="ctr"/>
            <a:r>
              <a:rPr sz="3000" b="1" i="0" u="none">
                <a:solidFill>
                  <a:srgbClr val="261F1D"/>
                </a:solidFill>
                <a:latin typeface="Helvetica"/>
              </a:rPr>
              <a:t>Postgres</a:t>
            </a:r>
          </a:p>
        </p:txBody>
      </p:sp>
      <p:sp>
        <p:nvSpPr>
          <p:cNvPr id="22" name="TextBox 21"/>
          <p:cNvSpPr txBox="1"/>
          <p:nvPr/>
        </p:nvSpPr>
        <p:spPr>
          <a:xfrm>
            <a:off x="8960891" y="4480560"/>
            <a:ext cx="2407844" cy="1005840"/>
          </a:xfrm>
          <a:prstGeom prst="rect">
            <a:avLst/>
          </a:prstGeom>
          <a:noFill/>
        </p:spPr>
        <p:txBody>
          <a:bodyPr wrap="square" anchor="t" lIns="0" rIns="0" tIns="0" bIns="0">
            <a:noAutofit/>
          </a:bodyPr>
          <a:lstStyle/>
          <a:p>
            <a:pPr algn="ctr"/>
            <a:r>
              <a:rPr sz="2600" b="0" i="0" u="none">
                <a:solidFill>
                  <a:srgbClr val="261F1D"/>
                </a:solidFill>
                <a:latin typeface="Helvetica"/>
              </a:rPr>
              <a:t>Runs the Query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CHECK FOR UNDERSTANDING</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raw </a:t>
            </a:r>
            <a:r>
              <a:rPr sz="3200" b="1" i="0" u="none">
                <a:solidFill>
                  <a:srgbClr val="261F1D"/>
                </a:solidFill>
                <a:latin typeface="Roboto Mono"/>
              </a:rPr>
              <a:t>psycopg2</a:t>
            </a:r>
            <a:r>
              <a:rPr sz="3200" b="1" i="0" u="none">
                <a:solidFill>
                  <a:srgbClr val="261F1D"/>
                </a:solidFill>
                <a:latin typeface="Helvetica"/>
              </a:rPr>
              <a:t> script skips the SQLAlchemy layer completely. So what does it skip along with it?</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Everything that layer adds, like the one-call </a:t>
            </a:r>
            <a:r>
              <a:rPr sz="2600" b="0" i="0" u="none">
                <a:solidFill>
                  <a:srgbClr val="261F1D"/>
                </a:solidFill>
                <a:latin typeface="Roboto Mono"/>
              </a:rPr>
              <a:t>pd.read_sql</a:t>
            </a:r>
          </a:p>
          <a:p>
            <a:pPr>
              <a:spcAft>
                <a:spcPts val="1000"/>
              </a:spcAft>
            </a:pPr>
            <a:r>
              <a:rPr sz="2600" b="0" i="0" u="none">
                <a:solidFill>
                  <a:srgbClr val="261F1D"/>
                </a:solidFill>
                <a:latin typeface="Helvetica"/>
              </a:rPr>
              <a:t>B.  The </a:t>
            </a:r>
            <a:r>
              <a:rPr sz="2600" b="0" i="0" u="none">
                <a:solidFill>
                  <a:srgbClr val="261F1D"/>
                </a:solidFill>
                <a:latin typeface="Roboto Mono"/>
              </a:rPr>
              <a:t>psycopg2</a:t>
            </a:r>
            <a:r>
              <a:rPr sz="2600" b="0" i="0" u="none">
                <a:solidFill>
                  <a:srgbClr val="261F1D"/>
                </a:solidFill>
                <a:latin typeface="Helvetica"/>
              </a:rPr>
              <a:t> driver itself</a:t>
            </a:r>
          </a:p>
          <a:p>
            <a:pPr>
              <a:spcAft>
                <a:spcPts val="1000"/>
              </a:spcAft>
            </a:pPr>
            <a:r>
              <a:rPr sz="2600" b="0" i="0" u="none">
                <a:solidFill>
                  <a:srgbClr val="261F1D"/>
                </a:solidFill>
                <a:latin typeface="Helvetica"/>
              </a:rPr>
              <a:t>C.  Nothing, because SQLAlchemy only renames the same functions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What Skipping a Layer Costs</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Everything that layer adds, like the one-call </a:t>
            </a:r>
            <a:r>
              <a:rPr sz="3200" b="1" i="0" u="none">
                <a:solidFill>
                  <a:srgbClr val="261F1D"/>
                </a:solidFill>
                <a:latin typeface="Roboto Mono"/>
              </a:rPr>
              <a:t>pd.read_sql</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The layer is where the extras live, so skipping it means writing those extras yourself, including the cursor, the column names, and the connection handling this lesson is about to measure. It does not skip the driver, because </a:t>
            </a:r>
            <a:r>
              <a:rPr sz="2600" b="0" i="0" u="none">
                <a:solidFill>
                  <a:srgbClr val="261F1D"/>
                </a:solidFill>
                <a:latin typeface="Roboto Mono"/>
              </a:rPr>
              <a:t>psycopg2</a:t>
            </a:r>
            <a:r>
              <a:rPr sz="2600" b="0" i="0" u="none">
                <a:solidFill>
                  <a:srgbClr val="261F1D"/>
                </a:solidFill>
                <a:latin typeface="Helvetica"/>
              </a:rPr>
              <a:t> is the floor below SQLAlchemy, not the same floor. And it is not a rename, because the layer adds real machinery rather than new spellings for old calls.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Can Draw the Stack</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Price It: What the Layer Actually Costs</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 layer you cannot see still has a bill. The next twenty minutes measure that bill with real output instead of arguing about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A Pool </a:t>
            </a:r>
            <a:r>
              <a:rPr sz="3200" b="1" i="0" u="none">
                <a:solidFill>
                  <a:srgbClr val="264326"/>
                </a:solidFill>
                <a:latin typeface="Helvetica"/>
              </a:rPr>
              <a:t>Lends</a:t>
            </a:r>
            <a:r>
              <a:rPr sz="3200" b="1" i="0" u="none">
                <a:solidFill>
                  <a:srgbClr val="261F1D"/>
                </a:solidFill>
                <a:latin typeface="Helvetica"/>
              </a:rPr>
              <a:t> Connections Instead of Making New Ones</a:t>
            </a:r>
          </a:p>
        </p:txBody>
      </p:sp>
      <p:sp>
        <p:nvSpPr>
          <p:cNvPr id="4" name="TextBox 3"/>
          <p:cNvSpPr txBox="1"/>
          <p:nvPr/>
        </p:nvSpPr>
        <p:spPr>
          <a:xfrm>
            <a:off x="548640" y="1188720"/>
            <a:ext cx="6705295" cy="39319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The server pays real cost per connection</a:t>
            </a:r>
          </a:p>
          <a:p>
            <a:pPr>
              <a:spcAft>
                <a:spcPts val="1000"/>
              </a:spcAft>
            </a:pPr>
            <a:r>
              <a:rPr sz="2600">
                <a:solidFill>
                  <a:srgbClr val="261F1D"/>
                </a:solidFill>
                <a:latin typeface="Helvetica"/>
              </a:rPr>
              <a:t>•  </a:t>
            </a:r>
            <a:r>
              <a:rPr sz="2600" b="0" i="0" u="none">
                <a:solidFill>
                  <a:srgbClr val="261F1D"/>
                </a:solidFill>
                <a:latin typeface="Helvetica"/>
              </a:rPr>
              <a:t>A pool keeps a few open</a:t>
            </a:r>
          </a:p>
          <a:p>
            <a:pPr>
              <a:spcAft>
                <a:spcPts val="1000"/>
              </a:spcAft>
            </a:pPr>
            <a:r>
              <a:rPr sz="2600">
                <a:solidFill>
                  <a:srgbClr val="261F1D"/>
                </a:solidFill>
                <a:latin typeface="Helvetica"/>
              </a:rPr>
              <a:t>•  </a:t>
            </a:r>
            <a:r>
              <a:rPr sz="2600" b="0" i="0" u="none">
                <a:solidFill>
                  <a:srgbClr val="261F1D"/>
                </a:solidFill>
                <a:latin typeface="Helvetica"/>
              </a:rPr>
              <a:t>Your code borrows one, then returns it</a:t>
            </a:r>
          </a:p>
          <a:p>
            <a:pPr>
              <a:spcAft>
                <a:spcPts val="1000"/>
              </a:spcAft>
            </a:pPr>
            <a:r>
              <a:rPr sz="2600">
                <a:solidFill>
                  <a:srgbClr val="261F1D"/>
                </a:solidFill>
                <a:latin typeface="Helvetica"/>
              </a:rPr>
              <a:t>•  </a:t>
            </a:r>
            <a:r>
              <a:rPr sz="2600" b="0" i="0" u="none">
                <a:solidFill>
                  <a:srgbClr val="261F1D"/>
                </a:solidFill>
                <a:latin typeface="Helvetica"/>
              </a:rPr>
              <a:t>Same connection, many queries</a:t>
            </a:r>
          </a:p>
        </p:txBody>
      </p:sp>
      <p:sp>
        <p:nvSpPr>
          <p:cNvPr id="5" name="Oval 4"/>
          <p:cNvSpPr/>
          <p:nvPr/>
        </p:nvSpPr>
        <p:spPr>
          <a:xfrm>
            <a:off x="8532266" y="1986991"/>
            <a:ext cx="2381098" cy="2381098"/>
          </a:xfrm>
          <a:prstGeom prst="ellipse">
            <a:avLst/>
          </a:prstGeom>
          <a:solidFill>
            <a:srgbClr val="A6C2B4"/>
          </a:solidFill>
          <a:ln w="50800">
            <a:solidFill>
              <a:srgbClr val="264326"/>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
          <p:cNvPicPr>
            <a:picLocks noChangeAspect="1"/>
          </p:cNvPicPr>
          <p:nvPr/>
        </p:nvPicPr>
        <p:blipFill>
          <a:blip r:embed="rId3"/>
          <a:stretch>
            <a:fillRect/>
          </a:stretch>
        </p:blipFill>
        <p:spPr>
          <a:xfrm>
            <a:off x="9127541" y="2582266"/>
            <a:ext cx="1190549" cy="1190549"/>
          </a:xfrm>
          <a:prstGeom prst="rect">
            <a:avLst/>
          </a:prstGeom>
        </p:spPr>
      </p:pic>
      <p:sp>
        <p:nvSpPr>
          <p:cNvPr id="7" name="Rounded Rectangle 6"/>
          <p:cNvSpPr/>
          <p:nvPr/>
        </p:nvSpPr>
        <p:spPr>
          <a:xfrm>
            <a:off x="548640" y="5303520"/>
            <a:ext cx="11094415" cy="1051560"/>
          </a:xfrm>
          <a:prstGeom prst="roundRect">
            <a:avLst>
              <a:gd name="adj" fmla="val 10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5303520"/>
            <a:ext cx="10637215" cy="1051560"/>
          </a:xfrm>
          <a:prstGeom prst="rect">
            <a:avLst/>
          </a:prstGeom>
          <a:noFill/>
        </p:spPr>
        <p:txBody>
          <a:bodyPr wrap="square" anchor="ctr" lIns="0" rIns="0" tIns="0" bIns="0">
            <a:noAutofit/>
          </a:bodyPr>
          <a:lstStyle/>
          <a:p>
            <a:pPr algn="l"/>
            <a:r>
              <a:rPr sz="2600" b="1" i="0" u="none">
                <a:solidFill>
                  <a:srgbClr val="264326"/>
                </a:solidFill>
                <a:latin typeface="Helvetica"/>
              </a:rPr>
              <a:t>Analogy:</a:t>
            </a:r>
            <a:r>
              <a:rPr sz="2600" b="0" i="0" u="none">
                <a:solidFill>
                  <a:srgbClr val="261F1D"/>
                </a:solidFill>
                <a:latin typeface="Helvetica"/>
              </a:rPr>
              <a:t> A gym's loaner rackets. Grab one, play, rack it back. The club buys them once.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Know What a Pool Is</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Make the Difference Print Itself</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Two cells, one number each. Postgres will tell you directly how many separate connections you actually opened.</a:t>
            </a:r>
          </a:p>
        </p:txBody>
      </p:sp>
      <p:pic>
        <p:nvPicPr>
          <p:cNvPr id="6" name="Picture 5" descr=""/>
          <p:cNvPicPr>
            <a:picLocks noChangeAspect="1"/>
          </p:cNvPicPr>
          <p:nvPr/>
        </p:nvPicPr>
        <p:blipFill>
          <a:blip r:embed="rId3"/>
          <a:stretch>
            <a:fillRect/>
          </a:stretch>
        </p:blipFill>
        <p:spPr>
          <a:xfrm>
            <a:off x="3093644" y="4937760"/>
            <a:ext cx="457200" cy="457200"/>
          </a:xfrm>
          <a:prstGeom prst="rect">
            <a:avLst/>
          </a:prstGeom>
        </p:spPr>
      </p:pic>
      <p:sp>
        <p:nvSpPr>
          <p:cNvPr id="7" name="TextBox 6"/>
          <p:cNvSpPr txBox="1"/>
          <p:nvPr/>
        </p:nvSpPr>
        <p:spPr>
          <a:xfrm>
            <a:off x="685800"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Three fresh connections</a:t>
            </a:r>
          </a:p>
        </p:txBody>
      </p:sp>
      <p:pic>
        <p:nvPicPr>
          <p:cNvPr id="8" name="Picture 7" descr=""/>
          <p:cNvPicPr>
            <a:picLocks noChangeAspect="1"/>
          </p:cNvPicPr>
          <p:nvPr/>
        </p:nvPicPr>
        <p:blipFill>
          <a:blip r:embed="rId4"/>
          <a:stretch>
            <a:fillRect/>
          </a:stretch>
        </p:blipFill>
        <p:spPr>
          <a:xfrm>
            <a:off x="8640851" y="4937760"/>
            <a:ext cx="457200" cy="457200"/>
          </a:xfrm>
          <a:prstGeom prst="rect">
            <a:avLst/>
          </a:prstGeom>
        </p:spPr>
      </p:pic>
      <p:sp>
        <p:nvSpPr>
          <p:cNvPr id="9" name="TextBox 8"/>
          <p:cNvSpPr txBox="1"/>
          <p:nvPr/>
        </p:nvSpPr>
        <p:spPr>
          <a:xfrm>
            <a:off x="6233008" y="5532120"/>
            <a:ext cx="5272888" cy="594360"/>
          </a:xfrm>
          <a:prstGeom prst="rect">
            <a:avLst/>
          </a:prstGeom>
          <a:noFill/>
        </p:spPr>
        <p:txBody>
          <a:bodyPr wrap="square" anchor="t" lIns="0" rIns="0" tIns="0" bIns="0">
            <a:noAutofit/>
          </a:bodyPr>
          <a:lstStyle/>
          <a:p>
            <a:pPr algn="ctr"/>
            <a:r>
              <a:rPr sz="2600" b="1" i="0" u="none">
                <a:solidFill>
                  <a:srgbClr val="FFFCF7"/>
                </a:solidFill>
                <a:latin typeface="Helvetica"/>
              </a:rPr>
              <a:t>One reused connection</a:t>
            </a:r>
          </a:p>
        </p:txBody>
      </p:sp>
      <p:cxnSp>
        <p:nvCxnSpPr>
          <p:cNvPr id="10" name="Connector 9"/>
          <p:cNvCxnSpPr/>
          <p:nvPr/>
        </p:nvCxnSpPr>
        <p:spPr>
          <a:xfrm>
            <a:off x="6095848" y="4937760"/>
            <a:ext cx="0" cy="1188720"/>
          </a:xfrm>
          <a:prstGeom prst="line">
            <a:avLst/>
          </a:prstGeom>
          <a:ln w="19050">
            <a:solidFill>
              <a:srgbClr val="B3BBB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Every Trip Through the Loop Opens a </a:t>
            </a:r>
            <a:r>
              <a:rPr sz="3200" b="1" i="0" u="none">
                <a:solidFill>
                  <a:srgbClr val="264326"/>
                </a:solidFill>
                <a:latin typeface="Helvetica"/>
              </a:rPr>
              <a:t>New Connection</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tradeoffs</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os</a:t>
            </a:r>
          </a:p>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psycopg2</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url</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os</a:t>
            </a:r>
            <a:r>
              <a:rPr sz="2600" i="0">
                <a:solidFill>
                  <a:srgbClr val="FFFCF7"/>
                </a:solidFill>
                <a:latin typeface="Roboto Mono"/>
              </a:rPr>
              <a:t>.</a:t>
            </a:r>
            <a:r>
              <a:rPr sz="2600" i="0">
                <a:solidFill>
                  <a:srgbClr val="FFFCF7"/>
                </a:solidFill>
                <a:latin typeface="Roboto Mono"/>
              </a:rPr>
              <a:t>environ</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DATABASE_URL</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EEBC32"/>
                </a:solidFill>
                <a:latin typeface="Roboto Mono"/>
              </a:rPr>
              <a:t>for</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FFFCF7"/>
                </a:solidFill>
                <a:latin typeface="Roboto Mono"/>
              </a:rPr>
              <a:t>in</a:t>
            </a:r>
            <a:r>
              <a:rPr sz="2600" i="0">
                <a:solidFill>
                  <a:srgbClr val="FFFCF7"/>
                </a:solidFill>
                <a:latin typeface="Roboto Mono"/>
              </a:rPr>
              <a:t> </a:t>
            </a:r>
            <a:r>
              <a:rPr sz="2600" i="0">
                <a:solidFill>
                  <a:srgbClr val="5996C7"/>
                </a:solidFill>
                <a:latin typeface="Roboto Mono"/>
              </a:rPr>
              <a:t>range</a:t>
            </a:r>
            <a:r>
              <a:rPr sz="2600" i="0">
                <a:solidFill>
                  <a:srgbClr val="FFFCF7"/>
                </a:solidFill>
                <a:latin typeface="Roboto Mono"/>
              </a:rPr>
              <a:t>(</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psycopg2</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url</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cursor</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execute</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SELECT pg_backend_pid()</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server process: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fetchone</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r>
              <a:rPr sz="2600" i="0">
                <a:solidFill>
                  <a:srgbClr val="659B87"/>
                </a:solidFill>
                <a:latin typeface="Roboto Mono"/>
              </a:rPr>
              <a:t>0</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cur</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close</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One </a:t>
            </a:r>
            <a:r>
              <a:rPr sz="3200" b="1" i="0" u="none">
                <a:solidFill>
                  <a:srgbClr val="261F1D"/>
                </a:solidFill>
                <a:latin typeface="Roboto Mono"/>
              </a:rPr>
              <a:t>engine</a:t>
            </a:r>
            <a:r>
              <a:rPr sz="3200" b="1" i="0" u="none">
                <a:solidFill>
                  <a:srgbClr val="261F1D"/>
                </a:solidFill>
                <a:latin typeface="Helvetica"/>
              </a:rPr>
              <a:t>, and the </a:t>
            </a:r>
            <a:r>
              <a:rPr sz="3200" b="1" i="0" u="none">
                <a:solidFill>
                  <a:srgbClr val="264326"/>
                </a:solidFill>
                <a:latin typeface="Helvetica"/>
              </a:rPr>
              <a:t>Same Connection</a:t>
            </a:r>
            <a:r>
              <a:rPr sz="3200" b="1" i="0" u="none">
                <a:solidFill>
                  <a:srgbClr val="261F1D"/>
                </a:solidFill>
                <a:latin typeface="Helvetica"/>
              </a:rPr>
              <a:t> Comes Back</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tradeoffs</a:t>
            </a:r>
          </a:p>
        </p:txBody>
      </p:sp>
      <p:sp>
        <p:nvSpPr>
          <p:cNvPr id="9" name="TextBox 8"/>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from</a:t>
            </a:r>
            <a:r>
              <a:rPr sz="2600" i="0">
                <a:solidFill>
                  <a:srgbClr val="FFFCF7"/>
                </a:solidFill>
                <a:latin typeface="Roboto Mono"/>
              </a:rPr>
              <a:t> </a:t>
            </a:r>
            <a:r>
              <a:rPr sz="2600" i="0">
                <a:solidFill>
                  <a:srgbClr val="FFFCF7"/>
                </a:solidFill>
                <a:latin typeface="Roboto Mono"/>
              </a:rPr>
              <a:t>sqlalchemy</a:t>
            </a:r>
            <a:r>
              <a:rPr sz="2600" i="0">
                <a:solidFill>
                  <a:srgbClr val="FFFCF7"/>
                </a:solidFill>
                <a:latin typeface="Roboto Mono"/>
              </a:rPr>
              <a:t> </a:t>
            </a: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create_engine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text</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engine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create_engine</a:t>
            </a:r>
            <a:r>
              <a:rPr sz="2600" i="0">
                <a:solidFill>
                  <a:srgbClr val="FFFCF7"/>
                </a:solidFill>
                <a:latin typeface="Roboto Mono"/>
              </a:rPr>
              <a:t>(</a:t>
            </a:r>
            <a:r>
              <a:rPr sz="2600" i="0">
                <a:solidFill>
                  <a:srgbClr val="FFFCF7"/>
                </a:solidFill>
                <a:latin typeface="Roboto Mono"/>
              </a:rPr>
              <a:t>url</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q</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text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SELECT pg_backend_pid()</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EEBC32"/>
                </a:solidFill>
                <a:latin typeface="Roboto Mono"/>
              </a:rPr>
              <a:t>for</a:t>
            </a:r>
            <a:r>
              <a:rPr sz="2600" i="0">
                <a:solidFill>
                  <a:srgbClr val="FFFCF7"/>
                </a:solidFill>
                <a:latin typeface="Roboto Mono"/>
              </a:rPr>
              <a:t> </a:t>
            </a:r>
            <a:r>
              <a:rPr sz="2600" i="0">
                <a:solidFill>
                  <a:srgbClr val="FFFCF7"/>
                </a:solidFill>
                <a:latin typeface="Roboto Mono"/>
              </a:rPr>
              <a:t>i</a:t>
            </a:r>
            <a:r>
              <a:rPr sz="2600" i="0">
                <a:solidFill>
                  <a:srgbClr val="FFFCF7"/>
                </a:solidFill>
                <a:latin typeface="Roboto Mono"/>
              </a:rPr>
              <a:t> </a:t>
            </a:r>
            <a:r>
              <a:rPr sz="2600" i="0">
                <a:solidFill>
                  <a:srgbClr val="FFFCF7"/>
                </a:solidFill>
                <a:latin typeface="Roboto Mono"/>
              </a:rPr>
              <a:t>in</a:t>
            </a:r>
            <a:r>
              <a:rPr sz="2600" i="0">
                <a:solidFill>
                  <a:srgbClr val="FFFCF7"/>
                </a:solidFill>
                <a:latin typeface="Roboto Mono"/>
              </a:rPr>
              <a:t> </a:t>
            </a:r>
            <a:r>
              <a:rPr sz="2600" i="0">
                <a:solidFill>
                  <a:srgbClr val="5996C7"/>
                </a:solidFill>
                <a:latin typeface="Roboto Mono"/>
              </a:rPr>
              <a:t>range</a:t>
            </a:r>
            <a:r>
              <a:rPr sz="2600" i="0">
                <a:solidFill>
                  <a:srgbClr val="FFFCF7"/>
                </a:solidFill>
                <a:latin typeface="Roboto Mono"/>
              </a:rPr>
              <a:t>(</a:t>
            </a:r>
            <a:r>
              <a:rPr sz="2600" i="0">
                <a:solidFill>
                  <a:srgbClr val="659B87"/>
                </a:solidFill>
                <a:latin typeface="Roboto Mono"/>
              </a:rPr>
              <a:t>3</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engine</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5996C7"/>
                </a:solidFill>
                <a:latin typeface="Roboto Mono"/>
              </a:rPr>
              <a:t>print</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server process: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r>
              <a:rPr sz="2600" i="0">
                <a:solidFill>
                  <a:srgbClr val="FFFCF7"/>
                </a:solidFill>
                <a:latin typeface="Roboto Mono"/>
              </a:rPr>
              <a:t>scalar</a:t>
            </a:r>
            <a:r>
              <a:rPr sz="2600" i="0">
                <a:solidFill>
                  <a:srgbClr val="FFFCF7"/>
                </a:solidFill>
                <a:latin typeface="Roboto Mono"/>
              </a:rPr>
              <a:t>(</a:t>
            </a:r>
            <a:r>
              <a:rPr sz="2600" i="0">
                <a:solidFill>
                  <a:srgbClr val="FFFCF7"/>
                </a:solidFill>
                <a:latin typeface="Roboto Mono"/>
              </a:rPr>
              <a:t>q</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engine</a:t>
            </a:r>
            <a:r>
              <a:rPr sz="2600" i="0">
                <a:solidFill>
                  <a:srgbClr val="FFFCF7"/>
                </a:solidFill>
                <a:latin typeface="Roboto Mono"/>
              </a:rPr>
              <a:t>.</a:t>
            </a:r>
            <a:r>
              <a:rPr sz="2600" i="0">
                <a:solidFill>
                  <a:srgbClr val="FFFCF7"/>
                </a:solidFill>
                <a:latin typeface="Roboto Mono"/>
              </a:rPr>
              <a:t>pool</a:t>
            </a:r>
            <a:r>
              <a:rPr sz="2600" i="0">
                <a:solidFill>
                  <a:srgbClr val="FFFCF7"/>
                </a:solidFill>
                <a:latin typeface="Roboto Mono"/>
              </a:rPr>
              <a:t>.</a:t>
            </a:r>
            <a:r>
              <a:rPr sz="2600" i="0">
                <a:solidFill>
                  <a:srgbClr val="FFFCF7"/>
                </a:solidFill>
                <a:latin typeface="Roboto Mono"/>
              </a:rPr>
              <a:t>status</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WOULD YOU RATHER?</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Would you rather open a fresh connection for each query, or hold one pooled connection open all 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Oval 2"/>
          <p:cNvSpPr/>
          <p:nvPr/>
        </p:nvSpPr>
        <p:spPr>
          <a:xfrm>
            <a:off x="5784037" y="556870"/>
            <a:ext cx="623621" cy="623621"/>
          </a:xfrm>
          <a:prstGeom prst="ellipse">
            <a:avLst/>
          </a:prstGeom>
          <a:solidFill>
            <a:srgbClr val="DEEAF4"/>
          </a:solidFill>
          <a:ln w="50800">
            <a:solidFill>
              <a:srgbClr val="2274B5"/>
            </a:solidFill>
          </a:ln>
          <a:effectLst>
            <a:outerShdw blurRad="152400" dist="50800" dir="2700000" rotWithShape="0">
              <a:srgbClr val="1A1A1A">
                <a:alpha val="2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5939942" y="712775"/>
            <a:ext cx="311810" cy="311810"/>
          </a:xfrm>
          <a:prstGeom prst="rect">
            <a:avLst/>
          </a:prstGeom>
        </p:spPr>
      </p:pic>
      <p:sp>
        <p:nvSpPr>
          <p:cNvPr id="5" name="TextBox 4"/>
          <p:cNvSpPr txBox="1"/>
          <p:nvPr/>
        </p:nvSpPr>
        <p:spPr>
          <a:xfrm>
            <a:off x="548640" y="150876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Pooling Is Priced</a:t>
            </a:r>
          </a:p>
        </p:txBody>
      </p:sp>
      <p:sp>
        <p:nvSpPr>
          <p:cNvPr id="6" name="TextBox 5"/>
          <p:cNvSpPr txBox="1"/>
          <p:nvPr/>
        </p:nvSpPr>
        <p:spPr>
          <a:xfrm>
            <a:off x="548640" y="260604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Code Along: Point the Same Code at Another Database</a:t>
            </a:r>
          </a:p>
        </p:txBody>
      </p:sp>
      <p:sp>
        <p:nvSpPr>
          <p:cNvPr id="7" name="TextBox 6"/>
          <p:cNvSpPr txBox="1"/>
          <p:nvPr/>
        </p:nvSpPr>
        <p:spPr>
          <a:xfrm>
            <a:off x="548640" y="416052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The second thing a layer buys is a translator. One line changes, and the code above it never finds out which database answered.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45720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457200"/>
          </a:xfrm>
          <a:prstGeom prst="rect">
            <a:avLst/>
          </a:prstGeom>
          <a:noFill/>
        </p:spPr>
        <p:txBody>
          <a:bodyPr wrap="square" anchor="ctr" lIns="0" rIns="0" tIns="0" bIns="0">
            <a:noAutofit/>
          </a:bodyPr>
          <a:lstStyle/>
          <a:p>
            <a:pPr algn="l"/>
            <a:r>
              <a:rPr sz="2600" b="1" i="0" u="none">
                <a:solidFill>
                  <a:srgbClr val="261F1D"/>
                </a:solidFill>
                <a:latin typeface="Helvetica"/>
              </a:rPr>
              <a:t>FILL IN THE BLANK</a:t>
            </a:r>
          </a:p>
        </p:txBody>
      </p:sp>
      <p:sp>
        <p:nvSpPr>
          <p:cNvPr id="5" name="TextBox 4"/>
          <p:cNvSpPr txBox="1"/>
          <p:nvPr/>
        </p:nvSpPr>
        <p:spPr>
          <a:xfrm>
            <a:off x="548640" y="1051560"/>
            <a:ext cx="11094415" cy="640080"/>
          </a:xfrm>
          <a:prstGeom prst="rect">
            <a:avLst/>
          </a:prstGeom>
          <a:noFill/>
        </p:spPr>
        <p:txBody>
          <a:bodyPr wrap="square" anchor="t" lIns="0" rIns="0" tIns="0" bIns="0">
            <a:noAutofit/>
          </a:bodyPr>
          <a:lstStyle/>
          <a:p>
            <a:pPr algn="l"/>
            <a:r>
              <a:rPr sz="3200" b="1" i="0" u="none">
                <a:solidFill>
                  <a:srgbClr val="261F1D"/>
                </a:solidFill>
                <a:latin typeface="Helvetica"/>
              </a:rPr>
              <a:t>The Same Query, a </a:t>
            </a:r>
            <a:r>
              <a:rPr sz="3200" b="1" i="0" u="none">
                <a:solidFill>
                  <a:srgbClr val="264326"/>
                </a:solidFill>
                <a:latin typeface="Helvetica"/>
              </a:rPr>
              <a:t>Different Database</a:t>
            </a:r>
          </a:p>
        </p:txBody>
      </p:sp>
      <p:sp>
        <p:nvSpPr>
          <p:cNvPr id="6" name="Rounded Rectangle 5"/>
          <p:cNvSpPr/>
          <p:nvPr/>
        </p:nvSpPr>
        <p:spPr>
          <a:xfrm>
            <a:off x="548640" y="1600200"/>
            <a:ext cx="11094415" cy="475488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79222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2688" y="179222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3856" y="179222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48495" y="160020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tradeoffs</a:t>
            </a:r>
          </a:p>
        </p:txBody>
      </p:sp>
      <p:sp>
        <p:nvSpPr>
          <p:cNvPr id="11" name="TextBox 10"/>
          <p:cNvSpPr txBox="1"/>
          <p:nvPr/>
        </p:nvSpPr>
        <p:spPr>
          <a:xfrm>
            <a:off x="804672" y="2231136"/>
            <a:ext cx="10582351" cy="3995928"/>
          </a:xfrm>
          <a:prstGeom prst="rect">
            <a:avLst/>
          </a:prstGeom>
          <a:noFill/>
        </p:spPr>
        <p:txBody>
          <a:bodyPr wrap="square" lIns="0" rIns="0" tIns="0" bIns="0">
            <a:noAutofit/>
          </a:bodyPr>
          <a:lstStyle/>
          <a:p>
            <a:pPr>
              <a:lnSpc>
                <a:spcPct val="105000"/>
              </a:lnSpc>
              <a:defRPr sz="2400">
                <a:latin typeface="Roboto Mono"/>
              </a:defRPr>
            </a:pPr>
            <a:r>
              <a:rPr sz="2400" i="0">
                <a:solidFill>
                  <a:srgbClr val="EEBC32"/>
                </a:solidFill>
                <a:latin typeface="Roboto Mono"/>
              </a:rPr>
              <a:t>import</a:t>
            </a:r>
            <a:r>
              <a:rPr sz="2400" i="0">
                <a:solidFill>
                  <a:srgbClr val="FFFCF7"/>
                </a:solidFill>
                <a:latin typeface="Roboto Mono"/>
              </a:rPr>
              <a:t> </a:t>
            </a:r>
            <a:r>
              <a:rPr sz="2400" i="0">
                <a:solidFill>
                  <a:srgbClr val="FFFCF7"/>
                </a:solidFill>
                <a:latin typeface="Roboto Mono"/>
              </a:rPr>
              <a:t>pandas</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pd</a:t>
            </a:r>
          </a:p>
          <a:p>
            <a:pPr>
              <a:lnSpc>
                <a:spcPct val="105000"/>
              </a:lnSpc>
              <a:defRPr sz="2400">
                <a:latin typeface="Roboto Mono"/>
              </a:defRPr>
            </a:pPr>
          </a:p>
          <a:p>
            <a:pPr>
              <a:lnSpc>
                <a:spcPct val="105000"/>
              </a:lnSpc>
              <a:defRPr sz="2400">
                <a:latin typeface="Roboto Mono"/>
              </a:defRPr>
            </a:pPr>
            <a:r>
              <a:rPr sz="2400" i="0">
                <a:solidFill>
                  <a:srgbClr val="FFFCF7"/>
                </a:solidFill>
                <a:latin typeface="Roboto Mono"/>
              </a:rPr>
              <a:t>sql</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8BAC9"/>
                </a:solidFill>
                <a:latin typeface="Roboto Mono"/>
              </a:rPr>
              <a:t>"</a:t>
            </a:r>
            <a:r>
              <a:rPr sz="2400" i="0">
                <a:solidFill>
                  <a:srgbClr val="F8BAC9"/>
                </a:solidFill>
                <a:latin typeface="Roboto Mono"/>
              </a:rPr>
              <a:t>SELECT borough, status FROM service_requests</a:t>
            </a:r>
            <a:r>
              <a:rPr sz="2400" i="0">
                <a:solidFill>
                  <a:srgbClr val="F8BAC9"/>
                </a:solidFill>
                <a:latin typeface="Roboto Mono"/>
              </a:rPr>
              <a:t>"</a:t>
            </a:r>
          </a:p>
          <a:p>
            <a:pPr>
              <a:lnSpc>
                <a:spcPct val="105000"/>
              </a:lnSpc>
              <a:defRPr sz="2400">
                <a:latin typeface="Roboto Mono"/>
              </a:defRPr>
            </a:pPr>
            <a:r>
              <a:rPr sz="2400" i="0">
                <a:solidFill>
                  <a:srgbClr val="EEBC32"/>
                </a:solidFill>
                <a:latin typeface="Roboto Mono"/>
              </a:rPr>
              <a:t>with</a:t>
            </a:r>
            <a:r>
              <a:rPr sz="2400" i="0">
                <a:solidFill>
                  <a:srgbClr val="FFFCF7"/>
                </a:solidFill>
                <a:latin typeface="Roboto Mono"/>
              </a:rPr>
              <a:t> </a:t>
            </a:r>
            <a:r>
              <a:rPr sz="2400" i="0">
                <a:solidFill>
                  <a:srgbClr val="FFFCF7"/>
                </a:solidFill>
                <a:latin typeface="Roboto Mono"/>
              </a:rPr>
              <a:t>engine</a:t>
            </a:r>
            <a:r>
              <a:rPr sz="2400" i="0">
                <a:solidFill>
                  <a:srgbClr val="FFFCF7"/>
                </a:solidFill>
                <a:latin typeface="Roboto Mono"/>
              </a:rPr>
              <a:t>.</a:t>
            </a:r>
            <a:r>
              <a:rPr sz="2400" i="0">
                <a:solidFill>
                  <a:srgbClr val="FFFCF7"/>
                </a:solidFill>
                <a:latin typeface="Roboto Mono"/>
              </a:rPr>
              <a:t>connect</a:t>
            </a:r>
            <a:r>
              <a:rPr sz="2400" i="0">
                <a:solidFill>
                  <a:srgbClr val="FFFCF7"/>
                </a:solidFill>
                <a:latin typeface="Roboto Mono"/>
              </a:rPr>
              <a:t>(</a:t>
            </a:r>
            <a:r>
              <a:rPr sz="2400" i="0">
                <a:solidFill>
                  <a:srgbClr val="FFFCF7"/>
                </a:solidFill>
                <a:latin typeface="Roboto Mono"/>
              </a:rPr>
              <a:t>)</a:t>
            </a:r>
            <a:r>
              <a:rPr sz="2400" i="0">
                <a:solidFill>
                  <a:srgbClr val="FFFCF7"/>
                </a:solidFill>
                <a:latin typeface="Roboto Mono"/>
              </a:rPr>
              <a:t> </a:t>
            </a:r>
            <a:r>
              <a:rPr sz="2400" i="0">
                <a:solidFill>
                  <a:srgbClr val="EEBC32"/>
                </a:solidFill>
                <a:latin typeface="Roboto Mono"/>
              </a:rPr>
              <a:t>as</a:t>
            </a:r>
            <a:r>
              <a:rPr sz="2400" i="0">
                <a:solidFill>
                  <a:srgbClr val="FFFCF7"/>
                </a:solidFill>
                <a:latin typeface="Roboto Mono"/>
              </a:rPr>
              <a:t> </a:t>
            </a:r>
            <a:r>
              <a:rPr sz="2400" i="0">
                <a:solidFill>
                  <a:srgbClr val="FFFCF7"/>
                </a:solidFill>
                <a:latin typeface="Roboto Mono"/>
              </a:rPr>
              <a:t>conn</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    </a:t>
            </a:r>
            <a:r>
              <a:rPr sz="2400" i="0">
                <a:solidFill>
                  <a:srgbClr val="FFFCF7"/>
                </a:solidFill>
                <a:latin typeface="Roboto Mono"/>
              </a:rPr>
              <a:t>pg_df</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pd</a:t>
            </a:r>
            <a:r>
              <a:rPr sz="2400" i="0">
                <a:solidFill>
                  <a:srgbClr val="FFFCF7"/>
                </a:solidFill>
                <a:latin typeface="Roboto Mono"/>
              </a:rPr>
              <a:t>.</a:t>
            </a:r>
            <a:r>
              <a:rPr sz="2400" i="0">
                <a:solidFill>
                  <a:srgbClr val="FFFCF7"/>
                </a:solidFill>
                <a:latin typeface="Roboto Mono"/>
              </a:rPr>
              <a:t>read_sql</a:t>
            </a:r>
            <a:r>
              <a:rPr sz="2400" i="0">
                <a:solidFill>
                  <a:srgbClr val="FFFCF7"/>
                </a:solidFill>
                <a:latin typeface="Roboto Mono"/>
              </a:rPr>
              <a:t>(</a:t>
            </a:r>
            <a:r>
              <a:rPr sz="2400" i="0">
                <a:solidFill>
                  <a:srgbClr val="FFFCF7"/>
                </a:solidFill>
                <a:latin typeface="Roboto Mono"/>
              </a:rPr>
              <a:t>sql</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conn</a:t>
            </a:r>
            <a:r>
              <a:rPr sz="2400" i="0">
                <a:solidFill>
                  <a:srgbClr val="FFFCF7"/>
                </a:solidFill>
                <a:latin typeface="Roboto Mono"/>
              </a:rPr>
              <a:t>)</a:t>
            </a:r>
          </a:p>
          <a:p>
            <a:pPr>
              <a:lnSpc>
                <a:spcPct val="105000"/>
              </a:lnSpc>
              <a:defRPr sz="2400">
                <a:latin typeface="Roboto Mono"/>
              </a:defRPr>
            </a:pPr>
          </a:p>
          <a:p>
            <a:pPr>
              <a:lnSpc>
                <a:spcPct val="105000"/>
              </a:lnSpc>
              <a:defRPr sz="2400">
                <a:latin typeface="Roboto Mono"/>
              </a:defRPr>
            </a:pPr>
            <a:r>
              <a:rPr sz="2400" i="0">
                <a:solidFill>
                  <a:srgbClr val="FFFCF7"/>
                </a:solidFill>
                <a:latin typeface="Roboto Mono"/>
              </a:rPr>
              <a:t>lite</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create_engine</a:t>
            </a:r>
            <a:r>
              <a:rPr sz="2400" i="0">
                <a:solidFill>
                  <a:srgbClr val="FFFCF7"/>
                </a:solidFill>
                <a:latin typeface="Roboto Mono"/>
              </a:rPr>
              <a:t>(</a:t>
            </a:r>
            <a:r>
              <a:rPr sz="2400" i="0">
                <a:solidFill>
                  <a:srgbClr val="F8BAC9"/>
                </a:solidFill>
                <a:latin typeface="Roboto Mono"/>
              </a:rPr>
              <a:t>"</a:t>
            </a:r>
            <a:r>
              <a:rPr sz="2400" i="0">
                <a:solidFill>
                  <a:srgbClr val="F8BAC9"/>
                </a:solidFill>
                <a:latin typeface="Roboto Mono"/>
              </a:rPr>
              <a:t>____</a:t>
            </a:r>
            <a:r>
              <a:rPr sz="2400" i="0">
                <a:solidFill>
                  <a:srgbClr val="F8BAC9"/>
                </a:solidFill>
                <a:latin typeface="Roboto Mono"/>
              </a:rPr>
              <a:t>"</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pg_df</a:t>
            </a:r>
            <a:r>
              <a:rPr sz="2400" i="0">
                <a:solidFill>
                  <a:srgbClr val="FFFCF7"/>
                </a:solidFill>
                <a:latin typeface="Roboto Mono"/>
              </a:rPr>
              <a:t>.</a:t>
            </a:r>
            <a:r>
              <a:rPr sz="2400" i="0">
                <a:solidFill>
                  <a:srgbClr val="FFFCF7"/>
                </a:solidFill>
                <a:latin typeface="Roboto Mono"/>
              </a:rPr>
              <a:t>to_sql</a:t>
            </a:r>
            <a:r>
              <a:rPr sz="2400" i="0">
                <a:solidFill>
                  <a:srgbClr val="FFFCF7"/>
                </a:solidFill>
                <a:latin typeface="Roboto Mono"/>
              </a:rPr>
              <a:t>(</a:t>
            </a:r>
            <a:r>
              <a:rPr sz="2400" i="0">
                <a:solidFill>
                  <a:srgbClr val="F8BAC9"/>
                </a:solidFill>
                <a:latin typeface="Roboto Mono"/>
              </a:rPr>
              <a:t>"</a:t>
            </a:r>
            <a:r>
              <a:rPr sz="2400" i="0">
                <a:solidFill>
                  <a:srgbClr val="F8BAC9"/>
                </a:solidFill>
                <a:latin typeface="Roboto Mono"/>
              </a:rPr>
              <a:t>service_requests</a:t>
            </a:r>
            <a:r>
              <a:rPr sz="2400" i="0">
                <a:solidFill>
                  <a:srgbClr val="F8BAC9"/>
                </a:solidFill>
                <a:latin typeface="Roboto Mono"/>
              </a:rPr>
              <a:t>"</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lite</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index</a:t>
            </a:r>
            <a:r>
              <a:rPr sz="2400" i="0">
                <a:solidFill>
                  <a:srgbClr val="FFFCF7"/>
                </a:solidFill>
                <a:latin typeface="Roboto Mono"/>
              </a:rPr>
              <a:t>=</a:t>
            </a:r>
            <a:r>
              <a:rPr sz="2400" i="0">
                <a:solidFill>
                  <a:srgbClr val="EEBC32"/>
                </a:solidFill>
                <a:latin typeface="Roboto Mono"/>
              </a:rPr>
              <a:t>False</a:t>
            </a:r>
            <a:r>
              <a:rPr sz="2400" i="0">
                <a:solidFill>
                  <a:srgbClr val="FFFCF7"/>
                </a:solidFill>
                <a:latin typeface="Roboto Mono"/>
              </a:rPr>
              <a:t>)</a:t>
            </a:r>
          </a:p>
          <a:p>
            <a:pPr>
              <a:lnSpc>
                <a:spcPct val="105000"/>
              </a:lnSpc>
              <a:defRPr sz="2400">
                <a:latin typeface="Roboto Mono"/>
              </a:defRPr>
            </a:pPr>
            <a:r>
              <a:rPr sz="2400" i="0">
                <a:solidFill>
                  <a:srgbClr val="FFFCF7"/>
                </a:solidFill>
                <a:latin typeface="Roboto Mono"/>
              </a:rPr>
              <a:t>lite_df</a:t>
            </a:r>
            <a:r>
              <a:rPr sz="2400" i="0">
                <a:solidFill>
                  <a:srgbClr val="FFFCF7"/>
                </a:solidFill>
                <a:latin typeface="Roboto Mono"/>
              </a:rPr>
              <a:t> </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pd</a:t>
            </a:r>
            <a:r>
              <a:rPr sz="2400" i="0">
                <a:solidFill>
                  <a:srgbClr val="FFFCF7"/>
                </a:solidFill>
                <a:latin typeface="Roboto Mono"/>
              </a:rPr>
              <a:t>.</a:t>
            </a:r>
            <a:r>
              <a:rPr sz="2400" i="0">
                <a:solidFill>
                  <a:srgbClr val="FFFCF7"/>
                </a:solidFill>
                <a:latin typeface="Roboto Mono"/>
              </a:rPr>
              <a:t>read_sql</a:t>
            </a:r>
            <a:r>
              <a:rPr sz="2400" i="0">
                <a:solidFill>
                  <a:srgbClr val="FFFCF7"/>
                </a:solidFill>
                <a:latin typeface="Roboto Mono"/>
              </a:rPr>
              <a:t>(</a:t>
            </a:r>
            <a:r>
              <a:rPr sz="2400" i="0">
                <a:solidFill>
                  <a:srgbClr val="FFFCF7"/>
                </a:solidFill>
                <a:latin typeface="Roboto Mono"/>
              </a:rPr>
              <a:t>sql</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lite</a:t>
            </a:r>
            <a:r>
              <a:rPr sz="2400" i="0">
                <a:solidFill>
                  <a:srgbClr val="FFFCF7"/>
                </a:solidFill>
                <a:latin typeface="Roboto Mono"/>
              </a:rPr>
              <a:t>)</a:t>
            </a:r>
          </a:p>
          <a:p>
            <a:pPr>
              <a:lnSpc>
                <a:spcPct val="105000"/>
              </a:lnSpc>
              <a:defRPr sz="2400">
                <a:latin typeface="Roboto Mono"/>
              </a:defRPr>
            </a:pPr>
          </a:p>
          <a:p>
            <a:pPr>
              <a:lnSpc>
                <a:spcPct val="105000"/>
              </a:lnSpc>
              <a:defRPr sz="2400">
                <a:latin typeface="Roboto Mono"/>
              </a:defRPr>
            </a:pPr>
            <a:r>
              <a:rPr sz="2400" i="0">
                <a:solidFill>
                  <a:srgbClr val="5996C7"/>
                </a:solidFill>
                <a:latin typeface="Roboto Mono"/>
              </a:rPr>
              <a:t>print</a:t>
            </a:r>
            <a:r>
              <a:rPr sz="2400" i="0">
                <a:solidFill>
                  <a:srgbClr val="FFFCF7"/>
                </a:solidFill>
                <a:latin typeface="Roboto Mono"/>
              </a:rPr>
              <a:t>(</a:t>
            </a:r>
            <a:r>
              <a:rPr sz="2400" i="0">
                <a:solidFill>
                  <a:srgbClr val="FFFCF7"/>
                </a:solidFill>
                <a:latin typeface="Roboto Mono"/>
              </a:rPr>
              <a:t>lite</a:t>
            </a:r>
            <a:r>
              <a:rPr sz="2400" i="0">
                <a:solidFill>
                  <a:srgbClr val="FFFCF7"/>
                </a:solidFill>
                <a:latin typeface="Roboto Mono"/>
              </a:rPr>
              <a:t>.</a:t>
            </a:r>
            <a:r>
              <a:rPr sz="2400" i="0">
                <a:solidFill>
                  <a:srgbClr val="FFFCF7"/>
                </a:solidFill>
                <a:latin typeface="Roboto Mono"/>
              </a:rPr>
              <a:t>dialect</a:t>
            </a:r>
            <a:r>
              <a:rPr sz="2400" i="0">
                <a:solidFill>
                  <a:srgbClr val="FFFCF7"/>
                </a:solidFill>
                <a:latin typeface="Roboto Mono"/>
              </a:rPr>
              <a:t>.</a:t>
            </a:r>
            <a:r>
              <a:rPr sz="2400" i="0">
                <a:solidFill>
                  <a:srgbClr val="FFFCF7"/>
                </a:solidFill>
                <a:latin typeface="Roboto Mono"/>
              </a:rPr>
              <a:t>name</a:t>
            </a:r>
            <a:r>
              <a:rPr sz="2400" i="0">
                <a:solidFill>
                  <a:srgbClr val="FFFCF7"/>
                </a:solidFill>
                <a:latin typeface="Roboto Mono"/>
              </a:rPr>
              <a:t>,</a:t>
            </a:r>
            <a:r>
              <a:rPr sz="2400" i="0">
                <a:solidFill>
                  <a:srgbClr val="FFFCF7"/>
                </a:solidFill>
                <a:latin typeface="Roboto Mono"/>
              </a:rPr>
              <a:t> </a:t>
            </a:r>
            <a:r>
              <a:rPr sz="2400" i="0">
                <a:solidFill>
                  <a:srgbClr val="FFFCF7"/>
                </a:solidFill>
                <a:latin typeface="Roboto Mono"/>
              </a:rPr>
              <a:t>pg_df</a:t>
            </a:r>
            <a:r>
              <a:rPr sz="2400" i="0">
                <a:solidFill>
                  <a:srgbClr val="FFFCF7"/>
                </a:solidFill>
                <a:latin typeface="Roboto Mono"/>
              </a:rPr>
              <a:t>.</a:t>
            </a:r>
            <a:r>
              <a:rPr sz="2400" i="0">
                <a:solidFill>
                  <a:srgbClr val="FFFCF7"/>
                </a:solidFill>
                <a:latin typeface="Roboto Mono"/>
              </a:rPr>
              <a:t>equals</a:t>
            </a:r>
            <a:r>
              <a:rPr sz="2400" i="0">
                <a:solidFill>
                  <a:srgbClr val="FFFCF7"/>
                </a:solidFill>
                <a:latin typeface="Roboto Mono"/>
              </a:rPr>
              <a:t>(</a:t>
            </a:r>
            <a:r>
              <a:rPr sz="2400" i="0">
                <a:solidFill>
                  <a:srgbClr val="FFFCF7"/>
                </a:solidFill>
                <a:latin typeface="Roboto Mono"/>
              </a:rPr>
              <a:t>lite_df</a:t>
            </a:r>
            <a:r>
              <a:rPr sz="2400" i="0">
                <a:solidFill>
                  <a:srgbClr val="FFFCF7"/>
                </a:solidFill>
                <a:latin typeface="Roboto Mono"/>
              </a:rPr>
              <a:t>)</a:t>
            </a:r>
            <a:r>
              <a:rPr sz="2400" i="0">
                <a:solidFill>
                  <a:srgbClr val="FFFCF7"/>
                </a:solidFill>
                <a:latin typeface="Roboto Mono"/>
              </a:rPr>
              <a:t>)</a:t>
            </a:r>
          </a:p>
          <a:p>
            <a:pPr>
              <a:lnSpc>
                <a:spcPct val="105000"/>
              </a:lnSpc>
              <a:defRPr sz="2400">
                <a:latin typeface="Roboto Mono"/>
              </a:defRPr>
            </a:p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640080"/>
          </a:xfrm>
          <a:prstGeom prst="rect">
            <a:avLst/>
          </a:prstGeom>
          <a:noFill/>
        </p:spPr>
        <p:txBody>
          <a:bodyPr wrap="square" anchor="t" lIns="0" rIns="0" tIns="0" bIns="0">
            <a:noAutofit/>
          </a:bodyPr>
          <a:lstStyle/>
          <a:p>
            <a:pPr algn="l"/>
            <a:r>
              <a:rPr sz="3200" b="1" i="0" u="none">
                <a:solidFill>
                  <a:srgbClr val="264326"/>
                </a:solidFill>
                <a:latin typeface="Helvetica"/>
              </a:rPr>
              <a:t>Answer:</a:t>
            </a:r>
            <a:r>
              <a:rPr sz="3200" b="1" i="0" u="none">
                <a:solidFill>
                  <a:srgbClr val="261F1D"/>
                </a:solidFill>
                <a:latin typeface="Helvetica"/>
              </a:rPr>
              <a:t> The Same Query, a </a:t>
            </a:r>
            <a:r>
              <a:rPr sz="3200" b="1" i="0" u="none">
                <a:solidFill>
                  <a:srgbClr val="264326"/>
                </a:solidFill>
                <a:latin typeface="Helvetica"/>
              </a:rPr>
              <a:t>Different Database</a:t>
            </a:r>
          </a:p>
        </p:txBody>
      </p:sp>
      <p:sp>
        <p:nvSpPr>
          <p:cNvPr id="4" name="Rounded Rectangle 3"/>
          <p:cNvSpPr/>
          <p:nvPr/>
        </p:nvSpPr>
        <p:spPr>
          <a:xfrm>
            <a:off x="548640" y="1005840"/>
            <a:ext cx="11094415" cy="5349240"/>
          </a:xfrm>
          <a:prstGeom prst="roundRect">
            <a:avLst>
              <a:gd name="adj" fmla="val 3500"/>
            </a:avLst>
          </a:prstGeom>
          <a:solidFill>
            <a:srgbClr val="261F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731520" y="1197864"/>
            <a:ext cx="118872" cy="118872"/>
          </a:xfrm>
          <a:prstGeom prst="ellipse">
            <a:avLst/>
          </a:prstGeom>
          <a:solidFill>
            <a:srgbClr val="C929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32688" y="1197864"/>
            <a:ext cx="118872" cy="118872"/>
          </a:xfrm>
          <a:prstGeom prst="ellipse">
            <a:avLst/>
          </a:prstGeom>
          <a:solidFill>
            <a:srgbClr val="EEBC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3856" y="1197864"/>
            <a:ext cx="118872" cy="118872"/>
          </a:xfrm>
          <a:prstGeom prst="ellipse">
            <a:avLst/>
          </a:prstGeom>
          <a:solidFill>
            <a:srgbClr val="327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48495" y="1005840"/>
            <a:ext cx="2011680" cy="502920"/>
          </a:xfrm>
          <a:prstGeom prst="rect">
            <a:avLst/>
          </a:prstGeom>
          <a:noFill/>
        </p:spPr>
        <p:txBody>
          <a:bodyPr wrap="square" anchor="ctr" lIns="0" rIns="0" tIns="0" bIns="0">
            <a:noAutofit/>
          </a:bodyPr>
          <a:lstStyle/>
          <a:p>
            <a:pPr algn="r"/>
            <a:r>
              <a:rPr sz="2600" b="0" i="0" u="none">
                <a:solidFill>
                  <a:srgbClr val="B3BBB0"/>
                </a:solidFill>
                <a:latin typeface="Roboto Mono"/>
              </a:rPr>
              <a:t>tradeoffs</a:t>
            </a:r>
          </a:p>
        </p:txBody>
      </p:sp>
      <p:sp>
        <p:nvSpPr>
          <p:cNvPr id="9" name="Rectangle 8"/>
          <p:cNvSpPr/>
          <p:nvPr/>
        </p:nvSpPr>
        <p:spPr>
          <a:xfrm>
            <a:off x="676656" y="4133088"/>
            <a:ext cx="10838383" cy="416052"/>
          </a:xfrm>
          <a:prstGeom prst="rect">
            <a:avLst/>
          </a:prstGeom>
          <a:no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636776"/>
            <a:ext cx="10582351" cy="4590288"/>
          </a:xfrm>
          <a:prstGeom prst="rect">
            <a:avLst/>
          </a:prstGeom>
          <a:noFill/>
        </p:spPr>
        <p:txBody>
          <a:bodyPr wrap="square" lIns="0" rIns="0" tIns="0" bIns="0">
            <a:noAutofit/>
          </a:bodyPr>
          <a:lstStyle/>
          <a:p>
            <a:pPr>
              <a:lnSpc>
                <a:spcPct val="105000"/>
              </a:lnSpc>
              <a:defRPr sz="2600">
                <a:latin typeface="Roboto Mono"/>
              </a:defRPr>
            </a:pPr>
            <a:r>
              <a:rPr sz="2600" i="0">
                <a:solidFill>
                  <a:srgbClr val="EEBC32"/>
                </a:solidFill>
                <a:latin typeface="Roboto Mono"/>
              </a:rPr>
              <a:t>import</a:t>
            </a:r>
            <a:r>
              <a:rPr sz="2600" i="0">
                <a:solidFill>
                  <a:srgbClr val="FFFCF7"/>
                </a:solidFill>
                <a:latin typeface="Roboto Mono"/>
              </a:rPr>
              <a:t> </a:t>
            </a:r>
            <a:r>
              <a:rPr sz="2600" i="0">
                <a:solidFill>
                  <a:srgbClr val="FFFCF7"/>
                </a:solidFill>
                <a:latin typeface="Roboto Mono"/>
              </a:rPr>
              <a:t>pandas</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pd</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sql</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8BAC9"/>
                </a:solidFill>
                <a:latin typeface="Roboto Mono"/>
              </a:rPr>
              <a:t>"</a:t>
            </a:r>
            <a:r>
              <a:rPr sz="2600" i="0">
                <a:solidFill>
                  <a:srgbClr val="F8BAC9"/>
                </a:solidFill>
                <a:latin typeface="Roboto Mono"/>
              </a:rPr>
              <a:t>SELECT borough, status FROM service_requests</a:t>
            </a:r>
            <a:r>
              <a:rPr sz="2600" i="0">
                <a:solidFill>
                  <a:srgbClr val="F8BAC9"/>
                </a:solidFill>
                <a:latin typeface="Roboto Mono"/>
              </a:rPr>
              <a:t>"</a:t>
            </a:r>
          </a:p>
          <a:p>
            <a:pPr>
              <a:lnSpc>
                <a:spcPct val="105000"/>
              </a:lnSpc>
              <a:defRPr sz="2600">
                <a:latin typeface="Roboto Mono"/>
              </a:defRPr>
            </a:pPr>
            <a:r>
              <a:rPr sz="2600" i="0">
                <a:solidFill>
                  <a:srgbClr val="EEBC32"/>
                </a:solidFill>
                <a:latin typeface="Roboto Mono"/>
              </a:rPr>
              <a:t>with</a:t>
            </a:r>
            <a:r>
              <a:rPr sz="2600" i="0">
                <a:solidFill>
                  <a:srgbClr val="FFFCF7"/>
                </a:solidFill>
                <a:latin typeface="Roboto Mono"/>
              </a:rPr>
              <a:t> </a:t>
            </a:r>
            <a:r>
              <a:rPr sz="2600" i="0">
                <a:solidFill>
                  <a:srgbClr val="FFFCF7"/>
                </a:solidFill>
                <a:latin typeface="Roboto Mono"/>
              </a:rPr>
              <a:t>engine</a:t>
            </a:r>
            <a:r>
              <a:rPr sz="2600" i="0">
                <a:solidFill>
                  <a:srgbClr val="FFFCF7"/>
                </a:solidFill>
                <a:latin typeface="Roboto Mono"/>
              </a:rPr>
              <a:t>.</a:t>
            </a:r>
            <a:r>
              <a:rPr sz="2600" i="0">
                <a:solidFill>
                  <a:srgbClr val="FFFCF7"/>
                </a:solidFill>
                <a:latin typeface="Roboto Mono"/>
              </a:rPr>
              <a:t>connect</a:t>
            </a:r>
            <a:r>
              <a:rPr sz="2600" i="0">
                <a:solidFill>
                  <a:srgbClr val="FFFCF7"/>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EEBC32"/>
                </a:solidFill>
                <a:latin typeface="Roboto Mono"/>
              </a:rPr>
              <a:t>as</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    </a:t>
            </a:r>
            <a:r>
              <a:rPr sz="2600" i="0">
                <a:solidFill>
                  <a:srgbClr val="FFFCF7"/>
                </a:solidFill>
                <a:latin typeface="Roboto Mono"/>
              </a:rPr>
              <a:t>pg_df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read_sql</a:t>
            </a:r>
            <a:r>
              <a:rPr sz="2600" i="0">
                <a:solidFill>
                  <a:srgbClr val="FFFCF7"/>
                </a:solidFill>
                <a:latin typeface="Roboto Mono"/>
              </a:rPr>
              <a:t>(</a:t>
            </a:r>
            <a:r>
              <a:rPr sz="2600" i="0">
                <a:solidFill>
                  <a:srgbClr val="FFFCF7"/>
                </a:solidFill>
                <a:latin typeface="Roboto Mono"/>
              </a:rPr>
              <a:t>sql</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conn</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FFFCF7"/>
                </a:solidFill>
                <a:latin typeface="Roboto Mono"/>
              </a:rPr>
              <a:t>lite</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create_engine</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sqlite://</a:t>
            </a:r>
            <a:r>
              <a:rPr sz="2600" i="0">
                <a:solidFill>
                  <a:srgbClr val="F8BAC9"/>
                </a:solidFill>
                <a:latin typeface="Roboto Mono"/>
              </a:rPr>
              <a:t>"</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pg_df</a:t>
            </a:r>
            <a:r>
              <a:rPr sz="2600" i="0">
                <a:solidFill>
                  <a:srgbClr val="FFFCF7"/>
                </a:solidFill>
                <a:latin typeface="Roboto Mono"/>
              </a:rPr>
              <a:t>.</a:t>
            </a:r>
            <a:r>
              <a:rPr sz="2600" i="0">
                <a:solidFill>
                  <a:srgbClr val="FFFCF7"/>
                </a:solidFill>
                <a:latin typeface="Roboto Mono"/>
              </a:rPr>
              <a:t>to_sql</a:t>
            </a:r>
            <a:r>
              <a:rPr sz="2600" i="0">
                <a:solidFill>
                  <a:srgbClr val="FFFCF7"/>
                </a:solidFill>
                <a:latin typeface="Roboto Mono"/>
              </a:rPr>
              <a:t>(</a:t>
            </a:r>
            <a:r>
              <a:rPr sz="2600" i="0">
                <a:solidFill>
                  <a:srgbClr val="F8BAC9"/>
                </a:solidFill>
                <a:latin typeface="Roboto Mono"/>
              </a:rPr>
              <a:t>"</a:t>
            </a:r>
            <a:r>
              <a:rPr sz="2600" i="0">
                <a:solidFill>
                  <a:srgbClr val="F8BAC9"/>
                </a:solidFill>
                <a:latin typeface="Roboto Mono"/>
              </a:rPr>
              <a:t>service_requests</a:t>
            </a:r>
            <a:r>
              <a:rPr sz="2600" i="0">
                <a:solidFill>
                  <a:srgbClr val="F8BAC9"/>
                </a:solidFill>
                <a:latin typeface="Roboto Mono"/>
              </a:rPr>
              <a:t>"</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lite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index</a:t>
            </a:r>
            <a:r>
              <a:rPr sz="2600" i="0">
                <a:solidFill>
                  <a:srgbClr val="FFFCF7"/>
                </a:solidFill>
                <a:latin typeface="Roboto Mono"/>
              </a:rPr>
              <a:t>=</a:t>
            </a:r>
            <a:r>
              <a:rPr sz="2600" i="0">
                <a:solidFill>
                  <a:srgbClr val="EEBC32"/>
                </a:solidFill>
                <a:latin typeface="Roboto Mono"/>
              </a:rPr>
              <a:t>False</a:t>
            </a:r>
            <a:r>
              <a:rPr sz="2600" i="0">
                <a:solidFill>
                  <a:srgbClr val="FFFCF7"/>
                </a:solidFill>
                <a:latin typeface="Roboto Mono"/>
              </a:rPr>
              <a:t>)</a:t>
            </a:r>
          </a:p>
          <a:p>
            <a:pPr>
              <a:lnSpc>
                <a:spcPct val="105000"/>
              </a:lnSpc>
              <a:defRPr sz="2600">
                <a:latin typeface="Roboto Mono"/>
              </a:defRPr>
            </a:pPr>
            <a:r>
              <a:rPr sz="2600" i="0">
                <a:solidFill>
                  <a:srgbClr val="FFFCF7"/>
                </a:solidFill>
                <a:latin typeface="Roboto Mono"/>
              </a:rPr>
              <a:t>lite_df</a:t>
            </a:r>
            <a:r>
              <a:rPr sz="2600" i="0">
                <a:solidFill>
                  <a:srgbClr val="FFFCF7"/>
                </a:solidFill>
                <a:latin typeface="Roboto Mono"/>
              </a:rPr>
              <a:t> </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pd</a:t>
            </a:r>
            <a:r>
              <a:rPr sz="2600" i="0">
                <a:solidFill>
                  <a:srgbClr val="FFFCF7"/>
                </a:solidFill>
                <a:latin typeface="Roboto Mono"/>
              </a:rPr>
              <a:t>.</a:t>
            </a:r>
            <a:r>
              <a:rPr sz="2600" i="0">
                <a:solidFill>
                  <a:srgbClr val="FFFCF7"/>
                </a:solidFill>
                <a:latin typeface="Roboto Mono"/>
              </a:rPr>
              <a:t>read_sql</a:t>
            </a:r>
            <a:r>
              <a:rPr sz="2600" i="0">
                <a:solidFill>
                  <a:srgbClr val="FFFCF7"/>
                </a:solidFill>
                <a:latin typeface="Roboto Mono"/>
              </a:rPr>
              <a:t>(</a:t>
            </a:r>
            <a:r>
              <a:rPr sz="2600" i="0">
                <a:solidFill>
                  <a:srgbClr val="FFFCF7"/>
                </a:solidFill>
                <a:latin typeface="Roboto Mono"/>
              </a:rPr>
              <a:t>sql</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lite</a:t>
            </a:r>
            <a:r>
              <a:rPr sz="2600" i="0">
                <a:solidFill>
                  <a:srgbClr val="FFFCF7"/>
                </a:solidFill>
                <a:latin typeface="Roboto Mono"/>
              </a:rPr>
              <a:t>)</a:t>
            </a:r>
          </a:p>
          <a:p>
            <a:pPr>
              <a:lnSpc>
                <a:spcPct val="105000"/>
              </a:lnSpc>
              <a:defRPr sz="2600">
                <a:latin typeface="Roboto Mono"/>
              </a:defRPr>
            </a:pPr>
          </a:p>
          <a:p>
            <a:pPr>
              <a:lnSpc>
                <a:spcPct val="105000"/>
              </a:lnSpc>
              <a:defRPr sz="2600">
                <a:latin typeface="Roboto Mono"/>
              </a:defRPr>
            </a:pPr>
            <a:r>
              <a:rPr sz="2600" i="0">
                <a:solidFill>
                  <a:srgbClr val="5996C7"/>
                </a:solidFill>
                <a:latin typeface="Roboto Mono"/>
              </a:rPr>
              <a:t>print</a:t>
            </a:r>
            <a:r>
              <a:rPr sz="2600" i="0">
                <a:solidFill>
                  <a:srgbClr val="FFFCF7"/>
                </a:solidFill>
                <a:latin typeface="Roboto Mono"/>
              </a:rPr>
              <a:t>(</a:t>
            </a:r>
            <a:r>
              <a:rPr sz="2600" i="0">
                <a:solidFill>
                  <a:srgbClr val="FFFCF7"/>
                </a:solidFill>
                <a:latin typeface="Roboto Mono"/>
              </a:rPr>
              <a:t>lite</a:t>
            </a:r>
            <a:r>
              <a:rPr sz="2600" i="0">
                <a:solidFill>
                  <a:srgbClr val="FFFCF7"/>
                </a:solidFill>
                <a:latin typeface="Roboto Mono"/>
              </a:rPr>
              <a:t>.</a:t>
            </a:r>
            <a:r>
              <a:rPr sz="2600" i="0">
                <a:solidFill>
                  <a:srgbClr val="FFFCF7"/>
                </a:solidFill>
                <a:latin typeface="Roboto Mono"/>
              </a:rPr>
              <a:t>dialect</a:t>
            </a:r>
            <a:r>
              <a:rPr sz="2600" i="0">
                <a:solidFill>
                  <a:srgbClr val="FFFCF7"/>
                </a:solidFill>
                <a:latin typeface="Roboto Mono"/>
              </a:rPr>
              <a:t>.</a:t>
            </a:r>
            <a:r>
              <a:rPr sz="2600" i="0">
                <a:solidFill>
                  <a:srgbClr val="FFFCF7"/>
                </a:solidFill>
                <a:latin typeface="Roboto Mono"/>
              </a:rPr>
              <a:t>name</a:t>
            </a:r>
            <a:r>
              <a:rPr sz="2600" i="0">
                <a:solidFill>
                  <a:srgbClr val="FFFCF7"/>
                </a:solidFill>
                <a:latin typeface="Roboto Mono"/>
              </a:rPr>
              <a:t>,</a:t>
            </a:r>
            <a:r>
              <a:rPr sz="2600" i="0">
                <a:solidFill>
                  <a:srgbClr val="FFFCF7"/>
                </a:solidFill>
                <a:latin typeface="Roboto Mono"/>
              </a:rPr>
              <a:t> </a:t>
            </a:r>
            <a:r>
              <a:rPr sz="2600" i="0">
                <a:solidFill>
                  <a:srgbClr val="FFFCF7"/>
                </a:solidFill>
                <a:latin typeface="Roboto Mono"/>
              </a:rPr>
              <a:t>pg_df</a:t>
            </a:r>
            <a:r>
              <a:rPr sz="2600" i="0">
                <a:solidFill>
                  <a:srgbClr val="FFFCF7"/>
                </a:solidFill>
                <a:latin typeface="Roboto Mono"/>
              </a:rPr>
              <a:t>.</a:t>
            </a:r>
            <a:r>
              <a:rPr sz="2600" i="0">
                <a:solidFill>
                  <a:srgbClr val="FFFCF7"/>
                </a:solidFill>
                <a:latin typeface="Roboto Mono"/>
              </a:rPr>
              <a:t>equals</a:t>
            </a:r>
            <a:r>
              <a:rPr sz="2600" i="0">
                <a:solidFill>
                  <a:srgbClr val="FFFCF7"/>
                </a:solidFill>
                <a:latin typeface="Roboto Mono"/>
              </a:rPr>
              <a:t>(</a:t>
            </a:r>
            <a:r>
              <a:rPr sz="2600" i="0">
                <a:solidFill>
                  <a:srgbClr val="FFFCF7"/>
                </a:solidFill>
                <a:latin typeface="Roboto Mono"/>
              </a:rPr>
              <a:t>lite_df</a:t>
            </a:r>
            <a:r>
              <a:rPr sz="2600" i="0">
                <a:solidFill>
                  <a:srgbClr val="FFFCF7"/>
                </a:solidFill>
                <a:latin typeface="Roboto Mono"/>
              </a:rPr>
              <a:t>)</a:t>
            </a:r>
            <a:r>
              <a:rPr sz="2600" i="0">
                <a:solidFill>
                  <a:srgbClr val="FFFCF7"/>
                </a:solidFill>
                <a:latin typeface="Roboto Mono"/>
              </a:rPr>
              <a:t>)</a:t>
            </a:r>
          </a:p>
          <a:p>
            <a:pPr>
              <a:lnSpc>
                <a:spcPct val="105000"/>
              </a:lnSpc>
              <a:defRPr sz="2600">
                <a:latin typeface="Roboto Mono"/>
              </a:defRPr>
            </a:p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Neither One Is the </a:t>
            </a:r>
            <a:r>
              <a:rPr sz="3200" b="1" i="0" u="none">
                <a:solidFill>
                  <a:srgbClr val="264326"/>
                </a:solidFill>
                <a:latin typeface="Helvetica"/>
              </a:rPr>
              <a:t>Better</a:t>
            </a:r>
            <a:r>
              <a:rPr sz="3200" b="1" i="0" u="none">
                <a:solidFill>
                  <a:srgbClr val="261F1D"/>
                </a:solidFill>
                <a:latin typeface="Helvetica"/>
              </a:rPr>
              <a:t> One</a:t>
            </a:r>
          </a:p>
        </p:txBody>
      </p:sp>
      <p:sp>
        <p:nvSpPr>
          <p:cNvPr id="4" name="Rectangle 3"/>
          <p:cNvSpPr/>
          <p:nvPr/>
        </p:nvSpPr>
        <p:spPr>
          <a:xfrm>
            <a:off x="548640" y="1188720"/>
            <a:ext cx="5410048" cy="5394960"/>
          </a:xfrm>
          <a:prstGeom prst="rect">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
          <p:cNvPicPr>
            <a:picLocks noChangeAspect="1"/>
          </p:cNvPicPr>
          <p:nvPr/>
        </p:nvPicPr>
        <p:blipFill>
          <a:blip r:embed="rId3"/>
          <a:stretch>
            <a:fillRect/>
          </a:stretch>
        </p:blipFill>
        <p:spPr>
          <a:xfrm>
            <a:off x="777240" y="1371600"/>
            <a:ext cx="457200" cy="457200"/>
          </a:xfrm>
          <a:prstGeom prst="rect">
            <a:avLst/>
          </a:prstGeom>
        </p:spPr>
      </p:pic>
      <p:sp>
        <p:nvSpPr>
          <p:cNvPr id="6" name="TextBox 5"/>
          <p:cNvSpPr txBox="1"/>
          <p:nvPr/>
        </p:nvSpPr>
        <p:spPr>
          <a:xfrm>
            <a:off x="1371600" y="1371600"/>
            <a:ext cx="4358488" cy="502920"/>
          </a:xfrm>
          <a:prstGeom prst="rect">
            <a:avLst/>
          </a:prstGeom>
          <a:noFill/>
        </p:spPr>
        <p:txBody>
          <a:bodyPr wrap="square" anchor="ctr" lIns="0" rIns="0" tIns="0" bIns="0">
            <a:noAutofit/>
          </a:bodyPr>
          <a:lstStyle/>
          <a:p>
            <a:pPr algn="l"/>
            <a:r>
              <a:rPr sz="2800" b="1" i="0" u="none">
                <a:solidFill>
                  <a:srgbClr val="261F1D"/>
                </a:solidFill>
                <a:latin typeface="Roboto Mono"/>
              </a:rPr>
              <a:t>psycopg2</a:t>
            </a:r>
          </a:p>
        </p:txBody>
      </p:sp>
      <p:sp>
        <p:nvSpPr>
          <p:cNvPr id="7" name="TextBox 6"/>
          <p:cNvSpPr txBox="1"/>
          <p:nvPr/>
        </p:nvSpPr>
        <p:spPr>
          <a:xfrm>
            <a:off x="777240"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One layer, quickly learned</a:t>
            </a:r>
          </a:p>
          <a:p>
            <a:pPr>
              <a:spcAft>
                <a:spcPts val="1000"/>
              </a:spcAft>
            </a:pPr>
            <a:r>
              <a:rPr sz="2600">
                <a:solidFill>
                  <a:srgbClr val="261F1D"/>
                </a:solidFill>
                <a:latin typeface="Helvetica"/>
              </a:rPr>
              <a:t>•  </a:t>
            </a:r>
            <a:r>
              <a:rPr sz="2600" b="0" i="0" u="none">
                <a:solidFill>
                  <a:srgbClr val="261F1D"/>
                </a:solidFill>
                <a:latin typeface="Helvetica"/>
              </a:rPr>
              <a:t>You wire up any pooling yourself</a:t>
            </a:r>
          </a:p>
          <a:p>
            <a:pPr>
              <a:spcAft>
                <a:spcPts val="1000"/>
              </a:spcAft>
            </a:pPr>
            <a:r>
              <a:rPr sz="2600">
                <a:solidFill>
                  <a:srgbClr val="261F1D"/>
                </a:solidFill>
                <a:latin typeface="Helvetica"/>
              </a:rPr>
              <a:t>•  </a:t>
            </a:r>
            <a:r>
              <a:rPr sz="2600" b="0" i="0" u="none">
                <a:solidFill>
                  <a:srgbClr val="261F1D"/>
                </a:solidFill>
                <a:latin typeface="Helvetica"/>
              </a:rPr>
              <a:t>You rebuild the DataFrame by hand</a:t>
            </a:r>
          </a:p>
          <a:p>
            <a:pPr>
              <a:spcAft>
                <a:spcPts val="1000"/>
              </a:spcAft>
            </a:pPr>
            <a:r>
              <a:rPr sz="2600">
                <a:solidFill>
                  <a:srgbClr val="261F1D"/>
                </a:solidFill>
                <a:latin typeface="Helvetica"/>
              </a:rPr>
              <a:t>•  </a:t>
            </a:r>
            <a:r>
              <a:rPr sz="2600" b="0" i="0" u="none">
                <a:solidFill>
                  <a:srgbClr val="261F1D"/>
                </a:solidFill>
                <a:latin typeface="Helvetica"/>
              </a:rPr>
              <a:t>The raw Postgres error, unwrapped</a:t>
            </a:r>
          </a:p>
          <a:p>
            <a:pPr>
              <a:spcAft>
                <a:spcPts val="1000"/>
              </a:spcAft>
            </a:pPr>
            <a:r>
              <a:rPr sz="2600">
                <a:solidFill>
                  <a:srgbClr val="261F1D"/>
                </a:solidFill>
                <a:latin typeface="Helvetica"/>
              </a:rPr>
              <a:t>•  </a:t>
            </a:r>
            <a:r>
              <a:rPr sz="2600" b="0" i="0" u="none">
                <a:solidFill>
                  <a:srgbClr val="261F1D"/>
                </a:solidFill>
                <a:latin typeface="Helvetica"/>
              </a:rPr>
              <a:t>PostgreSQL only, by design</a:t>
            </a:r>
          </a:p>
        </p:txBody>
      </p:sp>
      <p:sp>
        <p:nvSpPr>
          <p:cNvPr id="8" name="Rectangle 7"/>
          <p:cNvSpPr/>
          <p:nvPr/>
        </p:nvSpPr>
        <p:spPr>
          <a:xfrm>
            <a:off x="6233008" y="1188720"/>
            <a:ext cx="5410048" cy="5394960"/>
          </a:xfrm>
          <a:prstGeom prst="rect">
            <a:avLst/>
          </a:prstGeom>
          <a:solidFill>
            <a:srgbClr val="FECC5B"/>
          </a:solidFill>
          <a:ln w="50800">
            <a:solidFill>
              <a:srgbClr val="83671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
          <p:cNvPicPr>
            <a:picLocks noChangeAspect="1"/>
          </p:cNvPicPr>
          <p:nvPr/>
        </p:nvPicPr>
        <p:blipFill>
          <a:blip r:embed="rId4"/>
          <a:stretch>
            <a:fillRect/>
          </a:stretch>
        </p:blipFill>
        <p:spPr>
          <a:xfrm>
            <a:off x="6461608" y="1371600"/>
            <a:ext cx="457200" cy="457200"/>
          </a:xfrm>
          <a:prstGeom prst="rect">
            <a:avLst/>
          </a:prstGeom>
        </p:spPr>
      </p:pic>
      <p:sp>
        <p:nvSpPr>
          <p:cNvPr id="10" name="TextBox 9"/>
          <p:cNvSpPr txBox="1"/>
          <p:nvPr/>
        </p:nvSpPr>
        <p:spPr>
          <a:xfrm>
            <a:off x="7055968" y="1371600"/>
            <a:ext cx="4358488" cy="502920"/>
          </a:xfrm>
          <a:prstGeom prst="rect">
            <a:avLst/>
          </a:prstGeom>
          <a:noFill/>
        </p:spPr>
        <p:txBody>
          <a:bodyPr wrap="square" anchor="ctr" lIns="0" rIns="0" tIns="0" bIns="0">
            <a:noAutofit/>
          </a:bodyPr>
          <a:lstStyle/>
          <a:p>
            <a:pPr algn="l"/>
            <a:r>
              <a:rPr sz="2800" b="1" i="0" u="none">
                <a:solidFill>
                  <a:srgbClr val="261F1D"/>
                </a:solidFill>
                <a:latin typeface="Helvetica"/>
              </a:rPr>
              <a:t>SQLAlchemy</a:t>
            </a:r>
          </a:p>
        </p:txBody>
      </p:sp>
      <p:sp>
        <p:nvSpPr>
          <p:cNvPr id="11" name="TextBox 10"/>
          <p:cNvSpPr txBox="1"/>
          <p:nvPr/>
        </p:nvSpPr>
        <p:spPr>
          <a:xfrm>
            <a:off x="6461608" y="2011680"/>
            <a:ext cx="4952848" cy="434340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Pools and reuses connections by default</a:t>
            </a:r>
          </a:p>
          <a:p>
            <a:pPr>
              <a:spcAft>
                <a:spcPts val="1000"/>
              </a:spcAft>
            </a:pPr>
            <a:r>
              <a:rPr sz="2600">
                <a:solidFill>
                  <a:srgbClr val="261F1D"/>
                </a:solidFill>
                <a:latin typeface="Helvetica"/>
              </a:rPr>
              <a:t>•  </a:t>
            </a:r>
            <a:r>
              <a:rPr sz="2600" b="0" i="0" u="none">
                <a:solidFill>
                  <a:srgbClr val="261F1D"/>
                </a:solidFill>
                <a:latin typeface="Helvetica"/>
              </a:rPr>
              <a:t>pandas reads it in one supported call</a:t>
            </a:r>
          </a:p>
          <a:p>
            <a:pPr>
              <a:spcAft>
                <a:spcPts val="1000"/>
              </a:spcAft>
            </a:pPr>
            <a:r>
              <a:rPr sz="2600">
                <a:solidFill>
                  <a:srgbClr val="261F1D"/>
                </a:solidFill>
                <a:latin typeface="Helvetica"/>
              </a:rPr>
              <a:t>•  </a:t>
            </a:r>
            <a:r>
              <a:rPr sz="2600" b="0" i="0" u="none">
                <a:solidFill>
                  <a:srgbClr val="261F1D"/>
                </a:solidFill>
                <a:latin typeface="Helvetica"/>
              </a:rPr>
              <a:t>Swap the URL, keep your code</a:t>
            </a:r>
          </a:p>
          <a:p>
            <a:pPr>
              <a:spcAft>
                <a:spcPts val="1000"/>
              </a:spcAft>
            </a:pPr>
            <a:r>
              <a:rPr sz="2600">
                <a:solidFill>
                  <a:srgbClr val="261F1D"/>
                </a:solidFill>
                <a:latin typeface="Helvetica"/>
              </a:rPr>
              <a:t>•  </a:t>
            </a:r>
            <a:r>
              <a:rPr sz="2600" b="0" i="0" u="none">
                <a:solidFill>
                  <a:srgbClr val="261F1D"/>
                </a:solidFill>
                <a:latin typeface="Helvetica"/>
              </a:rPr>
              <a:t>Your SQL itself is still not portable</a:t>
            </a:r>
          </a:p>
          <a:p>
            <a:pPr>
              <a:spcAft>
                <a:spcPts val="1000"/>
              </a:spcAft>
            </a:pPr>
            <a:r>
              <a:rPr sz="2600">
                <a:solidFill>
                  <a:srgbClr val="261F1D"/>
                </a:solidFill>
                <a:latin typeface="Helvetica"/>
              </a:rPr>
              <a:t>•  </a:t>
            </a:r>
            <a:r>
              <a:rPr sz="2600" b="0" i="0" u="none">
                <a:solidFill>
                  <a:srgbClr val="261F1D"/>
                </a:solidFill>
                <a:latin typeface="Helvetica"/>
              </a:rPr>
              <a:t>More to learn, plus an optional ORM</a:t>
            </a:r>
          </a:p>
        </p:txBody>
      </p:sp>
      <p:cxnSp>
        <p:nvCxnSpPr>
          <p:cNvPr id="12" name="Connector 11"/>
          <p:cNvCxnSpPr/>
          <p:nvPr/>
        </p:nvCxnSpPr>
        <p:spPr>
          <a:xfrm>
            <a:off x="6095848" y="1188720"/>
            <a:ext cx="0" cy="5394960"/>
          </a:xfrm>
          <a:prstGeom prst="line">
            <a:avLst/>
          </a:prstGeom>
          <a:ln w="19050">
            <a:solidFill>
              <a:srgbClr val="E1E3E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371600"/>
            <a:ext cx="11094415" cy="1188720"/>
          </a:xfrm>
          <a:prstGeom prst="rect">
            <a:avLst/>
          </a:prstGeom>
          <a:noFill/>
        </p:spPr>
        <p:txBody>
          <a:bodyPr wrap="square" anchor="t" lIns="0" rIns="0" tIns="0" bIns="0">
            <a:noAutofit/>
          </a:bodyPr>
          <a:lstStyle/>
          <a:p>
            <a:pPr algn="l"/>
            <a:r>
              <a:rPr sz="2800" b="1" i="0" u="none">
                <a:solidFill>
                  <a:srgbClr val="EEBC32"/>
                </a:solidFill>
                <a:latin typeface="Helvetica"/>
              </a:rPr>
              <a:t>You Have the Evidence</a:t>
            </a:r>
          </a:p>
        </p:txBody>
      </p:sp>
      <p:sp>
        <p:nvSpPr>
          <p:cNvPr id="4" name="TextBox 3"/>
          <p:cNvSpPr txBox="1"/>
          <p:nvPr/>
        </p:nvSpPr>
        <p:spPr>
          <a:xfrm>
            <a:off x="548640" y="2468880"/>
            <a:ext cx="11094415" cy="1645920"/>
          </a:xfrm>
          <a:prstGeom prst="rect">
            <a:avLst/>
          </a:prstGeom>
          <a:noFill/>
        </p:spPr>
        <p:txBody>
          <a:bodyPr wrap="square" anchor="t" lIns="0" rIns="0" tIns="0" bIns="0">
            <a:noAutofit/>
          </a:bodyPr>
          <a:lstStyle/>
          <a:p>
            <a:pPr algn="l"/>
            <a:r>
              <a:rPr sz="4000" b="1" i="0" u="none">
                <a:solidFill>
                  <a:srgbClr val="FFFCF7"/>
                </a:solidFill>
                <a:latin typeface="Helvetica"/>
              </a:rPr>
              <a:t>Now Turn It Into a Recommendation</a:t>
            </a:r>
          </a:p>
        </p:txBody>
      </p:sp>
      <p:sp>
        <p:nvSpPr>
          <p:cNvPr id="5" name="TextBox 4"/>
          <p:cNvSpPr txBox="1"/>
          <p:nvPr/>
        </p:nvSpPr>
        <p:spPr>
          <a:xfrm>
            <a:off x="548640" y="4023360"/>
            <a:ext cx="11094415" cy="731520"/>
          </a:xfrm>
          <a:prstGeom prst="rect">
            <a:avLst/>
          </a:prstGeom>
          <a:noFill/>
        </p:spPr>
        <p:txBody>
          <a:bodyPr wrap="square" anchor="t" lIns="0" rIns="0" tIns="0" bIns="0">
            <a:noAutofit/>
          </a:bodyPr>
          <a:lstStyle/>
          <a:p>
            <a:pPr algn="l"/>
            <a:r>
              <a:rPr sz="2800" b="0" i="0" u="none">
                <a:solidFill>
                  <a:srgbClr val="B3BBB0"/>
                </a:solidFill>
                <a:latin typeface="Helvetica"/>
              </a:rPr>
              <a:t>An interviewer will not accept a list of differences. They want a pick, and four questions are enough to get you to one.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Four Questions Before You </a:t>
            </a:r>
            <a:r>
              <a:rPr sz="3200" b="1" i="0" u="none">
                <a:solidFill>
                  <a:srgbClr val="264326"/>
                </a:solidFill>
                <a:latin typeface="Helvetica"/>
              </a:rPr>
              <a:t>Pick a Library</a:t>
            </a:r>
          </a:p>
        </p:txBody>
      </p:sp>
      <p:sp>
        <p:nvSpPr>
          <p:cNvPr id="4" name="Rounded Rectangle 3"/>
          <p:cNvSpPr/>
          <p:nvPr/>
        </p:nvSpPr>
        <p:spPr>
          <a:xfrm>
            <a:off x="548640" y="1188720"/>
            <a:ext cx="2036003" cy="5074920"/>
          </a:xfrm>
          <a:prstGeom prst="roundRect">
            <a:avLst>
              <a:gd name="adj" fmla="val 6000"/>
            </a:avLst>
          </a:prstGeom>
          <a:solidFill>
            <a:srgbClr val="2F5A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63040"/>
            <a:ext cx="1578803" cy="548640"/>
          </a:xfrm>
          <a:prstGeom prst="rect">
            <a:avLst/>
          </a:prstGeom>
          <a:noFill/>
        </p:spPr>
        <p:txBody>
          <a:bodyPr wrap="square" anchor="t" lIns="0" rIns="0" tIns="0" bIns="0">
            <a:noAutofit/>
          </a:bodyPr>
          <a:lstStyle/>
          <a:p>
            <a:pPr algn="l"/>
            <a:r>
              <a:rPr sz="2600" b="1" i="0" u="none">
                <a:solidFill>
                  <a:srgbClr val="FECC5B"/>
                </a:solidFill>
                <a:latin typeface="Helvetica"/>
              </a:rPr>
              <a:t>The Question</a:t>
            </a:r>
          </a:p>
        </p:txBody>
      </p:sp>
      <p:sp>
        <p:nvSpPr>
          <p:cNvPr id="6" name="TextBox 5"/>
          <p:cNvSpPr txBox="1"/>
          <p:nvPr/>
        </p:nvSpPr>
        <p:spPr>
          <a:xfrm>
            <a:off x="777240" y="2148840"/>
            <a:ext cx="1578803" cy="3840480"/>
          </a:xfrm>
          <a:prstGeom prst="rect">
            <a:avLst/>
          </a:prstGeom>
          <a:noFill/>
        </p:spPr>
        <p:txBody>
          <a:bodyPr wrap="square" anchor="t" lIns="0" rIns="0" tIns="0" bIns="0">
            <a:noAutofit/>
          </a:bodyPr>
          <a:lstStyle/>
          <a:p>
            <a:pPr algn="l"/>
            <a:r>
              <a:rPr sz="2600" b="0" i="1" u="none">
                <a:solidFill>
                  <a:srgbClr val="FFFCF7"/>
                </a:solidFill>
                <a:latin typeface="Fraunces"/>
              </a:rPr>
              <a:t>"Which one should this script use, and why that one?"</a:t>
            </a:r>
          </a:p>
        </p:txBody>
      </p:sp>
      <p:sp>
        <p:nvSpPr>
          <p:cNvPr id="7" name="Rounded Rectangle 6"/>
          <p:cNvSpPr/>
          <p:nvPr/>
        </p:nvSpPr>
        <p:spPr>
          <a:xfrm>
            <a:off x="2813243" y="1188720"/>
            <a:ext cx="2036003"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996123" y="1417320"/>
            <a:ext cx="1670243" cy="777240"/>
          </a:xfrm>
          <a:prstGeom prst="rect">
            <a:avLst/>
          </a:prstGeom>
          <a:noFill/>
        </p:spPr>
        <p:txBody>
          <a:bodyPr wrap="square" anchor="t" lIns="0" rIns="0" tIns="0" bIns="0">
            <a:noAutofit/>
          </a:bodyPr>
          <a:lstStyle/>
          <a:p>
            <a:pPr algn="ctr"/>
            <a:r>
              <a:rPr sz="4400" b="1" i="0" u="none">
                <a:solidFill>
                  <a:srgbClr val="2F5A8B"/>
                </a:solidFill>
                <a:latin typeface="Helvetica"/>
              </a:rPr>
              <a:t>01</a:t>
            </a:r>
          </a:p>
        </p:txBody>
      </p:sp>
      <p:sp>
        <p:nvSpPr>
          <p:cNvPr id="9" name="TextBox 8"/>
          <p:cNvSpPr txBox="1"/>
          <p:nvPr/>
        </p:nvSpPr>
        <p:spPr>
          <a:xfrm>
            <a:off x="2996123" y="2286000"/>
            <a:ext cx="1670243" cy="640080"/>
          </a:xfrm>
          <a:prstGeom prst="rect">
            <a:avLst/>
          </a:prstGeom>
          <a:noFill/>
        </p:spPr>
        <p:txBody>
          <a:bodyPr wrap="square" anchor="t" lIns="0" rIns="0" tIns="0" bIns="0">
            <a:noAutofit/>
          </a:bodyPr>
          <a:lstStyle/>
          <a:p>
            <a:pPr algn="ctr"/>
            <a:r>
              <a:rPr sz="2800" b="1" i="0" u="none">
                <a:solidFill>
                  <a:srgbClr val="261F1D"/>
                </a:solidFill>
                <a:latin typeface="Helvetica"/>
              </a:rPr>
              <a:t>Lifespan</a:t>
            </a:r>
          </a:p>
        </p:txBody>
      </p:sp>
      <p:sp>
        <p:nvSpPr>
          <p:cNvPr id="10" name="TextBox 9"/>
          <p:cNvSpPr txBox="1"/>
          <p:nvPr/>
        </p:nvSpPr>
        <p:spPr>
          <a:xfrm>
            <a:off x="2996123" y="3017520"/>
            <a:ext cx="1670243" cy="3063240"/>
          </a:xfrm>
          <a:prstGeom prst="rect">
            <a:avLst/>
          </a:prstGeom>
          <a:noFill/>
        </p:spPr>
        <p:txBody>
          <a:bodyPr wrap="square" anchor="t" lIns="0" rIns="0" tIns="0" bIns="0">
            <a:noAutofit/>
          </a:bodyPr>
          <a:lstStyle/>
          <a:p>
            <a:pPr algn="ctr"/>
            <a:r>
              <a:rPr sz="2600" b="0" i="0" u="none">
                <a:solidFill>
                  <a:srgbClr val="261F1D"/>
                </a:solidFill>
                <a:latin typeface="Helvetica"/>
              </a:rPr>
              <a:t>Runs once, or runs all day?</a:t>
            </a:r>
          </a:p>
        </p:txBody>
      </p:sp>
      <p:sp>
        <p:nvSpPr>
          <p:cNvPr id="11" name="Rounded Rectangle 10"/>
          <p:cNvSpPr/>
          <p:nvPr/>
        </p:nvSpPr>
        <p:spPr>
          <a:xfrm>
            <a:off x="5077846" y="1188720"/>
            <a:ext cx="2036003"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260726" y="1417320"/>
            <a:ext cx="1670243" cy="777240"/>
          </a:xfrm>
          <a:prstGeom prst="rect">
            <a:avLst/>
          </a:prstGeom>
          <a:noFill/>
        </p:spPr>
        <p:txBody>
          <a:bodyPr wrap="square" anchor="t" lIns="0" rIns="0" tIns="0" bIns="0">
            <a:noAutofit/>
          </a:bodyPr>
          <a:lstStyle/>
          <a:p>
            <a:pPr algn="ctr"/>
            <a:r>
              <a:rPr sz="4400" b="1" i="0" u="none">
                <a:solidFill>
                  <a:srgbClr val="2F5A8B"/>
                </a:solidFill>
                <a:latin typeface="Helvetica"/>
              </a:rPr>
              <a:t>02</a:t>
            </a:r>
          </a:p>
        </p:txBody>
      </p:sp>
      <p:sp>
        <p:nvSpPr>
          <p:cNvPr id="13" name="TextBox 12"/>
          <p:cNvSpPr txBox="1"/>
          <p:nvPr/>
        </p:nvSpPr>
        <p:spPr>
          <a:xfrm>
            <a:off x="5260726" y="2286000"/>
            <a:ext cx="1670243" cy="640080"/>
          </a:xfrm>
          <a:prstGeom prst="rect">
            <a:avLst/>
          </a:prstGeom>
          <a:noFill/>
        </p:spPr>
        <p:txBody>
          <a:bodyPr wrap="square" anchor="t" lIns="0" rIns="0" tIns="0" bIns="0">
            <a:noAutofit/>
          </a:bodyPr>
          <a:lstStyle/>
          <a:p>
            <a:pPr algn="ctr"/>
            <a:r>
              <a:rPr sz="2800" b="1" i="0" u="none">
                <a:solidFill>
                  <a:srgbClr val="261F1D"/>
                </a:solidFill>
                <a:latin typeface="Helvetica"/>
              </a:rPr>
              <a:t>Control</a:t>
            </a:r>
          </a:p>
        </p:txBody>
      </p:sp>
      <p:sp>
        <p:nvSpPr>
          <p:cNvPr id="14" name="TextBox 13"/>
          <p:cNvSpPr txBox="1"/>
          <p:nvPr/>
        </p:nvSpPr>
        <p:spPr>
          <a:xfrm>
            <a:off x="5260726" y="3017520"/>
            <a:ext cx="1670243" cy="3063240"/>
          </a:xfrm>
          <a:prstGeom prst="rect">
            <a:avLst/>
          </a:prstGeom>
          <a:noFill/>
        </p:spPr>
        <p:txBody>
          <a:bodyPr wrap="square" anchor="t" lIns="0" rIns="0" tIns="0" bIns="0">
            <a:noAutofit/>
          </a:bodyPr>
          <a:lstStyle/>
          <a:p>
            <a:pPr algn="ctr"/>
            <a:r>
              <a:rPr sz="2600" b="0" i="0" u="none">
                <a:solidFill>
                  <a:srgbClr val="261F1D"/>
                </a:solidFill>
                <a:latin typeface="Helvetica"/>
              </a:rPr>
              <a:t>Do you need the driver's exact behavior?</a:t>
            </a:r>
          </a:p>
        </p:txBody>
      </p:sp>
      <p:sp>
        <p:nvSpPr>
          <p:cNvPr id="15" name="Rounded Rectangle 14"/>
          <p:cNvSpPr/>
          <p:nvPr/>
        </p:nvSpPr>
        <p:spPr>
          <a:xfrm>
            <a:off x="7342449" y="1188720"/>
            <a:ext cx="2036003"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329" y="1417320"/>
            <a:ext cx="1670243" cy="777240"/>
          </a:xfrm>
          <a:prstGeom prst="rect">
            <a:avLst/>
          </a:prstGeom>
          <a:noFill/>
        </p:spPr>
        <p:txBody>
          <a:bodyPr wrap="square" anchor="t" lIns="0" rIns="0" tIns="0" bIns="0">
            <a:noAutofit/>
          </a:bodyPr>
          <a:lstStyle/>
          <a:p>
            <a:pPr algn="ctr"/>
            <a:r>
              <a:rPr sz="4400" b="1" i="0" u="none">
                <a:solidFill>
                  <a:srgbClr val="2F5A8B"/>
                </a:solidFill>
                <a:latin typeface="Helvetica"/>
              </a:rPr>
              <a:t>03</a:t>
            </a:r>
          </a:p>
        </p:txBody>
      </p:sp>
      <p:sp>
        <p:nvSpPr>
          <p:cNvPr id="17" name="TextBox 16"/>
          <p:cNvSpPr txBox="1"/>
          <p:nvPr/>
        </p:nvSpPr>
        <p:spPr>
          <a:xfrm>
            <a:off x="7525329" y="2286000"/>
            <a:ext cx="1670243" cy="640080"/>
          </a:xfrm>
          <a:prstGeom prst="rect">
            <a:avLst/>
          </a:prstGeom>
          <a:noFill/>
        </p:spPr>
        <p:txBody>
          <a:bodyPr wrap="square" anchor="t" lIns="0" rIns="0" tIns="0" bIns="0">
            <a:noAutofit/>
          </a:bodyPr>
          <a:lstStyle/>
          <a:p>
            <a:pPr algn="ctr"/>
            <a:r>
              <a:rPr sz="2800" b="1" i="0" u="none">
                <a:solidFill>
                  <a:srgbClr val="261F1D"/>
                </a:solidFill>
                <a:latin typeface="Helvetica"/>
              </a:rPr>
              <a:t>Reach</a:t>
            </a:r>
          </a:p>
        </p:txBody>
      </p:sp>
      <p:sp>
        <p:nvSpPr>
          <p:cNvPr id="18" name="TextBox 17"/>
          <p:cNvSpPr txBox="1"/>
          <p:nvPr/>
        </p:nvSpPr>
        <p:spPr>
          <a:xfrm>
            <a:off x="7525329" y="3017520"/>
            <a:ext cx="1670243" cy="3063240"/>
          </a:xfrm>
          <a:prstGeom prst="rect">
            <a:avLst/>
          </a:prstGeom>
          <a:noFill/>
        </p:spPr>
        <p:txBody>
          <a:bodyPr wrap="square" anchor="t" lIns="0" rIns="0" tIns="0" bIns="0">
            <a:noAutofit/>
          </a:bodyPr>
          <a:lstStyle/>
          <a:p>
            <a:pPr algn="ctr"/>
            <a:r>
              <a:rPr sz="2600" b="0" i="0" u="none">
                <a:solidFill>
                  <a:srgbClr val="261F1D"/>
                </a:solidFill>
                <a:latin typeface="Helvetica"/>
              </a:rPr>
              <a:t>Could this ever point at another database?</a:t>
            </a:r>
          </a:p>
        </p:txBody>
      </p:sp>
      <p:sp>
        <p:nvSpPr>
          <p:cNvPr id="19" name="Rounded Rectangle 18"/>
          <p:cNvSpPr/>
          <p:nvPr/>
        </p:nvSpPr>
        <p:spPr>
          <a:xfrm>
            <a:off x="9607052" y="1188720"/>
            <a:ext cx="2036003" cy="507492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789932" y="1417320"/>
            <a:ext cx="1670243" cy="777240"/>
          </a:xfrm>
          <a:prstGeom prst="rect">
            <a:avLst/>
          </a:prstGeom>
          <a:noFill/>
        </p:spPr>
        <p:txBody>
          <a:bodyPr wrap="square" anchor="t" lIns="0" rIns="0" tIns="0" bIns="0">
            <a:noAutofit/>
          </a:bodyPr>
          <a:lstStyle/>
          <a:p>
            <a:pPr algn="ctr"/>
            <a:r>
              <a:rPr sz="4400" b="1" i="0" u="none">
                <a:solidFill>
                  <a:srgbClr val="2F5A8B"/>
                </a:solidFill>
                <a:latin typeface="Helvetica"/>
              </a:rPr>
              <a:t>04</a:t>
            </a:r>
          </a:p>
        </p:txBody>
      </p:sp>
      <p:sp>
        <p:nvSpPr>
          <p:cNvPr id="21" name="TextBox 20"/>
          <p:cNvSpPr txBox="1"/>
          <p:nvPr/>
        </p:nvSpPr>
        <p:spPr>
          <a:xfrm>
            <a:off x="9789932" y="2286000"/>
            <a:ext cx="1670243" cy="640080"/>
          </a:xfrm>
          <a:prstGeom prst="rect">
            <a:avLst/>
          </a:prstGeom>
          <a:noFill/>
        </p:spPr>
        <p:txBody>
          <a:bodyPr wrap="square" anchor="t" lIns="0" rIns="0" tIns="0" bIns="0">
            <a:noAutofit/>
          </a:bodyPr>
          <a:lstStyle/>
          <a:p>
            <a:pPr algn="ctr"/>
            <a:r>
              <a:rPr sz="2800" b="1" i="0" u="none">
                <a:solidFill>
                  <a:srgbClr val="261F1D"/>
                </a:solidFill>
                <a:latin typeface="Helvetica"/>
              </a:rPr>
              <a:t>Shape</a:t>
            </a:r>
          </a:p>
        </p:txBody>
      </p:sp>
      <p:sp>
        <p:nvSpPr>
          <p:cNvPr id="22" name="TextBox 21"/>
          <p:cNvSpPr txBox="1"/>
          <p:nvPr/>
        </p:nvSpPr>
        <p:spPr>
          <a:xfrm>
            <a:off x="9789932" y="3017520"/>
            <a:ext cx="1670243" cy="3063240"/>
          </a:xfrm>
          <a:prstGeom prst="rect">
            <a:avLst/>
          </a:prstGeom>
          <a:noFill/>
        </p:spPr>
        <p:txBody>
          <a:bodyPr wrap="square" anchor="t" lIns="0" rIns="0" tIns="0" bIns="0">
            <a:noAutofit/>
          </a:bodyPr>
          <a:lstStyle/>
          <a:p>
            <a:pPr algn="ctr"/>
            <a:r>
              <a:rPr sz="2600" b="0" i="0" u="none">
                <a:solidFill>
                  <a:srgbClr val="261F1D"/>
                </a:solidFill>
                <a:latin typeface="Helvetica"/>
              </a:rPr>
              <a:t>Do you want rows, or Python objects?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QUICK CHALLENGE</a:t>
            </a:r>
          </a:p>
        </p:txBody>
      </p:sp>
      <p:sp>
        <p:nvSpPr>
          <p:cNvPr id="5" name="TextBox 4"/>
          <p:cNvSpPr txBox="1"/>
          <p:nvPr/>
        </p:nvSpPr>
        <p:spPr>
          <a:xfrm>
            <a:off x="548640" y="1737360"/>
            <a:ext cx="11094415" cy="1280160"/>
          </a:xfrm>
          <a:prstGeom prst="rect">
            <a:avLst/>
          </a:prstGeom>
          <a:noFill/>
        </p:spPr>
        <p:txBody>
          <a:bodyPr wrap="square" anchor="t" lIns="0" rIns="0" tIns="0" bIns="0">
            <a:noAutofit/>
          </a:bodyPr>
          <a:lstStyle/>
          <a:p>
            <a:pPr algn="l"/>
            <a:r>
              <a:rPr sz="3200" b="1" i="0" u="none">
                <a:solidFill>
                  <a:srgbClr val="261F1D"/>
                </a:solidFill>
                <a:latin typeface="Helvetica"/>
              </a:rPr>
              <a:t>A nightly script runs one query, prints one number, and exits. Which library, and what is the strongest reason?</a:t>
            </a:r>
          </a:p>
        </p:txBody>
      </p:sp>
      <p:sp>
        <p:nvSpPr>
          <p:cNvPr id="6" name="TextBox 5"/>
          <p:cNvSpPr txBox="1"/>
          <p:nvPr/>
        </p:nvSpPr>
        <p:spPr>
          <a:xfrm>
            <a:off x="822960" y="3291840"/>
            <a:ext cx="10545775" cy="2560320"/>
          </a:xfrm>
          <a:prstGeom prst="rect">
            <a:avLst/>
          </a:prstGeom>
          <a:noFill/>
        </p:spPr>
        <p:txBody>
          <a:bodyPr wrap="square" lIns="0" rIns="0" tIns="0" bIns="0">
            <a:noAutofit/>
          </a:bodyPr>
          <a:lstStyle/>
          <a:p>
            <a:pPr>
              <a:spcAft>
                <a:spcPts val="1000"/>
              </a:spcAft>
            </a:pPr>
            <a:r>
              <a:rPr sz="2600" b="0" i="0" u="none">
                <a:solidFill>
                  <a:srgbClr val="261F1D"/>
                </a:solidFill>
                <a:latin typeface="Helvetica"/>
              </a:rPr>
              <a:t>A.  </a:t>
            </a:r>
            <a:r>
              <a:rPr sz="2600" b="0" i="0" u="none">
                <a:solidFill>
                  <a:srgbClr val="261F1D"/>
                </a:solidFill>
                <a:latin typeface="Roboto Mono"/>
              </a:rPr>
              <a:t>psycopg2</a:t>
            </a:r>
            <a:r>
              <a:rPr sz="2600" b="0" i="0" u="none">
                <a:solidFill>
                  <a:srgbClr val="261F1D"/>
                </a:solidFill>
                <a:latin typeface="Helvetica"/>
              </a:rPr>
              <a:t>, since one query gains nothing from a pool</a:t>
            </a:r>
          </a:p>
          <a:p>
            <a:pPr>
              <a:spcAft>
                <a:spcPts val="1000"/>
              </a:spcAft>
            </a:pPr>
            <a:r>
              <a:rPr sz="2600" b="0" i="0" u="none">
                <a:solidFill>
                  <a:srgbClr val="261F1D"/>
                </a:solidFill>
                <a:latin typeface="Helvetica"/>
              </a:rPr>
              <a:t>B.  SQLAlchemy, since pooling is always the safer default</a:t>
            </a:r>
          </a:p>
          <a:p>
            <a:pPr>
              <a:spcAft>
                <a:spcPts val="1000"/>
              </a:spcAft>
            </a:pPr>
            <a:r>
              <a:rPr sz="2600" b="0" i="0" u="none">
                <a:solidFill>
                  <a:srgbClr val="261F1D"/>
                </a:solidFill>
                <a:latin typeface="Helvetica"/>
              </a:rPr>
              <a:t>C.  Either one, since the choice never matters at this size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EECA"/>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66928"/>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566928"/>
          </a:xfrm>
          <a:prstGeom prst="rect">
            <a:avLst/>
          </a:prstGeom>
          <a:noFill/>
        </p:spPr>
        <p:txBody>
          <a:bodyPr wrap="square" anchor="ctr" lIns="0" rIns="0" tIns="0" bIns="0">
            <a:noAutofit/>
          </a:bodyPr>
          <a:lstStyle/>
          <a:p>
            <a:pPr algn="l"/>
            <a:r>
              <a:rPr sz="2600" b="1" i="0" u="none">
                <a:solidFill>
                  <a:srgbClr val="261F1D"/>
                </a:solidFill>
                <a:latin typeface="Helvetica"/>
              </a:rPr>
              <a:t>Answer Key: Recommending for One Script</a:t>
            </a:r>
          </a:p>
        </p:txBody>
      </p:sp>
      <p:sp>
        <p:nvSpPr>
          <p:cNvPr id="5" name="TextBox 4"/>
          <p:cNvSpPr txBox="1"/>
          <p:nvPr/>
        </p:nvSpPr>
        <p:spPr>
          <a:xfrm>
            <a:off x="548640" y="1389888"/>
            <a:ext cx="11094415" cy="914400"/>
          </a:xfrm>
          <a:prstGeom prst="rect">
            <a:avLst/>
          </a:prstGeom>
          <a:noFill/>
        </p:spPr>
        <p:txBody>
          <a:bodyPr wrap="square" anchor="t" lIns="0" rIns="0" tIns="0" bIns="0">
            <a:noAutofit/>
          </a:bodyPr>
          <a:lstStyle/>
          <a:p>
            <a:pPr algn="l"/>
            <a:r>
              <a:rPr sz="3200" b="1" i="0" u="none">
                <a:solidFill>
                  <a:srgbClr val="261F1D"/>
                </a:solidFill>
                <a:latin typeface="Helvetica"/>
              </a:rPr>
              <a:t>Correct answer: </a:t>
            </a:r>
            <a:r>
              <a:rPr sz="3200" b="1" i="0" u="none">
                <a:solidFill>
                  <a:srgbClr val="261F1D"/>
                </a:solidFill>
                <a:latin typeface="Roboto Mono"/>
              </a:rPr>
              <a:t>psycopg2</a:t>
            </a:r>
            <a:r>
              <a:rPr sz="3200" b="1" i="0" u="none">
                <a:solidFill>
                  <a:srgbClr val="261F1D"/>
                </a:solidFill>
                <a:latin typeface="Helvetica"/>
              </a:rPr>
              <a:t>, since one query gains nothing from a pool</a:t>
            </a:r>
          </a:p>
        </p:txBody>
      </p:sp>
      <p:sp>
        <p:nvSpPr>
          <p:cNvPr id="6" name="TextBox 5"/>
          <p:cNvSpPr txBox="1"/>
          <p:nvPr/>
        </p:nvSpPr>
        <p:spPr>
          <a:xfrm>
            <a:off x="548640" y="2487168"/>
            <a:ext cx="11094415" cy="2286000"/>
          </a:xfrm>
          <a:prstGeom prst="rect">
            <a:avLst/>
          </a:prstGeom>
          <a:noFill/>
        </p:spPr>
        <p:txBody>
          <a:bodyPr wrap="square" anchor="t" lIns="0" rIns="0" tIns="0" bIns="0">
            <a:noAutofit/>
          </a:bodyPr>
          <a:lstStyle/>
          <a:p>
            <a:pPr algn="l"/>
            <a:r>
              <a:rPr sz="2600" b="0" i="0" u="none">
                <a:solidFill>
                  <a:srgbClr val="261F1D"/>
                </a:solidFill>
                <a:latin typeface="Helvetica"/>
              </a:rPr>
              <a:t>A script that opens once, asks once, and exits has no second query to reuse a connection, so the pool that made the earlier cell impressive does nothing here. The strongest reason names the script's lifespan, not the library's reputation. The tempting wrong answer, that pooling is always the safer default, is the exact belief this lesson is built to break. Saying the choice never matters is wrong for a different reason, because it does have a consequence: whoever inherits this script has to learn whichever layer you left behind. Either library would run correctly here, which is precisely why the reasoning is what gets graded.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82296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457200"/>
            <a:ext cx="10545775" cy="82296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5" name="TextBox 4"/>
          <p:cNvSpPr txBox="1"/>
          <p:nvPr/>
        </p:nvSpPr>
        <p:spPr>
          <a:xfrm>
            <a:off x="548640" y="155448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Topics You Might Get Asked About</a:t>
            </a:r>
          </a:p>
        </p:txBody>
      </p:sp>
      <p:sp>
        <p:nvSpPr>
          <p:cNvPr id="6" name="TextBox 5"/>
          <p:cNvSpPr txBox="1"/>
          <p:nvPr/>
        </p:nvSpPr>
        <p:spPr>
          <a:xfrm>
            <a:off x="822960" y="2560320"/>
            <a:ext cx="10545775" cy="347472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How would you connect a Python script to Postgres, and what would make you reach for SQLAlchemy over the raw driver?</a:t>
            </a:r>
          </a:p>
          <a:p>
            <a:pPr>
              <a:spcAft>
                <a:spcPts val="1000"/>
              </a:spcAft>
            </a:pPr>
            <a:r>
              <a:rPr sz="2600">
                <a:solidFill>
                  <a:srgbClr val="261F1D"/>
                </a:solidFill>
                <a:latin typeface="Helvetica"/>
              </a:rPr>
              <a:t>•  </a:t>
            </a:r>
            <a:r>
              <a:rPr sz="2600" b="0" i="0" u="none">
                <a:solidFill>
                  <a:srgbClr val="261F1D"/>
                </a:solidFill>
                <a:latin typeface="Helvetica"/>
              </a:rPr>
              <a:t>Explain connection pooling to someone who does not write code.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691640"/>
          </a:xfrm>
          <a:prstGeom prst="rect">
            <a:avLst/>
          </a:prstGeom>
          <a:noFill/>
        </p:spPr>
        <p:txBody>
          <a:bodyPr wrap="square" anchor="t" lIns="0" rIns="0" tIns="0" bIns="0">
            <a:noAutofit/>
          </a:bodyPr>
          <a:lstStyle/>
          <a:p>
            <a:pPr algn="l"/>
            <a:r>
              <a:rPr sz="3200" b="1" i="0" u="none">
                <a:solidFill>
                  <a:srgbClr val="261F1D"/>
                </a:solidFill>
                <a:latin typeface="Helvetica"/>
              </a:rPr>
              <a:t>How would you connect a Python script to Postgres, and what would make you reach for SQLAlchemy over the raw driver?</a:t>
            </a:r>
          </a:p>
        </p:txBody>
      </p:sp>
      <p:sp>
        <p:nvSpPr>
          <p:cNvPr id="7" name="Rounded Rectangle 6"/>
          <p:cNvSpPr/>
          <p:nvPr/>
        </p:nvSpPr>
        <p:spPr>
          <a:xfrm>
            <a:off x="548640" y="3246120"/>
            <a:ext cx="11094415" cy="310896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3474720"/>
            <a:ext cx="10545775" cy="265176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Question: Is this a one-off analysis script, or something that runs continuously? Assumption: I will assume a scheduled job against one Postgres database, with the credential read from the environment. Risk: If it turns out to be a long-running service, a raw driver opening a connection per request is exactly what runs a database out of slots, and that is the case where I reach for an engine and its pool.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457200"/>
            <a:ext cx="11094415" cy="54864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
          <p:cNvPicPr>
            <a:picLocks noChangeAspect="1"/>
          </p:cNvPicPr>
          <p:nvPr/>
        </p:nvPicPr>
        <p:blipFill>
          <a:blip r:embed="rId3"/>
          <a:stretch>
            <a:fillRect/>
          </a:stretch>
        </p:blipFill>
        <p:spPr>
          <a:xfrm>
            <a:off x="731520" y="548640"/>
            <a:ext cx="365760" cy="365760"/>
          </a:xfrm>
          <a:prstGeom prst="rect">
            <a:avLst/>
          </a:prstGeom>
        </p:spPr>
      </p:pic>
      <p:sp>
        <p:nvSpPr>
          <p:cNvPr id="5" name="TextBox 4"/>
          <p:cNvSpPr txBox="1"/>
          <p:nvPr/>
        </p:nvSpPr>
        <p:spPr>
          <a:xfrm>
            <a:off x="1234440" y="457200"/>
            <a:ext cx="10271455" cy="548640"/>
          </a:xfrm>
          <a:prstGeom prst="rect">
            <a:avLst/>
          </a:prstGeom>
          <a:noFill/>
        </p:spPr>
        <p:txBody>
          <a:bodyPr wrap="square" anchor="ctr" lIns="0" rIns="0" tIns="0" bIns="0">
            <a:noAutofit/>
          </a:bodyPr>
          <a:lstStyle/>
          <a:p>
            <a:pPr algn="l"/>
            <a:r>
              <a:rPr sz="2600" b="1" i="0" u="none">
                <a:solidFill>
                  <a:srgbClr val="261F1D"/>
                </a:solidFill>
                <a:latin typeface="Helvetica"/>
              </a:rPr>
              <a:t>INTERVIEW PREP</a:t>
            </a:r>
          </a:p>
        </p:txBody>
      </p:sp>
      <p:sp>
        <p:nvSpPr>
          <p:cNvPr id="6" name="TextBox 5"/>
          <p:cNvSpPr txBox="1"/>
          <p:nvPr/>
        </p:nvSpPr>
        <p:spPr>
          <a:xfrm>
            <a:off x="548640" y="1280160"/>
            <a:ext cx="11094415" cy="1188720"/>
          </a:xfrm>
          <a:prstGeom prst="rect">
            <a:avLst/>
          </a:prstGeom>
          <a:noFill/>
        </p:spPr>
        <p:txBody>
          <a:bodyPr wrap="square" anchor="t" lIns="0" rIns="0" tIns="0" bIns="0">
            <a:noAutofit/>
          </a:bodyPr>
          <a:lstStyle/>
          <a:p>
            <a:pPr algn="l"/>
            <a:r>
              <a:rPr sz="3200" b="1" i="0" u="none">
                <a:solidFill>
                  <a:srgbClr val="261F1D"/>
                </a:solidFill>
                <a:latin typeface="Helvetica"/>
              </a:rPr>
              <a:t>Explain connection pooling to someone who does not write code.</a:t>
            </a:r>
          </a:p>
        </p:txBody>
      </p:sp>
      <p:sp>
        <p:nvSpPr>
          <p:cNvPr id="7" name="Rounded Rectangle 6"/>
          <p:cNvSpPr/>
          <p:nvPr/>
        </p:nvSpPr>
        <p:spPr>
          <a:xfrm>
            <a:off x="548640" y="2743200"/>
            <a:ext cx="11094415" cy="3611880"/>
          </a:xfrm>
          <a:prstGeom prst="roundRect">
            <a:avLst>
              <a:gd name="adj" fmla="val 6000"/>
            </a:avLst>
          </a:prstGeom>
          <a:solidFill>
            <a:srgbClr val="DEEAF4"/>
          </a:solidFill>
          <a:ln w="50800">
            <a:solidFill>
              <a:srgbClr val="2274B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971800"/>
            <a:ext cx="10545775" cy="3154680"/>
          </a:xfrm>
          <a:prstGeom prst="rect">
            <a:avLst/>
          </a:prstGeom>
          <a:noFill/>
        </p:spPr>
        <p:txBody>
          <a:bodyPr wrap="square" anchor="t" lIns="0" rIns="0" tIns="0" bIns="0">
            <a:noAutofit/>
          </a:bodyPr>
          <a:lstStyle/>
          <a:p>
            <a:pPr algn="l"/>
            <a:r>
              <a:rPr sz="2600" b="1" i="0" u="none">
                <a:solidFill>
                  <a:srgbClr val="264326"/>
                </a:solidFill>
                <a:latin typeface="Helvetica"/>
              </a:rPr>
              <a:t>Answer:</a:t>
            </a:r>
            <a:r>
              <a:rPr sz="2600" b="0" i="0" u="none">
                <a:solidFill>
                  <a:srgbClr val="261F1D"/>
                </a:solidFill>
                <a:latin typeface="Helvetica"/>
              </a:rPr>
              <a:t> Audience: Someone approving the work, not reading the code. Simplify: Opening a link to a database is slow, and the database only allows so many at once. Analogy: It is the rack of loaner rackets at a gym, taken and put back, instead of buying a new one every game. Check: So if I say we reuse a few links instead of making a new one every time, does that land?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Key Terms — Recap</a:t>
            </a:r>
          </a:p>
        </p:txBody>
      </p:sp>
      <p:graphicFrame>
        <p:nvGraphicFramePr>
          <p:cNvPr id="4" name="Table 3"/>
          <p:cNvGraphicFramePr>
            <a:graphicFrameLocks noGrp="1"/>
          </p:cNvGraphicFramePr>
          <p:nvPr/>
        </p:nvGraphicFramePr>
        <p:xfrm>
          <a:off x="548640" y="1929384"/>
          <a:ext cx="11094415" cy="3639312"/>
        </p:xfrm>
        <a:graphic>
          <a:graphicData uri="http://schemas.openxmlformats.org/drawingml/2006/table">
            <a:tbl>
              <a:tblPr>
                <a:tableStyleId>{5C22544A-7EE6-4342-B048-85BDC9FD1C3A}</a:tableStyleId>
              </a:tblPr>
              <a:tblGrid>
                <a:gridCol w="5547207"/>
                <a:gridCol w="5547208"/>
              </a:tblGrid>
              <a:tr h="502920">
                <a:tc>
                  <a:txBody>
                    <a:bodyPr wrap="square"/>
                    <a:lstStyle/>
                    <a:p>
                      <a:r>
                        <a:rPr sz="2600" b="1" i="0" u="none">
                          <a:solidFill>
                            <a:srgbClr val="FFFCF7"/>
                          </a:solidFill>
                          <a:latin typeface="Helvetica"/>
                        </a:rPr>
                        <a:t>Term</a:t>
                      </a:r>
                    </a:p>
                  </a:txBody>
                  <a:tcPr marL="109728" marR="109728" marT="54864" marB="54864" anchor="ctr">
                    <a:solidFill>
                      <a:srgbClr val="264326"/>
                    </a:solidFill>
                  </a:tcPr>
                </a:tc>
                <a:tc>
                  <a:txBody>
                    <a:bodyPr wrap="square"/>
                    <a:lstStyle/>
                    <a:p>
                      <a:r>
                        <a:rPr sz="2600" b="1" i="0" u="none">
                          <a:solidFill>
                            <a:srgbClr val="FFFCF7"/>
                          </a:solidFill>
                          <a:latin typeface="Helvetica"/>
                        </a:rPr>
                        <a:t>Definition</a:t>
                      </a:r>
                    </a:p>
                  </a:txBody>
                  <a:tcPr marL="109728" marR="109728" marT="54864" marB="54864" anchor="ctr">
                    <a:solidFill>
                      <a:srgbClr val="264326"/>
                    </a:solidFill>
                  </a:tcPr>
                </a:tc>
              </a:tr>
              <a:tr h="877824">
                <a:tc>
                  <a:txBody>
                    <a:bodyPr wrap="square"/>
                    <a:lstStyle/>
                    <a:p>
                      <a:r>
                        <a:rPr sz="2600" b="0" i="0" u="none">
                          <a:solidFill>
                            <a:srgbClr val="261F1D"/>
                          </a:solidFill>
                          <a:latin typeface="Helvetica"/>
                        </a:rPr>
                        <a:t>abstraction layer</a:t>
                      </a:r>
                    </a:p>
                  </a:txBody>
                  <a:tcPr marL="109728" marR="109728" marT="54864" marB="54864" anchor="ctr">
                    <a:solidFill>
                      <a:srgbClr val="FFFCF7"/>
                    </a:solidFill>
                  </a:tcPr>
                </a:tc>
                <a:tc>
                  <a:txBody>
                    <a:bodyPr wrap="square"/>
                    <a:lstStyle/>
                    <a:p>
                      <a:r>
                        <a:rPr sz="2600" b="0" i="0" u="none">
                          <a:solidFill>
                            <a:srgbClr val="261F1D"/>
                          </a:solidFill>
                          <a:latin typeface="Helvetica"/>
                        </a:rPr>
                        <a:t>A simpler surface over messier detail</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connection pool</a:t>
                      </a:r>
                    </a:p>
                  </a:txBody>
                  <a:tcPr marL="109728" marR="109728" marT="54864" marB="54864" anchor="ctr">
                    <a:solidFill>
                      <a:srgbClr val="FFF6E4"/>
                    </a:solidFill>
                  </a:tcPr>
                </a:tc>
                <a:tc>
                  <a:txBody>
                    <a:bodyPr wrap="square"/>
                    <a:lstStyle/>
                    <a:p>
                      <a:r>
                        <a:rPr sz="2600" b="0" i="0" u="none">
                          <a:solidFill>
                            <a:srgbClr val="261F1D"/>
                          </a:solidFill>
                          <a:latin typeface="Helvetica"/>
                        </a:rPr>
                        <a:t>Open connections lent out and returned</a:t>
                      </a:r>
                    </a:p>
                  </a:txBody>
                  <a:tcPr marL="109728" marR="109728" marT="54864" marB="54864" anchor="ctr">
                    <a:solidFill>
                      <a:srgbClr val="FFF6E4"/>
                    </a:solidFill>
                  </a:tcPr>
                </a:tc>
              </a:tr>
              <a:tr h="502920">
                <a:tc>
                  <a:txBody>
                    <a:bodyPr wrap="square"/>
                    <a:lstStyle/>
                    <a:p>
                      <a:r>
                        <a:rPr sz="2600" b="0" i="0" u="none">
                          <a:solidFill>
                            <a:srgbClr val="261F1D"/>
                          </a:solidFill>
                          <a:latin typeface="Helvetica"/>
                        </a:rPr>
                        <a:t>dialect</a:t>
                      </a:r>
                    </a:p>
                  </a:txBody>
                  <a:tcPr marL="109728" marR="109728" marT="54864" marB="54864" anchor="ctr">
                    <a:solidFill>
                      <a:srgbClr val="FFFCF7"/>
                    </a:solidFill>
                  </a:tcPr>
                </a:tc>
                <a:tc>
                  <a:txBody>
                    <a:bodyPr wrap="square"/>
                    <a:lstStyle/>
                    <a:p>
                      <a:r>
                        <a:rPr sz="2600" b="0" i="0" u="none">
                          <a:solidFill>
                            <a:srgbClr val="261F1D"/>
                          </a:solidFill>
                          <a:latin typeface="Helvetica"/>
                        </a:rPr>
                        <a:t>The translation for one database</a:t>
                      </a:r>
                    </a:p>
                  </a:txBody>
                  <a:tcPr marL="109728" marR="109728" marT="54864" marB="54864" anchor="ctr">
                    <a:solidFill>
                      <a:srgbClr val="FFFCF7"/>
                    </a:solidFill>
                  </a:tcPr>
                </a:tc>
              </a:tr>
              <a:tr h="877824">
                <a:tc>
                  <a:txBody>
                    <a:bodyPr wrap="square"/>
                    <a:lstStyle/>
                    <a:p>
                      <a:r>
                        <a:rPr sz="2600" b="0" i="0" u="none">
                          <a:solidFill>
                            <a:srgbClr val="261F1D"/>
                          </a:solidFill>
                          <a:latin typeface="Helvetica"/>
                        </a:rPr>
                        <a:t>ORM</a:t>
                      </a:r>
                    </a:p>
                  </a:txBody>
                  <a:tcPr marL="109728" marR="109728" marT="54864" marB="54864" anchor="ctr">
                    <a:solidFill>
                      <a:srgbClr val="FFF6E4"/>
                    </a:solidFill>
                  </a:tcPr>
                </a:tc>
                <a:tc>
                  <a:txBody>
                    <a:bodyPr wrap="square"/>
                    <a:lstStyle/>
                    <a:p>
                      <a:r>
                        <a:rPr sz="2600" b="0" i="0" u="none">
                          <a:solidFill>
                            <a:srgbClr val="261F1D"/>
                          </a:solidFill>
                          <a:latin typeface="Helvetica"/>
                        </a:rPr>
                        <a:t>Tables as classes, rows as objects</a:t>
                      </a:r>
                    </a:p>
                  </a:txBody>
                  <a:tcPr marL="109728" marR="109728" marT="54864" marB="54864" anchor="ctr">
                    <a:solidFill>
                      <a:srgbClr val="FFF6E4"/>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6E4"/>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45720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So far, we've covered...</a:t>
            </a:r>
          </a:p>
        </p:txBody>
      </p:sp>
      <p:sp>
        <p:nvSpPr>
          <p:cNvPr id="4" name="TextBox 3"/>
          <p:cNvSpPr txBox="1"/>
          <p:nvPr/>
        </p:nvSpPr>
        <p:spPr>
          <a:xfrm>
            <a:off x="548640" y="1188720"/>
            <a:ext cx="11094415" cy="5120640"/>
          </a:xfrm>
          <a:prstGeom prst="rect">
            <a:avLst/>
          </a:prstGeom>
          <a:noFill/>
        </p:spPr>
        <p:txBody>
          <a:bodyPr wrap="square" lIns="0" rIns="0" tIns="0" bIns="0">
            <a:noAutofit/>
          </a:bodyPr>
          <a:lstStyle/>
          <a:p>
            <a:pPr>
              <a:spcAft>
                <a:spcPts val="1000"/>
              </a:spcAft>
            </a:pPr>
            <a:r>
              <a:rPr sz="2600">
                <a:solidFill>
                  <a:srgbClr val="261F1D"/>
                </a:solidFill>
                <a:latin typeface="Helvetica"/>
              </a:rPr>
              <a:t>•  </a:t>
            </a:r>
            <a:r>
              <a:rPr sz="2600" b="0" i="0" u="none">
                <a:solidFill>
                  <a:srgbClr val="261F1D"/>
                </a:solidFill>
                <a:latin typeface="Helvetica"/>
              </a:rPr>
              <a:t>SQLAlchemy sits on top of </a:t>
            </a:r>
            <a:r>
              <a:rPr sz="2600" b="0" i="0" u="none">
                <a:solidFill>
                  <a:srgbClr val="261F1D"/>
                </a:solidFill>
                <a:latin typeface="Roboto Mono"/>
              </a:rPr>
              <a:t>psycopg2</a:t>
            </a:r>
          </a:p>
          <a:p>
            <a:pPr>
              <a:spcAft>
                <a:spcPts val="1000"/>
              </a:spcAft>
            </a:pPr>
            <a:r>
              <a:rPr sz="2600">
                <a:solidFill>
                  <a:srgbClr val="261F1D"/>
                </a:solidFill>
                <a:latin typeface="Helvetica"/>
              </a:rPr>
              <a:t>•  </a:t>
            </a:r>
            <a:r>
              <a:rPr sz="2600" b="0" i="0" u="none">
                <a:solidFill>
                  <a:srgbClr val="261F1D"/>
                </a:solidFill>
                <a:latin typeface="Helvetica"/>
              </a:rPr>
              <a:t>A pool reused one connection, measurably</a:t>
            </a:r>
          </a:p>
          <a:p>
            <a:pPr>
              <a:spcAft>
                <a:spcPts val="1000"/>
              </a:spcAft>
            </a:pPr>
            <a:r>
              <a:rPr sz="2600">
                <a:solidFill>
                  <a:srgbClr val="261F1D"/>
                </a:solidFill>
                <a:latin typeface="Helvetica"/>
              </a:rPr>
              <a:t>•  </a:t>
            </a:r>
            <a:r>
              <a:rPr sz="2600" b="0" i="0" u="none">
                <a:solidFill>
                  <a:srgbClr val="261F1D"/>
                </a:solidFill>
                <a:latin typeface="Helvetica"/>
              </a:rPr>
              <a:t>One changed string moved the same code</a:t>
            </a:r>
          </a:p>
          <a:p>
            <a:pPr>
              <a:spcAft>
                <a:spcPts val="1000"/>
              </a:spcAft>
            </a:pPr>
            <a:r>
              <a:rPr sz="2600">
                <a:solidFill>
                  <a:srgbClr val="261F1D"/>
                </a:solidFill>
                <a:latin typeface="Helvetica"/>
              </a:rPr>
              <a:t>•  </a:t>
            </a:r>
            <a:r>
              <a:rPr sz="2600" b="0" i="0" u="none">
                <a:solidFill>
                  <a:srgbClr val="261F1D"/>
                </a:solidFill>
                <a:latin typeface="Helvetica"/>
              </a:rPr>
              <a:t>A layer's default is still a decision</a:t>
            </a:r>
          </a:p>
          <a:p>
            <a:pPr>
              <a:spcAft>
                <a:spcPts val="1000"/>
              </a:spcAft>
            </a:pPr>
            <a:r>
              <a:rPr sz="2600">
                <a:solidFill>
                  <a:srgbClr val="261F1D"/>
                </a:solidFill>
                <a:latin typeface="Helvetica"/>
              </a:rPr>
              <a:t>•  </a:t>
            </a:r>
            <a:r>
              <a:rPr sz="2600" b="0" i="0" u="none">
                <a:solidFill>
                  <a:srgbClr val="261F1D"/>
                </a:solidFill>
                <a:latin typeface="Helvetica"/>
              </a:rPr>
              <a:t>Neither library is the better one</a:t>
            </a:r>
          </a:p>
          <a:p>
            <a:pPr>
              <a:spcAft>
                <a:spcPts val="1000"/>
              </a:spcAft>
            </a:pPr>
            <a:r>
              <a:rPr sz="2600">
                <a:solidFill>
                  <a:srgbClr val="261F1D"/>
                </a:solidFill>
                <a:latin typeface="Helvetica"/>
              </a:rPr>
              <a:t>•  </a:t>
            </a:r>
            <a:r>
              <a:rPr sz="2600" b="0" i="0" u="none">
                <a:solidFill>
                  <a:srgbClr val="261F1D"/>
                </a:solidFill>
                <a:latin typeface="Helvetica"/>
              </a:rPr>
              <a:t>Four questions decide it, not a rule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64326"/>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TextBox 2"/>
          <p:cNvSpPr txBox="1"/>
          <p:nvPr/>
        </p:nvSpPr>
        <p:spPr>
          <a:xfrm>
            <a:off x="548640" y="1188720"/>
            <a:ext cx="11094415" cy="1005840"/>
          </a:xfrm>
          <a:prstGeom prst="rect">
            <a:avLst/>
          </a:prstGeom>
          <a:noFill/>
        </p:spPr>
        <p:txBody>
          <a:bodyPr wrap="square" anchor="t" lIns="0" rIns="0" tIns="0" bIns="0">
            <a:noAutofit/>
          </a:bodyPr>
          <a:lstStyle/>
          <a:p>
            <a:pPr algn="l"/>
            <a:r>
              <a:rPr sz="4000" b="1" i="0" u="none">
                <a:solidFill>
                  <a:srgbClr val="FFFCF7"/>
                </a:solidFill>
                <a:latin typeface="Helvetica"/>
              </a:rPr>
              <a:t>Before Next Class</a:t>
            </a:r>
          </a:p>
        </p:txBody>
      </p:sp>
      <p:sp>
        <p:nvSpPr>
          <p:cNvPr id="4" name="TextBox 3"/>
          <p:cNvSpPr txBox="1"/>
          <p:nvPr/>
        </p:nvSpPr>
        <p:spPr>
          <a:xfrm>
            <a:off x="548640" y="2651760"/>
            <a:ext cx="11094415" cy="2103120"/>
          </a:xfrm>
          <a:prstGeom prst="rect">
            <a:avLst/>
          </a:prstGeom>
          <a:noFill/>
        </p:spPr>
        <p:txBody>
          <a:bodyPr wrap="square" lIns="0" rIns="0" tIns="0" bIns="0">
            <a:noAutofit/>
          </a:bodyPr>
          <a:lstStyle/>
          <a:p>
            <a:pPr>
              <a:spcAft>
                <a:spcPts val="1000"/>
              </a:spcAft>
            </a:pPr>
            <a:r>
              <a:rPr sz="2600">
                <a:solidFill>
                  <a:srgbClr val="FFFCF7"/>
                </a:solidFill>
                <a:latin typeface="Helvetica"/>
              </a:rPr>
              <a:t>•  </a:t>
            </a:r>
            <a:r>
              <a:rPr sz="2600" b="0" i="0" u="none">
                <a:solidFill>
                  <a:srgbClr val="FFFCF7"/>
                </a:solidFill>
                <a:latin typeface="Helvetica"/>
              </a:rPr>
              <a:t>Run today's three cells on your database</a:t>
            </a:r>
          </a:p>
          <a:p>
            <a:pPr>
              <a:spcAft>
                <a:spcPts val="1000"/>
              </a:spcAft>
            </a:pPr>
            <a:r>
              <a:rPr sz="2600">
                <a:solidFill>
                  <a:srgbClr val="FFFCF7"/>
                </a:solidFill>
                <a:latin typeface="Helvetica"/>
              </a:rPr>
              <a:t>•  </a:t>
            </a:r>
            <a:r>
              <a:rPr sz="2600" b="0" i="0" u="none">
                <a:solidFill>
                  <a:srgbClr val="FFFCF7"/>
                </a:solidFill>
                <a:latin typeface="Helvetica"/>
              </a:rPr>
              <a:t>Print the server process id both ways</a:t>
            </a:r>
          </a:p>
          <a:p>
            <a:pPr>
              <a:spcAft>
                <a:spcPts val="1000"/>
              </a:spcAft>
            </a:pPr>
            <a:r>
              <a:rPr sz="2600">
                <a:solidFill>
                  <a:srgbClr val="FFFCF7"/>
                </a:solidFill>
                <a:latin typeface="Helvetica"/>
              </a:rPr>
              <a:t>•  </a:t>
            </a:r>
            <a:r>
              <a:rPr sz="2600" b="0" i="0" u="none">
                <a:solidFill>
                  <a:srgbClr val="FFFCF7"/>
                </a:solidFill>
                <a:latin typeface="Helvetica"/>
              </a:rPr>
              <a:t>Answer the four questions for one script</a:t>
            </a:r>
          </a:p>
          <a:p>
            <a:pPr>
              <a:spcAft>
                <a:spcPts val="1000"/>
              </a:spcAft>
            </a:pPr>
            <a:r>
              <a:rPr sz="2600">
                <a:solidFill>
                  <a:srgbClr val="FFFCF7"/>
                </a:solidFill>
                <a:latin typeface="Helvetica"/>
              </a:rPr>
              <a:t>•  </a:t>
            </a:r>
            <a:r>
              <a:rPr sz="2600" b="0" i="0" u="none">
                <a:solidFill>
                  <a:srgbClr val="FFFCF7"/>
                </a:solidFill>
                <a:latin typeface="Helvetica"/>
              </a:rPr>
              <a:t>Write down which library you would pick</a:t>
            </a:r>
          </a:p>
        </p:txBody>
      </p:sp>
      <p:sp>
        <p:nvSpPr>
          <p:cNvPr id="5" name="TextBox 4"/>
          <p:cNvSpPr txBox="1"/>
          <p:nvPr/>
        </p:nvSpPr>
        <p:spPr>
          <a:xfrm>
            <a:off x="548640" y="5029200"/>
            <a:ext cx="11094415" cy="384048"/>
          </a:xfrm>
          <a:prstGeom prst="rect">
            <a:avLst/>
          </a:prstGeom>
          <a:noFill/>
        </p:spPr>
        <p:txBody>
          <a:bodyPr wrap="square" anchor="t" lIns="0" rIns="0" tIns="0" bIns="0">
            <a:noAutofit/>
          </a:bodyPr>
          <a:lstStyle/>
          <a:p>
            <a:pPr algn="l"/>
            <a:r>
              <a:rPr sz="2600" b="1" i="0" u="none">
                <a:solidFill>
                  <a:srgbClr val="EEBC32"/>
                </a:solidFill>
                <a:latin typeface="Helvetica"/>
              </a:rPr>
              <a:t>Practice: The student notebook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CF7"/>
        </a:solidFill>
        <a:effectLst/>
      </p:bgPr>
    </p:bg>
    <p:spTree>
      <p:nvGrpSpPr>
        <p:cNvPr id="1" name=""/>
        <p:cNvGrpSpPr/>
        <p:nvPr/>
      </p:nvGrpSpPr>
      <p:grpSpPr/>
      <p:pic>
        <p:nvPicPr>
          <p:cNvPr id="2" name="Picture 1" descr=""/>
          <p:cNvPicPr>
            <a:picLocks noChangeAspect="1"/>
          </p:cNvPicPr>
          <p:nvPr/>
        </p:nvPicPr>
        <p:blipFill>
          <a:blip r:embed="rId2"/>
          <a:stretch>
            <a:fillRect/>
          </a:stretch>
        </p:blipFill>
        <p:spPr>
          <a:xfrm>
            <a:off x="9814255" y="6400800"/>
            <a:ext cx="1806983" cy="201168"/>
          </a:xfrm>
          <a:prstGeom prst="rect">
            <a:avLst/>
          </a:prstGeom>
        </p:spPr>
      </p:pic>
      <p:sp>
        <p:nvSpPr>
          <p:cNvPr id="3" name="Rectangle 2"/>
          <p:cNvSpPr/>
          <p:nvPr/>
        </p:nvSpPr>
        <p:spPr>
          <a:xfrm>
            <a:off x="548640" y="365760"/>
            <a:ext cx="11094415" cy="640080"/>
          </a:xfrm>
          <a:prstGeom prst="rect">
            <a:avLst/>
          </a:prstGeom>
          <a:solidFill>
            <a:srgbClr val="A6C2B4"/>
          </a:solidFill>
          <a:ln w="50800">
            <a:solidFill>
              <a:srgbClr val="2643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365760"/>
            <a:ext cx="10545775" cy="640080"/>
          </a:xfrm>
          <a:prstGeom prst="rect">
            <a:avLst/>
          </a:prstGeom>
          <a:noFill/>
        </p:spPr>
        <p:txBody>
          <a:bodyPr wrap="square" anchor="ctr" lIns="0" rIns="0" tIns="0" bIns="0">
            <a:noAutofit/>
          </a:bodyPr>
          <a:lstStyle/>
          <a:p>
            <a:pPr algn="l"/>
            <a:r>
              <a:rPr sz="2600" b="1" i="0" u="none">
                <a:solidFill>
                  <a:srgbClr val="261F1D"/>
                </a:solidFill>
                <a:latin typeface="Helvetica"/>
              </a:rPr>
              <a:t>KEEP LEARNING</a:t>
            </a:r>
          </a:p>
        </p:txBody>
      </p:sp>
      <p:sp>
        <p:nvSpPr>
          <p:cNvPr id="5" name="TextBox 4"/>
          <p:cNvSpPr txBox="1"/>
          <p:nvPr/>
        </p:nvSpPr>
        <p:spPr>
          <a:xfrm>
            <a:off x="548640" y="1234440"/>
            <a:ext cx="11094415" cy="731520"/>
          </a:xfrm>
          <a:prstGeom prst="rect">
            <a:avLst/>
          </a:prstGeom>
          <a:noFill/>
        </p:spPr>
        <p:txBody>
          <a:bodyPr wrap="square" anchor="t" lIns="0" rIns="0" tIns="0" bIns="0">
            <a:noAutofit/>
          </a:bodyPr>
          <a:lstStyle/>
          <a:p>
            <a:pPr algn="l"/>
            <a:r>
              <a:rPr sz="3200" b="1" i="0" u="none">
                <a:solidFill>
                  <a:srgbClr val="261F1D"/>
                </a:solidFill>
                <a:latin typeface="Helvetica"/>
              </a:rPr>
              <a:t>Where to Go From Here</a:t>
            </a:r>
          </a:p>
        </p:txBody>
      </p:sp>
      <p:pic>
        <p:nvPicPr>
          <p:cNvPr id="6" name="Picture 5" descr=""/>
          <p:cNvPicPr>
            <a:picLocks noChangeAspect="1"/>
          </p:cNvPicPr>
          <p:nvPr/>
        </p:nvPicPr>
        <p:blipFill>
          <a:blip r:embed="rId3"/>
          <a:stretch>
            <a:fillRect/>
          </a:stretch>
        </p:blipFill>
        <p:spPr>
          <a:xfrm>
            <a:off x="548640" y="1984248"/>
            <a:ext cx="365760" cy="365760"/>
          </a:xfrm>
          <a:prstGeom prst="rect">
            <a:avLst/>
          </a:prstGeom>
        </p:spPr>
      </p:pic>
      <p:sp>
        <p:nvSpPr>
          <p:cNvPr id="7" name="TextBox 6"/>
          <p:cNvSpPr txBox="1"/>
          <p:nvPr/>
        </p:nvSpPr>
        <p:spPr>
          <a:xfrm>
            <a:off x="1051560" y="1965960"/>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4"/>
              </a:rPr>
              <a:t>Connection Pooling</a:t>
            </a:r>
          </a:p>
        </p:txBody>
      </p:sp>
      <p:sp>
        <p:nvSpPr>
          <p:cNvPr id="8" name="TextBox 7"/>
          <p:cNvSpPr txBox="1"/>
          <p:nvPr/>
        </p:nvSpPr>
        <p:spPr>
          <a:xfrm>
            <a:off x="1051560" y="2350008"/>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SQLAlchemy project  ·  DOCS  ·  ~15 min skim</a:t>
            </a:r>
          </a:p>
        </p:txBody>
      </p:sp>
      <p:sp>
        <p:nvSpPr>
          <p:cNvPr id="9" name="TextBox 8"/>
          <p:cNvSpPr txBox="1"/>
          <p:nvPr/>
        </p:nvSpPr>
        <p:spPr>
          <a:xfrm>
            <a:off x="1051560" y="2734056"/>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What an engine pools by default, from SQLAlchemy itself</a:t>
            </a:r>
          </a:p>
        </p:txBody>
      </p:sp>
      <p:pic>
        <p:nvPicPr>
          <p:cNvPr id="10" name="Picture 9" descr=""/>
          <p:cNvPicPr>
            <a:picLocks noChangeAspect="1"/>
          </p:cNvPicPr>
          <p:nvPr/>
        </p:nvPicPr>
        <p:blipFill>
          <a:blip r:embed="rId5"/>
          <a:stretch>
            <a:fillRect/>
          </a:stretch>
        </p:blipFill>
        <p:spPr>
          <a:xfrm>
            <a:off x="548640" y="3364992"/>
            <a:ext cx="365760" cy="365760"/>
          </a:xfrm>
          <a:prstGeom prst="rect">
            <a:avLst/>
          </a:prstGeom>
        </p:spPr>
      </p:pic>
      <p:sp>
        <p:nvSpPr>
          <p:cNvPr id="11" name="TextBox 10"/>
          <p:cNvSpPr txBox="1"/>
          <p:nvPr/>
        </p:nvSpPr>
        <p:spPr>
          <a:xfrm>
            <a:off x="1051560" y="3346704"/>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6"/>
              </a:rPr>
              <a:t>Understanding Connections and Pools</a:t>
            </a:r>
          </a:p>
        </p:txBody>
      </p:sp>
      <p:sp>
        <p:nvSpPr>
          <p:cNvPr id="12" name="TextBox 11"/>
          <p:cNvSpPr txBox="1"/>
          <p:nvPr/>
        </p:nvSpPr>
        <p:spPr>
          <a:xfrm>
            <a:off x="1051560" y="3730752"/>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Sudhir Jonathan  ·  READING  ·  ~20 min read</a:t>
            </a:r>
          </a:p>
        </p:txBody>
      </p:sp>
      <p:sp>
        <p:nvSpPr>
          <p:cNvPr id="13" name="TextBox 12"/>
          <p:cNvSpPr txBox="1"/>
          <p:nvPr/>
        </p:nvSpPr>
        <p:spPr>
          <a:xfrm>
            <a:off x="1051560" y="4114800"/>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Plain-language tour of what a connection really costs</a:t>
            </a:r>
          </a:p>
        </p:txBody>
      </p:sp>
      <p:pic>
        <p:nvPicPr>
          <p:cNvPr id="14" name="Picture 13" descr=""/>
          <p:cNvPicPr>
            <a:picLocks noChangeAspect="1"/>
          </p:cNvPicPr>
          <p:nvPr/>
        </p:nvPicPr>
        <p:blipFill>
          <a:blip r:embed="rId7"/>
          <a:stretch>
            <a:fillRect/>
          </a:stretch>
        </p:blipFill>
        <p:spPr>
          <a:xfrm>
            <a:off x="548640" y="4745736"/>
            <a:ext cx="365760" cy="365760"/>
          </a:xfrm>
          <a:prstGeom prst="rect">
            <a:avLst/>
          </a:prstGeom>
        </p:spPr>
      </p:pic>
      <p:sp>
        <p:nvSpPr>
          <p:cNvPr id="15" name="TextBox 14"/>
          <p:cNvSpPr txBox="1"/>
          <p:nvPr/>
        </p:nvSpPr>
        <p:spPr>
          <a:xfrm>
            <a:off x="1051560" y="4727448"/>
            <a:ext cx="10591495" cy="384048"/>
          </a:xfrm>
          <a:prstGeom prst="rect">
            <a:avLst/>
          </a:prstGeom>
          <a:noFill/>
        </p:spPr>
        <p:txBody>
          <a:bodyPr wrap="square" anchor="t" lIns="0" rIns="0" tIns="0" bIns="0">
            <a:noAutofit/>
          </a:bodyPr>
          <a:lstStyle/>
          <a:p>
            <a:pPr algn="l"/>
            <a:r>
              <a:rPr sz="2600" b="1" i="0" u="none">
                <a:solidFill>
                  <a:srgbClr val="2274B5"/>
                </a:solidFill>
                <a:latin typeface="Helvetica"/>
                <a:hlinkClick r:id="rId8"/>
              </a:rPr>
              <a:t>Connection Pooling in PostgreSQL (Performance Numbers)</a:t>
            </a:r>
          </a:p>
        </p:txBody>
      </p:sp>
      <p:sp>
        <p:nvSpPr>
          <p:cNvPr id="16" name="TextBox 15"/>
          <p:cNvSpPr txBox="1"/>
          <p:nvPr/>
        </p:nvSpPr>
        <p:spPr>
          <a:xfrm>
            <a:off x="1051560" y="5111496"/>
            <a:ext cx="10591495" cy="384048"/>
          </a:xfrm>
          <a:prstGeom prst="rect">
            <a:avLst/>
          </a:prstGeom>
          <a:noFill/>
        </p:spPr>
        <p:txBody>
          <a:bodyPr wrap="square" anchor="t" lIns="0" rIns="0" tIns="0" bIns="0">
            <a:noAutofit/>
          </a:bodyPr>
          <a:lstStyle/>
          <a:p>
            <a:pPr algn="l"/>
            <a:r>
              <a:rPr sz="2600" b="1" i="0" u="none">
                <a:solidFill>
                  <a:srgbClr val="327A5F"/>
                </a:solidFill>
                <a:latin typeface="Helvetica"/>
              </a:rPr>
              <a:t>Hussein Nasser  ·  VIDEO  ·  ~12 min video</a:t>
            </a:r>
          </a:p>
        </p:txBody>
      </p:sp>
      <p:sp>
        <p:nvSpPr>
          <p:cNvPr id="17" name="TextBox 16"/>
          <p:cNvSpPr txBox="1"/>
          <p:nvPr/>
        </p:nvSpPr>
        <p:spPr>
          <a:xfrm>
            <a:off x="1051560" y="5495544"/>
            <a:ext cx="10591495" cy="384048"/>
          </a:xfrm>
          <a:prstGeom prst="rect">
            <a:avLst/>
          </a:prstGeom>
          <a:noFill/>
        </p:spPr>
        <p:txBody>
          <a:bodyPr wrap="square" anchor="t" lIns="0" rIns="0" tIns="0" bIns="0">
            <a:noAutofit/>
          </a:bodyPr>
          <a:lstStyle/>
          <a:p>
            <a:pPr algn="l"/>
            <a:r>
              <a:rPr sz="2600" b="0" i="0" u="none">
                <a:solidFill>
                  <a:srgbClr val="261F1D"/>
                </a:solidFill>
                <a:latin typeface="Helvetica"/>
              </a:rPr>
              <a:t>Pooling's speedup measured live, not just asserted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