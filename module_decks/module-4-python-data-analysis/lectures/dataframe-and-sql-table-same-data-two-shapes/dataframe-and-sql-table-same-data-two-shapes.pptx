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Open by naming the shift: you have spent one module writing SQL against a real database, and an earlier module writing real pandas. You have never had to hold both in your head at once. That is the whole job this module does, and today is the conceptual half of it.</a:t>
            </a:r>
          </a:p>
          <a:p/>
          <a:p>
            <a:r>
              <a:t>[SCRIPT] Set expectations honestly: today is mostly watching and following along, not a heavy typing day. The typing starts next class, when a live database connection enters the picture.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Read all three out loud, then name the project tie directly: the project asks you to query your own database and load the result into a DataFrame, twice, two different ways. If a query result and a DataFrame feel like two unrelated things, that task is confusing. If they feel like the same rows in a different container, it is straightforward. Today is what makes the difference.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Just the names for now. Every one of these gets a real definition and a real example before today is over, and they all come back on the recap slide at the end.</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quick shout-outs, no hands raised, just call them out. Online: drop both answers in chat, then unmute one or two people to say them out loud. 60 seconds total.</a:t>
            </a:r>
          </a:p>
          <a:p/>
          <a:p>
            <a:r>
              <a:t>[SCRIPT] Looking for `WHERE` and `.head()`. The point is not the trivia, it is confirming out loud that both halves of today's comparison are already things this room knows separately. Say that explicitly: today does not teach you SQL or pandas, it teaches you the bridge between two things you already have.</a:t>
            </a:r>
          </a:p>
          <a:p/>
          <a:p>
            <a:r>
              <a:t>[MISCONCEPTIONS] Some people will answer `LIMIT` for the second half. That is a fair answer for "first few rows" and worth accepting out loud, then redirecting: `LIMIT` is the SQL side, `.head()` is the pandas side, and noticing they do the same job is literally today's lesson.</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[~6 min mark] Short beat. Frame the case study coming next as a warning about what happens when nobody checks how data changes as it moves between tools.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Walk the mechanism, because the mechanism is the whole point. A gene really is named `SEPT2`. Open a spreadsheet, paste it in, and the tool decides that looks like a date and rewrites it as "2-Sep". Nobody clicked anything. No warning appeared. The file was then attached to a peer-reviewed paper and published that way.</a:t>
            </a:r>
          </a:p>
          <a:p/>
          <a:p>
            <a:r>
              <a:t>[SCRIPT] Land the ending, which is genuinely surprising: after years of this getting worse rather than better, the committee that names human genes gave up on fixing spreadsheets and renamed 27 genes instead. `MARCH1` became `MARCHF1`. `SEPT1` became `SEPTIN1`. The science changed its own vocabulary to survive a tool's type guess.</a:t>
            </a:r>
          </a:p>
          <a:p/>
          <a:p>
            <a:r>
              <a:t>[SCRIPT] Do not resolve the hook question yet. Ask it, take a few answers, and say out loud that today's own demo will make the same thing happen in miniature, on purpose, with real city data.</a:t>
            </a:r>
          </a:p>
          <a:p/>
          <a:p>
            <a:r>
              <a:t>[ARTICLE SUMMARY] In 2016, three researchers screened over 35,000 supplementary spreadsheets attached to genomics papers and found that about one in five contained corrupted gene names. The cause was mundane: a spreadsheet's default settings silently reinterpret symbols like `SEPT2` and `MARCH1` as dates and rewrite them as "2-Sep" and "1-Mar." Nobody clicked anything, no error appeared, and the corrupted files were published as-is alongside peer-reviewed papers. After years of the problem getting worse rather than better, the committee that officially names human genes gave up on fixing the spreadsheets and renamed the genes instead, 27 of them, so `MARCH1` became `MARCHF1` and `SEPT1` became `SEPTIN1`. Their revised 2020 guidelines now list "symbols that affect data handling and retrieval" as a legitimate reason to rename a gene.</a:t>
            </a:r>
          </a:p>
          <a:p/>
          <a:p>
            <a:r>
              <a:t>[SOURCES] James Vincent, "Scientists rename human genes to stop Microsoft Excel from misreading them as dates," The Verge, 2020-08-06. The 27-gene figure and the `MARCH1`/`SEPT1` renames come from that article and from HGNC's own revised guidelines, Bruford et al., "Guidelines for human gene nomenclature," Nature Genetics, 2020, doi 10.1038/s41588-020-0669-3. The roughly one-in-five figure is Ziemann, Eren, and El-Osta, "Gene name errors are widespread in the scientific literature," Genome Biology, 2016-08-23: 987 affected files across 704 of the screened articles, about 19.6 percent.</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This is real NYC 311 data, the first five of the fifteen rows we will use all lesson. Read it the way `psql` would print it: one row per service request, named columns across the top, and in the database every one of those columns has a declared type sitting behind it. `unique_key` is an integer. `created_date` is a real timestamp. `complaint_type` and `borough` are text. Point at `created_date` specifically and say it is a real date to the database, not a piece of text, because that column is about to behave differently than everyone expects.</a:t>
            </a:r>
          </a:p>
          <a:p/>
          <a:p>
            <a:r>
              <a:t>[SCRIPT] Give the room 30 seconds to just look before saying anything else. The whole trick of today is that this picture is about to reappear, unchanged, in a completely different tool.</a:t>
            </a:r>
          </a:p>
          <a:p/>
          <a:p>
            <a:r>
              <a:t>[MISCONCEPTIONS] "Table" gets used loosely for anything with rows and columns. Be precise here: this specific thing lives inside PostgreSQL, on a server, with types the database itself enforces. That is what makes the comparison coming up interesting.</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This is the other half of what a SQL table is, and it is the half people forget. Those four lines are part of the table's own definition, written once when the table was created and enforced on every row after that. Nobody can put the word "yesterday" into `created_date`. The database will refuse it.</a:t>
            </a:r>
          </a:p>
          <a:p/>
          <a:p>
            <a:r>
              <a:t>[SCRIPT] Say the consequence out loud, because the next three slides turn on it: the type is stored with the table, not with the values. It travels with the table, and only with the table.</a:t>
            </a:r>
          </a:p>
          <a:p/>
          <a:p>
            <a:r>
              <a:t>[MISCONCEPTIONS] People assume a type is a property of the value itself, so that `2026-06-29` is "a date" no matter where it sits. It is not. It is a date because a column said so. Move the same characters somewhere that declares nothing, and they are just characters again.</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[~14 min mark] Tell everyone to open the notebook now. This is the one stretch of today with real typing in it.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Have everyone run this cell and confirm they see five rows before moving on. Online: ask for a thumbs-up reaction rather than reading names out.</a:t>
            </a:r>
          </a:p>
          <a:p/>
          <a:p>
            <a:r>
              <a:t>[SCRIPT] Name the missing step out loud before running anything: somebody exported those rows out of the database into a `.csv` file, and that export is the hop where the type declarations got left behind. The table came along. The schema did not.</a:t>
            </a:r>
          </a:p>
          <a:p/>
          <a:p>
            <a:r>
              <a:t>[SCRIPT] Say the path assumption out loud once, here, and never again: the shared data folder sits two levels above the notebook, which is what `../../data/` means. Anyone who typed `data/` alone will get a `FileNotFoundError`, and that is the only path problem today should produce.</a:t>
            </a:r>
          </a:p>
          <a:p/>
          <a:p>
            <a:r>
              <a:t>[SCRIPT] Point at the output and say it plainly: these are the same five rows as the previous slide, in the same order, with the same column names. `.head()` shows all seven columns, so three that the table left out show up here too. What changed is not the data, only where it is sitting.</a:t>
            </a:r>
          </a:p>
          <a:p/>
          <a:p>
            <a:r>
              <a:t>[SCRIPT] Name the analogy before the term, then attach the term: that thing now sitting in memory has a name, and the name is a DataFrame. If the album analogy does not land, try one of the backups in this cell's notebook entry.</a:t>
            </a:r>
          </a:p>
          <a:p/>
          <a:p>
            <a:r>
              <a:t>[MISCONCEPTIONS] Somebody will spot a `NaN` in the very first row of the output and ask about it. Have the answer ready, because it is on today's topic, not a distraction: the file genuinely contains the characters `N/A` in that cell, and `pd.read_csv` treats `N/A` as one of its default "this means missing" strings, so it becomes `NaN`. Nobody asked it to. That is the same idea as the type story coming next, arriving a slide early: reading a file means a tool making decisions about what the characters mean. Say that, then move on; real missing-value handling belongs to the project, not to today.</a:t>
            </a:r>
          </a:p>
          <a:p/>
          <a:p>
            <a:r>
              <a:t>[MISCONCEPTIONS] A common belief is that a DataFrame is "a spreadsheet in Python." Close enough to be useful, wrong in one important way: a spreadsheet lets any cell hold anything, and a DataFrame gives the whole column one type, exactly like SQL does. The next slide makes that visible.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Walk the output column by column. `unique_key` came in as `int64`, a real integer. Every other column came in as text. Then land the important one: in the database, `created_date` was a real timestamp. In this DataFrame it is text, and it stays text until `pd.to_datetime()` is called.</a:t>
            </a:r>
          </a:p>
          <a:p/>
          <a:p>
            <a:r>
              <a:t>[SCRIPT] Say why out loud: the database stores the type alongside the data because the schema declares it. A CSV stores only characters, so pandas has to guess a type per column when it reads one, and text is the safe guess. This is not pandas being careless. It is the type information genuinely not being in the file.</a:t>
            </a:r>
          </a:p>
          <a:p/>
          <a:p>
            <a:r>
              <a:t>[SCRIPT] Read the printed label out loud rather than predicting it, because it depends on which pandas is installed. On pandas 2.x a text column prints as `object`. On pandas 3.0 and later it prints as `str`. Both mean text. If two people in the room see different labels, that is the real answer, not a bug, and it is a good moment to say why the lesson insists on running `.dtypes` instead of assuming.</a:t>
            </a:r>
          </a:p>
          <a:p/>
          <a:p>
            <a:r>
              <a:t>[MISCONCEPTIONS] People read `object` as "something went wrong." It did not. It is just how pandas 2.x labels a column of text. It is the right label for `borough`, and the wrong one for a date, which is the whole reason to look.</a:t>
            </a:r>
          </a:p>
          <a:p/>
          <a:p>
            <a:r>
              <a:t>[SOURCES] Verified by running this exact code on this exact file with pandas 2.2.3: `unique_key` is `int64` and the remaining six columns are `object`. The version-dependence is pandas 3.0.0 release notes, PDEP-14, dedicated string dtype enabled by default, released 2026-01-21, pandas.pydata.org/docs/whatsnew/v3.0.0.html.</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This is the whole first objective on one slide. Read it left to right, row by row. The first three rows are the structural match: same rows, same columns, one type each. The last three are the type match, and the last row is the one that bites people.</a:t>
            </a:r>
          </a:p>
          <a:p/>
          <a:p>
            <a:r>
              <a:t>[SCRIPT] Say the last row out loud twice: a real timestamp in the database shows up as plain text in pandas until something parses it. That is the gap the gene-name story from earlier is really about, just with dates going the other direction.</a:t>
            </a:r>
          </a:p>
          <a:p/>
          <a:p>
            <a:r>
              <a:t>[MISCONCEPTIONS] A `Series` is not a lesser thing than a DataFrame. It is one column, and it still has exactly one type. Pull a column out of a DataFrame and you get one.</a:t>
            </a:r>
          </a:p>
          <a:p/>
          <a:p>
            <a:r>
              <a:t>[SCRIPT] Be precise about the last row or it becomes a rule that breaks next class. A timestamp arrives as text when the rows come through a **file**. Read straight out of the database over a live connection, the type survives and pandas gets a real date with no conversion. That is next class's content, and the contrast is exactly what makes today's point land.</a:t>
            </a:r>
          </a:p>
          <a:p/>
          <a:p>
            <a:r>
              <a:t>[SCRIPT] The table says "Text" rather than a specific label on purpose. pandas 2.x prints that as `object` and pandas 3.0 and later prints it as `str`. Naming the concept rather than one version's label keeps this slide correct on whichever pandas the room actually has installed.</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Poll: read the three options, count hands on each, then reveal. Online: post the three options in chat as 1/2/3 and have everyone type a number. 45 seconds.</a:t>
            </a:r>
          </a:p>
          <a:p/>
          <a:p>
            <a:r>
              <a:t>[SCRIPT] Option two is worth pausing on before dismissing it. pandas has a genuinely good datetime type, which is exactly why the fix is one function call rather than a workaround.</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The file stored it as text, and nothing re-declared it as a date</a:t>
            </a:r>
          </a:p>
          <a:p>
            <a:r>
              <a:t>Why: A column's type lives in the database's own schema, not in the rows. A CSV holds only characters, so pandas guesses a type per column as it reads, and text is the safe guess. Calling `pd.to_datetime()` is what turns it back into a real date.</a:t>
            </a:r>
          </a:p>
          <a:p>
            <a:r>
              <a:t>Source: pandas `read_csv` documentation on per-column type inference, pandas.pydata.org/docs/reference/api/pandas.read_csv.html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[~28 min mark] Pivot from vocabulary to action. Naming the parts is objective one. Doing something with them is objective two.</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Do not read all six. Read two, then ask the room to predict the pandas side of a third before revealing it. This one is worth photographing or copying down, unlike most slides today, since it is the reference people will actually reach for next class.</a:t>
            </a:r>
          </a:p>
          <a:p/>
          <a:p>
            <a:r>
              <a:t>[SCRIPT] Be honest about the limits of the mapping: these line up cleanly, but not everything does. Window functions and recursive queries have no one-line pandas twin, and pandas has reshaping moves SQL has no clean equivalent for either. The point is that a lot of your SQL instinct transfers, not that the two are the same language.</a:t>
            </a:r>
          </a:p>
          <a:p/>
          <a:p>
            <a:r>
              <a:t>[MISCONCEPTIONS] `.value_counts()` is not a full `GROUP BY`. It counts occurrences of one column's values. Grouping and then aggregating something else is `.groupby()`, which this room has already used.</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Read the SQL side top to bottom first, the way the room already reads SQL. Then walk the pandas side and match it clause by clause out loud: the `WHERE` became the mask on the first line, the `SELECT` of one column became the bracket lookup, and the `GROUP BY` plus `COUNT(*)` collapsed into `.value_counts()`.</a:t>
            </a:r>
          </a:p>
          <a:p/>
          <a:p>
            <a:r>
              <a:t>[SCRIPT] Name the two-step move on the pandas side explicitly, since the very next code slide inlines it: `mask` is not the rows, it is one True or False per row. Handing that back to `df[...]` is what actually keeps the True ones. SQL hides that step inside `WHERE`.</a:t>
            </a:r>
          </a:p>
          <a:p/>
          <a:p>
            <a:r>
              <a:t>[SCRIPT] Point out the ordering difference honestly, because someone will notice it. SQL names the columns first and filters later. pandas filters first and picks the column after. Same result, and the reading order genuinely flips. That is one real reason the translation feels awkward at first even when the concepts match.</a:t>
            </a:r>
          </a:p>
          <a:p/>
          <a:p>
            <a:r>
              <a:t>[MISCONCEPTIONS] `.value_counts()` doing the work of both `GROUP BY` and `COUNT(*)` at once looks like pandas being magic. It is not general: it counts how often each value appears in one column. Grouping by one column and summing a different one is `.groupby()`, which this room already has.</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Back into the notebook for one more cell.</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Fill in the blank. Give 30 seconds before advancing to the answer. In person: ask someone to say the missing column name out loud. Online: everyone types it in chat at the same time.</a:t>
            </a:r>
          </a:p>
          <a:p/>
          <a:p>
            <a:r>
              <a:t>[SCRIPT] After the reveal, slow down on what the inner part actually produces. `df["borough"] == "BRONX"` is not the filter. It is fifteen True/False values, one per row. Handing that back to `df[...]` is what keeps the True ones. That is exactly the job `WHERE` does inside the database, just written out in the open.</a:t>
            </a:r>
          </a:p>
          <a:p/>
          <a:p>
            <a:r>
              <a:t>[SCRIPT] Point at the two printed numbers: three Bronx rows, and a count per complaint type. That is a `WHERE` and a `GROUP BY` in two lines of pandas.</a:t>
            </a:r>
          </a:p>
          <a:p/>
          <a:p>
            <a:r>
              <a:t>[SCRIPT] Heads up on a real difficulty gap: the blank on this slide is one word, a 30-second whole-room beat. The same cell in the student notebook asks for all three lines, including the count and the grouping. That is deliberate, but do not assume finishing the slide means everyone can finish the notebook cell unaided.</a:t>
            </a:r>
          </a:p>
          <a:p/>
          <a:p>
            <a:r>
              <a:t>[MISCONCEPTIONS] A very common early mistake is writing `df["borough" == "BRONX"]`, with the comparison inside the brackets. That compares two strings, gets `False`, and asks the DataFrame for a column named `False`. Show that error on purpose if time allows, it is the fastest way to make the two-step nature of a mask stick.</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Fill in the blank. Give 30 seconds before advancing to the answer. In person: ask someone to say the missing column name out loud. Online: everyone types it in chat at the same time.</a:t>
            </a:r>
          </a:p>
          <a:p/>
          <a:p>
            <a:r>
              <a:t>[SCRIPT] After the reveal, slow down on what the inner part actually produces. `df["borough"] == "BRONX"` is not the filter. It is fifteen True/False values, one per row. Handing that back to `df[...]` is what keeps the True ones. That is exactly the job `WHERE` does inside the database, just written out in the open.</a:t>
            </a:r>
          </a:p>
          <a:p/>
          <a:p>
            <a:r>
              <a:t>[SCRIPT] Point at the two printed numbers: three Bronx rows, and a count per complaint type. That is a `WHERE` and a `GROUP BY` in two lines of pandas.</a:t>
            </a:r>
          </a:p>
          <a:p/>
          <a:p>
            <a:r>
              <a:t>[SCRIPT] Heads up on a real difficulty gap: the blank on this slide is one word, a 30-second whole-room beat. The same cell in the student notebook asks for all three lines, including the count and the grouping. That is deliberate, but do not assume finishing the slide means everyone can finish the notebook cell unaided.</a:t>
            </a:r>
          </a:p>
          <a:p/>
          <a:p>
            <a:r>
              <a:t>[MISCONCEPTIONS] A very common early mistake is writing `df["borough" == "BRONX"]`, with the comparison inside the brackets. That compares two strings, gets `False`, and asks the DataFrame for a column named `False`. Show that error on purpose if time allows, it is the fastest way to make the two-step nature of a mask stick.</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Use QAR, Question then Assumption then Risk. This is a real interview question, and it is deliberately underspecified: the honest answer names the missing information, which here is the row count. Coach whoever answers to say the assumption out loud rather than just picking an option, since that is the difference between a guess and an analyst's answer.</a:t>
            </a:r>
          </a:p>
          <a:p/>
          <a:p>
            <a:r>
              <a:t>[ACTIVITY] Quick-fire game: read the question, count to three out loud, everyone answers at once by holding up 1, 2, or 3 fingers. Online: everyone types 1, 2, or 3 in chat on the count of three, so nobody just copies the first answer posted.</a:t>
            </a:r>
          </a:p>
          <a:p/>
          <a:p>
            <a:r>
              <a:t>[SCRIPT] Push past the right answer to the reasoning. Ask whoever answered first why option three is tempting: on the fifteen-row file we just used, it genuinely makes no difference. Scale is the only thing that changes the answer, and that is exactly the judgment a working analyst gets paid for.</a:t>
            </a:r>
          </a:p>
          <a:p/>
          <a:p>
            <a:r>
              <a:t>[MISCONCEPTIONS] Some people assume pandas is simply slower than SQL. That is not the claim. On data that already fits in memory pandas is often faster. The claim is narrower: moving 30 million rows across a network so you can throw almost all of them away is the expensive part, not pandas itself.</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Count in SQL, then load the single number</a:t>
            </a:r>
          </a:p>
          <a:p>
            <a:r>
              <a:t>Why: A DataFrame has to fit in your machine's memory, and every row you pull crosses the network first. The database can count all 30 million rows where they already sit and hand back one number. Pulling everything first and filtering later is what turns a fast query into a stalled laptop.</a:t>
            </a:r>
          </a:p>
          <a:p>
            <a:r>
              <a:t>Source: Haki Benita, "Practical SQL for Data Analysis" (2021), which benchmarks database-side aggregation against pulling every row into pandas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This slide is the answer to "so which one do I use." Not either/or. You query in SQL to get the rows worth having, then analyze those rows in pandas. That is literally the shape of the project: connect, query, load, summarize.</a:t>
            </a:r>
          </a:p>
          <a:p/>
          <a:p>
            <a:r>
              <a:t>[SCRIPT] Be honest about the simplification rather than overclaiming it. "On the server" and "in your memory" is the right mental model, but a database also holds plenty of data in RAM for speed, and pandas can work through a file in chunks when it will not fit. The durable distinction is who owns the data and who does the computing, not literally disk versus memory.</a:t>
            </a:r>
          </a:p>
          <a:p/>
          <a:p>
            <a:r>
              <a:t>[MISCONCEPTIONS] "Gone when the notebook restarts" surprises people who have been treating a notebook like a saved document. Say it plainly, and attach the real word out loud rather than putting it on the slide: what restarts is the kernel, the Python process behind the notebook. The notebook file is saved. The DataFrame inside it is not. Rerunning the cells is how it comes back.</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[~43 min mark] Last section, and a short one. Frame it as logistics with a real reason behind it, not a detour.</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Today is what it is and why we use it, nothing more. The real hands-on setup, creating the environment and installing `pandas`, `psycopg2-binary`, and `sqlalchemy`, happens on the project's own first setup day. Do not turn this into a tooling tutorial. Two minutes.</a:t>
            </a:r>
          </a:p>
          <a:p/>
          <a:p>
            <a:r>
              <a:t>[SCRIPT] Answer what, why, and who, in that order. What: one command line tool that installs packages and manages the isolated environment they live in, so it covers what `pip` and `venv` did separately. Why: speed and reproducibility. Astral, the company that makes it, measures it at 10 to 100 times faster than `pip`, and it writes a lock file recording the exact versions that worked. Who: Astral also makes `ruff`, which is widely used in professional Python work, and `uv` is what this module's own project asks you to set up.</a:t>
            </a:r>
          </a:p>
          <a:p/>
          <a:p>
            <a:r>
              <a:t>[MISCONCEPTIONS] Be careful with the speed number rather than repeating it flatly. It is Astral's own benchmark, and the 100x end of that range is measured with a warm cache, meaning packages already downloaded once. Everyday first-time installs land nearer the low end. Say "Astral measures it at" rather than stating it as neutral fact, and model that habit out loud: a vendor benchmark is evidence, not proof.</a:t>
            </a:r>
          </a:p>
          <a:p/>
          <a:p>
            <a:r>
              <a:t>[SOURCES] Vendor, language, and the 10-100x claim all from Astral's own README and docs, github.com/astral-sh/uv and docs.astral.sh/uv, which link the number to their own BENCHMARKS.md. That benchmark's own caption reads "Installing Trio's dependencies with a warm cache," which is the basis for the caveat above.</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Would You Rather. In person: everyone physically moves to one side of the room, then two people from each side justify the pick out loud. Online: post both options in chat, everyone types A or B, then unmute one person per side. The justification is the point, not the vote.</a:t>
            </a:r>
          </a:p>
          <a:p/>
          <a:p>
            <a:r>
              <a:t>[SCRIPT] Both sides are genuinely defensible, so do not let the room settle on one too fast. Pinned versions mean your code runs the same today and in six months, and it means somebody has to deliberately update the file or you quietly fall behind on security fixes. Always-latest means you find breakage the day it happens instead of the day you ship, and it means a build can break for reasons nobody changed. Push whoever answers to name the cost of their own pick.</a:t>
            </a:r>
          </a:p>
          <a:p/>
          <a:p>
            <a:r>
              <a:t>[SCRIPT] Land it on the project: the project's own stretch goal asks for a committed lockfile and a clean reinstall from it. This is the reasoning behind why that is worth points.</a:t>
            </a:r>
          </a:p>
          <a:p/>
          <a:p>
            <a:r>
              <a:t>[MISCONCEPTIONS] People hear "lock file" and think it locks you out of updating. It does not. It records exactly what was installed, so an update becomes a deliberate, reviewable change instead of something that happens to you silently. That gap between "what to install" and "which versions actually worked together" is where "it works on my machine" comes from.</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The first question uses QAR, Question then Assumption then Risk, because it is genuinely underspecified. There is no right answer without knowing the table size and what happens next, so the strong candidate names the missing information instead of picking a side and defending it.</a:t>
            </a:r>
          </a:p>
          <a:p/>
          <a:p>
            <a:r>
              <a:t>[TECHNIQUE] The second uses Teach-Back, Audience then Simplify then Analogy then Check, because "explain X to someone who knows Y" is literally a teaching request. The check at the end matters as much as the explanation: offering to show it is what an interviewer reads as confidence rather than recitation.</a:t>
            </a:r>
          </a:p>
          <a:p/>
          <a:p>
            <a:r>
              <a:t>[SCRIPT] Have someone attempt the first one cold before revealing the answer slide. Both of these are real, commonly asked questions for this role level, not warm-ups, so keep the register serious here even though the rest of today is light.</a:t>
            </a:r>
          </a:p>
          <a:p/>
          <a:p/>
          <a:p>
            <a:r>
              <a:t>Short answers:</a:t>
            </a:r>
          </a:p>
          <a:p/>
          <a:p>
            <a:r>
              <a:t>Q: Should an aggregation happen in SQL or in pandas, and how do you decide?</a:t>
            </a:r>
          </a:p>
          <a:p>
            <a:r>
              <a:t>A: Question: How big is that table, and what do I need next? Assumption: If it is millions of rows and I only want per-borough counts, the database should run the `GROUP BY` and hand me a few hundred rows. Risk: If I guess wrong and pull it all into pandas, I burn memory and network time on rows I throw away. So aggregate in SQL to shrink the result, then reshape and chart in pandas.</a:t>
            </a:r>
          </a:p>
          <a:p/>
          <a:p>
            <a:r>
              <a:t>Q: How would you explain what a DataFrame is to someone who only knows SQL?</a:t>
            </a:r>
          </a:p>
          <a:p>
            <a:r>
              <a:t>A: Audience: They already think in tables, so build on that. Simplify: A DataFrame is a table living in Python's memory, with rows, named columns, and one type per column. Analogy: The SQL table is the filing cabinet the database owns; the DataFrame is the photocopy on my desk I can mark up without touching the original. Check: Want me to show one query written both ways?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Fast round trip through all five before the summary. Ask the room to supply the definition for two of them rather than reading every row yourself. This is the exact vocabulary the project's own notebook expects you to use correctly.</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Resolve the opening case study by name before anything else. The question was what can change when data moves between tools, and today gave the answer twice: the gene names changed because a tool guessed a type, and `created_date` arrived as text for exactly the same reason. Nothing was corrupted, nothing threw an error. A tool made a reasonable guess and nobody checked it.</a:t>
            </a:r>
          </a:p>
          <a:p/>
          <a:p>
            <a:r>
              <a:t>[SCRIPT] Tie forward to the project without naming a specific day: the project asks you to query your own database two different ways and confirm both give the same result. "The same result" is only a checkable idea because a query result and a DataFrame are the same rows in different containers. That is what today built.</a:t>
            </a:r>
          </a:p>
          <a:p/>
          <a:p>
            <a:r>
              <a:t>[SCRIPT] Name the honest limit of today too: you loaded a file, not a live database. Closing that gap is the next thing this module does.</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the practice ask plainly: the student notebook has the same three cells with the answers taken out. Twenty minutes redoing them from blank is the whole difference between having watched today and being able to do it next class, when the same moves happen against a live database instead of a file.</a:t>
            </a:r>
          </a:p>
          <a:p/>
          <a:p>
            <a:r>
              <a:t>[SCRIPT] Be specific about the database check, because it is the one that can quietly go wrong: everyone should actually connect and run one small query, not just assume it is fine. If a database did not survive, there is a real rebuild path, and finding that out now costs minutes instead of a whole project day.</a:t>
            </a:r>
          </a:p>
          <a:p/>
          <a:p>
            <a:r>
              <a:t>[SCRIPT] Point at the video as optional, not homework. It is nine minutes on why `uv` exists, and it is background for the setup work the project's own first day asks for, not something to quiz anyone on.</a:t>
            </a:r>
          </a:p>
          <a:p/>
          <a:p>
            <a:r>
              <a:t>[SCRIPT] Remind people how to reach office hours before the next class rather than discovering a broken setup during it.</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Point at the first one specifically as the reference to keep open all module: it is the long version of today's translation table, straight from the people who build pandas. Pandas Tutor is the one to open when a chained operation stops making sense, since it shows the intermediate DataFrame a notebook hides.</a:t>
            </a:r>
          </a:p>
          <a:p/>
          <a:p>
            <a:r>
              <a:t>[SCRIPT] The third is longer and heavier than the other two, and that is deliberate. It benchmarks the "where should the work happen" question with real numbers, which is exactly the reasoning behind today's quick-fire question. Skimming just its aggregation sections is about ten minutes and still worth it.</a:t>
            </a:r>
          </a:p>
          <a:p/>
          <a:p>
            <a:r>
              <a:t>[SCRIPT] For anyone who wants the full video treatment, Greg Reda's PyData talk "Translating SQL to pandas. And back." covers this ground properly, but it runs over an hour, which is why it is not on the slide.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5.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theverge.com/2020/8/6/21355674/human-genes-rename-microsoft-excel-misreading-dates"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youtube.com/watch?v=5rTwOt9Qgik" TargetMode="External"/><Relationship Id="rId4"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7.png"/><Relationship Id="rId4" Type="http://schemas.openxmlformats.org/officeDocument/2006/relationships/hyperlink" Target="https://pandas.pydata.org/docs/getting_started/comparison/comparison_with_sql.html" TargetMode="External"/><Relationship Id="rId5" Type="http://schemas.openxmlformats.org/officeDocument/2006/relationships/image" Target="../media/image18.png"/><Relationship Id="rId6" Type="http://schemas.openxmlformats.org/officeDocument/2006/relationships/hyperlink" Target="https://pandastutor.com/" TargetMode="External"/><Relationship Id="rId7" Type="http://schemas.openxmlformats.org/officeDocument/2006/relationships/image" Target="../media/image19.png"/><Relationship Id="rId8" Type="http://schemas.openxmlformats.org/officeDocument/2006/relationships/hyperlink" Target="https://hakibenita.com/sql-for-data-analysis" TargetMode="External"/><Relationship Id="rId9"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320040"/>
            <a:ext cx="11094415" cy="274320"/>
          </a:xfrm>
          <a:prstGeom prst="rect">
            <a:avLst/>
          </a:prstGeom>
          <a:noFill/>
        </p:spPr>
        <p:txBody>
          <a:bodyPr wrap="square" anchor="t" lIns="0" rIns="0" tIns="0" bIns="0">
            <a:noAutofit/>
          </a:bodyPr>
          <a:lstStyle/>
          <a:p>
            <a:pPr algn="l"/>
            <a:r>
              <a:rPr sz="2600" b="1" i="0" u="none">
                <a:solidFill>
                  <a:srgbClr val="FFFCF7"/>
                </a:solidFill>
                <a:latin typeface="Helvetica"/>
              </a:rPr>
              <a:t>THE MARCY LAB SCHOOL</a:t>
            </a:r>
          </a:p>
        </p:txBody>
      </p:sp>
      <p:sp>
        <p:nvSpPr>
          <p:cNvPr id="4" name="Rectangle 3"/>
          <p:cNvSpPr/>
          <p:nvPr/>
        </p:nvSpPr>
        <p:spPr>
          <a:xfrm>
            <a:off x="0" y="6748272"/>
            <a:ext cx="8534186" cy="54864"/>
          </a:xfrm>
          <a:prstGeom prst="rect">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286000"/>
            <a:ext cx="6705295" cy="1463040"/>
          </a:xfrm>
          <a:prstGeom prst="rect">
            <a:avLst/>
          </a:prstGeom>
          <a:noFill/>
        </p:spPr>
        <p:txBody>
          <a:bodyPr wrap="square" anchor="b" lIns="0" rIns="0" tIns="0" bIns="0">
            <a:noAutofit/>
          </a:bodyPr>
          <a:lstStyle/>
          <a:p>
            <a:pPr algn="l"/>
            <a:r>
              <a:rPr sz="4000" b="1" i="0" u="none">
                <a:solidFill>
                  <a:srgbClr val="EEBC32"/>
                </a:solidFill>
                <a:latin typeface="Helvetica"/>
              </a:rPr>
              <a:t>DataFrame and SQL Table: Same Data, Two Shapes</a:t>
            </a:r>
          </a:p>
        </p:txBody>
      </p:sp>
      <p:sp>
        <p:nvSpPr>
          <p:cNvPr id="6" name="TextBox 5"/>
          <p:cNvSpPr txBox="1"/>
          <p:nvPr/>
        </p:nvSpPr>
        <p:spPr>
          <a:xfrm>
            <a:off x="548640" y="5943600"/>
            <a:ext cx="6705295" cy="457200"/>
          </a:xfrm>
          <a:prstGeom prst="rect">
            <a:avLst/>
          </a:prstGeom>
          <a:noFill/>
        </p:spPr>
        <p:txBody>
          <a:bodyPr wrap="square" anchor="t" lIns="0" rIns="0" tIns="0" bIns="0">
            <a:noAutofit/>
          </a:bodyPr>
          <a:lstStyle/>
          <a:p>
            <a:pPr algn="l"/>
            <a:r>
              <a:rPr sz="2600" b="0" i="0" u="none">
                <a:solidFill>
                  <a:srgbClr val="FFFCF7"/>
                </a:solidFill>
                <a:latin typeface="Helvetica"/>
              </a:rPr>
              <a:t>Module 4: Python Data Analysis</a:t>
            </a:r>
          </a:p>
        </p:txBody>
      </p:sp>
      <p:sp>
        <p:nvSpPr>
          <p:cNvPr id="7" name="Rounded Rectangle 6"/>
          <p:cNvSpPr/>
          <p:nvPr/>
        </p:nvSpPr>
        <p:spPr>
          <a:xfrm>
            <a:off x="7802575" y="914400"/>
            <a:ext cx="3840480" cy="5029200"/>
          </a:xfrm>
          <a:prstGeom prst="roundRect">
            <a:avLst>
              <a:gd name="adj" fmla="val 3000"/>
            </a:avLst>
          </a:prstGeom>
          <a:solidFill>
            <a:srgbClr val="FFF6E4"/>
          </a:solidFill>
          <a:ln w="19050">
            <a:solidFill>
              <a:srgbClr val="A6C2B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459468" y="1719072"/>
            <a:ext cx="181051" cy="181051"/>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9311335" y="1867205"/>
            <a:ext cx="822960" cy="452628"/>
          </a:xfrm>
          <a:prstGeom prst="triangl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39735" y="2459736"/>
            <a:ext cx="3566160" cy="384048"/>
          </a:xfrm>
          <a:prstGeom prst="rect">
            <a:avLst/>
          </a:prstGeom>
          <a:noFill/>
        </p:spPr>
        <p:txBody>
          <a:bodyPr wrap="square" anchor="t" lIns="0" rIns="0" tIns="0" bIns="0">
            <a:noAutofit/>
          </a:bodyPr>
          <a:lstStyle/>
          <a:p>
            <a:pPr algn="ctr"/>
            <a:r>
              <a:rPr sz="2600" b="1" i="0" u="none">
                <a:solidFill>
                  <a:srgbClr val="327A5F"/>
                </a:solidFill>
                <a:latin typeface="Helvetica"/>
              </a:rPr>
              <a:t>AI IMAGE NEEDED</a:t>
            </a:r>
          </a:p>
        </p:txBody>
      </p:sp>
      <p:sp>
        <p:nvSpPr>
          <p:cNvPr id="11" name="TextBox 10"/>
          <p:cNvSpPr txBox="1"/>
          <p:nvPr/>
        </p:nvSpPr>
        <p:spPr>
          <a:xfrm>
            <a:off x="8031175" y="2889504"/>
            <a:ext cx="3383280" cy="2962656"/>
          </a:xfrm>
          <a:prstGeom prst="rect">
            <a:avLst/>
          </a:prstGeom>
          <a:noFill/>
        </p:spPr>
        <p:txBody>
          <a:bodyPr wrap="square" anchor="t" lIns="0" rIns="0" tIns="0" bIns="0">
            <a:noAutofit/>
          </a:bodyPr>
          <a:lstStyle/>
          <a:p>
            <a:pPr algn="ctr"/>
            <a:r>
              <a:rPr sz="2600" b="0" i="1" u="none">
                <a:solidFill>
                  <a:srgbClr val="327A5F"/>
                </a:solidFill>
                <a:latin typeface="Fraunces"/>
              </a:rPr>
              <a:t>Flat illustration: Analyst comparing a database table and a notebook table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By the End of Today, You'll Be Able To...</a:t>
            </a:r>
          </a:p>
        </p:txBody>
      </p:sp>
      <p:sp>
        <p:nvSpPr>
          <p:cNvPr id="4" name="Rounded Rectangle 3"/>
          <p:cNvSpPr/>
          <p:nvPr/>
        </p:nvSpPr>
        <p:spPr>
          <a:xfrm>
            <a:off x="548640" y="2468880"/>
            <a:ext cx="354573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047189" y="2697480"/>
            <a:ext cx="548640" cy="548640"/>
          </a:xfrm>
          <a:prstGeom prst="rect">
            <a:avLst/>
          </a:prstGeom>
        </p:spPr>
      </p:pic>
      <p:sp>
        <p:nvSpPr>
          <p:cNvPr id="6" name="TextBox 5"/>
          <p:cNvSpPr txBox="1"/>
          <p:nvPr/>
        </p:nvSpPr>
        <p:spPr>
          <a:xfrm>
            <a:off x="685800"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Map a DataFrame onto a SQL table</a:t>
            </a:r>
          </a:p>
        </p:txBody>
      </p:sp>
      <p:sp>
        <p:nvSpPr>
          <p:cNvPr id="7" name="Rounded Rectangle 6"/>
          <p:cNvSpPr/>
          <p:nvPr/>
        </p:nvSpPr>
        <p:spPr>
          <a:xfrm>
            <a:off x="4322978" y="2468880"/>
            <a:ext cx="354573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5821528" y="2697480"/>
            <a:ext cx="548640" cy="548640"/>
          </a:xfrm>
          <a:prstGeom prst="rect">
            <a:avLst/>
          </a:prstGeom>
        </p:spPr>
      </p:pic>
      <p:sp>
        <p:nvSpPr>
          <p:cNvPr id="9" name="TextBox 8"/>
          <p:cNvSpPr txBox="1"/>
          <p:nvPr/>
        </p:nvSpPr>
        <p:spPr>
          <a:xfrm>
            <a:off x="4460138"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Translate a SQL query into pandas</a:t>
            </a:r>
          </a:p>
        </p:txBody>
      </p:sp>
      <p:sp>
        <p:nvSpPr>
          <p:cNvPr id="10" name="Rounded Rectangle 9"/>
          <p:cNvSpPr/>
          <p:nvPr/>
        </p:nvSpPr>
        <p:spPr>
          <a:xfrm>
            <a:off x="8097317" y="2468880"/>
            <a:ext cx="3545738"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9595866" y="2697480"/>
            <a:ext cx="548640" cy="548640"/>
          </a:xfrm>
          <a:prstGeom prst="rect">
            <a:avLst/>
          </a:prstGeom>
        </p:spPr>
      </p:pic>
      <p:sp>
        <p:nvSpPr>
          <p:cNvPr id="12" name="TextBox 11"/>
          <p:cNvSpPr txBox="1"/>
          <p:nvPr/>
        </p:nvSpPr>
        <p:spPr>
          <a:xfrm>
            <a:off x="8234477"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Say what </a:t>
            </a:r>
            <a:r>
              <a:rPr sz="2600" b="1" i="0" u="none">
                <a:solidFill>
                  <a:srgbClr val="261F1D"/>
                </a:solidFill>
                <a:latin typeface="Roboto Mono"/>
              </a:rPr>
              <a:t>uv</a:t>
            </a:r>
            <a:r>
              <a:rPr sz="2600" b="1" i="0" u="none">
                <a:solidFill>
                  <a:srgbClr val="261F1D"/>
                </a:solidFill>
                <a:latin typeface="Helvetica"/>
              </a:rPr>
              <a:t> is and why we use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You'll Know by the End of Today</a:t>
            </a:r>
          </a:p>
        </p:txBody>
      </p:sp>
      <p:sp>
        <p:nvSpPr>
          <p:cNvPr id="4" name="Rounded Rectangle 3"/>
          <p:cNvSpPr/>
          <p:nvPr/>
        </p:nvSpPr>
        <p:spPr>
          <a:xfrm>
            <a:off x="548640" y="2468880"/>
            <a:ext cx="354573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047189" y="2697480"/>
            <a:ext cx="548640" cy="548640"/>
          </a:xfrm>
          <a:prstGeom prst="rect">
            <a:avLst/>
          </a:prstGeom>
        </p:spPr>
      </p:pic>
      <p:sp>
        <p:nvSpPr>
          <p:cNvPr id="6" name="TextBox 5"/>
          <p:cNvSpPr txBox="1"/>
          <p:nvPr/>
        </p:nvSpPr>
        <p:spPr>
          <a:xfrm>
            <a:off x="685800"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DataFrame, Series</a:t>
            </a:r>
          </a:p>
        </p:txBody>
      </p:sp>
      <p:sp>
        <p:nvSpPr>
          <p:cNvPr id="7" name="Rounded Rectangle 6"/>
          <p:cNvSpPr/>
          <p:nvPr/>
        </p:nvSpPr>
        <p:spPr>
          <a:xfrm>
            <a:off x="4322978" y="2468880"/>
            <a:ext cx="354573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5821528" y="2697480"/>
            <a:ext cx="548640" cy="548640"/>
          </a:xfrm>
          <a:prstGeom prst="rect">
            <a:avLst/>
          </a:prstGeom>
        </p:spPr>
      </p:pic>
      <p:sp>
        <p:nvSpPr>
          <p:cNvPr id="9" name="TextBox 8"/>
          <p:cNvSpPr txBox="1"/>
          <p:nvPr/>
        </p:nvSpPr>
        <p:spPr>
          <a:xfrm>
            <a:off x="4460138" y="3429000"/>
            <a:ext cx="3271418" cy="1463040"/>
          </a:xfrm>
          <a:prstGeom prst="rect">
            <a:avLst/>
          </a:prstGeom>
          <a:noFill/>
        </p:spPr>
        <p:txBody>
          <a:bodyPr wrap="square" anchor="t" lIns="0" rIns="0" tIns="0" bIns="0">
            <a:noAutofit/>
          </a:bodyPr>
          <a:lstStyle/>
          <a:p>
            <a:pPr algn="ctr"/>
            <a:r>
              <a:rPr sz="2600" b="1" i="0" u="none">
                <a:solidFill>
                  <a:srgbClr val="261F1D"/>
                </a:solidFill>
                <a:latin typeface="Roboto Mono"/>
              </a:rPr>
              <a:t>dtype</a:t>
            </a:r>
            <a:r>
              <a:rPr sz="2600" b="1" i="0" u="none">
                <a:solidFill>
                  <a:srgbClr val="261F1D"/>
                </a:solidFill>
                <a:latin typeface="Helvetica"/>
              </a:rPr>
              <a:t>, in-memory</a:t>
            </a:r>
          </a:p>
        </p:txBody>
      </p:sp>
      <p:sp>
        <p:nvSpPr>
          <p:cNvPr id="10" name="Rounded Rectangle 9"/>
          <p:cNvSpPr/>
          <p:nvPr/>
        </p:nvSpPr>
        <p:spPr>
          <a:xfrm>
            <a:off x="8097317" y="2468880"/>
            <a:ext cx="3545738"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9595866" y="2697480"/>
            <a:ext cx="548640" cy="548640"/>
          </a:xfrm>
          <a:prstGeom prst="rect">
            <a:avLst/>
          </a:prstGeom>
        </p:spPr>
      </p:pic>
      <p:sp>
        <p:nvSpPr>
          <p:cNvPr id="12" name="TextBox 11"/>
          <p:cNvSpPr txBox="1"/>
          <p:nvPr/>
        </p:nvSpPr>
        <p:spPr>
          <a:xfrm>
            <a:off x="8234477" y="3429000"/>
            <a:ext cx="3271418" cy="1463040"/>
          </a:xfrm>
          <a:prstGeom prst="rect">
            <a:avLst/>
          </a:prstGeom>
          <a:noFill/>
        </p:spPr>
        <p:txBody>
          <a:bodyPr wrap="square" anchor="t" lIns="0" rIns="0" tIns="0" bIns="0">
            <a:noAutofit/>
          </a:bodyPr>
          <a:lstStyle/>
          <a:p>
            <a:pPr algn="ctr"/>
            <a:r>
              <a:rPr sz="2600" b="1" i="0" u="none">
                <a:solidFill>
                  <a:srgbClr val="261F1D"/>
                </a:solidFill>
                <a:latin typeface="Roboto Mono"/>
              </a:rPr>
              <a:t>uv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TURN AND TALK</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Quick recall: Name the SQL clause that keeps only some rows, and the pandas method that shows you the first few rows.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You Know Both Tools Already</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Now See Them Side by Side</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You have used SQL tables and DataFrames separately. Today is about how the two line up, row for row.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6E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365760"/>
            <a:ext cx="3108960" cy="548640"/>
          </a:xfrm>
          <a:prstGeom prst="rect">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2743200" cy="548640"/>
          </a:xfrm>
          <a:prstGeom prst="rect">
            <a:avLst/>
          </a:prstGeom>
          <a:noFill/>
        </p:spPr>
        <p:txBody>
          <a:bodyPr wrap="square" anchor="ctr" lIns="0" rIns="0" tIns="0" bIns="0">
            <a:noAutofit/>
          </a:bodyPr>
          <a:lstStyle/>
          <a:p>
            <a:pPr algn="l"/>
            <a:r>
              <a:rPr sz="2600" b="1" i="0" u="none">
                <a:solidFill>
                  <a:srgbClr val="261F1D"/>
                </a:solidFill>
                <a:latin typeface="Helvetica"/>
              </a:rPr>
              <a:t>IN THE NEWS</a:t>
            </a:r>
          </a:p>
        </p:txBody>
      </p:sp>
      <p:sp>
        <p:nvSpPr>
          <p:cNvPr id="5" name="TextBox 4"/>
          <p:cNvSpPr txBox="1"/>
          <p:nvPr/>
        </p:nvSpPr>
        <p:spPr>
          <a:xfrm>
            <a:off x="548640" y="1097280"/>
            <a:ext cx="11094415" cy="1188720"/>
          </a:xfrm>
          <a:prstGeom prst="rect">
            <a:avLst/>
          </a:prstGeom>
          <a:noFill/>
        </p:spPr>
        <p:txBody>
          <a:bodyPr wrap="square" anchor="t" lIns="0" rIns="0" tIns="0" bIns="0">
            <a:noAutofit/>
          </a:bodyPr>
          <a:lstStyle/>
          <a:p>
            <a:pPr algn="l"/>
            <a:r>
              <a:rPr sz="3200" b="1" i="0" u="none">
                <a:solidFill>
                  <a:srgbClr val="261F1D"/>
                </a:solidFill>
                <a:latin typeface="Helvetica"/>
              </a:rPr>
              <a:t>A Spreadsheet Kept Turning </a:t>
            </a:r>
            <a:r>
              <a:rPr sz="3200" b="1" i="0" u="none">
                <a:solidFill>
                  <a:srgbClr val="264326"/>
                </a:solidFill>
                <a:latin typeface="Helvetica"/>
              </a:rPr>
              <a:t>Gene Names</a:t>
            </a:r>
            <a:r>
              <a:rPr sz="3200" b="1" i="0" u="none">
                <a:solidFill>
                  <a:srgbClr val="261F1D"/>
                </a:solidFill>
                <a:latin typeface="Helvetica"/>
              </a:rPr>
              <a:t> Into Dates</a:t>
            </a:r>
          </a:p>
        </p:txBody>
      </p:sp>
      <p:sp>
        <p:nvSpPr>
          <p:cNvPr id="6" name="TextBox 5"/>
          <p:cNvSpPr txBox="1"/>
          <p:nvPr/>
        </p:nvSpPr>
        <p:spPr>
          <a:xfrm>
            <a:off x="548640" y="2423160"/>
            <a:ext cx="6705295" cy="2505456"/>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Gene </a:t>
            </a:r>
            <a:r>
              <a:rPr sz="2600" b="0" i="0" u="none">
                <a:solidFill>
                  <a:srgbClr val="261F1D"/>
                </a:solidFill>
                <a:latin typeface="Roboto Mono"/>
              </a:rPr>
              <a:t>SEPT2</a:t>
            </a:r>
            <a:r>
              <a:rPr sz="2600" b="0" i="0" u="none">
                <a:solidFill>
                  <a:srgbClr val="261F1D"/>
                </a:solidFill>
                <a:latin typeface="Helvetica"/>
              </a:rPr>
              <a:t> kept becoming a date</a:t>
            </a:r>
          </a:p>
          <a:p>
            <a:pPr>
              <a:spcAft>
                <a:spcPts val="1000"/>
              </a:spcAft>
            </a:pPr>
            <a:r>
              <a:rPr sz="2600">
                <a:solidFill>
                  <a:srgbClr val="261F1D"/>
                </a:solidFill>
                <a:latin typeface="Helvetica"/>
              </a:rPr>
              <a:t>•  </a:t>
            </a:r>
            <a:r>
              <a:rPr sz="2600" b="0" i="0" u="none">
                <a:solidFill>
                  <a:srgbClr val="261F1D"/>
                </a:solidFill>
                <a:latin typeface="Helvetica"/>
              </a:rPr>
              <a:t>1 in 5 genomics papers were hit</a:t>
            </a:r>
          </a:p>
          <a:p>
            <a:pPr>
              <a:spcAft>
                <a:spcPts val="1000"/>
              </a:spcAft>
            </a:pPr>
            <a:r>
              <a:rPr sz="2600">
                <a:solidFill>
                  <a:srgbClr val="261F1D"/>
                </a:solidFill>
                <a:latin typeface="Helvetica"/>
              </a:rPr>
              <a:t>•  </a:t>
            </a:r>
            <a:r>
              <a:rPr sz="2600" b="0" i="0" u="none">
                <a:solidFill>
                  <a:srgbClr val="261F1D"/>
                </a:solidFill>
                <a:latin typeface="Helvetica"/>
              </a:rPr>
              <a:t>So the genes got renamed instead</a:t>
            </a:r>
          </a:p>
        </p:txBody>
      </p:sp>
      <p:sp>
        <p:nvSpPr>
          <p:cNvPr id="7" name="TextBox 6"/>
          <p:cNvSpPr txBox="1"/>
          <p:nvPr/>
        </p:nvSpPr>
        <p:spPr>
          <a:xfrm>
            <a:off x="548640" y="5065776"/>
            <a:ext cx="6705295" cy="1152144"/>
          </a:xfrm>
          <a:prstGeom prst="rect">
            <a:avLst/>
          </a:prstGeom>
          <a:noFill/>
        </p:spPr>
        <p:txBody>
          <a:bodyPr wrap="square" anchor="t" lIns="0" rIns="0" tIns="0" bIns="0">
            <a:noAutofit/>
          </a:bodyPr>
          <a:lstStyle/>
          <a:p>
            <a:pPr algn="l"/>
            <a:r>
              <a:rPr sz="2600" b="0" i="1" u="none">
                <a:solidFill>
                  <a:srgbClr val="2274B5"/>
                </a:solidFill>
                <a:latin typeface="Fraunces"/>
              </a:rPr>
              <a:t>Discussion prompt: When the same data moves from one tool into another, what exactly can change without anyone noticing?</a:t>
            </a:r>
          </a:p>
        </p:txBody>
      </p:sp>
      <p:sp>
        <p:nvSpPr>
          <p:cNvPr id="8" name="Rounded Rectangle 7"/>
          <p:cNvSpPr/>
          <p:nvPr/>
        </p:nvSpPr>
        <p:spPr>
          <a:xfrm>
            <a:off x="7802575" y="2423160"/>
            <a:ext cx="3840480" cy="3566160"/>
          </a:xfrm>
          <a:prstGeom prst="roundRect">
            <a:avLst>
              <a:gd name="adj" fmla="val 3000"/>
            </a:avLst>
          </a:prstGeom>
          <a:solidFill>
            <a:srgbClr val="FFF6E4"/>
          </a:solidFill>
          <a:ln w="19050">
            <a:solidFill>
              <a:srgbClr val="A6C2B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59468" y="2993746"/>
            <a:ext cx="181051" cy="181051"/>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sosceles Triangle 9"/>
          <p:cNvSpPr/>
          <p:nvPr/>
        </p:nvSpPr>
        <p:spPr>
          <a:xfrm>
            <a:off x="9311335" y="3141878"/>
            <a:ext cx="822960" cy="452628"/>
          </a:xfrm>
          <a:prstGeom prst="triangl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39735" y="3734410"/>
            <a:ext cx="3566160" cy="384048"/>
          </a:xfrm>
          <a:prstGeom prst="rect">
            <a:avLst/>
          </a:prstGeom>
          <a:noFill/>
        </p:spPr>
        <p:txBody>
          <a:bodyPr wrap="square" anchor="t" lIns="0" rIns="0" tIns="0" bIns="0">
            <a:noAutofit/>
          </a:bodyPr>
          <a:lstStyle/>
          <a:p>
            <a:pPr algn="ctr"/>
            <a:r>
              <a:rPr sz="2600" b="1" i="0" u="none">
                <a:solidFill>
                  <a:srgbClr val="327A5F"/>
                </a:solidFill>
                <a:latin typeface="Helvetica"/>
              </a:rPr>
              <a:t>AI IMAGE NEEDED</a:t>
            </a:r>
          </a:p>
        </p:txBody>
      </p:sp>
      <p:sp>
        <p:nvSpPr>
          <p:cNvPr id="12" name="TextBox 11"/>
          <p:cNvSpPr txBox="1"/>
          <p:nvPr/>
        </p:nvSpPr>
        <p:spPr>
          <a:xfrm>
            <a:off x="8031175" y="4164178"/>
            <a:ext cx="3383280" cy="1733702"/>
          </a:xfrm>
          <a:prstGeom prst="rect">
            <a:avLst/>
          </a:prstGeom>
          <a:noFill/>
        </p:spPr>
        <p:txBody>
          <a:bodyPr wrap="square" anchor="t" lIns="0" rIns="0" tIns="0" bIns="0">
            <a:noAutofit/>
          </a:bodyPr>
          <a:lstStyle/>
          <a:p>
            <a:pPr algn="ctr"/>
            <a:r>
              <a:rPr sz="2600" b="0" i="1" u="none">
                <a:solidFill>
                  <a:srgbClr val="327A5F"/>
                </a:solidFill>
                <a:latin typeface="Fraunces"/>
              </a:rPr>
              <a:t>Photo-realistic: Geneticist reviewing a gene data table on a monitor, serious</a:t>
            </a:r>
          </a:p>
        </p:txBody>
      </p:sp>
      <p:sp>
        <p:nvSpPr>
          <p:cNvPr id="13" name="TextBox 12"/>
          <p:cNvSpPr txBox="1"/>
          <p:nvPr/>
        </p:nvSpPr>
        <p:spPr>
          <a:xfrm>
            <a:off x="7802575" y="6080760"/>
            <a:ext cx="3840480" cy="274320"/>
          </a:xfrm>
          <a:prstGeom prst="rect">
            <a:avLst/>
          </a:prstGeom>
          <a:noFill/>
        </p:spPr>
        <p:txBody>
          <a:bodyPr wrap="square" anchor="t" lIns="0" rIns="0" tIns="0" bIns="0">
            <a:noAutofit/>
          </a:bodyPr>
          <a:lstStyle/>
          <a:p>
            <a:pPr algn="l"/>
            <a:r>
              <a:rPr sz="1800" b="0" i="1" u="none">
                <a:solidFill>
                  <a:srgbClr val="327A5F"/>
                </a:solidFill>
                <a:latin typeface="Fraunces"/>
                <a:hlinkClick r:id="rId3"/>
              </a:rPr>
              <a:t>The Verge, August 2020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The Rows, Exactly as the </a:t>
            </a:r>
            <a:r>
              <a:rPr sz="3200" b="1" i="0" u="none">
                <a:solidFill>
                  <a:srgbClr val="264326"/>
                </a:solidFill>
                <a:latin typeface="Helvetica"/>
              </a:rPr>
              <a:t>Database</a:t>
            </a:r>
            <a:r>
              <a:rPr sz="3200" b="1" i="0" u="none">
                <a:solidFill>
                  <a:srgbClr val="261F1D"/>
                </a:solidFill>
                <a:latin typeface="Helvetica"/>
              </a:rPr>
              <a:t> Holds Them</a:t>
            </a:r>
          </a:p>
        </p:txBody>
      </p:sp>
      <p:graphicFrame>
        <p:nvGraphicFramePr>
          <p:cNvPr id="4" name="Table 3"/>
          <p:cNvGraphicFramePr>
            <a:graphicFrameLocks noGrp="1"/>
          </p:cNvGraphicFramePr>
          <p:nvPr/>
        </p:nvGraphicFramePr>
        <p:xfrm>
          <a:off x="548640" y="1490472"/>
          <a:ext cx="11094415" cy="4517136"/>
        </p:xfrm>
        <a:graphic>
          <a:graphicData uri="http://schemas.openxmlformats.org/drawingml/2006/table">
            <a:tbl>
              <a:tblPr>
                <a:tableStyleId>{5C22544A-7EE6-4342-B048-85BDC9FD1C3A}</a:tableStyleId>
              </a:tblPr>
              <a:tblGrid>
                <a:gridCol w="2773603"/>
                <a:gridCol w="2773603"/>
                <a:gridCol w="2773603"/>
                <a:gridCol w="2773606"/>
              </a:tblGrid>
              <a:tr h="877824">
                <a:tc>
                  <a:txBody>
                    <a:bodyPr wrap="square"/>
                    <a:lstStyle/>
                    <a:p>
                      <a:r>
                        <a:rPr sz="2600" b="1" i="0" u="none">
                          <a:solidFill>
                            <a:srgbClr val="FFFCF7"/>
                          </a:solidFill>
                          <a:latin typeface="Helvetica"/>
                        </a:rPr>
                        <a:t>unique_key</a:t>
                      </a:r>
                    </a:p>
                  </a:txBody>
                  <a:tcPr marL="109728" marR="109728" marT="54864" marB="54864" anchor="ctr">
                    <a:solidFill>
                      <a:srgbClr val="264326"/>
                    </a:solidFill>
                  </a:tcPr>
                </a:tc>
                <a:tc>
                  <a:txBody>
                    <a:bodyPr wrap="square"/>
                    <a:lstStyle/>
                    <a:p>
                      <a:r>
                        <a:rPr sz="2600" b="1" i="0" u="none">
                          <a:solidFill>
                            <a:srgbClr val="FFFCF7"/>
                          </a:solidFill>
                          <a:latin typeface="Helvetica"/>
                        </a:rPr>
                        <a:t>created_date</a:t>
                      </a:r>
                    </a:p>
                  </a:txBody>
                  <a:tcPr marL="109728" marR="109728" marT="54864" marB="54864" anchor="ctr">
                    <a:solidFill>
                      <a:srgbClr val="264326"/>
                    </a:solidFill>
                  </a:tcPr>
                </a:tc>
                <a:tc>
                  <a:txBody>
                    <a:bodyPr wrap="square"/>
                    <a:lstStyle/>
                    <a:p>
                      <a:r>
                        <a:rPr sz="2600" b="1" i="0" u="none">
                          <a:solidFill>
                            <a:srgbClr val="FFFCF7"/>
                          </a:solidFill>
                          <a:latin typeface="Helvetica"/>
                        </a:rPr>
                        <a:t>complaint_type</a:t>
                      </a:r>
                    </a:p>
                  </a:txBody>
                  <a:tcPr marL="109728" marR="109728" marT="54864" marB="54864" anchor="ctr">
                    <a:solidFill>
                      <a:srgbClr val="264326"/>
                    </a:solidFill>
                  </a:tcPr>
                </a:tc>
                <a:tc>
                  <a:txBody>
                    <a:bodyPr wrap="square"/>
                    <a:lstStyle/>
                    <a:p>
                      <a:r>
                        <a:rPr sz="2600" b="1" i="0" u="none">
                          <a:solidFill>
                            <a:srgbClr val="FFFCF7"/>
                          </a:solidFill>
                          <a:latin typeface="Helvetica"/>
                        </a:rPr>
                        <a:t>borough</a:t>
                      </a:r>
                    </a:p>
                  </a:txBody>
                  <a:tcPr marL="109728" marR="109728" marT="54864" marB="54864" anchor="ctr">
                    <a:solidFill>
                      <a:srgbClr val="264326"/>
                    </a:solidFill>
                  </a:tcPr>
                </a:tc>
              </a:tr>
              <a:tr h="877824">
                <a:tc>
                  <a:txBody>
                    <a:bodyPr wrap="square"/>
                    <a:lstStyle/>
                    <a:p>
                      <a:r>
                        <a:rPr sz="2600" b="0" i="0" u="none">
                          <a:solidFill>
                            <a:srgbClr val="261F1D"/>
                          </a:solidFill>
                          <a:latin typeface="Helvetica"/>
                        </a:rPr>
                        <a:t>47002094</a:t>
                      </a:r>
                    </a:p>
                  </a:txBody>
                  <a:tcPr marL="109728" marR="109728" marT="54864" marB="54864" anchor="ctr">
                    <a:solidFill>
                      <a:srgbClr val="FFFCF7"/>
                    </a:solidFill>
                  </a:tcPr>
                </a:tc>
                <a:tc>
                  <a:txBody>
                    <a:bodyPr wrap="square"/>
                    <a:lstStyle/>
                    <a:p>
                      <a:r>
                        <a:rPr sz="2600" b="0" i="0" u="none">
                          <a:solidFill>
                            <a:srgbClr val="261F1D"/>
                          </a:solidFill>
                          <a:latin typeface="Helvetica"/>
                        </a:rPr>
                        <a:t>2020-07-27</a:t>
                      </a:r>
                    </a:p>
                  </a:txBody>
                  <a:tcPr marL="109728" marR="109728" marT="54864" marB="54864" anchor="ctr">
                    <a:solidFill>
                      <a:srgbClr val="FFFCF7"/>
                    </a:solidFill>
                  </a:tcPr>
                </a:tc>
                <a:tc>
                  <a:txBody>
                    <a:bodyPr wrap="square"/>
                    <a:lstStyle/>
                    <a:p>
                      <a:r>
                        <a:rPr sz="2600" b="0" i="0" u="none">
                          <a:solidFill>
                            <a:srgbClr val="261F1D"/>
                          </a:solidFill>
                          <a:latin typeface="Helvetica"/>
                        </a:rPr>
                        <a:t>Homeless Street Condition</a:t>
                      </a:r>
                    </a:p>
                  </a:txBody>
                  <a:tcPr marL="109728" marR="109728" marT="54864" marB="54864" anchor="ctr">
                    <a:solidFill>
                      <a:srgbClr val="FFFCF7"/>
                    </a:solidFill>
                  </a:tcPr>
                </a:tc>
                <a:tc>
                  <a:txBody>
                    <a:bodyPr wrap="square"/>
                    <a:lstStyle/>
                    <a:p>
                      <a:r>
                        <a:rPr sz="2600" b="0" i="0" u="none">
                          <a:solidFill>
                            <a:srgbClr val="261F1D"/>
                          </a:solidFill>
                          <a:latin typeface="Helvetica"/>
                        </a:rPr>
                        <a:t>MANHATTAN</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59484263</a:t>
                      </a:r>
                    </a:p>
                  </a:txBody>
                  <a:tcPr marL="109728" marR="109728" marT="54864" marB="54864" anchor="ctr">
                    <a:solidFill>
                      <a:srgbClr val="FFF6E4"/>
                    </a:solidFill>
                  </a:tcPr>
                </a:tc>
                <a:tc>
                  <a:txBody>
                    <a:bodyPr wrap="square"/>
                    <a:lstStyle/>
                    <a:p>
                      <a:r>
                        <a:rPr sz="2600" b="0" i="0" u="none">
                          <a:solidFill>
                            <a:srgbClr val="261F1D"/>
                          </a:solidFill>
                          <a:latin typeface="Helvetica"/>
                        </a:rPr>
                        <a:t>2023-11-18</a:t>
                      </a:r>
                    </a:p>
                  </a:txBody>
                  <a:tcPr marL="109728" marR="109728" marT="54864" marB="54864" anchor="ctr">
                    <a:solidFill>
                      <a:srgbClr val="FFF6E4"/>
                    </a:solidFill>
                  </a:tcPr>
                </a:tc>
                <a:tc>
                  <a:txBody>
                    <a:bodyPr wrap="square"/>
                    <a:lstStyle/>
                    <a:p>
                      <a:r>
                        <a:rPr sz="2600" b="0" i="0" u="none">
                          <a:solidFill>
                            <a:srgbClr val="261F1D"/>
                          </a:solidFill>
                          <a:latin typeface="Helvetica"/>
                        </a:rPr>
                        <a:t>Water System</a:t>
                      </a:r>
                    </a:p>
                  </a:txBody>
                  <a:tcPr marL="109728" marR="109728" marT="54864" marB="54864" anchor="ctr">
                    <a:solidFill>
                      <a:srgbClr val="FFF6E4"/>
                    </a:solidFill>
                  </a:tcPr>
                </a:tc>
                <a:tc>
                  <a:txBody>
                    <a:bodyPr wrap="square"/>
                    <a:lstStyle/>
                    <a:p>
                      <a:r>
                        <a:rPr sz="2600" b="0" i="0" u="none">
                          <a:solidFill>
                            <a:srgbClr val="261F1D"/>
                          </a:solidFill>
                          <a:latin typeface="Helvetica"/>
                        </a:rPr>
                        <a:t>STATEN ISLAND</a:t>
                      </a:r>
                    </a:p>
                  </a:txBody>
                  <a:tcPr marL="109728" marR="109728" marT="54864" marB="54864" anchor="ctr">
                    <a:solidFill>
                      <a:srgbClr val="FFF6E4"/>
                    </a:solidFill>
                  </a:tcPr>
                </a:tc>
              </a:tr>
              <a:tr h="502920">
                <a:tc>
                  <a:txBody>
                    <a:bodyPr wrap="square"/>
                    <a:lstStyle/>
                    <a:p>
                      <a:r>
                        <a:rPr sz="2600" b="0" i="0" u="none">
                          <a:solidFill>
                            <a:srgbClr val="261F1D"/>
                          </a:solidFill>
                          <a:latin typeface="Helvetica"/>
                        </a:rPr>
                        <a:t>59484344</a:t>
                      </a:r>
                    </a:p>
                  </a:txBody>
                  <a:tcPr marL="109728" marR="109728" marT="54864" marB="54864" anchor="ctr">
                    <a:solidFill>
                      <a:srgbClr val="FFFCF7"/>
                    </a:solidFill>
                  </a:tcPr>
                </a:tc>
                <a:tc>
                  <a:txBody>
                    <a:bodyPr wrap="square"/>
                    <a:lstStyle/>
                    <a:p>
                      <a:r>
                        <a:rPr sz="2600" b="0" i="0" u="none">
                          <a:solidFill>
                            <a:srgbClr val="261F1D"/>
                          </a:solidFill>
                          <a:latin typeface="Helvetica"/>
                        </a:rPr>
                        <a:t>2023-11-18</a:t>
                      </a:r>
                    </a:p>
                  </a:txBody>
                  <a:tcPr marL="109728" marR="109728" marT="54864" marB="54864" anchor="ctr">
                    <a:solidFill>
                      <a:srgbClr val="FFFCF7"/>
                    </a:solidFill>
                  </a:tcPr>
                </a:tc>
                <a:tc>
                  <a:txBody>
                    <a:bodyPr wrap="square"/>
                    <a:lstStyle/>
                    <a:p>
                      <a:r>
                        <a:rPr sz="2600" b="0" i="0" u="none">
                          <a:solidFill>
                            <a:srgbClr val="261F1D"/>
                          </a:solidFill>
                          <a:latin typeface="Helvetica"/>
                        </a:rPr>
                        <a:t>Illegal Parking</a:t>
                      </a:r>
                    </a:p>
                  </a:txBody>
                  <a:tcPr marL="109728" marR="109728" marT="54864" marB="54864" anchor="ctr">
                    <a:solidFill>
                      <a:srgbClr val="FFFCF7"/>
                    </a:solidFill>
                  </a:tcPr>
                </a:tc>
                <a:tc>
                  <a:txBody>
                    <a:bodyPr wrap="square"/>
                    <a:lstStyle/>
                    <a:p>
                      <a:r>
                        <a:rPr sz="2600" b="0" i="0" u="none">
                          <a:solidFill>
                            <a:srgbClr val="261F1D"/>
                          </a:solidFill>
                          <a:latin typeface="Helvetica"/>
                        </a:rPr>
                        <a:t>STATEN ISLAND</a:t>
                      </a:r>
                    </a:p>
                  </a:txBody>
                  <a:tcPr marL="109728" marR="109728" marT="54864" marB="54864" anchor="ctr">
                    <a:solidFill>
                      <a:srgbClr val="FFFCF7"/>
                    </a:solidFill>
                  </a:tcPr>
                </a:tc>
              </a:tr>
              <a:tr h="877824">
                <a:tc>
                  <a:txBody>
                    <a:bodyPr wrap="square"/>
                    <a:lstStyle/>
                    <a:p>
                      <a:r>
                        <a:rPr sz="2600" b="0" i="0" u="none">
                          <a:solidFill>
                            <a:srgbClr val="261F1D"/>
                          </a:solidFill>
                          <a:latin typeface="Helvetica"/>
                        </a:rPr>
                        <a:t>69530202</a:t>
                      </a:r>
                    </a:p>
                  </a:txBody>
                  <a:tcPr marL="109728" marR="109728" marT="54864" marB="54864" anchor="ctr">
                    <a:solidFill>
                      <a:srgbClr val="FFF6E4"/>
                    </a:solidFill>
                  </a:tcPr>
                </a:tc>
                <a:tc>
                  <a:txBody>
                    <a:bodyPr wrap="square"/>
                    <a:lstStyle/>
                    <a:p>
                      <a:r>
                        <a:rPr sz="2600" b="0" i="0" u="none">
                          <a:solidFill>
                            <a:srgbClr val="261F1D"/>
                          </a:solidFill>
                          <a:latin typeface="Helvetica"/>
                        </a:rPr>
                        <a:t>2026-06-29</a:t>
                      </a:r>
                    </a:p>
                  </a:txBody>
                  <a:tcPr marL="109728" marR="109728" marT="54864" marB="54864" anchor="ctr">
                    <a:solidFill>
                      <a:srgbClr val="FFF6E4"/>
                    </a:solidFill>
                  </a:tcPr>
                </a:tc>
                <a:tc>
                  <a:txBody>
                    <a:bodyPr wrap="square"/>
                    <a:lstStyle/>
                    <a:p>
                      <a:r>
                        <a:rPr sz="2600" b="0" i="0" u="none">
                          <a:solidFill>
                            <a:srgbClr val="261F1D"/>
                          </a:solidFill>
                          <a:latin typeface="Helvetica"/>
                        </a:rPr>
                        <a:t>Noise - Residential</a:t>
                      </a:r>
                    </a:p>
                  </a:txBody>
                  <a:tcPr marL="109728" marR="109728" marT="54864" marB="54864" anchor="ctr">
                    <a:solidFill>
                      <a:srgbClr val="FFF6E4"/>
                    </a:solidFill>
                  </a:tcPr>
                </a:tc>
                <a:tc>
                  <a:txBody>
                    <a:bodyPr wrap="square"/>
                    <a:lstStyle/>
                    <a:p>
                      <a:r>
                        <a:rPr sz="2600" b="0" i="0" u="none">
                          <a:solidFill>
                            <a:srgbClr val="261F1D"/>
                          </a:solidFill>
                          <a:latin typeface="Helvetica"/>
                        </a:rPr>
                        <a:t>QUEENS</a:t>
                      </a:r>
                    </a:p>
                  </a:txBody>
                  <a:tcPr marL="109728" marR="109728" marT="54864" marB="54864" anchor="ctr">
                    <a:solidFill>
                      <a:srgbClr val="FFF6E4"/>
                    </a:solidFill>
                  </a:tcPr>
                </a:tc>
              </a:tr>
              <a:tr h="877824">
                <a:tc>
                  <a:txBody>
                    <a:bodyPr wrap="square"/>
                    <a:lstStyle/>
                    <a:p>
                      <a:r>
                        <a:rPr sz="2600" b="0" i="0" u="none">
                          <a:solidFill>
                            <a:srgbClr val="261F1D"/>
                          </a:solidFill>
                          <a:latin typeface="Helvetica"/>
                        </a:rPr>
                        <a:t>69530216</a:t>
                      </a:r>
                    </a:p>
                  </a:txBody>
                  <a:tcPr marL="109728" marR="109728" marT="54864" marB="54864" anchor="ctr">
                    <a:solidFill>
                      <a:srgbClr val="FFFCF7"/>
                    </a:solidFill>
                  </a:tcPr>
                </a:tc>
                <a:tc>
                  <a:txBody>
                    <a:bodyPr wrap="square"/>
                    <a:lstStyle/>
                    <a:p>
                      <a:r>
                        <a:rPr sz="2600" b="0" i="0" u="none">
                          <a:solidFill>
                            <a:srgbClr val="261F1D"/>
                          </a:solidFill>
                          <a:latin typeface="Helvetica"/>
                        </a:rPr>
                        <a:t>2026-06-29</a:t>
                      </a:r>
                    </a:p>
                  </a:txBody>
                  <a:tcPr marL="109728" marR="109728" marT="54864" marB="54864" anchor="ctr">
                    <a:solidFill>
                      <a:srgbClr val="FFFCF7"/>
                    </a:solidFill>
                  </a:tcPr>
                </a:tc>
                <a:tc>
                  <a:txBody>
                    <a:bodyPr wrap="square"/>
                    <a:lstStyle/>
                    <a:p>
                      <a:r>
                        <a:rPr sz="2600" b="0" i="0" u="none">
                          <a:solidFill>
                            <a:srgbClr val="261F1D"/>
                          </a:solidFill>
                          <a:latin typeface="Helvetica"/>
                        </a:rPr>
                        <a:t>Noise - Residential</a:t>
                      </a:r>
                    </a:p>
                  </a:txBody>
                  <a:tcPr marL="109728" marR="109728" marT="54864" marB="54864" anchor="ctr">
                    <a:solidFill>
                      <a:srgbClr val="FFFCF7"/>
                    </a:solidFill>
                  </a:tcPr>
                </a:tc>
                <a:tc>
                  <a:txBody>
                    <a:bodyPr wrap="square"/>
                    <a:lstStyle/>
                    <a:p>
                      <a:r>
                        <a:rPr sz="2600" b="0" i="0" u="none">
                          <a:solidFill>
                            <a:srgbClr val="261F1D"/>
                          </a:solidFill>
                          <a:latin typeface="Helvetica"/>
                        </a:rPr>
                        <a:t>BRONX</a:t>
                      </a:r>
                    </a:p>
                  </a:txBody>
                  <a:tcPr marL="109728" marR="109728" marT="54864" marB="54864" anchor="ctr">
                    <a:solidFill>
                      <a:srgbClr val="FFFCF7"/>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The Database </a:t>
            </a:r>
            <a:r>
              <a:rPr sz="3200" b="1" i="0" u="none">
                <a:solidFill>
                  <a:srgbClr val="264326"/>
                </a:solidFill>
                <a:latin typeface="Helvetica"/>
              </a:rPr>
              <a:t>Declares</a:t>
            </a:r>
            <a:r>
              <a:rPr sz="3200" b="1" i="0" u="none">
                <a:solidFill>
                  <a:srgbClr val="261F1D"/>
                </a:solidFill>
                <a:latin typeface="Helvetica"/>
              </a:rPr>
              <a:t> Every Type Up Front</a:t>
            </a:r>
          </a:p>
        </p:txBody>
      </p:sp>
      <p:graphicFrame>
        <p:nvGraphicFramePr>
          <p:cNvPr id="4" name="Table 3"/>
          <p:cNvGraphicFramePr>
            <a:graphicFrameLocks noGrp="1"/>
          </p:cNvGraphicFramePr>
          <p:nvPr/>
        </p:nvGraphicFramePr>
        <p:xfrm>
          <a:off x="548640" y="2491740"/>
          <a:ext cx="11094415" cy="2514600"/>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Column</a:t>
                      </a:r>
                    </a:p>
                  </a:txBody>
                  <a:tcPr marL="109728" marR="109728" marT="54864" marB="54864" anchor="ctr">
                    <a:solidFill>
                      <a:srgbClr val="264326"/>
                    </a:solidFill>
                  </a:tcPr>
                </a:tc>
                <a:tc>
                  <a:txBody>
                    <a:bodyPr wrap="square"/>
                    <a:lstStyle/>
                    <a:p>
                      <a:r>
                        <a:rPr sz="2600" b="1" i="0" u="none">
                          <a:solidFill>
                            <a:srgbClr val="FFFCF7"/>
                          </a:solidFill>
                          <a:latin typeface="Helvetica"/>
                        </a:rPr>
                        <a:t>Declared type</a:t>
                      </a:r>
                    </a:p>
                  </a:txBody>
                  <a:tcPr marL="109728" marR="109728" marT="54864" marB="54864" anchor="ctr">
                    <a:solidFill>
                      <a:srgbClr val="264326"/>
                    </a:solidFill>
                  </a:tcPr>
                </a:tc>
              </a:tr>
              <a:tr h="502920">
                <a:tc>
                  <a:txBody>
                    <a:bodyPr wrap="square"/>
                    <a:lstStyle/>
                    <a:p>
                      <a:r>
                        <a:rPr sz="2600" b="0" i="0" u="none">
                          <a:solidFill>
                            <a:srgbClr val="261F1D"/>
                          </a:solidFill>
                          <a:latin typeface="Roboto Mono"/>
                        </a:rPr>
                        <a:t>unique_key</a:t>
                      </a:r>
                    </a:p>
                  </a:txBody>
                  <a:tcPr marL="109728" marR="109728" marT="54864" marB="54864" anchor="ctr">
                    <a:solidFill>
                      <a:srgbClr val="FFFCF7"/>
                    </a:solidFill>
                  </a:tcPr>
                </a:tc>
                <a:tc>
                  <a:txBody>
                    <a:bodyPr wrap="square"/>
                    <a:lstStyle/>
                    <a:p>
                      <a:r>
                        <a:rPr sz="2600" b="0" i="0" u="none">
                          <a:solidFill>
                            <a:srgbClr val="261F1D"/>
                          </a:solidFill>
                          <a:latin typeface="Roboto Mono"/>
                        </a:rPr>
                        <a:t>INTEGER</a:t>
                      </a:r>
                    </a:p>
                  </a:txBody>
                  <a:tcPr marL="109728" marR="109728" marT="54864" marB="54864" anchor="ctr">
                    <a:solidFill>
                      <a:srgbClr val="FFFCF7"/>
                    </a:solidFill>
                  </a:tcPr>
                </a:tc>
              </a:tr>
              <a:tr h="502920">
                <a:tc>
                  <a:txBody>
                    <a:bodyPr wrap="square"/>
                    <a:lstStyle/>
                    <a:p>
                      <a:r>
                        <a:rPr sz="2600" b="0" i="0" u="none">
                          <a:solidFill>
                            <a:srgbClr val="261F1D"/>
                          </a:solidFill>
                          <a:latin typeface="Roboto Mono"/>
                        </a:rPr>
                        <a:t>created_date</a:t>
                      </a:r>
                    </a:p>
                  </a:txBody>
                  <a:tcPr marL="109728" marR="109728" marT="54864" marB="54864" anchor="ctr">
                    <a:solidFill>
                      <a:srgbClr val="FFF6E4"/>
                    </a:solidFill>
                  </a:tcPr>
                </a:tc>
                <a:tc>
                  <a:txBody>
                    <a:bodyPr wrap="square"/>
                    <a:lstStyle/>
                    <a:p>
                      <a:r>
                        <a:rPr sz="2600" b="0" i="0" u="none">
                          <a:solidFill>
                            <a:srgbClr val="261F1D"/>
                          </a:solidFill>
                          <a:latin typeface="Roboto Mono"/>
                        </a:rPr>
                        <a:t>TIMESTAMP</a:t>
                      </a:r>
                    </a:p>
                  </a:txBody>
                  <a:tcPr marL="109728" marR="109728" marT="54864" marB="54864" anchor="ctr">
                    <a:solidFill>
                      <a:srgbClr val="FFF6E4"/>
                    </a:solidFill>
                  </a:tcPr>
                </a:tc>
              </a:tr>
              <a:tr h="502920">
                <a:tc>
                  <a:txBody>
                    <a:bodyPr wrap="square"/>
                    <a:lstStyle/>
                    <a:p>
                      <a:r>
                        <a:rPr sz="2600" b="0" i="0" u="none">
                          <a:solidFill>
                            <a:srgbClr val="261F1D"/>
                          </a:solidFill>
                          <a:latin typeface="Roboto Mono"/>
                        </a:rPr>
                        <a:t>complaint_type</a:t>
                      </a:r>
                    </a:p>
                  </a:txBody>
                  <a:tcPr marL="109728" marR="109728" marT="54864" marB="54864" anchor="ctr">
                    <a:solidFill>
                      <a:srgbClr val="FFFCF7"/>
                    </a:solidFill>
                  </a:tcPr>
                </a:tc>
                <a:tc>
                  <a:txBody>
                    <a:bodyPr wrap="square"/>
                    <a:lstStyle/>
                    <a:p>
                      <a:r>
                        <a:rPr sz="2600" b="0" i="0" u="none">
                          <a:solidFill>
                            <a:srgbClr val="261F1D"/>
                          </a:solidFill>
                          <a:latin typeface="Roboto Mono"/>
                        </a:rPr>
                        <a:t>VARCHAR</a:t>
                      </a:r>
                    </a:p>
                  </a:txBody>
                  <a:tcPr marL="109728" marR="109728" marT="54864" marB="54864" anchor="ctr">
                    <a:solidFill>
                      <a:srgbClr val="FFFCF7"/>
                    </a:solidFill>
                  </a:tcPr>
                </a:tc>
              </a:tr>
              <a:tr h="502920">
                <a:tc>
                  <a:txBody>
                    <a:bodyPr wrap="square"/>
                    <a:lstStyle/>
                    <a:p>
                      <a:r>
                        <a:rPr sz="2600" b="0" i="0" u="none">
                          <a:solidFill>
                            <a:srgbClr val="261F1D"/>
                          </a:solidFill>
                          <a:latin typeface="Roboto Mono"/>
                        </a:rPr>
                        <a:t>borough</a:t>
                      </a:r>
                    </a:p>
                  </a:txBody>
                  <a:tcPr marL="109728" marR="109728" marT="54864" marB="54864" anchor="ctr">
                    <a:solidFill>
                      <a:srgbClr val="FFF6E4"/>
                    </a:solidFill>
                  </a:tcPr>
                </a:tc>
                <a:tc>
                  <a:txBody>
                    <a:bodyPr wrap="square"/>
                    <a:lstStyle/>
                    <a:p>
                      <a:r>
                        <a:rPr sz="2600" b="0" i="0" u="none">
                          <a:solidFill>
                            <a:srgbClr val="261F1D"/>
                          </a:solidFill>
                          <a:latin typeface="Roboto Mono"/>
                        </a:rPr>
                        <a:t>VARCHAR</a:t>
                      </a:r>
                    </a:p>
                  </a:txBody>
                  <a:tcPr marL="109728" marR="109728" marT="54864" marB="54864" anchor="ctr">
                    <a:solidFill>
                      <a:srgbClr val="FFF6E4"/>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The SQL Side</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The Same Rows as a DataFrame</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Someone exported these rows into a file. The data did not change, only the tool holding it.</a:t>
            </a:r>
          </a:p>
        </p:txBody>
      </p:sp>
      <p:pic>
        <p:nvPicPr>
          <p:cNvPr id="6" name="Picture 5" descr=""/>
          <p:cNvPicPr>
            <a:picLocks noChangeAspect="1"/>
          </p:cNvPicPr>
          <p:nvPr/>
        </p:nvPicPr>
        <p:blipFill>
          <a:blip r:embed="rId3"/>
          <a:stretch>
            <a:fillRect/>
          </a:stretch>
        </p:blipFill>
        <p:spPr>
          <a:xfrm>
            <a:off x="3093644" y="4937760"/>
            <a:ext cx="457200" cy="457200"/>
          </a:xfrm>
          <a:prstGeom prst="rect">
            <a:avLst/>
          </a:prstGeom>
        </p:spPr>
      </p:pic>
      <p:sp>
        <p:nvSpPr>
          <p:cNvPr id="7" name="TextBox 6"/>
          <p:cNvSpPr txBox="1"/>
          <p:nvPr/>
        </p:nvSpPr>
        <p:spPr>
          <a:xfrm>
            <a:off x="685800"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Load the same rows</a:t>
            </a:r>
          </a:p>
        </p:txBody>
      </p:sp>
      <p:pic>
        <p:nvPicPr>
          <p:cNvPr id="8" name="Picture 7" descr=""/>
          <p:cNvPicPr>
            <a:picLocks noChangeAspect="1"/>
          </p:cNvPicPr>
          <p:nvPr/>
        </p:nvPicPr>
        <p:blipFill>
          <a:blip r:embed="rId4"/>
          <a:stretch>
            <a:fillRect/>
          </a:stretch>
        </p:blipFill>
        <p:spPr>
          <a:xfrm>
            <a:off x="8640851" y="4937760"/>
            <a:ext cx="457200" cy="457200"/>
          </a:xfrm>
          <a:prstGeom prst="rect">
            <a:avLst/>
          </a:prstGeom>
        </p:spPr>
      </p:pic>
      <p:sp>
        <p:nvSpPr>
          <p:cNvPr id="9" name="TextBox 8"/>
          <p:cNvSpPr txBox="1"/>
          <p:nvPr/>
        </p:nvSpPr>
        <p:spPr>
          <a:xfrm>
            <a:off x="6233008"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Check every column's type</a:t>
            </a:r>
          </a:p>
        </p:txBody>
      </p:sp>
      <p:cxnSp>
        <p:nvCxnSpPr>
          <p:cNvPr id="10" name="Connector 9"/>
          <p:cNvCxnSpPr/>
          <p:nvPr/>
        </p:nvCxnSpPr>
        <p:spPr>
          <a:xfrm>
            <a:off x="6095848" y="4937760"/>
            <a:ext cx="0" cy="1188720"/>
          </a:xfrm>
          <a:prstGeom prst="line">
            <a:avLst/>
          </a:prstGeom>
          <a:ln w="19050">
            <a:solidFill>
              <a:srgbClr val="B3BBB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The Same Rows, Now </a:t>
            </a:r>
            <a:r>
              <a:rPr sz="3200" b="1" i="0" u="none">
                <a:solidFill>
                  <a:srgbClr val="264326"/>
                </a:solidFill>
                <a:latin typeface="Helvetica"/>
              </a:rPr>
              <a:t>In Your Own Memory</a:t>
            </a:r>
          </a:p>
        </p:txBody>
      </p:sp>
      <p:sp>
        <p:nvSpPr>
          <p:cNvPr id="4" name="Rounded Rectangle 3"/>
          <p:cNvSpPr/>
          <p:nvPr/>
        </p:nvSpPr>
        <p:spPr>
          <a:xfrm>
            <a:off x="548640" y="1005840"/>
            <a:ext cx="11094415" cy="416052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analysis</a:t>
            </a:r>
          </a:p>
        </p:txBody>
      </p:sp>
      <p:sp>
        <p:nvSpPr>
          <p:cNvPr id="9" name="TextBox 8"/>
          <p:cNvSpPr txBox="1"/>
          <p:nvPr/>
        </p:nvSpPr>
        <p:spPr>
          <a:xfrm>
            <a:off x="804672" y="1636776"/>
            <a:ext cx="10582351" cy="3401568"/>
          </a:xfrm>
          <a:prstGeom prst="rect">
            <a:avLst/>
          </a:prstGeom>
          <a:noFill/>
        </p:spPr>
        <p:txBody>
          <a:bodyPr wrap="square" lIns="0" rIns="0" tIns="0" bIns="0">
            <a:noAutofit/>
          </a:bodyPr>
          <a:lstStyle/>
          <a:p>
            <a:pPr>
              <a:lnSpc>
                <a:spcPct val="120000"/>
              </a:lnSpc>
              <a:defRPr sz="2600">
                <a:latin typeface="Roboto Mono"/>
              </a:defRPr>
            </a:pPr>
            <a:r>
              <a:rPr sz="2600" i="0">
                <a:solidFill>
                  <a:srgbClr val="EEBC32"/>
                </a:solidFill>
                <a:latin typeface="Roboto Mono"/>
              </a:rPr>
              <a:t>import</a:t>
            </a:r>
            <a:r>
              <a:rPr sz="2600" i="0">
                <a:solidFill>
                  <a:srgbClr val="FFFCF7"/>
                </a:solidFill>
                <a:latin typeface="Roboto Mono"/>
              </a:rPr>
              <a:t> </a:t>
            </a:r>
            <a:r>
              <a:rPr sz="2600" i="0">
                <a:solidFill>
                  <a:srgbClr val="FFFCF7"/>
                </a:solidFill>
                <a:latin typeface="Roboto Mono"/>
              </a:rPr>
              <a:t>pandas</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pd</a:t>
            </a:r>
          </a:p>
          <a:p>
            <a:pPr>
              <a:lnSpc>
                <a:spcPct val="120000"/>
              </a:lnSpc>
              <a:defRPr sz="2600">
                <a:latin typeface="Roboto Mono"/>
              </a:defRPr>
            </a:pPr>
          </a:p>
          <a:p>
            <a:pPr>
              <a:lnSpc>
                <a:spcPct val="120000"/>
              </a:lnSpc>
              <a:defRPr sz="2600">
                <a:latin typeface="Roboto Mono"/>
              </a:defRPr>
            </a:pPr>
            <a:r>
              <a:rPr sz="2600" i="1">
                <a:solidFill>
                  <a:srgbClr val="B3BBB0"/>
                </a:solidFill>
                <a:latin typeface="Roboto Mono"/>
              </a:rPr>
              <a:t># The same 311 rows the SQL table just showed</a:t>
            </a:r>
          </a:p>
          <a:p>
            <a:pPr>
              <a:lnSpc>
                <a:spcPct val="120000"/>
              </a:lnSpc>
              <a:defRPr sz="2600">
                <a:latin typeface="Roboto Mono"/>
              </a:defRPr>
            </a:pPr>
            <a:r>
              <a:rPr sz="2600" i="0">
                <a:solidFill>
                  <a:srgbClr val="FFFCF7"/>
                </a:solidFill>
                <a:latin typeface="Roboto Mono"/>
              </a:rPr>
              <a:t>df</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pd</a:t>
            </a:r>
            <a:r>
              <a:rPr sz="2600" i="0">
                <a:solidFill>
                  <a:srgbClr val="FFFCF7"/>
                </a:solidFill>
                <a:latin typeface="Roboto Mono"/>
              </a:rPr>
              <a:t>.</a:t>
            </a:r>
            <a:r>
              <a:rPr sz="2600" i="0">
                <a:solidFill>
                  <a:srgbClr val="FFFCF7"/>
                </a:solidFill>
                <a:latin typeface="Roboto Mono"/>
              </a:rPr>
              <a:t>read_csv</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../../data/nyc_311_sample.csv</a:t>
            </a:r>
            <a:r>
              <a:rPr sz="2600" i="0">
                <a:solidFill>
                  <a:srgbClr val="F8BAC9"/>
                </a:solidFill>
                <a:latin typeface="Roboto Mono"/>
              </a:rPr>
              <a:t>"</a:t>
            </a:r>
            <a:r>
              <a:rPr sz="2600" i="0">
                <a:solidFill>
                  <a:srgbClr val="FFFCF7"/>
                </a:solidFill>
                <a:latin typeface="Roboto Mono"/>
              </a:rPr>
              <a:t>)</a:t>
            </a:r>
          </a:p>
          <a:p>
            <a:pPr>
              <a:lnSpc>
                <a:spcPct val="120000"/>
              </a:lnSpc>
              <a:defRPr sz="2600">
                <a:latin typeface="Roboto Mono"/>
              </a:defRPr>
            </a:pPr>
          </a:p>
          <a:p>
            <a:pPr>
              <a:lnSpc>
                <a:spcPct val="120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FFCF7"/>
                </a:solidFill>
                <a:latin typeface="Roboto Mono"/>
              </a:rPr>
              <a:t>df</a:t>
            </a:r>
            <a:r>
              <a:rPr sz="2600" i="0">
                <a:solidFill>
                  <a:srgbClr val="FFFCF7"/>
                </a:solidFill>
                <a:latin typeface="Roboto Mono"/>
              </a:rPr>
              <a:t>.</a:t>
            </a:r>
            <a:r>
              <a:rPr sz="2600" i="0">
                <a:solidFill>
                  <a:srgbClr val="FFFCF7"/>
                </a:solidFill>
                <a:latin typeface="Roboto Mono"/>
              </a:rPr>
              <a:t>head</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p>
        </p:txBody>
      </p:sp>
      <p:sp>
        <p:nvSpPr>
          <p:cNvPr id="10" name="Rounded Rectangle 9"/>
          <p:cNvSpPr/>
          <p:nvPr/>
        </p:nvSpPr>
        <p:spPr>
          <a:xfrm>
            <a:off x="548640" y="5303520"/>
            <a:ext cx="11094415" cy="10515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0"/>
            <a:ext cx="10637215" cy="10515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Same album, one on a shelf you have to walk over to, one already downloaded on your phone. Identical tracks either way.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Every Column Has </a:t>
            </a:r>
            <a:r>
              <a:rPr sz="3200" b="1" i="0" u="none">
                <a:solidFill>
                  <a:srgbClr val="264326"/>
                </a:solidFill>
                <a:latin typeface="Helvetica"/>
              </a:rPr>
              <a:t>One Type</a:t>
            </a:r>
            <a:r>
              <a:rPr sz="3200" b="1" i="0" u="none">
                <a:solidFill>
                  <a:srgbClr val="261F1D"/>
                </a:solidFill>
                <a:latin typeface="Helvetica"/>
              </a:rPr>
              <a:t>, Just Like SQL</a:t>
            </a:r>
          </a:p>
        </p:txBody>
      </p:sp>
      <p:sp>
        <p:nvSpPr>
          <p:cNvPr id="4" name="Rounded Rectangle 3"/>
          <p:cNvSpPr/>
          <p:nvPr/>
        </p:nvSpPr>
        <p:spPr>
          <a:xfrm>
            <a:off x="548640" y="1005840"/>
            <a:ext cx="11094415" cy="416052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analysis</a:t>
            </a:r>
          </a:p>
        </p:txBody>
      </p:sp>
      <p:sp>
        <p:nvSpPr>
          <p:cNvPr id="9" name="TextBox 8"/>
          <p:cNvSpPr txBox="1"/>
          <p:nvPr/>
        </p:nvSpPr>
        <p:spPr>
          <a:xfrm>
            <a:off x="804672" y="1636776"/>
            <a:ext cx="10582351" cy="3401568"/>
          </a:xfrm>
          <a:prstGeom prst="rect">
            <a:avLst/>
          </a:prstGeom>
          <a:noFill/>
        </p:spPr>
        <p:txBody>
          <a:bodyPr wrap="square" lIns="0" rIns="0" tIns="0" bIns="0">
            <a:noAutofit/>
          </a:bodyPr>
          <a:lstStyle/>
          <a:p>
            <a:pPr>
              <a:lnSpc>
                <a:spcPct val="120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FFCF7"/>
                </a:solidFill>
                <a:latin typeface="Roboto Mono"/>
              </a:rPr>
              <a:t>df</a:t>
            </a:r>
            <a:r>
              <a:rPr sz="2600" i="0">
                <a:solidFill>
                  <a:srgbClr val="FFFCF7"/>
                </a:solidFill>
                <a:latin typeface="Roboto Mono"/>
              </a:rPr>
              <a:t>.</a:t>
            </a:r>
            <a:r>
              <a:rPr sz="2600" i="0">
                <a:solidFill>
                  <a:srgbClr val="FFFCF7"/>
                </a:solidFill>
                <a:latin typeface="Roboto Mono"/>
              </a:rPr>
              <a:t>dtypes</a:t>
            </a:r>
            <a:r>
              <a:rPr sz="2600" i="0">
                <a:solidFill>
                  <a:srgbClr val="FFFCF7"/>
                </a:solidFill>
                <a:latin typeface="Roboto Mono"/>
              </a:rPr>
              <a:t>)</a:t>
            </a:r>
          </a:p>
          <a:p>
            <a:pPr>
              <a:lnSpc>
                <a:spcPct val="120000"/>
              </a:lnSpc>
              <a:defRPr sz="2600">
                <a:latin typeface="Roboto Mono"/>
              </a:defRPr>
            </a:pPr>
          </a:p>
          <a:p>
            <a:pPr>
              <a:lnSpc>
                <a:spcPct val="120000"/>
              </a:lnSpc>
              <a:defRPr sz="2600">
                <a:latin typeface="Roboto Mono"/>
              </a:defRPr>
            </a:pPr>
            <a:r>
              <a:rPr sz="2600" i="1">
                <a:solidFill>
                  <a:srgbClr val="B3BBB0"/>
                </a:solidFill>
                <a:latin typeface="Roboto Mono"/>
              </a:rPr>
              <a:t># A date arrives as text until you actually parse it</a:t>
            </a:r>
          </a:p>
          <a:p>
            <a:pPr>
              <a:lnSpc>
                <a:spcPct val="120000"/>
              </a:lnSpc>
              <a:defRPr sz="2600">
                <a:latin typeface="Roboto Mono"/>
              </a:defRPr>
            </a:pPr>
            <a:r>
              <a:rPr sz="2600" i="0">
                <a:solidFill>
                  <a:srgbClr val="FFFCF7"/>
                </a:solidFill>
                <a:latin typeface="Roboto Mono"/>
              </a:rPr>
              <a:t>dates</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pd</a:t>
            </a:r>
            <a:r>
              <a:rPr sz="2600" i="0">
                <a:solidFill>
                  <a:srgbClr val="FFFCF7"/>
                </a:solidFill>
                <a:latin typeface="Roboto Mono"/>
              </a:rPr>
              <a:t>.</a:t>
            </a:r>
            <a:r>
              <a:rPr sz="2600" i="0">
                <a:solidFill>
                  <a:srgbClr val="FFFCF7"/>
                </a:solidFill>
                <a:latin typeface="Roboto Mono"/>
              </a:rPr>
              <a:t>to_datetime</a:t>
            </a:r>
            <a:r>
              <a:rPr sz="2600" i="0">
                <a:solidFill>
                  <a:srgbClr val="FFFCF7"/>
                </a:solidFill>
                <a:latin typeface="Roboto Mono"/>
              </a:rPr>
              <a:t>(</a:t>
            </a:r>
            <a:r>
              <a:rPr sz="2600" i="0">
                <a:solidFill>
                  <a:srgbClr val="FFFCF7"/>
                </a:solidFill>
                <a:latin typeface="Roboto Mono"/>
              </a:rPr>
              <a:t>df</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created_date</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FFCF7"/>
                </a:solidFill>
                <a:latin typeface="Roboto Mono"/>
              </a:rPr>
              <a:t>dates</a:t>
            </a:r>
            <a:r>
              <a:rPr sz="2600" i="0">
                <a:solidFill>
                  <a:srgbClr val="FFFCF7"/>
                </a:solidFill>
                <a:latin typeface="Roboto Mono"/>
              </a:rPr>
              <a:t>.</a:t>
            </a:r>
            <a:r>
              <a:rPr sz="2600" i="0">
                <a:solidFill>
                  <a:srgbClr val="FFFCF7"/>
                </a:solidFill>
                <a:latin typeface="Roboto Mono"/>
              </a:rPr>
              <a:t>dtype</a:t>
            </a:r>
            <a:r>
              <a:rPr sz="2600" i="0">
                <a:solidFill>
                  <a:srgbClr val="FFFCF7"/>
                </a:solidFill>
                <a:latin typeface="Roboto Mono"/>
              </a:rPr>
              <a:t>)</a:t>
            </a:r>
          </a:p>
          <a:p>
            <a:pPr>
              <a:lnSpc>
                <a:spcPct val="120000"/>
              </a:lnSpc>
              <a:defRPr sz="2600">
                <a:latin typeface="Roboto Mono"/>
              </a:defRPr>
            </a:pPr>
          </a:p>
        </p:txBody>
      </p:sp>
      <p:sp>
        <p:nvSpPr>
          <p:cNvPr id="10" name="Rounded Rectangle 9"/>
          <p:cNvSpPr/>
          <p:nvPr/>
        </p:nvSpPr>
        <p:spPr>
          <a:xfrm>
            <a:off x="548640" y="5303520"/>
            <a:ext cx="11094415" cy="10515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303520"/>
            <a:ext cx="10637215" cy="10515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A tag reading </a:t>
            </a:r>
            <a:r>
              <a:rPr sz="2600" b="0" i="0" u="none">
                <a:solidFill>
                  <a:srgbClr val="261F1D"/>
                </a:solidFill>
                <a:latin typeface="Roboto Mono"/>
              </a:rPr>
              <a:t>$24.99</a:t>
            </a:r>
            <a:r>
              <a:rPr sz="2600" b="0" i="0" u="none">
                <a:solidFill>
                  <a:srgbClr val="261F1D"/>
                </a:solidFill>
                <a:latin typeface="Helvetica"/>
              </a:rPr>
              <a:t> is just characters until a register reads it into a field that expects money.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Same Parts, </a:t>
            </a:r>
            <a:r>
              <a:rPr sz="3200" b="1" i="0" u="none">
                <a:solidFill>
                  <a:srgbClr val="264326"/>
                </a:solidFill>
                <a:latin typeface="Helvetica"/>
              </a:rPr>
              <a:t>Two Vocabularies</a:t>
            </a:r>
          </a:p>
        </p:txBody>
      </p:sp>
      <p:graphicFrame>
        <p:nvGraphicFramePr>
          <p:cNvPr id="4" name="Table 3"/>
          <p:cNvGraphicFramePr>
            <a:graphicFrameLocks noGrp="1"/>
          </p:cNvGraphicFramePr>
          <p:nvPr/>
        </p:nvGraphicFramePr>
        <p:xfrm>
          <a:off x="548640" y="1988820"/>
          <a:ext cx="11094415" cy="3520440"/>
        </p:xfrm>
        <a:graphic>
          <a:graphicData uri="http://schemas.openxmlformats.org/drawingml/2006/table">
            <a:tbl>
              <a:tblPr>
                <a:tableStyleId>{5C22544A-7EE6-4342-B048-85BDC9FD1C3A}</a:tableStyleId>
              </a:tblPr>
              <a:tblGrid>
                <a:gridCol w="3698138"/>
                <a:gridCol w="3698138"/>
                <a:gridCol w="3698139"/>
              </a:tblGrid>
              <a:tr h="502920">
                <a:tc>
                  <a:txBody>
                    <a:bodyPr wrap="square"/>
                    <a:lstStyle/>
                    <a:p>
                      <a:r>
                        <a:rPr sz="2600" b="1" i="0" u="none">
                          <a:solidFill>
                            <a:srgbClr val="FFFCF7"/>
                          </a:solidFill>
                          <a:latin typeface="Helvetica"/>
                        </a:rPr>
                        <a:t>In SQL</a:t>
                      </a:r>
                    </a:p>
                  </a:txBody>
                  <a:tcPr marL="109728" marR="109728" marT="54864" marB="54864" anchor="ctr">
                    <a:solidFill>
                      <a:srgbClr val="264326"/>
                    </a:solidFill>
                  </a:tcPr>
                </a:tc>
                <a:tc>
                  <a:txBody>
                    <a:bodyPr wrap="square"/>
                    <a:lstStyle/>
                    <a:p>
                      <a:r>
                        <a:rPr sz="2600" b="1" i="0" u="none">
                          <a:solidFill>
                            <a:srgbClr val="FFFCF7"/>
                          </a:solidFill>
                          <a:latin typeface="Helvetica"/>
                        </a:rPr>
                        <a:t>In pandas</a:t>
                      </a:r>
                    </a:p>
                  </a:txBody>
                  <a:tcPr marL="109728" marR="109728" marT="54864" marB="54864" anchor="ctr">
                    <a:solidFill>
                      <a:srgbClr val="264326"/>
                    </a:solidFill>
                  </a:tcPr>
                </a:tc>
                <a:tc>
                  <a:txBody>
                    <a:bodyPr wrap="square"/>
                    <a:lstStyle/>
                    <a:p>
                      <a:r>
                        <a:rPr sz="2600" b="1" i="0" u="none">
                          <a:solidFill>
                            <a:srgbClr val="FFFCF7"/>
                          </a:solidFill>
                          <a:latin typeface="Helvetica"/>
                        </a:rPr>
                        <a:t>Example</a:t>
                      </a:r>
                    </a:p>
                  </a:txBody>
                  <a:tcPr marL="109728" marR="109728" marT="54864" marB="54864" anchor="ctr">
                    <a:solidFill>
                      <a:srgbClr val="264326"/>
                    </a:solidFill>
                  </a:tcPr>
                </a:tc>
              </a:tr>
              <a:tr h="502920">
                <a:tc>
                  <a:txBody>
                    <a:bodyPr wrap="square"/>
                    <a:lstStyle/>
                    <a:p>
                      <a:r>
                        <a:rPr sz="2600" b="0" i="0" u="none">
                          <a:solidFill>
                            <a:srgbClr val="261F1D"/>
                          </a:solidFill>
                          <a:latin typeface="Helvetica"/>
                        </a:rPr>
                        <a:t>Table</a:t>
                      </a:r>
                    </a:p>
                  </a:txBody>
                  <a:tcPr marL="109728" marR="109728" marT="54864" marB="54864" anchor="ctr">
                    <a:solidFill>
                      <a:srgbClr val="FFFCF7"/>
                    </a:solidFill>
                  </a:tcPr>
                </a:tc>
                <a:tc>
                  <a:txBody>
                    <a:bodyPr wrap="square"/>
                    <a:lstStyle/>
                    <a:p>
                      <a:r>
                        <a:rPr sz="2600" b="0" i="0" u="none">
                          <a:solidFill>
                            <a:srgbClr val="261F1D"/>
                          </a:solidFill>
                          <a:latin typeface="Helvetica"/>
                        </a:rPr>
                        <a:t>DataFrame</a:t>
                      </a:r>
                    </a:p>
                  </a:txBody>
                  <a:tcPr marL="109728" marR="109728" marT="54864" marB="54864" anchor="ctr">
                    <a:solidFill>
                      <a:srgbClr val="FFFCF7"/>
                    </a:solidFill>
                  </a:tcPr>
                </a:tc>
                <a:tc>
                  <a:txBody>
                    <a:bodyPr wrap="square"/>
                    <a:lstStyle/>
                    <a:p>
                      <a:r>
                        <a:rPr sz="2600" b="0" i="0" u="none">
                          <a:solidFill>
                            <a:srgbClr val="261F1D"/>
                          </a:solidFill>
                          <a:latin typeface="Roboto Mono"/>
                        </a:rPr>
                        <a:t>df</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Row</a:t>
                      </a:r>
                    </a:p>
                  </a:txBody>
                  <a:tcPr marL="109728" marR="109728" marT="54864" marB="54864" anchor="ctr">
                    <a:solidFill>
                      <a:srgbClr val="FFF6E4"/>
                    </a:solidFill>
                  </a:tcPr>
                </a:tc>
                <a:tc>
                  <a:txBody>
                    <a:bodyPr wrap="square"/>
                    <a:lstStyle/>
                    <a:p>
                      <a:r>
                        <a:rPr sz="2600" b="0" i="0" u="none">
                          <a:solidFill>
                            <a:srgbClr val="261F1D"/>
                          </a:solidFill>
                          <a:latin typeface="Helvetica"/>
                        </a:rPr>
                        <a:t>Row</a:t>
                      </a:r>
                    </a:p>
                  </a:txBody>
                  <a:tcPr marL="109728" marR="109728" marT="54864" marB="54864" anchor="ctr">
                    <a:solidFill>
                      <a:srgbClr val="FFF6E4"/>
                    </a:solidFill>
                  </a:tcPr>
                </a:tc>
                <a:tc>
                  <a:txBody>
                    <a:bodyPr wrap="square"/>
                    <a:lstStyle/>
                    <a:p>
                      <a:r>
                        <a:rPr sz="2600" b="0" i="0" u="none">
                          <a:solidFill>
                            <a:srgbClr val="261F1D"/>
                          </a:solidFill>
                          <a:latin typeface="Helvetica"/>
                        </a:rPr>
                        <a:t>One request</a:t>
                      </a:r>
                    </a:p>
                  </a:txBody>
                  <a:tcPr marL="109728" marR="109728" marT="54864" marB="54864" anchor="ctr">
                    <a:solidFill>
                      <a:srgbClr val="FFF6E4"/>
                    </a:solidFill>
                  </a:tcPr>
                </a:tc>
              </a:tr>
              <a:tr h="502920">
                <a:tc>
                  <a:txBody>
                    <a:bodyPr wrap="square"/>
                    <a:lstStyle/>
                    <a:p>
                      <a:r>
                        <a:rPr sz="2600" b="0" i="0" u="none">
                          <a:solidFill>
                            <a:srgbClr val="261F1D"/>
                          </a:solidFill>
                          <a:latin typeface="Helvetica"/>
                        </a:rPr>
                        <a:t>Column</a:t>
                      </a:r>
                    </a:p>
                  </a:txBody>
                  <a:tcPr marL="109728" marR="109728" marT="54864" marB="54864" anchor="ctr">
                    <a:solidFill>
                      <a:srgbClr val="FFFCF7"/>
                    </a:solidFill>
                  </a:tcPr>
                </a:tc>
                <a:tc>
                  <a:txBody>
                    <a:bodyPr wrap="square"/>
                    <a:lstStyle/>
                    <a:p>
                      <a:r>
                        <a:rPr sz="2600" b="0" i="0" u="none">
                          <a:solidFill>
                            <a:srgbClr val="261F1D"/>
                          </a:solidFill>
                          <a:latin typeface="Helvetica"/>
                        </a:rPr>
                        <a:t>Series</a:t>
                      </a:r>
                    </a:p>
                  </a:txBody>
                  <a:tcPr marL="109728" marR="109728" marT="54864" marB="54864" anchor="ctr">
                    <a:solidFill>
                      <a:srgbClr val="FFFCF7"/>
                    </a:solidFill>
                  </a:tcPr>
                </a:tc>
                <a:tc>
                  <a:txBody>
                    <a:bodyPr wrap="square"/>
                    <a:lstStyle/>
                    <a:p>
                      <a:r>
                        <a:rPr sz="2600" b="0" i="0" u="none">
                          <a:solidFill>
                            <a:srgbClr val="261F1D"/>
                          </a:solidFill>
                          <a:latin typeface="Roboto Mono"/>
                        </a:rPr>
                        <a:t>borough</a:t>
                      </a:r>
                    </a:p>
                  </a:txBody>
                  <a:tcPr marL="109728" marR="109728" marT="54864" marB="54864" anchor="ctr">
                    <a:solidFill>
                      <a:srgbClr val="FFFCF7"/>
                    </a:solidFill>
                  </a:tcPr>
                </a:tc>
              </a:tr>
              <a:tr h="502920">
                <a:tc>
                  <a:txBody>
                    <a:bodyPr wrap="square"/>
                    <a:lstStyle/>
                    <a:p>
                      <a:r>
                        <a:rPr sz="2600" b="0" i="0" u="none">
                          <a:solidFill>
                            <a:srgbClr val="261F1D"/>
                          </a:solidFill>
                          <a:latin typeface="Roboto Mono"/>
                        </a:rPr>
                        <a:t>INTEGER</a:t>
                      </a:r>
                    </a:p>
                  </a:txBody>
                  <a:tcPr marL="109728" marR="109728" marT="54864" marB="54864" anchor="ctr">
                    <a:solidFill>
                      <a:srgbClr val="FFF6E4"/>
                    </a:solidFill>
                  </a:tcPr>
                </a:tc>
                <a:tc>
                  <a:txBody>
                    <a:bodyPr wrap="square"/>
                    <a:lstStyle/>
                    <a:p>
                      <a:r>
                        <a:rPr sz="2600" b="0" i="0" u="none">
                          <a:solidFill>
                            <a:srgbClr val="261F1D"/>
                          </a:solidFill>
                          <a:latin typeface="Roboto Mono"/>
                        </a:rPr>
                        <a:t>int64</a:t>
                      </a:r>
                    </a:p>
                  </a:txBody>
                  <a:tcPr marL="109728" marR="109728" marT="54864" marB="54864" anchor="ctr">
                    <a:solidFill>
                      <a:srgbClr val="FFF6E4"/>
                    </a:solidFill>
                  </a:tcPr>
                </a:tc>
                <a:tc>
                  <a:txBody>
                    <a:bodyPr wrap="square"/>
                    <a:lstStyle/>
                    <a:p>
                      <a:r>
                        <a:rPr sz="2600" b="0" i="0" u="none">
                          <a:solidFill>
                            <a:srgbClr val="261F1D"/>
                          </a:solidFill>
                          <a:latin typeface="Roboto Mono"/>
                        </a:rPr>
                        <a:t>69530216</a:t>
                      </a:r>
                    </a:p>
                  </a:txBody>
                  <a:tcPr marL="109728" marR="109728" marT="54864" marB="54864" anchor="ctr">
                    <a:solidFill>
                      <a:srgbClr val="FFF6E4"/>
                    </a:solidFill>
                  </a:tcPr>
                </a:tc>
              </a:tr>
              <a:tr h="502920">
                <a:tc>
                  <a:txBody>
                    <a:bodyPr wrap="square"/>
                    <a:lstStyle/>
                    <a:p>
                      <a:r>
                        <a:rPr sz="2600" b="0" i="0" u="none">
                          <a:solidFill>
                            <a:srgbClr val="261F1D"/>
                          </a:solidFill>
                          <a:latin typeface="Roboto Mono"/>
                        </a:rPr>
                        <a:t>VARCHAR</a:t>
                      </a:r>
                    </a:p>
                  </a:txBody>
                  <a:tcPr marL="109728" marR="109728" marT="54864" marB="54864" anchor="ctr">
                    <a:solidFill>
                      <a:srgbClr val="FFFCF7"/>
                    </a:solidFill>
                  </a:tcPr>
                </a:tc>
                <a:tc>
                  <a:txBody>
                    <a:bodyPr wrap="square"/>
                    <a:lstStyle/>
                    <a:p>
                      <a:r>
                        <a:rPr sz="2600" b="0" i="0" u="none">
                          <a:solidFill>
                            <a:srgbClr val="261F1D"/>
                          </a:solidFill>
                          <a:latin typeface="Helvetica"/>
                        </a:rPr>
                        <a:t>Text</a:t>
                      </a:r>
                    </a:p>
                  </a:txBody>
                  <a:tcPr marL="109728" marR="109728" marT="54864" marB="54864" anchor="ctr">
                    <a:solidFill>
                      <a:srgbClr val="FFFCF7"/>
                    </a:solidFill>
                  </a:tcPr>
                </a:tc>
                <a:tc>
                  <a:txBody>
                    <a:bodyPr wrap="square"/>
                    <a:lstStyle/>
                    <a:p>
                      <a:r>
                        <a:rPr sz="2600" b="0" i="0" u="none">
                          <a:solidFill>
                            <a:srgbClr val="261F1D"/>
                          </a:solidFill>
                          <a:latin typeface="Roboto Mono"/>
                        </a:rPr>
                        <a:t>BRONX</a:t>
                      </a:r>
                    </a:p>
                  </a:txBody>
                  <a:tcPr marL="109728" marR="109728" marT="54864" marB="54864" anchor="ctr">
                    <a:solidFill>
                      <a:srgbClr val="FFFCF7"/>
                    </a:solidFill>
                  </a:tcPr>
                </a:tc>
              </a:tr>
              <a:tr h="502920">
                <a:tc>
                  <a:txBody>
                    <a:bodyPr wrap="square"/>
                    <a:lstStyle/>
                    <a:p>
                      <a:r>
                        <a:rPr sz="2600" b="0" i="0" u="none">
                          <a:solidFill>
                            <a:srgbClr val="261F1D"/>
                          </a:solidFill>
                          <a:latin typeface="Roboto Mono"/>
                        </a:rPr>
                        <a:t>TIMESTAMP</a:t>
                      </a:r>
                    </a:p>
                  </a:txBody>
                  <a:tcPr marL="109728" marR="109728" marT="54864" marB="54864" anchor="ctr">
                    <a:solidFill>
                      <a:srgbClr val="FFF6E4"/>
                    </a:solidFill>
                  </a:tcPr>
                </a:tc>
                <a:tc>
                  <a:txBody>
                    <a:bodyPr wrap="square"/>
                    <a:lstStyle/>
                    <a:p>
                      <a:r>
                        <a:rPr sz="2600" b="0" i="0" u="none">
                          <a:solidFill>
                            <a:srgbClr val="261F1D"/>
                          </a:solidFill>
                          <a:latin typeface="Helvetica"/>
                        </a:rPr>
                        <a:t>Text, out of a file</a:t>
                      </a:r>
                    </a:p>
                  </a:txBody>
                  <a:tcPr marL="109728" marR="109728" marT="54864" marB="54864" anchor="ctr">
                    <a:solidFill>
                      <a:srgbClr val="FFF6E4"/>
                    </a:solidFill>
                  </a:tcPr>
                </a:tc>
                <a:tc>
                  <a:txBody>
                    <a:bodyPr wrap="square"/>
                    <a:lstStyle/>
                    <a:p>
                      <a:r>
                        <a:rPr sz="2600" b="0" i="0" u="none">
                          <a:solidFill>
                            <a:srgbClr val="261F1D"/>
                          </a:solidFill>
                          <a:latin typeface="Roboto Mono"/>
                        </a:rPr>
                        <a:t>2026-06-29</a:t>
                      </a:r>
                    </a:p>
                  </a:txBody>
                  <a:tcPr marL="109728" marR="109728" marT="54864" marB="54864" anchor="ctr">
                    <a:solidFill>
                      <a:srgbClr val="FFF6E4"/>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CHECK FOR UNDERSTANDING</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Roboto Mono"/>
              </a:rPr>
              <a:t>df.dtypes</a:t>
            </a:r>
            <a:r>
              <a:rPr sz="3200" b="1" i="0" u="none">
                <a:solidFill>
                  <a:srgbClr val="261F1D"/>
                </a:solidFill>
                <a:latin typeface="Helvetica"/>
              </a:rPr>
              <a:t> shows </a:t>
            </a:r>
            <a:r>
              <a:rPr sz="3200" b="1" i="0" u="none">
                <a:solidFill>
                  <a:srgbClr val="261F1D"/>
                </a:solidFill>
                <a:latin typeface="Roboto Mono"/>
              </a:rPr>
              <a:t>created_date</a:t>
            </a:r>
            <a:r>
              <a:rPr sz="3200" b="1" i="0" u="none">
                <a:solidFill>
                  <a:srgbClr val="261F1D"/>
                </a:solidFill>
                <a:latin typeface="Helvetica"/>
              </a:rPr>
              <a:t> as text, but in the database that same column was a real </a:t>
            </a:r>
            <a:r>
              <a:rPr sz="3200" b="1" i="0" u="none">
                <a:solidFill>
                  <a:srgbClr val="261F1D"/>
                </a:solidFill>
                <a:latin typeface="Roboto Mono"/>
              </a:rPr>
              <a:t>TIMESTAMP</a:t>
            </a:r>
            <a:r>
              <a:rPr sz="3200" b="1" i="0" u="none">
                <a:solidFill>
                  <a:srgbClr val="261F1D"/>
                </a:solidFill>
                <a:latin typeface="Helvetica"/>
              </a:rPr>
              <a:t>. What happened?</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The file stored it as text, and nothing re-declared it as a date</a:t>
            </a:r>
          </a:p>
          <a:p>
            <a:pPr>
              <a:spcAft>
                <a:spcPts val="1000"/>
              </a:spcAft>
            </a:pPr>
            <a:r>
              <a:rPr sz="2600" b="0" i="0" u="none">
                <a:solidFill>
                  <a:srgbClr val="261F1D"/>
                </a:solidFill>
                <a:latin typeface="Helvetica"/>
              </a:rPr>
              <a:t>B.  pandas cannot store dates at all</a:t>
            </a:r>
          </a:p>
          <a:p>
            <a:pPr>
              <a:spcAft>
                <a:spcPts val="1000"/>
              </a:spcAft>
            </a:pPr>
            <a:r>
              <a:rPr sz="2600" b="0" i="0" u="none">
                <a:solidFill>
                  <a:srgbClr val="261F1D"/>
                </a:solidFill>
                <a:latin typeface="Helvetica"/>
              </a:rPr>
              <a:t>C.  The database exported the wrong column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Types Don't Travel</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The file stored it as text, and nothing re-declared it as a date</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A column's type lives in the database's own schema, not in the rows. A CSV holds only characters, so pandas guesses a type per column as it reads, and text is the safe guess. Calling </a:t>
            </a:r>
            <a:r>
              <a:rPr sz="2600" b="0" i="0" u="none">
                <a:solidFill>
                  <a:srgbClr val="261F1D"/>
                </a:solidFill>
                <a:latin typeface="Roboto Mono"/>
              </a:rPr>
              <a:t>pd.to_datetime()</a:t>
            </a:r>
            <a:r>
              <a:rPr sz="2600" b="0" i="0" u="none">
                <a:solidFill>
                  <a:srgbClr val="261F1D"/>
                </a:solidFill>
                <a:latin typeface="Helvetica"/>
              </a:rPr>
              <a:t> is what turns it back into a real date.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You Can Name the Parts</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Now Ask the Same Question Twice</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Nearly every clause you already write in SQL has a pandas move that does the same job to the same rows.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One Question, </a:t>
            </a:r>
            <a:r>
              <a:rPr sz="3200" b="1" i="0" u="none">
                <a:solidFill>
                  <a:srgbClr val="264326"/>
                </a:solidFill>
                <a:latin typeface="Helvetica"/>
              </a:rPr>
              <a:t>Two Languages</a:t>
            </a:r>
          </a:p>
        </p:txBody>
      </p:sp>
      <p:graphicFrame>
        <p:nvGraphicFramePr>
          <p:cNvPr id="4" name="Table 3"/>
          <p:cNvGraphicFramePr>
            <a:graphicFrameLocks noGrp="1"/>
          </p:cNvGraphicFramePr>
          <p:nvPr/>
        </p:nvGraphicFramePr>
        <p:xfrm>
          <a:off x="548640" y="1988820"/>
          <a:ext cx="11094415" cy="3520440"/>
        </p:xfrm>
        <a:graphic>
          <a:graphicData uri="http://schemas.openxmlformats.org/drawingml/2006/table">
            <a:tbl>
              <a:tblPr>
                <a:tableStyleId>{5C22544A-7EE6-4342-B048-85BDC9FD1C3A}</a:tableStyleId>
              </a:tblPr>
              <a:tblGrid>
                <a:gridCol w="3698138"/>
                <a:gridCol w="3698138"/>
                <a:gridCol w="3698139"/>
              </a:tblGrid>
              <a:tr h="502920">
                <a:tc>
                  <a:txBody>
                    <a:bodyPr wrap="square"/>
                    <a:lstStyle/>
                    <a:p>
                      <a:r>
                        <a:rPr sz="2600" b="1" i="0" u="none">
                          <a:solidFill>
                            <a:srgbClr val="FFFCF7"/>
                          </a:solidFill>
                          <a:latin typeface="Helvetica"/>
                        </a:rPr>
                        <a:t>The Question</a:t>
                      </a:r>
                    </a:p>
                  </a:txBody>
                  <a:tcPr marL="109728" marR="109728" marT="54864" marB="54864" anchor="ctr">
                    <a:solidFill>
                      <a:srgbClr val="264326"/>
                    </a:solidFill>
                  </a:tcPr>
                </a:tc>
                <a:tc>
                  <a:txBody>
                    <a:bodyPr wrap="square"/>
                    <a:lstStyle/>
                    <a:p>
                      <a:r>
                        <a:rPr sz="2600" b="1" i="0" u="none">
                          <a:solidFill>
                            <a:srgbClr val="FFFCF7"/>
                          </a:solidFill>
                          <a:latin typeface="Helvetica"/>
                        </a:rPr>
                        <a:t>In SQL</a:t>
                      </a:r>
                    </a:p>
                  </a:txBody>
                  <a:tcPr marL="109728" marR="109728" marT="54864" marB="54864" anchor="ctr">
                    <a:solidFill>
                      <a:srgbClr val="264326"/>
                    </a:solidFill>
                  </a:tcPr>
                </a:tc>
                <a:tc>
                  <a:txBody>
                    <a:bodyPr wrap="square"/>
                    <a:lstStyle/>
                    <a:p>
                      <a:r>
                        <a:rPr sz="2600" b="1" i="0" u="none">
                          <a:solidFill>
                            <a:srgbClr val="FFFCF7"/>
                          </a:solidFill>
                          <a:latin typeface="Helvetica"/>
                        </a:rPr>
                        <a:t>In pandas</a:t>
                      </a:r>
                    </a:p>
                  </a:txBody>
                  <a:tcPr marL="109728" marR="109728" marT="54864" marB="54864" anchor="ctr">
                    <a:solidFill>
                      <a:srgbClr val="264326"/>
                    </a:solidFill>
                  </a:tcPr>
                </a:tc>
              </a:tr>
              <a:tr h="502920">
                <a:tc>
                  <a:txBody>
                    <a:bodyPr wrap="square"/>
                    <a:lstStyle/>
                    <a:p>
                      <a:r>
                        <a:rPr sz="2600" b="0" i="0" u="none">
                          <a:solidFill>
                            <a:srgbClr val="261F1D"/>
                          </a:solidFill>
                          <a:latin typeface="Helvetica"/>
                        </a:rPr>
                        <a:t>First few rows</a:t>
                      </a:r>
                    </a:p>
                  </a:txBody>
                  <a:tcPr marL="109728" marR="109728" marT="54864" marB="54864" anchor="ctr">
                    <a:solidFill>
                      <a:srgbClr val="FFFCF7"/>
                    </a:solidFill>
                  </a:tcPr>
                </a:tc>
                <a:tc>
                  <a:txBody>
                    <a:bodyPr wrap="square"/>
                    <a:lstStyle/>
                    <a:p>
                      <a:r>
                        <a:rPr sz="2600" b="0" i="0" u="none">
                          <a:solidFill>
                            <a:srgbClr val="261F1D"/>
                          </a:solidFill>
                          <a:latin typeface="Roboto Mono"/>
                        </a:rPr>
                        <a:t>LIMIT 5</a:t>
                      </a:r>
                    </a:p>
                  </a:txBody>
                  <a:tcPr marL="109728" marR="109728" marT="54864" marB="54864" anchor="ctr">
                    <a:solidFill>
                      <a:srgbClr val="FFFCF7"/>
                    </a:solidFill>
                  </a:tcPr>
                </a:tc>
                <a:tc>
                  <a:txBody>
                    <a:bodyPr wrap="square"/>
                    <a:lstStyle/>
                    <a:p>
                      <a:r>
                        <a:rPr sz="2600" b="0" i="0" u="none">
                          <a:solidFill>
                            <a:srgbClr val="261F1D"/>
                          </a:solidFill>
                          <a:latin typeface="Roboto Mono"/>
                        </a:rPr>
                        <a:t>.head()</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Keep some rows</a:t>
                      </a:r>
                    </a:p>
                  </a:txBody>
                  <a:tcPr marL="109728" marR="109728" marT="54864" marB="54864" anchor="ctr">
                    <a:solidFill>
                      <a:srgbClr val="FFF6E4"/>
                    </a:solidFill>
                  </a:tcPr>
                </a:tc>
                <a:tc>
                  <a:txBody>
                    <a:bodyPr wrap="square"/>
                    <a:lstStyle/>
                    <a:p>
                      <a:r>
                        <a:rPr sz="2600" b="0" i="0" u="none">
                          <a:solidFill>
                            <a:srgbClr val="261F1D"/>
                          </a:solidFill>
                          <a:latin typeface="Roboto Mono"/>
                        </a:rPr>
                        <a:t>WHERE</a:t>
                      </a:r>
                    </a:p>
                  </a:txBody>
                  <a:tcPr marL="109728" marR="109728" marT="54864" marB="54864" anchor="ctr">
                    <a:solidFill>
                      <a:srgbClr val="FFF6E4"/>
                    </a:solidFill>
                  </a:tcPr>
                </a:tc>
                <a:tc>
                  <a:txBody>
                    <a:bodyPr wrap="square"/>
                    <a:lstStyle/>
                    <a:p>
                      <a:r>
                        <a:rPr sz="2600" b="0" i="0" u="none">
                          <a:solidFill>
                            <a:srgbClr val="261F1D"/>
                          </a:solidFill>
                          <a:latin typeface="Helvetica"/>
                        </a:rPr>
                        <a:t>A True/False mask</a:t>
                      </a:r>
                    </a:p>
                  </a:txBody>
                  <a:tcPr marL="109728" marR="109728" marT="54864" marB="54864" anchor="ctr">
                    <a:solidFill>
                      <a:srgbClr val="FFF6E4"/>
                    </a:solidFill>
                  </a:tcPr>
                </a:tc>
              </a:tr>
              <a:tr h="502920">
                <a:tc>
                  <a:txBody>
                    <a:bodyPr wrap="square"/>
                    <a:lstStyle/>
                    <a:p>
                      <a:r>
                        <a:rPr sz="2600" b="0" i="0" u="none">
                          <a:solidFill>
                            <a:srgbClr val="261F1D"/>
                          </a:solidFill>
                          <a:latin typeface="Helvetica"/>
                        </a:rPr>
                        <a:t>How many rows</a:t>
                      </a:r>
                    </a:p>
                  </a:txBody>
                  <a:tcPr marL="109728" marR="109728" marT="54864" marB="54864" anchor="ctr">
                    <a:solidFill>
                      <a:srgbClr val="FFFCF7"/>
                    </a:solidFill>
                  </a:tcPr>
                </a:tc>
                <a:tc>
                  <a:txBody>
                    <a:bodyPr wrap="square"/>
                    <a:lstStyle/>
                    <a:p>
                      <a:r>
                        <a:rPr sz="2600" b="0" i="0" u="none">
                          <a:solidFill>
                            <a:srgbClr val="261F1D"/>
                          </a:solidFill>
                          <a:latin typeface="Roboto Mono"/>
                        </a:rPr>
                        <a:t>COUNT(*)</a:t>
                      </a:r>
                    </a:p>
                  </a:txBody>
                  <a:tcPr marL="109728" marR="109728" marT="54864" marB="54864" anchor="ctr">
                    <a:solidFill>
                      <a:srgbClr val="FFFCF7"/>
                    </a:solidFill>
                  </a:tcPr>
                </a:tc>
                <a:tc>
                  <a:txBody>
                    <a:bodyPr wrap="square"/>
                    <a:lstStyle/>
                    <a:p>
                      <a:r>
                        <a:rPr sz="2600" b="0" i="0" u="none">
                          <a:solidFill>
                            <a:srgbClr val="261F1D"/>
                          </a:solidFill>
                          <a:latin typeface="Roboto Mono"/>
                        </a:rPr>
                        <a:t>len(df)</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Count per value</a:t>
                      </a:r>
                    </a:p>
                  </a:txBody>
                  <a:tcPr marL="109728" marR="109728" marT="54864" marB="54864" anchor="ctr">
                    <a:solidFill>
                      <a:srgbClr val="FFF6E4"/>
                    </a:solidFill>
                  </a:tcPr>
                </a:tc>
                <a:tc>
                  <a:txBody>
                    <a:bodyPr wrap="square"/>
                    <a:lstStyle/>
                    <a:p>
                      <a:r>
                        <a:rPr sz="2600" b="0" i="0" u="none">
                          <a:solidFill>
                            <a:srgbClr val="261F1D"/>
                          </a:solidFill>
                          <a:latin typeface="Roboto Mono"/>
                        </a:rPr>
                        <a:t>GROUP BY</a:t>
                      </a:r>
                    </a:p>
                  </a:txBody>
                  <a:tcPr marL="109728" marR="109728" marT="54864" marB="54864" anchor="ctr">
                    <a:solidFill>
                      <a:srgbClr val="FFF6E4"/>
                    </a:solidFill>
                  </a:tcPr>
                </a:tc>
                <a:tc>
                  <a:txBody>
                    <a:bodyPr wrap="square"/>
                    <a:lstStyle/>
                    <a:p>
                      <a:r>
                        <a:rPr sz="2600" b="0" i="0" u="none">
                          <a:solidFill>
                            <a:srgbClr val="261F1D"/>
                          </a:solidFill>
                          <a:latin typeface="Roboto Mono"/>
                        </a:rPr>
                        <a:t>.value_counts()</a:t>
                      </a:r>
                    </a:p>
                  </a:txBody>
                  <a:tcPr marL="109728" marR="109728" marT="54864" marB="54864" anchor="ctr">
                    <a:solidFill>
                      <a:srgbClr val="FFF6E4"/>
                    </a:solidFill>
                  </a:tcPr>
                </a:tc>
              </a:tr>
              <a:tr h="502920">
                <a:tc>
                  <a:txBody>
                    <a:bodyPr wrap="square"/>
                    <a:lstStyle/>
                    <a:p>
                      <a:r>
                        <a:rPr sz="2600" b="0" i="0" u="none">
                          <a:solidFill>
                            <a:srgbClr val="261F1D"/>
                          </a:solidFill>
                          <a:latin typeface="Helvetica"/>
                        </a:rPr>
                        <a:t>Pick columns</a:t>
                      </a:r>
                    </a:p>
                  </a:txBody>
                  <a:tcPr marL="109728" marR="109728" marT="54864" marB="54864" anchor="ctr">
                    <a:solidFill>
                      <a:srgbClr val="FFFCF7"/>
                    </a:solidFill>
                  </a:tcPr>
                </a:tc>
                <a:tc>
                  <a:txBody>
                    <a:bodyPr wrap="square"/>
                    <a:lstStyle/>
                    <a:p>
                      <a:r>
                        <a:rPr sz="2600" b="0" i="0" u="none">
                          <a:solidFill>
                            <a:srgbClr val="261F1D"/>
                          </a:solidFill>
                          <a:latin typeface="Roboto Mono"/>
                        </a:rPr>
                        <a:t>SELECT a, b</a:t>
                      </a:r>
                    </a:p>
                  </a:txBody>
                  <a:tcPr marL="109728" marR="109728" marT="54864" marB="54864" anchor="ctr">
                    <a:solidFill>
                      <a:srgbClr val="FFFCF7"/>
                    </a:solidFill>
                  </a:tcPr>
                </a:tc>
                <a:tc>
                  <a:txBody>
                    <a:bodyPr wrap="square"/>
                    <a:lstStyle/>
                    <a:p>
                      <a:r>
                        <a:rPr sz="2600" b="0" i="0" u="none">
                          <a:solidFill>
                            <a:srgbClr val="261F1D"/>
                          </a:solidFill>
                          <a:latin typeface="Roboto Mono"/>
                        </a:rPr>
                        <a:t>df[["a", "b"]]</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Sort</a:t>
                      </a:r>
                    </a:p>
                  </a:txBody>
                  <a:tcPr marL="109728" marR="109728" marT="54864" marB="54864" anchor="ctr">
                    <a:solidFill>
                      <a:srgbClr val="FFF6E4"/>
                    </a:solidFill>
                  </a:tcPr>
                </a:tc>
                <a:tc>
                  <a:txBody>
                    <a:bodyPr wrap="square"/>
                    <a:lstStyle/>
                    <a:p>
                      <a:r>
                        <a:rPr sz="2600" b="0" i="0" u="none">
                          <a:solidFill>
                            <a:srgbClr val="261F1D"/>
                          </a:solidFill>
                          <a:latin typeface="Roboto Mono"/>
                        </a:rPr>
                        <a:t>ORDER BY</a:t>
                      </a:r>
                    </a:p>
                  </a:txBody>
                  <a:tcPr marL="109728" marR="109728" marT="54864" marB="54864" anchor="ctr">
                    <a:solidFill>
                      <a:srgbClr val="FFF6E4"/>
                    </a:solidFill>
                  </a:tcPr>
                </a:tc>
                <a:tc>
                  <a:txBody>
                    <a:bodyPr wrap="square"/>
                    <a:lstStyle/>
                    <a:p>
                      <a:r>
                        <a:rPr sz="2600" b="0" i="0" u="none">
                          <a:solidFill>
                            <a:srgbClr val="261F1D"/>
                          </a:solidFill>
                          <a:latin typeface="Roboto Mono"/>
                        </a:rPr>
                        <a:t>.sort_values()</a:t>
                      </a:r>
                    </a:p>
                  </a:txBody>
                  <a:tcPr marL="109728" marR="109728" marT="54864" marB="54864" anchor="ctr">
                    <a:solidFill>
                      <a:srgbClr val="FFF6E4"/>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One </a:t>
            </a:r>
            <a:r>
              <a:rPr sz="3200" b="1" i="0" u="none">
                <a:solidFill>
                  <a:srgbClr val="264326"/>
                </a:solidFill>
                <a:latin typeface="Helvetica"/>
              </a:rPr>
              <a:t>Whole Question</a:t>
            </a:r>
            <a:r>
              <a:rPr sz="3200" b="1" i="0" u="none">
                <a:solidFill>
                  <a:srgbClr val="261F1D"/>
                </a:solidFill>
                <a:latin typeface="Helvetica"/>
              </a:rPr>
              <a:t>, Written Twice</a:t>
            </a:r>
          </a:p>
        </p:txBody>
      </p:sp>
      <p:sp>
        <p:nvSpPr>
          <p:cNvPr id="4" name="Rectangle 3"/>
          <p:cNvSpPr/>
          <p:nvPr/>
        </p:nvSpPr>
        <p:spPr>
          <a:xfrm>
            <a:off x="548640" y="1188720"/>
            <a:ext cx="5410048" cy="3611880"/>
          </a:xfrm>
          <a:prstGeom prst="rect">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777240" y="1371600"/>
            <a:ext cx="457200" cy="457200"/>
          </a:xfrm>
          <a:prstGeom prst="rect">
            <a:avLst/>
          </a:prstGeom>
        </p:spPr>
      </p:pic>
      <p:sp>
        <p:nvSpPr>
          <p:cNvPr id="6" name="TextBox 5"/>
          <p:cNvSpPr txBox="1"/>
          <p:nvPr/>
        </p:nvSpPr>
        <p:spPr>
          <a:xfrm>
            <a:off x="1371600"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In SQL</a:t>
            </a:r>
          </a:p>
        </p:txBody>
      </p:sp>
      <p:sp>
        <p:nvSpPr>
          <p:cNvPr id="7" name="TextBox 6"/>
          <p:cNvSpPr txBox="1"/>
          <p:nvPr/>
        </p:nvSpPr>
        <p:spPr>
          <a:xfrm>
            <a:off x="777240" y="2011680"/>
            <a:ext cx="4952848" cy="25603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Roboto Mono"/>
              </a:rPr>
              <a:t>SELECT complaint_type,</a:t>
            </a:r>
          </a:p>
          <a:p>
            <a:pPr>
              <a:spcAft>
                <a:spcPts val="1000"/>
              </a:spcAft>
            </a:pPr>
            <a:r>
              <a:rPr sz="2600">
                <a:solidFill>
                  <a:srgbClr val="261F1D"/>
                </a:solidFill>
                <a:latin typeface="Helvetica"/>
              </a:rPr>
              <a:t>•  </a:t>
            </a:r>
            <a:r>
              <a:rPr sz="2600" b="0" i="0" u="none">
                <a:solidFill>
                  <a:srgbClr val="261F1D"/>
                </a:solidFill>
                <a:latin typeface="Roboto Mono"/>
              </a:rPr>
              <a:t>  COUNT(*)</a:t>
            </a:r>
          </a:p>
          <a:p>
            <a:pPr>
              <a:spcAft>
                <a:spcPts val="1000"/>
              </a:spcAft>
            </a:pPr>
            <a:r>
              <a:rPr sz="2600">
                <a:solidFill>
                  <a:srgbClr val="261F1D"/>
                </a:solidFill>
                <a:latin typeface="Helvetica"/>
              </a:rPr>
              <a:t>•  </a:t>
            </a:r>
            <a:r>
              <a:rPr sz="2600" b="0" i="0" u="none">
                <a:solidFill>
                  <a:srgbClr val="261F1D"/>
                </a:solidFill>
                <a:latin typeface="Roboto Mono"/>
              </a:rPr>
              <a:t>FROM requests</a:t>
            </a:r>
          </a:p>
          <a:p>
            <a:pPr>
              <a:spcAft>
                <a:spcPts val="1000"/>
              </a:spcAft>
            </a:pPr>
            <a:r>
              <a:rPr sz="2600">
                <a:solidFill>
                  <a:srgbClr val="261F1D"/>
                </a:solidFill>
                <a:latin typeface="Helvetica"/>
              </a:rPr>
              <a:t>•  </a:t>
            </a:r>
            <a:r>
              <a:rPr sz="2600" b="0" i="0" u="none">
                <a:solidFill>
                  <a:srgbClr val="261F1D"/>
                </a:solidFill>
                <a:latin typeface="Roboto Mono"/>
              </a:rPr>
              <a:t>WHERE borough = 'BRONX'</a:t>
            </a:r>
          </a:p>
          <a:p>
            <a:pPr>
              <a:spcAft>
                <a:spcPts val="1000"/>
              </a:spcAft>
            </a:pPr>
            <a:r>
              <a:rPr sz="2600">
                <a:solidFill>
                  <a:srgbClr val="261F1D"/>
                </a:solidFill>
                <a:latin typeface="Helvetica"/>
              </a:rPr>
              <a:t>•  </a:t>
            </a:r>
            <a:r>
              <a:rPr sz="2600" b="0" i="0" u="none">
                <a:solidFill>
                  <a:srgbClr val="261F1D"/>
                </a:solidFill>
                <a:latin typeface="Roboto Mono"/>
              </a:rPr>
              <a:t>GROUP BY complaint_type</a:t>
            </a:r>
          </a:p>
        </p:txBody>
      </p:sp>
      <p:sp>
        <p:nvSpPr>
          <p:cNvPr id="8" name="Rectangle 7"/>
          <p:cNvSpPr/>
          <p:nvPr/>
        </p:nvSpPr>
        <p:spPr>
          <a:xfrm>
            <a:off x="6233008" y="1188720"/>
            <a:ext cx="5410048" cy="3611880"/>
          </a:xfrm>
          <a:prstGeom prst="rect">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
          <p:cNvPicPr>
            <a:picLocks noChangeAspect="1"/>
          </p:cNvPicPr>
          <p:nvPr/>
        </p:nvPicPr>
        <p:blipFill>
          <a:blip r:embed="rId4"/>
          <a:stretch>
            <a:fillRect/>
          </a:stretch>
        </p:blipFill>
        <p:spPr>
          <a:xfrm>
            <a:off x="6461608" y="1371600"/>
            <a:ext cx="457200" cy="457200"/>
          </a:xfrm>
          <a:prstGeom prst="rect">
            <a:avLst/>
          </a:prstGeom>
        </p:spPr>
      </p:pic>
      <p:sp>
        <p:nvSpPr>
          <p:cNvPr id="10" name="TextBox 9"/>
          <p:cNvSpPr txBox="1"/>
          <p:nvPr/>
        </p:nvSpPr>
        <p:spPr>
          <a:xfrm>
            <a:off x="7055968"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In pandas</a:t>
            </a:r>
          </a:p>
        </p:txBody>
      </p:sp>
      <p:sp>
        <p:nvSpPr>
          <p:cNvPr id="11" name="TextBox 10"/>
          <p:cNvSpPr txBox="1"/>
          <p:nvPr/>
        </p:nvSpPr>
        <p:spPr>
          <a:xfrm>
            <a:off x="6461608" y="2011680"/>
            <a:ext cx="4952848" cy="25603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Roboto Mono"/>
              </a:rPr>
              <a:t>mask = df["borough"]</a:t>
            </a:r>
          </a:p>
          <a:p>
            <a:pPr>
              <a:spcAft>
                <a:spcPts val="1000"/>
              </a:spcAft>
            </a:pPr>
            <a:r>
              <a:rPr sz="2600">
                <a:solidFill>
                  <a:srgbClr val="261F1D"/>
                </a:solidFill>
                <a:latin typeface="Helvetica"/>
              </a:rPr>
              <a:t>•  </a:t>
            </a:r>
            <a:r>
              <a:rPr sz="2600" b="0" i="0" u="none">
                <a:solidFill>
                  <a:srgbClr val="261F1D"/>
                </a:solidFill>
                <a:latin typeface="Roboto Mono"/>
              </a:rPr>
              <a:t>  == "BRONX"</a:t>
            </a:r>
          </a:p>
          <a:p>
            <a:pPr>
              <a:spcAft>
                <a:spcPts val="1000"/>
              </a:spcAft>
            </a:pPr>
            <a:r>
              <a:rPr sz="2600">
                <a:solidFill>
                  <a:srgbClr val="261F1D"/>
                </a:solidFill>
                <a:latin typeface="Helvetica"/>
              </a:rPr>
              <a:t>•  </a:t>
            </a:r>
            <a:r>
              <a:rPr sz="2600" b="0" i="0" u="none">
                <a:solidFill>
                  <a:srgbClr val="261F1D"/>
                </a:solidFill>
                <a:latin typeface="Roboto Mono"/>
              </a:rPr>
              <a:t>bronx = df[mask]</a:t>
            </a:r>
          </a:p>
          <a:p>
            <a:pPr>
              <a:spcAft>
                <a:spcPts val="1000"/>
              </a:spcAft>
            </a:pPr>
            <a:r>
              <a:rPr sz="2600">
                <a:solidFill>
                  <a:srgbClr val="261F1D"/>
                </a:solidFill>
                <a:latin typeface="Helvetica"/>
              </a:rPr>
              <a:t>•  </a:t>
            </a:r>
            <a:r>
              <a:rPr sz="2600" b="0" i="0" u="none">
                <a:solidFill>
                  <a:srgbClr val="261F1D"/>
                </a:solidFill>
                <a:latin typeface="Roboto Mono"/>
              </a:rPr>
              <a:t>bronx["complaint_type"]</a:t>
            </a:r>
          </a:p>
          <a:p>
            <a:pPr>
              <a:spcAft>
                <a:spcPts val="1000"/>
              </a:spcAft>
            </a:pPr>
            <a:r>
              <a:rPr sz="2600">
                <a:solidFill>
                  <a:srgbClr val="261F1D"/>
                </a:solidFill>
                <a:latin typeface="Helvetica"/>
              </a:rPr>
              <a:t>•  </a:t>
            </a:r>
            <a:r>
              <a:rPr sz="2600" b="0" i="0" u="none">
                <a:solidFill>
                  <a:srgbClr val="261F1D"/>
                </a:solidFill>
                <a:latin typeface="Roboto Mono"/>
              </a:rPr>
              <a:t>  .value_counts()</a:t>
            </a:r>
          </a:p>
        </p:txBody>
      </p:sp>
      <p:cxnSp>
        <p:nvCxnSpPr>
          <p:cNvPr id="12" name="Connector 11"/>
          <p:cNvCxnSpPr/>
          <p:nvPr/>
        </p:nvCxnSpPr>
        <p:spPr>
          <a:xfrm>
            <a:off x="6095848" y="1188720"/>
            <a:ext cx="0" cy="3611880"/>
          </a:xfrm>
          <a:prstGeom prst="line">
            <a:avLst/>
          </a:prstGeom>
          <a:ln w="19050">
            <a:solidFill>
              <a:srgbClr val="E1E3E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4983480"/>
            <a:ext cx="2926080" cy="411480"/>
          </a:xfrm>
          <a:prstGeom prst="rect">
            <a:avLst/>
          </a:prstGeom>
          <a:noFill/>
        </p:spPr>
        <p:txBody>
          <a:bodyPr wrap="square" anchor="t" lIns="0" rIns="0" tIns="0" bIns="0">
            <a:noAutofit/>
          </a:bodyPr>
          <a:lstStyle/>
          <a:p>
            <a:pPr algn="l"/>
            <a:r>
              <a:rPr sz="2600" b="1" i="0" u="none">
                <a:solidFill>
                  <a:srgbClr val="327A5F"/>
                </a:solidFill>
                <a:latin typeface="Helvetica"/>
              </a:rPr>
              <a:t>IN COMMON:</a:t>
            </a:r>
          </a:p>
        </p:txBody>
      </p:sp>
      <p:sp>
        <p:nvSpPr>
          <p:cNvPr id="14" name="TextBox 13"/>
          <p:cNvSpPr txBox="1"/>
          <p:nvPr/>
        </p:nvSpPr>
        <p:spPr>
          <a:xfrm>
            <a:off x="548640" y="5440680"/>
            <a:ext cx="11094415" cy="91440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Same rows in, same counts out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On Paper</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Run the pandas Side for Real</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A translation table is easy to nod along to. Typing it is what proves you can actually do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45720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457200"/>
          </a:xfrm>
          <a:prstGeom prst="rect">
            <a:avLst/>
          </a:prstGeom>
          <a:noFill/>
        </p:spPr>
        <p:txBody>
          <a:bodyPr wrap="square" anchor="ctr" lIns="0" rIns="0" tIns="0" bIns="0">
            <a:noAutofit/>
          </a:bodyPr>
          <a:lstStyle/>
          <a:p>
            <a:pPr algn="l"/>
            <a:r>
              <a:rPr sz="2600" b="1" i="0" u="none">
                <a:solidFill>
                  <a:srgbClr val="261F1D"/>
                </a:solidFill>
                <a:latin typeface="Helvetica"/>
              </a:rPr>
              <a:t>FILL IN THE BLANK</a:t>
            </a:r>
          </a:p>
        </p:txBody>
      </p:sp>
      <p:sp>
        <p:nvSpPr>
          <p:cNvPr id="5" name="TextBox 4"/>
          <p:cNvSpPr txBox="1"/>
          <p:nvPr/>
        </p:nvSpPr>
        <p:spPr>
          <a:xfrm>
            <a:off x="548640" y="105156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A </a:t>
            </a:r>
            <a:r>
              <a:rPr sz="3200" b="1" i="0" u="none">
                <a:solidFill>
                  <a:srgbClr val="261F1D"/>
                </a:solidFill>
                <a:latin typeface="Roboto Mono"/>
              </a:rPr>
              <a:t>WHERE</a:t>
            </a:r>
            <a:r>
              <a:rPr sz="3200" b="1" i="0" u="none">
                <a:solidFill>
                  <a:srgbClr val="261F1D"/>
                </a:solidFill>
                <a:latin typeface="Helvetica"/>
              </a:rPr>
              <a:t> Clause Is Just a </a:t>
            </a:r>
            <a:r>
              <a:rPr sz="3200" b="1" i="0" u="none">
                <a:solidFill>
                  <a:srgbClr val="264326"/>
                </a:solidFill>
                <a:latin typeface="Helvetica"/>
              </a:rPr>
              <a:t>True/False Mask</a:t>
            </a:r>
          </a:p>
        </p:txBody>
      </p:sp>
      <p:sp>
        <p:nvSpPr>
          <p:cNvPr id="6" name="Rounded Rectangle 5"/>
          <p:cNvSpPr/>
          <p:nvPr/>
        </p:nvSpPr>
        <p:spPr>
          <a:xfrm>
            <a:off x="548640" y="1600200"/>
            <a:ext cx="11094415" cy="356616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79222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32688" y="179222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33856" y="179222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48495" y="160020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analysis</a:t>
            </a:r>
          </a:p>
        </p:txBody>
      </p:sp>
      <p:sp>
        <p:nvSpPr>
          <p:cNvPr id="11" name="TextBox 10"/>
          <p:cNvSpPr txBox="1"/>
          <p:nvPr/>
        </p:nvSpPr>
        <p:spPr>
          <a:xfrm>
            <a:off x="804672" y="2231136"/>
            <a:ext cx="10582351" cy="2807208"/>
          </a:xfrm>
          <a:prstGeom prst="rect">
            <a:avLst/>
          </a:prstGeom>
          <a:noFill/>
        </p:spPr>
        <p:txBody>
          <a:bodyPr wrap="square" lIns="0" rIns="0" tIns="0" bIns="0">
            <a:noAutofit/>
          </a:bodyPr>
          <a:lstStyle/>
          <a:p>
            <a:pPr>
              <a:lnSpc>
                <a:spcPct val="120000"/>
              </a:lnSpc>
              <a:defRPr sz="2600">
                <a:latin typeface="Roboto Mono"/>
              </a:defRPr>
            </a:pPr>
            <a:r>
              <a:rPr sz="2600" i="0">
                <a:solidFill>
                  <a:srgbClr val="FFFCF7"/>
                </a:solidFill>
                <a:latin typeface="Roboto Mono"/>
              </a:rPr>
              <a:t>bronx</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df</a:t>
            </a:r>
            <a:r>
              <a:rPr sz="2600" i="0">
                <a:solidFill>
                  <a:srgbClr val="FFFCF7"/>
                </a:solidFill>
                <a:latin typeface="Roboto Mono"/>
              </a:rPr>
              <a:t>[</a:t>
            </a:r>
            <a:r>
              <a:rPr sz="2600" i="0">
                <a:solidFill>
                  <a:srgbClr val="FFFCF7"/>
                </a:solidFill>
                <a:latin typeface="Roboto Mono"/>
              </a:rPr>
              <a:t>df</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____</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a:t>
            </a:r>
            <a:r>
              <a:rPr sz="2600" i="0">
                <a:solidFill>
                  <a:srgbClr val="F8BAC9"/>
                </a:solidFill>
                <a:latin typeface="Roboto Mono"/>
              </a:rPr>
              <a:t>BRONX</a:t>
            </a:r>
            <a:r>
              <a:rPr sz="2600" i="0">
                <a:solidFill>
                  <a:srgbClr val="F8BAC9"/>
                </a:solidFill>
                <a:latin typeface="Roboto Mono"/>
              </a:rPr>
              <a:t>"</a:t>
            </a:r>
            <a:r>
              <a:rPr sz="2600" i="0">
                <a:solidFill>
                  <a:srgbClr val="FFFCF7"/>
                </a:solidFill>
                <a:latin typeface="Roboto Mono"/>
              </a:rPr>
              <a:t>]</a:t>
            </a:r>
          </a:p>
          <a:p>
            <a:pPr>
              <a:lnSpc>
                <a:spcPct val="120000"/>
              </a:lnSpc>
              <a:defRPr sz="2600">
                <a:latin typeface="Roboto Mono"/>
              </a:defRPr>
            </a:pPr>
          </a:p>
          <a:p>
            <a:pPr>
              <a:lnSpc>
                <a:spcPct val="120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5996C7"/>
                </a:solidFill>
                <a:latin typeface="Roboto Mono"/>
              </a:rPr>
              <a:t>len</a:t>
            </a:r>
            <a:r>
              <a:rPr sz="2600" i="0">
                <a:solidFill>
                  <a:srgbClr val="FFFCF7"/>
                </a:solidFill>
                <a:latin typeface="Roboto Mono"/>
              </a:rPr>
              <a:t>(</a:t>
            </a:r>
            <a:r>
              <a:rPr sz="2600" i="0">
                <a:solidFill>
                  <a:srgbClr val="FFFCF7"/>
                </a:solidFill>
                <a:latin typeface="Roboto Mono"/>
              </a:rPr>
              <a:t>bronx</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a:t>
            </a:r>
            <a:r>
              <a:rPr sz="2600" i="0">
                <a:solidFill>
                  <a:srgbClr val="F8BAC9"/>
                </a:solidFill>
                <a:latin typeface="Roboto Mono"/>
              </a:rPr>
              <a:t>Bronx requests</a:t>
            </a:r>
            <a:r>
              <a:rPr sz="2600" i="0">
                <a:solidFill>
                  <a:srgbClr val="F8BAC9"/>
                </a:solidFill>
                <a:latin typeface="Roboto Mono"/>
              </a:rPr>
              <a:t>"</a:t>
            </a:r>
            <a:r>
              <a:rPr sz="2600" i="0">
                <a:solidFill>
                  <a:srgbClr val="FFFCF7"/>
                </a:solidFill>
                <a:latin typeface="Roboto Mono"/>
              </a:rPr>
              <a:t>)</a:t>
            </a:r>
          </a:p>
          <a:p>
            <a:pPr>
              <a:lnSpc>
                <a:spcPct val="120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FFCF7"/>
                </a:solidFill>
                <a:latin typeface="Roboto Mono"/>
              </a:rPr>
              <a:t>bronx</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complaint_type</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value_counts</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p>
        </p:txBody>
      </p:sp>
      <p:sp>
        <p:nvSpPr>
          <p:cNvPr id="12" name="Rounded Rectangle 11"/>
          <p:cNvSpPr/>
          <p:nvPr/>
        </p:nvSpPr>
        <p:spPr>
          <a:xfrm>
            <a:off x="548640" y="5303520"/>
            <a:ext cx="11094415" cy="10515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303520"/>
            <a:ext cx="10637215" cy="10515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A guest list at the door, one pass marking each person yes or no, then a second pass letting only the yeses in.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4326"/>
                </a:solidFill>
                <a:latin typeface="Helvetica"/>
              </a:rPr>
              <a:t>Answer:</a:t>
            </a:r>
            <a:r>
              <a:rPr sz="3200" b="1" i="0" u="none">
                <a:solidFill>
                  <a:srgbClr val="261F1D"/>
                </a:solidFill>
                <a:latin typeface="Helvetica"/>
              </a:rPr>
              <a:t> A </a:t>
            </a:r>
            <a:r>
              <a:rPr sz="3200" b="1" i="0" u="none">
                <a:solidFill>
                  <a:srgbClr val="261F1D"/>
                </a:solidFill>
                <a:latin typeface="Roboto Mono"/>
              </a:rPr>
              <a:t>WHERE</a:t>
            </a:r>
            <a:r>
              <a:rPr sz="3200" b="1" i="0" u="none">
                <a:solidFill>
                  <a:srgbClr val="261F1D"/>
                </a:solidFill>
                <a:latin typeface="Helvetica"/>
              </a:rPr>
              <a:t> Clause Is Just a </a:t>
            </a:r>
            <a:r>
              <a:rPr sz="3200" b="1" i="0" u="none">
                <a:solidFill>
                  <a:srgbClr val="264326"/>
                </a:solidFill>
                <a:latin typeface="Helvetica"/>
              </a:rPr>
              <a:t>True/False Mask</a:t>
            </a:r>
          </a:p>
        </p:txBody>
      </p:sp>
      <p:sp>
        <p:nvSpPr>
          <p:cNvPr id="4" name="Rounded Rectangle 3"/>
          <p:cNvSpPr/>
          <p:nvPr/>
        </p:nvSpPr>
        <p:spPr>
          <a:xfrm>
            <a:off x="548640" y="1005840"/>
            <a:ext cx="11094415" cy="416052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analysis</a:t>
            </a:r>
          </a:p>
        </p:txBody>
      </p:sp>
      <p:sp>
        <p:nvSpPr>
          <p:cNvPr id="9" name="Rectangle 8"/>
          <p:cNvSpPr/>
          <p:nvPr/>
        </p:nvSpPr>
        <p:spPr>
          <a:xfrm>
            <a:off x="676656" y="1636776"/>
            <a:ext cx="10838383" cy="475488"/>
          </a:xfrm>
          <a:prstGeom prst="rect">
            <a:avLst/>
          </a:prstGeom>
          <a:no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636776"/>
            <a:ext cx="10582351" cy="3401568"/>
          </a:xfrm>
          <a:prstGeom prst="rect">
            <a:avLst/>
          </a:prstGeom>
          <a:noFill/>
        </p:spPr>
        <p:txBody>
          <a:bodyPr wrap="square" lIns="0" rIns="0" tIns="0" bIns="0">
            <a:noAutofit/>
          </a:bodyPr>
          <a:lstStyle/>
          <a:p>
            <a:pPr>
              <a:lnSpc>
                <a:spcPct val="120000"/>
              </a:lnSpc>
              <a:defRPr sz="2600">
                <a:latin typeface="Roboto Mono"/>
              </a:defRPr>
            </a:pPr>
            <a:r>
              <a:rPr sz="2600" i="0">
                <a:solidFill>
                  <a:srgbClr val="FFFCF7"/>
                </a:solidFill>
                <a:latin typeface="Roboto Mono"/>
              </a:rPr>
              <a:t>bronx</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df</a:t>
            </a:r>
            <a:r>
              <a:rPr sz="2600" i="0">
                <a:solidFill>
                  <a:srgbClr val="FFFCF7"/>
                </a:solidFill>
                <a:latin typeface="Roboto Mono"/>
              </a:rPr>
              <a:t>[</a:t>
            </a:r>
            <a:r>
              <a:rPr sz="2600" i="0">
                <a:solidFill>
                  <a:srgbClr val="FFFCF7"/>
                </a:solidFill>
                <a:latin typeface="Roboto Mono"/>
              </a:rPr>
              <a:t>df</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borough</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a:t>
            </a:r>
            <a:r>
              <a:rPr sz="2600" i="0">
                <a:solidFill>
                  <a:srgbClr val="F8BAC9"/>
                </a:solidFill>
                <a:latin typeface="Roboto Mono"/>
              </a:rPr>
              <a:t>BRONX</a:t>
            </a:r>
            <a:r>
              <a:rPr sz="2600" i="0">
                <a:solidFill>
                  <a:srgbClr val="F8BAC9"/>
                </a:solidFill>
                <a:latin typeface="Roboto Mono"/>
              </a:rPr>
              <a:t>"</a:t>
            </a:r>
            <a:r>
              <a:rPr sz="2600" i="0">
                <a:solidFill>
                  <a:srgbClr val="FFFCF7"/>
                </a:solidFill>
                <a:latin typeface="Roboto Mono"/>
              </a:rPr>
              <a:t>]</a:t>
            </a:r>
          </a:p>
          <a:p>
            <a:pPr>
              <a:lnSpc>
                <a:spcPct val="120000"/>
              </a:lnSpc>
              <a:defRPr sz="2600">
                <a:latin typeface="Roboto Mono"/>
              </a:defRPr>
            </a:pPr>
          </a:p>
          <a:p>
            <a:pPr>
              <a:lnSpc>
                <a:spcPct val="120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5996C7"/>
                </a:solidFill>
                <a:latin typeface="Roboto Mono"/>
              </a:rPr>
              <a:t>len</a:t>
            </a:r>
            <a:r>
              <a:rPr sz="2600" i="0">
                <a:solidFill>
                  <a:srgbClr val="FFFCF7"/>
                </a:solidFill>
                <a:latin typeface="Roboto Mono"/>
              </a:rPr>
              <a:t>(</a:t>
            </a:r>
            <a:r>
              <a:rPr sz="2600" i="0">
                <a:solidFill>
                  <a:srgbClr val="FFFCF7"/>
                </a:solidFill>
                <a:latin typeface="Roboto Mono"/>
              </a:rPr>
              <a:t>bronx</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a:t>
            </a:r>
            <a:r>
              <a:rPr sz="2600" i="0">
                <a:solidFill>
                  <a:srgbClr val="F8BAC9"/>
                </a:solidFill>
                <a:latin typeface="Roboto Mono"/>
              </a:rPr>
              <a:t>Bronx requests</a:t>
            </a:r>
            <a:r>
              <a:rPr sz="2600" i="0">
                <a:solidFill>
                  <a:srgbClr val="F8BAC9"/>
                </a:solidFill>
                <a:latin typeface="Roboto Mono"/>
              </a:rPr>
              <a:t>"</a:t>
            </a:r>
            <a:r>
              <a:rPr sz="2600" i="0">
                <a:solidFill>
                  <a:srgbClr val="FFFCF7"/>
                </a:solidFill>
                <a:latin typeface="Roboto Mono"/>
              </a:rPr>
              <a:t>)</a:t>
            </a:r>
          </a:p>
          <a:p>
            <a:pPr>
              <a:lnSpc>
                <a:spcPct val="120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FFCF7"/>
                </a:solidFill>
                <a:latin typeface="Roboto Mono"/>
              </a:rPr>
              <a:t>bronx</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complaint_type</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value_counts</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a:t>
            </a:r>
          </a:p>
          <a:p>
            <a:pPr>
              <a:lnSpc>
                <a:spcPct val="120000"/>
              </a:lnSpc>
              <a:defRPr sz="2600">
                <a:latin typeface="Roboto Mono"/>
              </a:defRPr>
            </a:pPr>
          </a:p>
        </p:txBody>
      </p:sp>
      <p:sp>
        <p:nvSpPr>
          <p:cNvPr id="11" name="Rounded Rectangle 10"/>
          <p:cNvSpPr/>
          <p:nvPr/>
        </p:nvSpPr>
        <p:spPr>
          <a:xfrm>
            <a:off x="548640" y="5303520"/>
            <a:ext cx="11094415" cy="10515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303520"/>
            <a:ext cx="10637215" cy="10515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A guest list at the door, one pass marking each person yes or no, then a second pass letting only the yeses in.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QUICK CHALLENGE</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You want one number, the count of Bronx noise complaints in a 311 table with 30 million rows. Where should the counting happen?</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Count in SQL, then load the single number</a:t>
            </a:r>
          </a:p>
          <a:p>
            <a:pPr>
              <a:spcAft>
                <a:spcPts val="1000"/>
              </a:spcAft>
            </a:pPr>
            <a:r>
              <a:rPr sz="2600" b="0" i="0" u="none">
                <a:solidFill>
                  <a:srgbClr val="261F1D"/>
                </a:solidFill>
                <a:latin typeface="Helvetica"/>
              </a:rPr>
              <a:t>B.  Load all 30 million rows into pandas, then count</a:t>
            </a:r>
          </a:p>
          <a:p>
            <a:pPr>
              <a:spcAft>
                <a:spcPts val="1000"/>
              </a:spcAft>
            </a:pPr>
            <a:r>
              <a:rPr sz="2600" b="0" i="0" u="none">
                <a:solidFill>
                  <a:srgbClr val="261F1D"/>
                </a:solidFill>
                <a:latin typeface="Helvetica"/>
              </a:rPr>
              <a:t>C.  Either one, it makes no real difference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Where the Work Happens</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Count in SQL, then load the single number</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A DataFrame has to fit in your machine's memory, and every row you pull crosses the network first. The database can count all 30 million rows where they already sit and hand back one number. Pulling everything first and filtering later is what turns a fast query into a stalled laptop.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The Real Difference Is </a:t>
            </a:r>
            <a:r>
              <a:rPr sz="3200" b="1" i="0" u="none">
                <a:solidFill>
                  <a:srgbClr val="264326"/>
                </a:solidFill>
                <a:latin typeface="Helvetica"/>
              </a:rPr>
              <a:t>Where It Lives</a:t>
            </a:r>
          </a:p>
        </p:txBody>
      </p:sp>
      <p:sp>
        <p:nvSpPr>
          <p:cNvPr id="4" name="Rectangle 3"/>
          <p:cNvSpPr/>
          <p:nvPr/>
        </p:nvSpPr>
        <p:spPr>
          <a:xfrm>
            <a:off x="548640" y="1188720"/>
            <a:ext cx="5410048" cy="3611880"/>
          </a:xfrm>
          <a:prstGeom prst="rect">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777240" y="1371600"/>
            <a:ext cx="457200" cy="457200"/>
          </a:xfrm>
          <a:prstGeom prst="rect">
            <a:avLst/>
          </a:prstGeom>
        </p:spPr>
      </p:pic>
      <p:sp>
        <p:nvSpPr>
          <p:cNvPr id="6" name="TextBox 5"/>
          <p:cNvSpPr txBox="1"/>
          <p:nvPr/>
        </p:nvSpPr>
        <p:spPr>
          <a:xfrm>
            <a:off x="1371600"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SQL Table</a:t>
            </a:r>
          </a:p>
        </p:txBody>
      </p:sp>
      <p:sp>
        <p:nvSpPr>
          <p:cNvPr id="7" name="TextBox 6"/>
          <p:cNvSpPr txBox="1"/>
          <p:nvPr/>
        </p:nvSpPr>
        <p:spPr>
          <a:xfrm>
            <a:off x="777240" y="2011680"/>
            <a:ext cx="4952848" cy="25603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Sits on the database server</a:t>
            </a:r>
          </a:p>
          <a:p>
            <a:pPr>
              <a:spcAft>
                <a:spcPts val="1000"/>
              </a:spcAft>
            </a:pPr>
            <a:r>
              <a:rPr sz="2600">
                <a:solidFill>
                  <a:srgbClr val="261F1D"/>
                </a:solidFill>
                <a:latin typeface="Helvetica"/>
              </a:rPr>
              <a:t>•  </a:t>
            </a:r>
            <a:r>
              <a:rPr sz="2600" b="0" i="0" u="none">
                <a:solidFill>
                  <a:srgbClr val="261F1D"/>
                </a:solidFill>
                <a:latin typeface="Helvetica"/>
              </a:rPr>
              <a:t>The database does the work</a:t>
            </a:r>
          </a:p>
          <a:p>
            <a:pPr>
              <a:spcAft>
                <a:spcPts val="1000"/>
              </a:spcAft>
            </a:pPr>
            <a:r>
              <a:rPr sz="2600">
                <a:solidFill>
                  <a:srgbClr val="261F1D"/>
                </a:solidFill>
                <a:latin typeface="Helvetica"/>
              </a:rPr>
              <a:t>•  </a:t>
            </a:r>
            <a:r>
              <a:rPr sz="2600" b="0" i="0" u="none">
                <a:solidFill>
                  <a:srgbClr val="261F1D"/>
                </a:solidFill>
                <a:latin typeface="Helvetica"/>
              </a:rPr>
              <a:t>Still there after you log off</a:t>
            </a:r>
          </a:p>
        </p:txBody>
      </p:sp>
      <p:sp>
        <p:nvSpPr>
          <p:cNvPr id="8" name="Rectangle 7"/>
          <p:cNvSpPr/>
          <p:nvPr/>
        </p:nvSpPr>
        <p:spPr>
          <a:xfrm>
            <a:off x="6233008" y="1188720"/>
            <a:ext cx="5410048" cy="3611880"/>
          </a:xfrm>
          <a:prstGeom prst="rect">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
          <p:cNvPicPr>
            <a:picLocks noChangeAspect="1"/>
          </p:cNvPicPr>
          <p:nvPr/>
        </p:nvPicPr>
        <p:blipFill>
          <a:blip r:embed="rId4"/>
          <a:stretch>
            <a:fillRect/>
          </a:stretch>
        </p:blipFill>
        <p:spPr>
          <a:xfrm>
            <a:off x="6461608" y="1371600"/>
            <a:ext cx="457200" cy="457200"/>
          </a:xfrm>
          <a:prstGeom prst="rect">
            <a:avLst/>
          </a:prstGeom>
        </p:spPr>
      </p:pic>
      <p:sp>
        <p:nvSpPr>
          <p:cNvPr id="10" name="TextBox 9"/>
          <p:cNvSpPr txBox="1"/>
          <p:nvPr/>
        </p:nvSpPr>
        <p:spPr>
          <a:xfrm>
            <a:off x="7055968"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DataFrame</a:t>
            </a:r>
          </a:p>
        </p:txBody>
      </p:sp>
      <p:sp>
        <p:nvSpPr>
          <p:cNvPr id="11" name="TextBox 10"/>
          <p:cNvSpPr txBox="1"/>
          <p:nvPr/>
        </p:nvSpPr>
        <p:spPr>
          <a:xfrm>
            <a:off x="6461608" y="2011680"/>
            <a:ext cx="4952848" cy="25603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Sits in your own memory</a:t>
            </a:r>
          </a:p>
          <a:p>
            <a:pPr>
              <a:spcAft>
                <a:spcPts val="1000"/>
              </a:spcAft>
            </a:pPr>
            <a:r>
              <a:rPr sz="2600">
                <a:solidFill>
                  <a:srgbClr val="261F1D"/>
                </a:solidFill>
                <a:latin typeface="Helvetica"/>
              </a:rPr>
              <a:t>•  </a:t>
            </a:r>
            <a:r>
              <a:rPr sz="2600" b="0" i="0" u="none">
                <a:solidFill>
                  <a:srgbClr val="261F1D"/>
                </a:solidFill>
                <a:latin typeface="Helvetica"/>
              </a:rPr>
              <a:t>Your own laptop does the work</a:t>
            </a:r>
          </a:p>
          <a:p>
            <a:pPr>
              <a:spcAft>
                <a:spcPts val="1000"/>
              </a:spcAft>
            </a:pPr>
            <a:r>
              <a:rPr sz="2600">
                <a:solidFill>
                  <a:srgbClr val="261F1D"/>
                </a:solidFill>
                <a:latin typeface="Helvetica"/>
              </a:rPr>
              <a:t>•  </a:t>
            </a:r>
            <a:r>
              <a:rPr sz="2600" b="0" i="0" u="none">
                <a:solidFill>
                  <a:srgbClr val="261F1D"/>
                </a:solidFill>
                <a:latin typeface="Helvetica"/>
              </a:rPr>
              <a:t>Gone when the notebook restarts</a:t>
            </a:r>
          </a:p>
        </p:txBody>
      </p:sp>
      <p:cxnSp>
        <p:nvCxnSpPr>
          <p:cNvPr id="12" name="Connector 11"/>
          <p:cNvCxnSpPr/>
          <p:nvPr/>
        </p:nvCxnSpPr>
        <p:spPr>
          <a:xfrm>
            <a:off x="6095848" y="1188720"/>
            <a:ext cx="0" cy="3611880"/>
          </a:xfrm>
          <a:prstGeom prst="line">
            <a:avLst/>
          </a:prstGeom>
          <a:ln w="19050">
            <a:solidFill>
              <a:srgbClr val="E1E3E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4983480"/>
            <a:ext cx="2926080" cy="411480"/>
          </a:xfrm>
          <a:prstGeom prst="rect">
            <a:avLst/>
          </a:prstGeom>
          <a:noFill/>
        </p:spPr>
        <p:txBody>
          <a:bodyPr wrap="square" anchor="t" lIns="0" rIns="0" tIns="0" bIns="0">
            <a:noAutofit/>
          </a:bodyPr>
          <a:lstStyle/>
          <a:p>
            <a:pPr algn="l"/>
            <a:r>
              <a:rPr sz="2600" b="1" i="0" u="none">
                <a:solidFill>
                  <a:srgbClr val="327A5F"/>
                </a:solidFill>
                <a:latin typeface="Helvetica"/>
              </a:rPr>
              <a:t>IN COMMON:</a:t>
            </a:r>
          </a:p>
        </p:txBody>
      </p:sp>
      <p:sp>
        <p:nvSpPr>
          <p:cNvPr id="14" name="TextBox 13"/>
          <p:cNvSpPr txBox="1"/>
          <p:nvPr/>
        </p:nvSpPr>
        <p:spPr>
          <a:xfrm>
            <a:off x="548640" y="5440680"/>
            <a:ext cx="11094415" cy="91440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Both have rows and named columns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Two Shapes, One Idea</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The Tool That Sets All This Up</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Reaching a real database needs real packages installed, and this module installs them a new way.</a:t>
            </a:r>
          </a:p>
        </p:txBody>
      </p:sp>
      <p:pic>
        <p:nvPicPr>
          <p:cNvPr id="6" name="Picture 5" descr=""/>
          <p:cNvPicPr>
            <a:picLocks noChangeAspect="1"/>
          </p:cNvPicPr>
          <p:nvPr/>
        </p:nvPicPr>
        <p:blipFill>
          <a:blip r:embed="rId3"/>
          <a:stretch>
            <a:fillRect/>
          </a:stretch>
        </p:blipFill>
        <p:spPr>
          <a:xfrm>
            <a:off x="3093644" y="4937760"/>
            <a:ext cx="457200" cy="457200"/>
          </a:xfrm>
          <a:prstGeom prst="rect">
            <a:avLst/>
          </a:prstGeom>
        </p:spPr>
      </p:pic>
      <p:sp>
        <p:nvSpPr>
          <p:cNvPr id="7" name="TextBox 6"/>
          <p:cNvSpPr txBox="1"/>
          <p:nvPr/>
        </p:nvSpPr>
        <p:spPr>
          <a:xfrm>
            <a:off x="685800"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What </a:t>
            </a:r>
            <a:r>
              <a:rPr sz="2600" b="1" i="0" u="none">
                <a:solidFill>
                  <a:srgbClr val="FFFCF7"/>
                </a:solidFill>
                <a:latin typeface="Roboto Mono"/>
              </a:rPr>
              <a:t>uv</a:t>
            </a:r>
            <a:r>
              <a:rPr sz="2600" b="1" i="0" u="none">
                <a:solidFill>
                  <a:srgbClr val="FFFCF7"/>
                </a:solidFill>
                <a:latin typeface="Helvetica"/>
              </a:rPr>
              <a:t> actually is</a:t>
            </a:r>
          </a:p>
        </p:txBody>
      </p:sp>
      <p:pic>
        <p:nvPicPr>
          <p:cNvPr id="8" name="Picture 7" descr=""/>
          <p:cNvPicPr>
            <a:picLocks noChangeAspect="1"/>
          </p:cNvPicPr>
          <p:nvPr/>
        </p:nvPicPr>
        <p:blipFill>
          <a:blip r:embed="rId4"/>
          <a:stretch>
            <a:fillRect/>
          </a:stretch>
        </p:blipFill>
        <p:spPr>
          <a:xfrm>
            <a:off x="8640851" y="4937760"/>
            <a:ext cx="457200" cy="457200"/>
          </a:xfrm>
          <a:prstGeom prst="rect">
            <a:avLst/>
          </a:prstGeom>
        </p:spPr>
      </p:pic>
      <p:sp>
        <p:nvSpPr>
          <p:cNvPr id="9" name="TextBox 8"/>
          <p:cNvSpPr txBox="1"/>
          <p:nvPr/>
        </p:nvSpPr>
        <p:spPr>
          <a:xfrm>
            <a:off x="6233008"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Why not bare </a:t>
            </a:r>
            <a:r>
              <a:rPr sz="2600" b="1" i="0" u="none">
                <a:solidFill>
                  <a:srgbClr val="FFFCF7"/>
                </a:solidFill>
                <a:latin typeface="Roboto Mono"/>
              </a:rPr>
              <a:t>pip</a:t>
            </a:r>
          </a:p>
        </p:txBody>
      </p:sp>
      <p:cxnSp>
        <p:nvCxnSpPr>
          <p:cNvPr id="10" name="Connector 9"/>
          <p:cNvCxnSpPr/>
          <p:nvPr/>
        </p:nvCxnSpPr>
        <p:spPr>
          <a:xfrm>
            <a:off x="6095848" y="4937760"/>
            <a:ext cx="0" cy="1188720"/>
          </a:xfrm>
          <a:prstGeom prst="line">
            <a:avLst/>
          </a:prstGeom>
          <a:ln w="19050">
            <a:solidFill>
              <a:srgbClr val="B3BBB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Roboto Mono"/>
              </a:rPr>
              <a:t>uv</a:t>
            </a:r>
            <a:r>
              <a:rPr sz="3200" b="1" i="0" u="none">
                <a:solidFill>
                  <a:srgbClr val="261F1D"/>
                </a:solidFill>
                <a:latin typeface="Helvetica"/>
              </a:rPr>
              <a:t> Installs Your Packages, and </a:t>
            </a:r>
            <a:r>
              <a:rPr sz="3200" b="1" i="0" u="none">
                <a:solidFill>
                  <a:srgbClr val="264326"/>
                </a:solidFill>
                <a:latin typeface="Helvetica"/>
              </a:rPr>
              <a:t>Locks</a:t>
            </a:r>
            <a:r>
              <a:rPr sz="3200" b="1" i="0" u="none">
                <a:solidFill>
                  <a:srgbClr val="261F1D"/>
                </a:solidFill>
                <a:latin typeface="Helvetica"/>
              </a:rPr>
              <a:t> Them</a:t>
            </a:r>
          </a:p>
        </p:txBody>
      </p:sp>
      <p:sp>
        <p:nvSpPr>
          <p:cNvPr id="4" name="TextBox 3"/>
          <p:cNvSpPr txBox="1"/>
          <p:nvPr/>
        </p:nvSpPr>
        <p:spPr>
          <a:xfrm>
            <a:off x="548640" y="1188720"/>
            <a:ext cx="670529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A Python package and project manager</a:t>
            </a:r>
          </a:p>
          <a:p>
            <a:pPr>
              <a:spcAft>
                <a:spcPts val="1000"/>
              </a:spcAft>
            </a:pPr>
            <a:r>
              <a:rPr sz="2600">
                <a:solidFill>
                  <a:srgbClr val="261F1D"/>
                </a:solidFill>
                <a:latin typeface="Helvetica"/>
              </a:rPr>
              <a:t>•  </a:t>
            </a:r>
            <a:r>
              <a:rPr sz="2600" b="0" i="0" u="none">
                <a:solidFill>
                  <a:srgbClr val="261F1D"/>
                </a:solidFill>
                <a:latin typeface="Helvetica"/>
              </a:rPr>
              <a:t>Made by Astral, written in Rust</a:t>
            </a:r>
          </a:p>
          <a:p>
            <a:pPr>
              <a:spcAft>
                <a:spcPts val="1000"/>
              </a:spcAft>
            </a:pPr>
            <a:r>
              <a:rPr sz="2600">
                <a:solidFill>
                  <a:srgbClr val="261F1D"/>
                </a:solidFill>
                <a:latin typeface="Helvetica"/>
              </a:rPr>
              <a:t>•  </a:t>
            </a:r>
            <a:r>
              <a:rPr sz="2600" b="0" i="0" u="none">
                <a:solidFill>
                  <a:srgbClr val="261F1D"/>
                </a:solidFill>
                <a:latin typeface="Helvetica"/>
              </a:rPr>
              <a:t>Does </a:t>
            </a:r>
            <a:r>
              <a:rPr sz="2600" b="0" i="0" u="none">
                <a:solidFill>
                  <a:srgbClr val="261F1D"/>
                </a:solidFill>
                <a:latin typeface="Roboto Mono"/>
              </a:rPr>
              <a:t>pip</a:t>
            </a:r>
            <a:r>
              <a:rPr sz="2600" b="0" i="0" u="none">
                <a:solidFill>
                  <a:srgbClr val="261F1D"/>
                </a:solidFill>
                <a:latin typeface="Helvetica"/>
              </a:rPr>
              <a:t> and </a:t>
            </a:r>
            <a:r>
              <a:rPr sz="2600" b="0" i="0" u="none">
                <a:solidFill>
                  <a:srgbClr val="261F1D"/>
                </a:solidFill>
                <a:latin typeface="Roboto Mono"/>
              </a:rPr>
              <a:t>venv</a:t>
            </a:r>
            <a:r>
              <a:rPr sz="2600" b="0" i="0" u="none">
                <a:solidFill>
                  <a:srgbClr val="261F1D"/>
                </a:solidFill>
                <a:latin typeface="Helvetica"/>
              </a:rPr>
              <a:t> in one tool</a:t>
            </a:r>
          </a:p>
          <a:p>
            <a:pPr>
              <a:spcAft>
                <a:spcPts val="1000"/>
              </a:spcAft>
            </a:pPr>
            <a:r>
              <a:rPr sz="2600">
                <a:solidFill>
                  <a:srgbClr val="261F1D"/>
                </a:solidFill>
                <a:latin typeface="Helvetica"/>
              </a:rPr>
              <a:t>•  </a:t>
            </a:r>
            <a:r>
              <a:rPr sz="2600" b="0" i="0" u="none">
                <a:solidFill>
                  <a:srgbClr val="261F1D"/>
                </a:solidFill>
                <a:latin typeface="Helvetica"/>
              </a:rPr>
              <a:t>Astral measures it 10-100x faster</a:t>
            </a:r>
          </a:p>
          <a:p>
            <a:pPr>
              <a:spcAft>
                <a:spcPts val="1000"/>
              </a:spcAft>
            </a:pPr>
            <a:r>
              <a:rPr sz="2600">
                <a:solidFill>
                  <a:srgbClr val="261F1D"/>
                </a:solidFill>
                <a:latin typeface="Helvetica"/>
              </a:rPr>
              <a:t>•  </a:t>
            </a:r>
            <a:r>
              <a:rPr sz="2600" b="0" i="0" u="none">
                <a:solidFill>
                  <a:srgbClr val="261F1D"/>
                </a:solidFill>
                <a:latin typeface="Helvetica"/>
              </a:rPr>
              <a:t>Writes a lock file of exact versions</a:t>
            </a:r>
          </a:p>
        </p:txBody>
      </p:sp>
      <p:sp>
        <p:nvSpPr>
          <p:cNvPr id="5" name="Oval 4"/>
          <p:cNvSpPr/>
          <p:nvPr/>
        </p:nvSpPr>
        <p:spPr>
          <a:xfrm>
            <a:off x="8532266" y="2581351"/>
            <a:ext cx="2381098" cy="2381098"/>
          </a:xfrm>
          <a:prstGeom prst="ellipse">
            <a:avLst/>
          </a:prstGeom>
          <a:solidFill>
            <a:srgbClr val="FECC5B"/>
          </a:solidFill>
          <a:ln w="50800">
            <a:solidFill>
              <a:srgbClr val="83671C"/>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3176626"/>
            <a:ext cx="1190549" cy="1190549"/>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WOULD YOU RATHER?</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Would you rather join a team that pins every package version in a lock file? Or one that installs the latest each time, and finds breakage early?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5" name="TextBox 4"/>
          <p:cNvSpPr txBox="1"/>
          <p:nvPr/>
        </p:nvSpPr>
        <p:spPr>
          <a:xfrm>
            <a:off x="548640" y="155448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Topics You Might Get Asked About</a:t>
            </a:r>
          </a:p>
        </p:txBody>
      </p:sp>
      <p:sp>
        <p:nvSpPr>
          <p:cNvPr id="6" name="TextBox 5"/>
          <p:cNvSpPr txBox="1"/>
          <p:nvPr/>
        </p:nvSpPr>
        <p:spPr>
          <a:xfrm>
            <a:off x="822960" y="2560320"/>
            <a:ext cx="10545775" cy="34747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Should an aggregation happen in SQL or in pandas, and how do you decide?</a:t>
            </a:r>
          </a:p>
          <a:p>
            <a:pPr>
              <a:spcAft>
                <a:spcPts val="1000"/>
              </a:spcAft>
            </a:pPr>
            <a:r>
              <a:rPr sz="2600">
                <a:solidFill>
                  <a:srgbClr val="261F1D"/>
                </a:solidFill>
                <a:latin typeface="Helvetica"/>
              </a:rPr>
              <a:t>•  </a:t>
            </a:r>
            <a:r>
              <a:rPr sz="2600" b="0" i="0" u="none">
                <a:solidFill>
                  <a:srgbClr val="261F1D"/>
                </a:solidFill>
                <a:latin typeface="Helvetica"/>
              </a:rPr>
              <a:t>How would you explain what a DataFrame is to someone who only knows SQL?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4864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731520" y="548640"/>
            <a:ext cx="365760" cy="365760"/>
          </a:xfrm>
          <a:prstGeom prst="rect">
            <a:avLst/>
          </a:prstGeom>
        </p:spPr>
      </p:pic>
      <p:sp>
        <p:nvSpPr>
          <p:cNvPr id="5" name="TextBox 4"/>
          <p:cNvSpPr txBox="1"/>
          <p:nvPr/>
        </p:nvSpPr>
        <p:spPr>
          <a:xfrm>
            <a:off x="1234440" y="457200"/>
            <a:ext cx="10271455" cy="54864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6" name="TextBox 5"/>
          <p:cNvSpPr txBox="1"/>
          <p:nvPr/>
        </p:nvSpPr>
        <p:spPr>
          <a:xfrm>
            <a:off x="548640" y="1280160"/>
            <a:ext cx="11094415" cy="1188720"/>
          </a:xfrm>
          <a:prstGeom prst="rect">
            <a:avLst/>
          </a:prstGeom>
          <a:noFill/>
        </p:spPr>
        <p:txBody>
          <a:bodyPr wrap="square" anchor="t" lIns="0" rIns="0" tIns="0" bIns="0">
            <a:noAutofit/>
          </a:bodyPr>
          <a:lstStyle/>
          <a:p>
            <a:pPr algn="l"/>
            <a:r>
              <a:rPr sz="3200" b="1" i="0" u="none">
                <a:solidFill>
                  <a:srgbClr val="261F1D"/>
                </a:solidFill>
                <a:latin typeface="Helvetica"/>
              </a:rPr>
              <a:t>Should an aggregation happen in SQL or in pandas, and how do you decide?</a:t>
            </a:r>
          </a:p>
        </p:txBody>
      </p:sp>
      <p:sp>
        <p:nvSpPr>
          <p:cNvPr id="7" name="Rounded Rectangle 6"/>
          <p:cNvSpPr/>
          <p:nvPr/>
        </p:nvSpPr>
        <p:spPr>
          <a:xfrm>
            <a:off x="548640" y="2743200"/>
            <a:ext cx="11094415" cy="361188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971800"/>
            <a:ext cx="10545775" cy="3154680"/>
          </a:xfrm>
          <a:prstGeom prst="rect">
            <a:avLst/>
          </a:prstGeom>
          <a:noFill/>
        </p:spPr>
        <p:txBody>
          <a:bodyPr wrap="square" anchor="t" lIns="0" rIns="0" tIns="0" bIns="0">
            <a:noAutofit/>
          </a:bodyPr>
          <a:lstStyle/>
          <a:p>
            <a:pPr algn="l"/>
            <a:r>
              <a:rPr sz="2600" b="1" i="0" u="none">
                <a:solidFill>
                  <a:srgbClr val="264326"/>
                </a:solidFill>
                <a:latin typeface="Helvetica"/>
              </a:rPr>
              <a:t>Answer:</a:t>
            </a:r>
            <a:r>
              <a:rPr sz="2600" b="0" i="0" u="none">
                <a:solidFill>
                  <a:srgbClr val="261F1D"/>
                </a:solidFill>
                <a:latin typeface="Helvetica"/>
              </a:rPr>
              <a:t> Question: How big is that table, and what do I need next? Assumption: If it is millions of rows and I only want per-borough counts, the database should run the </a:t>
            </a:r>
            <a:r>
              <a:rPr sz="2600" b="0" i="0" u="none">
                <a:solidFill>
                  <a:srgbClr val="261F1D"/>
                </a:solidFill>
                <a:latin typeface="Roboto Mono"/>
              </a:rPr>
              <a:t>GROUP BY</a:t>
            </a:r>
            <a:r>
              <a:rPr sz="2600" b="0" i="0" u="none">
                <a:solidFill>
                  <a:srgbClr val="261F1D"/>
                </a:solidFill>
                <a:latin typeface="Helvetica"/>
              </a:rPr>
              <a:t> and hand me a few hundred rows. Risk: If I guess wrong and pull it all into pandas, I burn memory and network time on rows I throw away. So aggregate in SQL to shrink the result, then reshape and chart in pandas.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4864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731520" y="548640"/>
            <a:ext cx="365760" cy="365760"/>
          </a:xfrm>
          <a:prstGeom prst="rect">
            <a:avLst/>
          </a:prstGeom>
        </p:spPr>
      </p:pic>
      <p:sp>
        <p:nvSpPr>
          <p:cNvPr id="5" name="TextBox 4"/>
          <p:cNvSpPr txBox="1"/>
          <p:nvPr/>
        </p:nvSpPr>
        <p:spPr>
          <a:xfrm>
            <a:off x="1234440" y="457200"/>
            <a:ext cx="10271455" cy="54864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6" name="TextBox 5"/>
          <p:cNvSpPr txBox="1"/>
          <p:nvPr/>
        </p:nvSpPr>
        <p:spPr>
          <a:xfrm>
            <a:off x="548640" y="1280160"/>
            <a:ext cx="11094415" cy="1188720"/>
          </a:xfrm>
          <a:prstGeom prst="rect">
            <a:avLst/>
          </a:prstGeom>
          <a:noFill/>
        </p:spPr>
        <p:txBody>
          <a:bodyPr wrap="square" anchor="t" lIns="0" rIns="0" tIns="0" bIns="0">
            <a:noAutofit/>
          </a:bodyPr>
          <a:lstStyle/>
          <a:p>
            <a:pPr algn="l"/>
            <a:r>
              <a:rPr sz="3200" b="1" i="0" u="none">
                <a:solidFill>
                  <a:srgbClr val="261F1D"/>
                </a:solidFill>
                <a:latin typeface="Helvetica"/>
              </a:rPr>
              <a:t>How would you explain what a DataFrame is to someone who only knows SQL?</a:t>
            </a:r>
          </a:p>
        </p:txBody>
      </p:sp>
      <p:sp>
        <p:nvSpPr>
          <p:cNvPr id="7" name="Rounded Rectangle 6"/>
          <p:cNvSpPr/>
          <p:nvPr/>
        </p:nvSpPr>
        <p:spPr>
          <a:xfrm>
            <a:off x="548640" y="2743200"/>
            <a:ext cx="11094415" cy="361188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971800"/>
            <a:ext cx="10545775" cy="3154680"/>
          </a:xfrm>
          <a:prstGeom prst="rect">
            <a:avLst/>
          </a:prstGeom>
          <a:noFill/>
        </p:spPr>
        <p:txBody>
          <a:bodyPr wrap="square" anchor="t" lIns="0" rIns="0" tIns="0" bIns="0">
            <a:noAutofit/>
          </a:bodyPr>
          <a:lstStyle/>
          <a:p>
            <a:pPr algn="l"/>
            <a:r>
              <a:rPr sz="2600" b="1" i="0" u="none">
                <a:solidFill>
                  <a:srgbClr val="264326"/>
                </a:solidFill>
                <a:latin typeface="Helvetica"/>
              </a:rPr>
              <a:t>Answer:</a:t>
            </a:r>
            <a:r>
              <a:rPr sz="2600" b="0" i="0" u="none">
                <a:solidFill>
                  <a:srgbClr val="261F1D"/>
                </a:solidFill>
                <a:latin typeface="Helvetica"/>
              </a:rPr>
              <a:t> Audience: They already think in tables, so build on that. Simplify: A DataFrame is a table living in Python's memory, with rows, named columns, and one type per column. Analogy: The SQL table is the filing cabinet the database owns; the DataFrame is the photocopy on my desk I can mark up without touching the original. Check: Want me to show one query written both ways?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 Recap</a:t>
            </a:r>
          </a:p>
        </p:txBody>
      </p:sp>
      <p:graphicFrame>
        <p:nvGraphicFramePr>
          <p:cNvPr id="4" name="Table 3"/>
          <p:cNvGraphicFramePr>
            <a:graphicFrameLocks noGrp="1"/>
          </p:cNvGraphicFramePr>
          <p:nvPr/>
        </p:nvGraphicFramePr>
        <p:xfrm>
          <a:off x="548640" y="2240280"/>
          <a:ext cx="11094415" cy="3017520"/>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502920">
                <a:tc>
                  <a:txBody>
                    <a:bodyPr wrap="square"/>
                    <a:lstStyle/>
                    <a:p>
                      <a:r>
                        <a:rPr sz="2600" b="0" i="0" u="none">
                          <a:solidFill>
                            <a:srgbClr val="261F1D"/>
                          </a:solidFill>
                          <a:latin typeface="Helvetica"/>
                        </a:rPr>
                        <a:t>DataFrame</a:t>
                      </a:r>
                    </a:p>
                  </a:txBody>
                  <a:tcPr marL="109728" marR="109728" marT="54864" marB="54864" anchor="ctr">
                    <a:solidFill>
                      <a:srgbClr val="FFFCF7"/>
                    </a:solidFill>
                  </a:tcPr>
                </a:tc>
                <a:tc>
                  <a:txBody>
                    <a:bodyPr wrap="square"/>
                    <a:lstStyle/>
                    <a:p>
                      <a:r>
                        <a:rPr sz="2600" b="0" i="0" u="none">
                          <a:solidFill>
                            <a:srgbClr val="261F1D"/>
                          </a:solidFill>
                          <a:latin typeface="Helvetica"/>
                        </a:rPr>
                        <a:t>A pandas table in memory</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Series</a:t>
                      </a:r>
                    </a:p>
                  </a:txBody>
                  <a:tcPr marL="109728" marR="109728" marT="54864" marB="54864" anchor="ctr">
                    <a:solidFill>
                      <a:srgbClr val="FFF6E4"/>
                    </a:solidFill>
                  </a:tcPr>
                </a:tc>
                <a:tc>
                  <a:txBody>
                    <a:bodyPr wrap="square"/>
                    <a:lstStyle/>
                    <a:p>
                      <a:r>
                        <a:rPr sz="2600" b="0" i="0" u="none">
                          <a:solidFill>
                            <a:srgbClr val="261F1D"/>
                          </a:solidFill>
                          <a:latin typeface="Helvetica"/>
                        </a:rPr>
                        <a:t>One column, on its own</a:t>
                      </a:r>
                    </a:p>
                  </a:txBody>
                  <a:tcPr marL="109728" marR="109728" marT="54864" marB="54864" anchor="ctr">
                    <a:solidFill>
                      <a:srgbClr val="FFF6E4"/>
                    </a:solidFill>
                  </a:tcPr>
                </a:tc>
              </a:tr>
              <a:tr h="502920">
                <a:tc>
                  <a:txBody>
                    <a:bodyPr wrap="square"/>
                    <a:lstStyle/>
                    <a:p>
                      <a:r>
                        <a:rPr sz="2600" b="0" i="0" u="none">
                          <a:solidFill>
                            <a:srgbClr val="261F1D"/>
                          </a:solidFill>
                          <a:latin typeface="Roboto Mono"/>
                        </a:rPr>
                        <a:t>dtype</a:t>
                      </a:r>
                    </a:p>
                  </a:txBody>
                  <a:tcPr marL="109728" marR="109728" marT="54864" marB="54864" anchor="ctr">
                    <a:solidFill>
                      <a:srgbClr val="FFFCF7"/>
                    </a:solidFill>
                  </a:tcPr>
                </a:tc>
                <a:tc>
                  <a:txBody>
                    <a:bodyPr wrap="square"/>
                    <a:lstStyle/>
                    <a:p>
                      <a:r>
                        <a:rPr sz="2600" b="0" i="0" u="none">
                          <a:solidFill>
                            <a:srgbClr val="261F1D"/>
                          </a:solidFill>
                          <a:latin typeface="Helvetica"/>
                        </a:rPr>
                        <a:t>A column's type in pandas</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in-memory</a:t>
                      </a:r>
                    </a:p>
                  </a:txBody>
                  <a:tcPr marL="109728" marR="109728" marT="54864" marB="54864" anchor="ctr">
                    <a:solidFill>
                      <a:srgbClr val="FFF6E4"/>
                    </a:solidFill>
                  </a:tcPr>
                </a:tc>
                <a:tc>
                  <a:txBody>
                    <a:bodyPr wrap="square"/>
                    <a:lstStyle/>
                    <a:p>
                      <a:r>
                        <a:rPr sz="2600" b="0" i="0" u="none">
                          <a:solidFill>
                            <a:srgbClr val="261F1D"/>
                          </a:solidFill>
                          <a:latin typeface="Helvetica"/>
                        </a:rPr>
                        <a:t>Held in RAM, not on disk</a:t>
                      </a:r>
                    </a:p>
                  </a:txBody>
                  <a:tcPr marL="109728" marR="109728" marT="54864" marB="54864" anchor="ctr">
                    <a:solidFill>
                      <a:srgbClr val="FFF6E4"/>
                    </a:solidFill>
                  </a:tcPr>
                </a:tc>
              </a:tr>
              <a:tr h="502920">
                <a:tc>
                  <a:txBody>
                    <a:bodyPr wrap="square"/>
                    <a:lstStyle/>
                    <a:p>
                      <a:r>
                        <a:rPr sz="2600" b="0" i="0" u="none">
                          <a:solidFill>
                            <a:srgbClr val="261F1D"/>
                          </a:solidFill>
                          <a:latin typeface="Roboto Mono"/>
                        </a:rPr>
                        <a:t>uv</a:t>
                      </a:r>
                    </a:p>
                  </a:txBody>
                  <a:tcPr marL="109728" marR="109728" marT="54864" marB="54864" anchor="ctr">
                    <a:solidFill>
                      <a:srgbClr val="FFFCF7"/>
                    </a:solidFill>
                  </a:tcPr>
                </a:tc>
                <a:tc>
                  <a:txBody>
                    <a:bodyPr wrap="square"/>
                    <a:lstStyle/>
                    <a:p>
                      <a:r>
                        <a:rPr sz="2600" b="0" i="0" u="none">
                          <a:solidFill>
                            <a:srgbClr val="261F1D"/>
                          </a:solidFill>
                          <a:latin typeface="Helvetica"/>
                        </a:rPr>
                        <a:t>Fast package and env manager</a:t>
                      </a:r>
                    </a:p>
                  </a:txBody>
                  <a:tcPr marL="109728" marR="109728" marT="54864" marB="54864" anchor="ctr">
                    <a:solidFill>
                      <a:srgbClr val="FFFCF7"/>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6E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So Far, We've Covered...</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Same data, two shapes</a:t>
            </a:r>
          </a:p>
          <a:p>
            <a:pPr>
              <a:spcAft>
                <a:spcPts val="1000"/>
              </a:spcAft>
            </a:pPr>
            <a:r>
              <a:rPr sz="2600">
                <a:solidFill>
                  <a:srgbClr val="261F1D"/>
                </a:solidFill>
                <a:latin typeface="Helvetica"/>
              </a:rPr>
              <a:t>•  </a:t>
            </a:r>
            <a:r>
              <a:rPr sz="2600" b="0" i="0" u="none">
                <a:solidFill>
                  <a:srgbClr val="261F1D"/>
                </a:solidFill>
                <a:latin typeface="Helvetica"/>
              </a:rPr>
              <a:t>Types can change in transit</a:t>
            </a:r>
          </a:p>
          <a:p>
            <a:pPr>
              <a:spcAft>
                <a:spcPts val="1000"/>
              </a:spcAft>
            </a:pPr>
            <a:r>
              <a:rPr sz="2600">
                <a:solidFill>
                  <a:srgbClr val="261F1D"/>
                </a:solidFill>
                <a:latin typeface="Helvetica"/>
              </a:rPr>
              <a:t>•  </a:t>
            </a:r>
            <a:r>
              <a:rPr sz="2600" b="0" i="0" u="none">
                <a:solidFill>
                  <a:srgbClr val="261F1D"/>
                </a:solidFill>
                <a:latin typeface="Helvetica"/>
              </a:rPr>
              <a:t>Most SQL clauses have a pandas move</a:t>
            </a:r>
          </a:p>
          <a:p>
            <a:pPr>
              <a:spcAft>
                <a:spcPts val="1000"/>
              </a:spcAft>
            </a:pPr>
            <a:r>
              <a:rPr sz="2600">
                <a:solidFill>
                  <a:srgbClr val="261F1D"/>
                </a:solidFill>
                <a:latin typeface="Helvetica"/>
              </a:rPr>
              <a:t>•  </a:t>
            </a:r>
            <a:r>
              <a:rPr sz="2600" b="0" i="0" u="none">
                <a:solidFill>
                  <a:srgbClr val="261F1D"/>
                </a:solidFill>
                <a:latin typeface="Helvetica"/>
              </a:rPr>
              <a:t>Query in SQL, analyze in pandas</a:t>
            </a:r>
          </a:p>
          <a:p>
            <a:pPr>
              <a:spcAft>
                <a:spcPts val="1000"/>
              </a:spcAft>
            </a:pPr>
            <a:r>
              <a:rPr sz="2600">
                <a:solidFill>
                  <a:srgbClr val="261F1D"/>
                </a:solidFill>
                <a:latin typeface="Helvetica"/>
              </a:rPr>
              <a:t>•  </a:t>
            </a:r>
            <a:r>
              <a:rPr sz="2600" b="0" i="0" u="none">
                <a:solidFill>
                  <a:srgbClr val="261F1D"/>
                </a:solidFill>
                <a:latin typeface="Helvetica"/>
              </a:rPr>
              <a:t>Your project checks both give one result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188720"/>
            <a:ext cx="11094415" cy="1005840"/>
          </a:xfrm>
          <a:prstGeom prst="rect">
            <a:avLst/>
          </a:prstGeom>
          <a:noFill/>
        </p:spPr>
        <p:txBody>
          <a:bodyPr wrap="square" anchor="t" lIns="0" rIns="0" tIns="0" bIns="0">
            <a:noAutofit/>
          </a:bodyPr>
          <a:lstStyle/>
          <a:p>
            <a:pPr algn="l"/>
            <a:r>
              <a:rPr sz="4000" b="1" i="0" u="none">
                <a:solidFill>
                  <a:srgbClr val="FFFCF7"/>
                </a:solidFill>
                <a:latin typeface="Helvetica"/>
              </a:rPr>
              <a:t>Before Next Class</a:t>
            </a:r>
          </a:p>
        </p:txBody>
      </p:sp>
      <p:sp>
        <p:nvSpPr>
          <p:cNvPr id="4" name="TextBox 3"/>
          <p:cNvSpPr txBox="1"/>
          <p:nvPr/>
        </p:nvSpPr>
        <p:spPr>
          <a:xfrm>
            <a:off x="548640" y="2651760"/>
            <a:ext cx="11094415" cy="2103120"/>
          </a:xfrm>
          <a:prstGeom prst="rect">
            <a:avLst/>
          </a:prstGeom>
          <a:noFill/>
        </p:spPr>
        <p:txBody>
          <a:bodyPr wrap="square" lIns="0" rIns="0" tIns="0" bIns="0">
            <a:noAutofit/>
          </a:bodyPr>
          <a:lstStyle/>
          <a:p>
            <a:pPr>
              <a:spcAft>
                <a:spcPts val="1000"/>
              </a:spcAft>
            </a:pPr>
            <a:r>
              <a:rPr sz="2600">
                <a:solidFill>
                  <a:srgbClr val="FFFCF7"/>
                </a:solidFill>
                <a:latin typeface="Helvetica"/>
              </a:rPr>
              <a:t>•  </a:t>
            </a:r>
            <a:r>
              <a:rPr sz="2600" b="0" i="0" u="none">
                <a:solidFill>
                  <a:srgbClr val="FFFCF7"/>
                </a:solidFill>
                <a:latin typeface="Helvetica"/>
              </a:rPr>
              <a:t>Confirm Python and </a:t>
            </a:r>
            <a:r>
              <a:rPr sz="2600" b="0" i="0" u="none">
                <a:solidFill>
                  <a:srgbClr val="FFFCF7"/>
                </a:solidFill>
                <a:latin typeface="Roboto Mono"/>
              </a:rPr>
              <a:t>uv</a:t>
            </a:r>
            <a:r>
              <a:rPr sz="2600" b="0" i="0" u="none">
                <a:solidFill>
                  <a:srgbClr val="FFFCF7"/>
                </a:solidFill>
                <a:latin typeface="Helvetica"/>
              </a:rPr>
              <a:t> are installed</a:t>
            </a:r>
          </a:p>
          <a:p>
            <a:pPr>
              <a:spcAft>
                <a:spcPts val="1000"/>
              </a:spcAft>
            </a:pPr>
            <a:r>
              <a:rPr sz="2600">
                <a:solidFill>
                  <a:srgbClr val="FFFCF7"/>
                </a:solidFill>
                <a:latin typeface="Helvetica"/>
              </a:rPr>
              <a:t>•  </a:t>
            </a:r>
            <a:r>
              <a:rPr sz="2600" b="0" i="0" u="none">
                <a:solidFill>
                  <a:srgbClr val="FFFCF7"/>
                </a:solidFill>
                <a:latin typeface="Helvetica"/>
              </a:rPr>
              <a:t>Confirm your database still connects</a:t>
            </a:r>
          </a:p>
          <a:p>
            <a:pPr>
              <a:spcAft>
                <a:spcPts val="1000"/>
              </a:spcAft>
            </a:pPr>
            <a:r>
              <a:rPr sz="2600">
                <a:solidFill>
                  <a:srgbClr val="FFFCF7"/>
                </a:solidFill>
                <a:latin typeface="Helvetica"/>
              </a:rPr>
              <a:t>•  </a:t>
            </a:r>
            <a:r>
              <a:rPr sz="2600" b="0" i="0" u="none">
                <a:solidFill>
                  <a:srgbClr val="FFFCF7"/>
                </a:solidFill>
                <a:latin typeface="Helvetica"/>
              </a:rPr>
              <a:t>Redo today's three cells from blank</a:t>
            </a:r>
          </a:p>
          <a:p>
            <a:pPr>
              <a:spcAft>
                <a:spcPts val="1000"/>
              </a:spcAft>
            </a:pPr>
            <a:r>
              <a:rPr sz="2600">
                <a:solidFill>
                  <a:srgbClr val="FFFCF7"/>
                </a:solidFill>
                <a:latin typeface="Helvetica"/>
              </a:rPr>
              <a:t>•  </a:t>
            </a:r>
            <a:r>
              <a:rPr sz="2600" b="0" i="0" u="none">
                <a:solidFill>
                  <a:srgbClr val="FFFCF7"/>
                </a:solidFill>
                <a:latin typeface="Helvetica"/>
              </a:rPr>
              <a:t>Come ready to type, not just watch</a:t>
            </a:r>
          </a:p>
        </p:txBody>
      </p:sp>
      <p:sp>
        <p:nvSpPr>
          <p:cNvPr id="5" name="TextBox 4"/>
          <p:cNvSpPr txBox="1"/>
          <p:nvPr/>
        </p:nvSpPr>
        <p:spPr>
          <a:xfrm>
            <a:off x="548640" y="5029200"/>
            <a:ext cx="11094415" cy="384048"/>
          </a:xfrm>
          <a:prstGeom prst="rect">
            <a:avLst/>
          </a:prstGeom>
          <a:noFill/>
        </p:spPr>
        <p:txBody>
          <a:bodyPr wrap="square" anchor="t" lIns="0" rIns="0" tIns="0" bIns="0">
            <a:noAutofit/>
          </a:bodyPr>
          <a:lstStyle/>
          <a:p>
            <a:pPr algn="l"/>
            <a:r>
              <a:rPr sz="2600" b="1" i="0" u="none">
                <a:solidFill>
                  <a:srgbClr val="EEBC32"/>
                </a:solidFill>
                <a:latin typeface="Helvetica"/>
              </a:rPr>
              <a:t>Practice: The student notebook</a:t>
            </a:r>
          </a:p>
        </p:txBody>
      </p:sp>
      <p:sp>
        <p:nvSpPr>
          <p:cNvPr id="6" name="TextBox 5"/>
          <p:cNvSpPr txBox="1"/>
          <p:nvPr/>
        </p:nvSpPr>
        <p:spPr>
          <a:xfrm>
            <a:off x="548640" y="5504688"/>
            <a:ext cx="11094415" cy="457200"/>
          </a:xfrm>
          <a:prstGeom prst="rect">
            <a:avLst/>
          </a:prstGeom>
          <a:noFill/>
        </p:spPr>
        <p:txBody>
          <a:bodyPr wrap="square" anchor="t" lIns="0" rIns="0" tIns="0" bIns="0">
            <a:noAutofit/>
          </a:bodyPr>
          <a:lstStyle/>
          <a:p>
            <a:pPr algn="l"/>
            <a:r>
              <a:rPr sz="2600" b="1" i="0" u="none">
                <a:solidFill>
                  <a:srgbClr val="B3BBB0"/>
                </a:solidFill>
                <a:latin typeface="Helvetica"/>
                <a:hlinkClick r:id="rId3"/>
              </a:rPr>
              <a:t>Watch: Why Python Developers Are Switching to UV (~9 min)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365760"/>
            <a:ext cx="11094415" cy="64008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545775" cy="640080"/>
          </a:xfrm>
          <a:prstGeom prst="rect">
            <a:avLst/>
          </a:prstGeom>
          <a:noFill/>
        </p:spPr>
        <p:txBody>
          <a:bodyPr wrap="square" anchor="ctr" lIns="0" rIns="0" tIns="0" bIns="0">
            <a:noAutofit/>
          </a:bodyPr>
          <a:lstStyle/>
          <a:p>
            <a:pPr algn="l"/>
            <a:r>
              <a:rPr sz="2600" b="1" i="0" u="none">
                <a:solidFill>
                  <a:srgbClr val="261F1D"/>
                </a:solidFill>
                <a:latin typeface="Helvetica"/>
              </a:rPr>
              <a:t>KEEP LEARNING</a:t>
            </a:r>
          </a:p>
        </p:txBody>
      </p:sp>
      <p:sp>
        <p:nvSpPr>
          <p:cNvPr id="5" name="TextBox 4"/>
          <p:cNvSpPr txBox="1"/>
          <p:nvPr/>
        </p:nvSpPr>
        <p:spPr>
          <a:xfrm>
            <a:off x="548640" y="123444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Where to Go From Here</a:t>
            </a:r>
          </a:p>
        </p:txBody>
      </p:sp>
      <p:pic>
        <p:nvPicPr>
          <p:cNvPr id="6" name="Picture 5" descr=""/>
          <p:cNvPicPr>
            <a:picLocks noChangeAspect="1"/>
          </p:cNvPicPr>
          <p:nvPr/>
        </p:nvPicPr>
        <p:blipFill>
          <a:blip r:embed="rId3"/>
          <a:stretch>
            <a:fillRect/>
          </a:stretch>
        </p:blipFill>
        <p:spPr>
          <a:xfrm>
            <a:off x="548640" y="1984248"/>
            <a:ext cx="365760" cy="365760"/>
          </a:xfrm>
          <a:prstGeom prst="rect">
            <a:avLst/>
          </a:prstGeom>
        </p:spPr>
      </p:pic>
      <p:sp>
        <p:nvSpPr>
          <p:cNvPr id="7" name="TextBox 6"/>
          <p:cNvSpPr txBox="1"/>
          <p:nvPr/>
        </p:nvSpPr>
        <p:spPr>
          <a:xfrm>
            <a:off x="1051560" y="1965960"/>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4"/>
              </a:rPr>
              <a:t>pandas: Comparison with SQL</a:t>
            </a:r>
          </a:p>
        </p:txBody>
      </p:sp>
      <p:sp>
        <p:nvSpPr>
          <p:cNvPr id="8" name="TextBox 7"/>
          <p:cNvSpPr txBox="1"/>
          <p:nvPr/>
        </p:nvSpPr>
        <p:spPr>
          <a:xfrm>
            <a:off x="1051560" y="2350008"/>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pandas development team  ·  DOCS  ·  ~20 min read</a:t>
            </a:r>
          </a:p>
        </p:txBody>
      </p:sp>
      <p:sp>
        <p:nvSpPr>
          <p:cNvPr id="9" name="TextBox 8"/>
          <p:cNvSpPr txBox="1"/>
          <p:nvPr/>
        </p:nvSpPr>
        <p:spPr>
          <a:xfrm>
            <a:off x="1051560" y="2734056"/>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Every SQL clause mapped to its pandas equivalent</a:t>
            </a:r>
          </a:p>
        </p:txBody>
      </p:sp>
      <p:pic>
        <p:nvPicPr>
          <p:cNvPr id="10" name="Picture 9" descr=""/>
          <p:cNvPicPr>
            <a:picLocks noChangeAspect="1"/>
          </p:cNvPicPr>
          <p:nvPr/>
        </p:nvPicPr>
        <p:blipFill>
          <a:blip r:embed="rId5"/>
          <a:stretch>
            <a:fillRect/>
          </a:stretch>
        </p:blipFill>
        <p:spPr>
          <a:xfrm>
            <a:off x="548640" y="3364992"/>
            <a:ext cx="365760" cy="365760"/>
          </a:xfrm>
          <a:prstGeom prst="rect">
            <a:avLst/>
          </a:prstGeom>
        </p:spPr>
      </p:pic>
      <p:sp>
        <p:nvSpPr>
          <p:cNvPr id="11" name="TextBox 10"/>
          <p:cNvSpPr txBox="1"/>
          <p:nvPr/>
        </p:nvSpPr>
        <p:spPr>
          <a:xfrm>
            <a:off x="1051560" y="3346704"/>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6"/>
              </a:rPr>
              <a:t>Pandas Tutor</a:t>
            </a:r>
          </a:p>
        </p:txBody>
      </p:sp>
      <p:sp>
        <p:nvSpPr>
          <p:cNvPr id="12" name="TextBox 11"/>
          <p:cNvSpPr txBox="1"/>
          <p:nvPr/>
        </p:nvSpPr>
        <p:spPr>
          <a:xfrm>
            <a:off x="1051560" y="3730752"/>
            <a:ext cx="10591495" cy="768096"/>
          </a:xfrm>
          <a:prstGeom prst="rect">
            <a:avLst/>
          </a:prstGeom>
          <a:noFill/>
        </p:spPr>
        <p:txBody>
          <a:bodyPr wrap="square" anchor="t" lIns="0" rIns="0" tIns="0" bIns="0">
            <a:noAutofit/>
          </a:bodyPr>
          <a:lstStyle/>
          <a:p>
            <a:pPr algn="l"/>
            <a:r>
              <a:rPr sz="2600" b="1" i="0" u="none">
                <a:solidFill>
                  <a:srgbClr val="327A5F"/>
                </a:solidFill>
                <a:latin typeface="Helvetica"/>
              </a:rPr>
              <a:t>Sam Lau and Philip Guo, UC San Diego  ·  PRACTICE  ·  ~10 min hands-on</a:t>
            </a:r>
          </a:p>
        </p:txBody>
      </p:sp>
      <p:sp>
        <p:nvSpPr>
          <p:cNvPr id="13" name="TextBox 12"/>
          <p:cNvSpPr txBox="1"/>
          <p:nvPr/>
        </p:nvSpPr>
        <p:spPr>
          <a:xfrm>
            <a:off x="1051560" y="4498848"/>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Watch your own pandas code reshape a DataFrame</a:t>
            </a:r>
          </a:p>
        </p:txBody>
      </p:sp>
      <p:pic>
        <p:nvPicPr>
          <p:cNvPr id="14" name="Picture 13" descr=""/>
          <p:cNvPicPr>
            <a:picLocks noChangeAspect="1"/>
          </p:cNvPicPr>
          <p:nvPr/>
        </p:nvPicPr>
        <p:blipFill>
          <a:blip r:embed="rId7"/>
          <a:stretch>
            <a:fillRect/>
          </a:stretch>
        </p:blipFill>
        <p:spPr>
          <a:xfrm>
            <a:off x="548640" y="5129784"/>
            <a:ext cx="365760" cy="365760"/>
          </a:xfrm>
          <a:prstGeom prst="rect">
            <a:avLst/>
          </a:prstGeom>
        </p:spPr>
      </p:pic>
      <p:sp>
        <p:nvSpPr>
          <p:cNvPr id="15" name="TextBox 14"/>
          <p:cNvSpPr txBox="1"/>
          <p:nvPr/>
        </p:nvSpPr>
        <p:spPr>
          <a:xfrm>
            <a:off x="1051560" y="5111496"/>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8"/>
              </a:rPr>
              <a:t>Practical SQL for Data Analysis</a:t>
            </a:r>
          </a:p>
        </p:txBody>
      </p:sp>
      <p:sp>
        <p:nvSpPr>
          <p:cNvPr id="16" name="TextBox 15"/>
          <p:cNvSpPr txBox="1"/>
          <p:nvPr/>
        </p:nvSpPr>
        <p:spPr>
          <a:xfrm>
            <a:off x="1051560" y="5495544"/>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Haki Benita  ·  READING  ·  ~35 min read</a:t>
            </a:r>
          </a:p>
        </p:txBody>
      </p:sp>
      <p:sp>
        <p:nvSpPr>
          <p:cNvPr id="17" name="TextBox 16"/>
          <p:cNvSpPr txBox="1"/>
          <p:nvPr/>
        </p:nvSpPr>
        <p:spPr>
          <a:xfrm>
            <a:off x="1051560" y="5879592"/>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When the database should do the work, not pandas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