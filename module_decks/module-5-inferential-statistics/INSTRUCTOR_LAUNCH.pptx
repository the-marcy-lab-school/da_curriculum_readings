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Private instructor reference - never presented to Fellows. Read once before teaching Module 5 for the first time.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Only 2 skills tested this module, but the real project grades 6 components across 10 numbered sections - see Project Connection.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 1 has this module's only case study - see the Case Studies section later in this deck.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 4 is genuinely tight - see "Nice to Know."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Neither lab continues the other - both rehearse a different half of Day 4's own combined lecture.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module's cumulative-recall day was dropped in favor of a ~10-minute warm-up folded into the front of this lab - see "Nice to Know."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An 11-day sprint - see PROJECT.md for the full breakdown.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Causal reasoning (naming a confounder) gets 2 real project days - the same weight as running the test itself.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Bayesian update gets 3 real project days - genuinely new content, not in the upstream brief's own objectives at all.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required Project Share-Out (60-75 min, pairs/trios) happens right after Day 18 - not part of the sprint itself.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Confounding and the Bayesian update are both genuinely new - no earlier module teaches either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Don't compress further live if the room needs more time - this slot was already identified as a real risk during planning.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Budget the full 10 minutes for the warm-up - it's replacing a whole recall day, not a quick aside.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Confirmed via DataCamp's own public course page: ~4h15m, intermediate level, 4 chapters (hypothesis-testing fundamentals, t-tests/ANOVA, proportion/chi-square tests, non-parametric tests). Explicitly does NOT cover Bayesian methods, confounding/causal reasoning, or sample-size/power calculations.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Real, verified comparison - not assumed. If Fellows complete this course before Day 1, treat Days 1-2 as reinforcement.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one real overlap worth confirming landed, one real gap covering this module's entire Day 4.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Same distinction Module 0's own DataCamp section drew for `git revert` - already covered elsewhere, just verify it stuck.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real, confirmed gap - not assumed. Don't assume DataCamp already covered any of Day 4's own content.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module has exactly one case_study slide, on Day 1 - confirmed via a full pass of all 3 lecture deck_specs.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Real, not fictional - directly sets up the statistical-vs- practical-significance distinction Day 1's whole lecture builds.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the module's full glossary, split by the day each term is first taught.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Stating the hypothesis before running any test is common project mistake #1 if skipped.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p-value misconception named here is the single most common one this module preempts.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statistical-vs-practical split is this module's own professional_skill_spotlight - name it explicitly.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Both are real, verified interview-prep entries - see this module's own interview-prep bank.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Choosing between these two by outcome type is Objective 2's own real ask.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chi-square test needs a real contingency table first - see the Day 2 misconception.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Confounding is one of this module's 2 genuine bridging gaps - no earlier module teaches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credible-vs-confidence-interval distinction is one of the most common real misstatements in applied statistics.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say the graded connection out loud in every lecture, not just 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Days 1-3 map onto the project's own §2-3 almost one-to-one.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Days 5-6 are the last rehearsals before the project asks for both skills independently.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the most common early-confusion points across the module, day by day.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Per this Fellowship's stereotype-threat research, naming a misconception explicitly before a Fellow hits it live matters more than any individual correction after the fact.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credible-vs-confidence-interval confusion is worth naming explicitly even though it's subtle - nearly everyone gets it wrong on first exposure.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which skills get reused, where, and one real distinction worth stating explicitly in class.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Say the Module 11 distinction explicitly in class, per this module's own overview.md - don't let Fellows think this module already taught the formal fix.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If a Fellow is still shaky on separating statistical from practical significance by the end of this module, that's worth catching now.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deck is a one-time read before the module starts - each lecture's own instructor_prep.md is the day-of reference.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-Marcy-Lab-School/DA_INSTRUCTOR_CodeAlongs_Labs/tree/main/module-5-inferential-statistics/lectures/hypothesis-testing-foundations-sample-size-power" TargetMode="External"/><Relationship Id="rId4" Type="http://schemas.openxmlformats.org/officeDocument/2006/relationships/hyperlink" Target="https://github.com/The-Marcy-Lab-School/DA_INSTRUCTOR_CodeAlongs_Labs/blob/main/module-5-inferential-statistics/lectures/hypothesis-testing-foundations-sample-size-power/instructor_prep.md" TargetMode="External"/><Relationship Id="rId5" Type="http://schemas.openxmlformats.org/officeDocument/2006/relationships/hyperlink" Target="https://github.com/The-Marcy-Lab-School/DA_INSTRUCTOR_CodeAlongs_Labs/tree/main/module-5-inferential-statistics/lectures/running-statistical-tests-in-python-t-test-chi-square" TargetMode="External"/><Relationship Id="rId6" Type="http://schemas.openxmlformats.org/officeDocument/2006/relationships/hyperlink" Target="https://github.com/The-Marcy-Lab-School/DA_INSTRUCTOR_CodeAlongs_Labs/blob/main/module-5-inferential-statistics/lectures/running-statistical-tests-in-python-t-test-chi-square/instructor_prep.md" TargetMode="Externa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-Marcy-Lab-School/DA_INSTRUCTOR_CodeAlongs_Labs/tree/main/module-5-inferential-statistics/labs/assumption-check-parametric-vs-nonparametric" TargetMode="External"/><Relationship Id="rId4" Type="http://schemas.openxmlformats.org/officeDocument/2006/relationships/hyperlink" Target="https://github.com/The-Marcy-Lab-School/DA_INSTRUCTOR_CodeAlongs_Labs/blob/main/module-5-inferential-statistics/labs/assumption-check-parametric-vs-nonparametric/RUBRIC.md" TargetMode="External"/><Relationship Id="rId5" Type="http://schemas.openxmlformats.org/officeDocument/2006/relationships/hyperlink" Target="https://github.com/The-Marcy-Lab-School/DA_INSTRUCTOR_CodeAlongs_Labs/tree/main/module-5-inferential-statistics/lectures/confounding-bayesian-reasoning-two-real-world-reasoning-gaps" TargetMode="External"/><Relationship Id="rId6" Type="http://schemas.openxmlformats.org/officeDocument/2006/relationships/hyperlink" Target="https://github.com/The-Marcy-Lab-School/DA_INSTRUCTOR_CodeAlongs_Labs/blob/main/module-5-inferential-statistics/lectures/confounding-bayesian-reasoning-two-real-world-reasoning-gaps/instructor_prep.md" TargetMode="Externa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-Marcy-Lab-School/DA_INSTRUCTOR_CodeAlongs_Labs/tree/main/module-5-inferential-statistics/labs/naming-a-real-confounder" TargetMode="External"/><Relationship Id="rId4" Type="http://schemas.openxmlformats.org/officeDocument/2006/relationships/hyperlink" Target="https://github.com/The-Marcy-Lab-School/DA_INSTRUCTOR_CodeAlongs_Labs/blob/main/module-5-inferential-statistics/labs/naming-a-real-confounder/RUBRIC.md" TargetMode="External"/><Relationship Id="rId5" Type="http://schemas.openxmlformats.org/officeDocument/2006/relationships/hyperlink" Target="https://github.com/The-Marcy-Lab-School/DA_INSTRUCTOR_CodeAlongs_Labs/tree/main/module-5-inferential-statistics/labs/beta-binomial-belief-update" TargetMode="External"/><Relationship Id="rId6" Type="http://schemas.openxmlformats.org/officeDocument/2006/relationships/hyperlink" Target="https://github.com/The-Marcy-Lab-School/DA_INSTRUCTOR_CodeAlongs_Labs/blob/main/module-5-inferential-statistics/labs/beta-binomial-belief-update/RUBRIC.md" TargetMode="Externa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-Marcy-Lab-School/DA_INSTRUCTOR_CodeAlongs_Labs/tree/main/module-5-inferential-statistics/labs/independent-hypothesis-test-rep" TargetMode="External"/><Relationship Id="rId4" Type="http://schemas.openxmlformats.org/officeDocument/2006/relationships/hyperlink" Target="https://github.com/The-Marcy-Lab-School/DA_INSTRUCTOR_CodeAlongs_Labs/blob/main/module-5-inferential-statistics/labs/independent-hypothesis-test-rep/RUBRIC.md" TargetMode="Externa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mc.ncbi.nlm.nih.gov/articles/PMC7047221/" TargetMode="Externa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FFFCF7"/>
                </a:solidFill>
                <a:latin typeface="Helvetica"/>
              </a:rPr>
              <a:t>THE MARCY LAB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8534186" cy="54864"/>
          </a:xfrm>
          <a:prstGeom prst="rect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146304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EEBC32"/>
                </a:solidFill>
                <a:latin typeface="Helvetica"/>
              </a:rPr>
              <a:t>Module 5 — Instructor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FFFCF7"/>
                </a:solidFill>
                <a:latin typeface="Helvetica"/>
              </a:rPr>
              <a:t>Module 5: Inferential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Skills This Module Covers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5708"/>
          <a:ext cx="11094415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Skill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What It Means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Inferential Statistics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Running a real test end-to-end - hypothesis, assumption check, p-value, effect size, CI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Critical Thinking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Separating statistical from practical significance, and naming a real confounder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Lecture &amp; Lab Order (Days 1-2)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5708"/>
          <a:ext cx="11094415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4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Hypothesis Testing Foundations, Sample Size &amp; Power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5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6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Running Statistical Tests: t-test &amp; Chi-Square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Lecture &amp; Lab Order (Days 3-4)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5708"/>
          <a:ext cx="11094415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Lab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4"/>
                        </a:rPr>
                        <a:t>Rubric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Is My Test Defensible? Parametric vs. Non-Parametric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5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6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Confounding &amp; Bayesian Reasoning (2 concepts, 1 slot)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Lecture &amp; Lab Order (Days 5-6)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Lab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4"/>
                        </a:rPr>
                        <a:t>Rubric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Naming a Real Confounder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5"/>
                        </a:rPr>
                        <a:t>Lab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6"/>
                        </a:rPr>
                        <a:t>Rubric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Running a Beta-Binomial Update, Batch by Batch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Lecture &amp; Lab Order (Day 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58668"/>
          <a:ext cx="11094415" cy="1380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Lab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4"/>
                        </a:rPr>
                        <a:t>Rubric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Independent End-to-End Hypothesis Test Rep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Project Sprint (Days 8-10)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80844"/>
          <a:ext cx="11094415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1 — Setup + pick your comparison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9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2 — Hypothesis statement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10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3 — Assumption check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Project Sprint (Days 11-13)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80844"/>
          <a:ext cx="11094415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4 — Run test, effect size, CI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12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5 — Causal reasoning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6 — Causal reasoning, cont'd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Project Sprint (Days 14-16)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80844"/>
          <a:ext cx="11094415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14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7 — Bayesian belief update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15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8 — Bayesian belief update, cont'd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16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9 — Bayesian belief update, cont'd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Project Sprint (Days 17-18)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619756"/>
          <a:ext cx="11094415" cy="2258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17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10 — Catch the AI's mistake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18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Day 11 — Final conclusion + submit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Nice to Know 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Compressed from a 22-day draft to 18 days - 3 lecture combines, but all 4 labs left full-length, unshrunk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No lab continues another lab - all 4 (Days 3, 5, 6, 7) are independent single-day reps of a different skill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The real project grades 6 components across 10 numbered sections - substantially larger than the upstream brief's own 2-part description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Every lecture's own instructor_prep.md has lecture-specific timing/misconceptions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Day 4: Two Unrelated Concepts, One Tight Slot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Confounding and Bayesian reasoning are genuinely unrelated ideas sharing one 50-75 minute lecture, by compression, not by design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real, acknowledged risk - this is tighter than any other lecture in the module and probably needs the full 75-minute ceiling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One clean worked example each is the target - save the second rep for Day 5's and Day 6's own labs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If real classroom timing shows this doesn't fit, split it back into two days - the same fix Module 3's schema-critique lab 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Day 7: A Built-In Recall 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The standalone cumulative-recall day was dropped - a ~10-minute warm-up is folded into the front of this lab instead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Covers everything from hypothesis testing through the Bayesian update before the independent rep begins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This is the first time a Fellow runs the full pipeline solo, with no partner and no template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DataCamp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Hypothesis Testing in Python — a real, verified companion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DataCamp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10048" cy="5394960"/>
          </a:xfrm>
          <a:prstGeom prst="rect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DataCamp covers (~4h15m)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952848" cy="434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Ch1-3: hypothesis fundamentals, t-tests/ANOVA, proportion/chi-square tests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Ch4: non-parametric tests (Wilcoxon, Mann-Whitney, Kruskal-Wallis)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Bayesian methods, confounding, and sample-size/power are NOT covered at 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8" y="1188720"/>
            <a:ext cx="5410048" cy="5394960"/>
          </a:xfrm>
          <a:prstGeom prst="rect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13716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55968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This module's lectures 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8" y="2011680"/>
            <a:ext cx="4952848" cy="434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Days 1-2: the same hypothesis-testing/t-test/chi-square fundamentals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3's lab: the same Mann-Whitney alternative, on real penguin data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4: confounding AND the Bayesian update - neither in DataCamp's own catalog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8" y="1188720"/>
            <a:ext cx="0" cy="5394960"/>
          </a:xfrm>
          <a:prstGeom prst="line">
            <a:avLst/>
          </a:prstGeom>
          <a:ln w="19050">
            <a:solidFill>
              <a:srgbClr val="E1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Overlaps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Where lecture already covers it vs. where DataCamp has nothing at 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One Real Overlap, Worth Confirming Landed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Days 1-2 cover almost exactly DataCamp's own Ch1-3: hypothesis fundamentals, t-tests, chi-square tests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3's lab even reaches the same Mann-Whitney U alternative DataCamp's Ch4 teaches, just applied to real penguin data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If Fellows completed DataCamp before Day 1, treat Days 1-3 as a 'confirm it landed' check-in, not new content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Real Gap: All of Day 4, and Sample-Size/Power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DataCamp's own course explicitly does NOT cover Bayesian methods, confounding, or sample-size/power at all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That's not one small aside - it's Day 1's own power/MDE content plus the entirety of Day 4, both lecture halves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No aside needed - this is core, already-taught content, not an optional add-on DataCamp happens to skip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One real, cited case this module — linked with a brief description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Case Study Index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98548"/>
          <a:ext cx="11094415" cy="3300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Case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79806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72% of large antipsychotic-drug trials called their result 'significant' - researchers judged only 15% actually helped real patients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Frontiers in Pharmacology, 2020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Every term Fellows see this module, in one place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1 (Part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Null hypothesis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claim that there is no real difference or effect - only ordinary sample-to-sample variation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Alternative hypothesis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claim that a real difference or effect actually exists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1 (Part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51660"/>
          <a:ext cx="11094415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029968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p-value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probability of seeing a result at least this extreme if the null hypothesis were actually true - not the probability the null is true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Confidence interval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range of plausible values for the real population effect, built from the sample data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1 (Part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4772"/>
          <a:ext cx="11094415" cy="4288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Minimum detectable effect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smallest real effect a study is actually sized to reliably catch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Statistical significance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result unlikely to be pure chance - not the same claim as being big enough to matter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Practical significance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Whether an effect is actually big enough, in the real world, to act 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1 (Part 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5708"/>
          <a:ext cx="11094415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Type I error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Rejecting a null hypothesis that was actually true - a false positive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Type II error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Failing to reject a null hypothesis that was actually false - a false negative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2 (Part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5708"/>
          <a:ext cx="11094415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t-test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statistical test comparing the means of two groups on a continuous outcome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Chi-square test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statistical test checking whether two categorical variables are actually associated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2 (Part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2748"/>
          <a:ext cx="11094415" cy="4672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Contingency table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table of counts crossing two categorical variables against each other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Degrees of freedom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number tied to how many values in a calculation are free to vary, used to interpret a test statistic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Categorical variable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variable whose values are named groups or labels, not numbers on a scale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4 (Part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43684"/>
          <a:ext cx="11094415" cy="3410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Confounding variable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hidden variable that drives both sides of a comparison, making an association look real or causal when it isn't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Prior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Your belief about a true proportion before seeing the data at hand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4 (Part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43684"/>
          <a:ext cx="11094415" cy="3410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Posterior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Your updated belief about a true proportion after folding in real data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Credible interval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Bayesian range that genuinely supports '95% chance the true value is in here' - a confidence interval does not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Project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How each day explicitly feeds the sprint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How Each Day Connects to the Project (Days 1-3)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Project Connection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Rehearses stating a hypothesis before testing (§2) and judging real-world magnitude (§10, the final conclusion)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Direct rehearsal for the project's own graded test-running section - a real scipy.stats test, p-value, effect size, and CI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Rehearses §3's assumption check - a real, shown defensible/not-defensible call, not an assumed given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How Each Day Connects to the Project (Days 4-7)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5550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Project Connection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Rehearses §7 (naming a confounder) and §8 (Bayesian update), both at reduced stakes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First real rep of §7 - a specific confounder, checked against real data, not a generic gesture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First real rep of §8 - a real chronological update, plus what a broken batch looks like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Tests whether every skill above survives without a template, right before the sprint begins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What to name before a Fellow hits it live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Misconceptions to Watch For (Days 1-2)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1: a p-value is NOT the probability the null hypothesis is true - it's the probability of a result this extreme IF the null were true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1: 'the sample shows a difference' and 'there is a real difference' are not automatically the same claim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1: a huge sample size fixes precision, not relevance - it answers 'is this exactly zero,' never 'is this big enough to matter'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2: skipping the assumption check is common project mistake #3, not optional busywork before 'the real test'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2: a chi-square test needs a real contingency table first, not raw counts or a flat list of labels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Misconceptions to Watch For (Day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confounder made once effect vanish doesn't mean the variable has zero effect on everything - the finding is narrower than that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prior isn't a guess you're stuck with - the whole point is that it changes, batch by batch, as real evidence arrives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'95% chance the true value is in this interval' is only actually true for a credible interval, not a confidence interval - one of the most common real misstatements in applied statistics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Future Module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What Module 5 sets up for everything after 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What Gets Reused, and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Inferential Statistics: direct setup for Module 11's formal causal-inference/A-B-testing work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Critical Thinking: reused by Module 6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This project teaches NAMING a confounder and recognizing a test alone doesn't prove causation - Module 11 teaches the formal methods that actually address 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Immediate Next: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Module 6 (Business Analytics &amp; Data Visualization: Excel &amp; Tableau Dashboards) reuses this module's critical-thinking skill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It will not re-teach hypothesis testing or the statistical-vs-practical-significance distinction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If a Fellow's assumption-check habit or confounder-naming instinct is still shaky, that's worth catching now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You're Ready to Launch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Flow: Days 1-7 content (3 lectures + 4 labs), Days 8-18 the 11-day sprint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The one real slow-down moment: Day 4 - two unrelated concepts, one tight slot, flagged as a real risk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A real gap DataCamp doesn't fill: confounding and the Bayesian update exist nowhere in its own catalog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