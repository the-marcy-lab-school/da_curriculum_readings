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Open by naming the actual gap this closes. You already know how to describe one group's data. Today is about comparing two groups honestly - deciding whether a difference you see is real, or just what random sampling looks like.</a:t>
            </a:r>
          </a:p>
          <a:p/>
          <a:p>
            <a:r>
              <a:t>[SCRIPT] Say the format out loud. No live code today. Today is the logic - what you're claiming, what would count as evidence against it, and how big a sample you actually need. Next class runs the real test, on exactly the comparison you'll state today.</a:t>
            </a:r>
          </a:p>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Read all three, then flag the connection. The first two are the logic of one test. The third is a separate, just as important question: even a perfectly run test can mislead you if the sample size is wrong for what you're actually trying to detect.</a:t>
            </a:r>
          </a:p>
          <a:p/>
          <a:p>
            <a:r>
              <a:t>[SCRIPT] Name the project tie directly. Every one of these three shows up as a graded section on your own project, a few weeks from now, on your own real data.</a:t>
            </a:r>
          </a:p>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Names only for now. All four get a real definition before today is over, and all four come back with their definitions right before the summary.</a:t>
            </a:r>
          </a:p>
          <a:p/>
          <a:p>
            <a:r>
              <a:t>[MISCONCEPTIONS] Most people have heard "p-value" before and assume they already know what it means. The single most common version of that assumed meaning is wrong - today directly corrects it.</a:t>
            </a:r>
          </a:p>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[ARTICLE SUMMARY] A 2020 review in Frontiers in Pharmacology examined 33 placebo-controlled and 18 head-to-head trials of antipsychotic drugs for dementia-related agitation and psychosis. Among trials with larger-than-required sample sizes, 72% reported a statistically significant effect - but researchers judged only 15% of those effects clinically meaningful. Smaller, underpowered trials that found an effect were judged clinically meaningful more often (57% of the time), and the larger trials' own "significant" effect sizes were consistently smaller than what the smaller trials found. Only 14 of 47 trials even reported a sample-size calculation up front.</a:t>
            </a:r>
          </a:p>
          <a:p/>
          <a:p>
            <a:r>
              <a:t>[SCRIPT] Walk the numbers slowly, because the shape of them is the whole lesson. Bigger sample. More likely to call something significant. Less likely for that something to actually matter to a real patient.</a:t>
            </a:r>
          </a:p>
          <a:p/>
          <a:p>
            <a:r>
              <a:t>[SCRIPT] Land the point this lesson actually needs before moving on. Nothing here says the trials were run badly. Every one of them followed the correct math. The math itself can produce a "significant" label on a difference too small to change a single real treatment decision.</a:t>
            </a:r>
          </a:p>
          <a:p/>
          <a:p>
            <a:r>
              <a:t>[SCRIPT] Do not resolve the hook yet. Take a few answers, and say the room is about to build the actual tools to answer it for real.</a:t>
            </a:r>
          </a:p>
          <a:p/>
          <a:p>
            <a:r>
              <a:t>[MISCONCEPTIONS] The easy takeaway is "so p-values are useless." That overcorrects. The actual lesson is narrower: a p-value answers one specific question, and "does this matter in real life" is a separate question it was never built to answer.</a:t>
            </a:r>
          </a:p>
          <a:p/>
          <a:p>
            <a:r>
              <a:t>[SOURCES] Hulshof TA, Zuidema SU, Janus SIM, Luijendijk HJ, "Large Sample Size Fallacy in Trials About Antipsychotics for Neuropsychiatric Symptoms in Dementia," Frontiers in Pharmacology, 2020, pmc.ncbi.nlm.nih.gov/articles/PMC7047221.</a:t>
            </a:r>
          </a:p>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Reset the room's footing. Nobody is expected to resolve the hook yet. The next few slides build the actual vocabulary that makes it answerable.</a:t>
            </a:r>
          </a:p>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Ground it in the actual dataset. Pull up Palmer Penguins. The Gentoo penguins in this sample weigh more, on average, than the Adelie penguins. That is a fact about this sample. It is not automatically a fact about every penguin of each species.</a:t>
            </a:r>
          </a:p>
          <a:p/>
          <a:p>
            <a:r>
              <a:t>[SCRIPT] Name both explanations out loud, evenhandedly. Maybe Gentoo penguins really are heavier as a species. Or maybe you happened to sample some unusually large Gentoos and some unusually small Adelies, and a different 344 penguins would show something different.</a:t>
            </a:r>
          </a:p>
          <a:p/>
          <a:p>
            <a:r>
              <a:t>[MISCONCEPTIONS] People assume "the sample shows a difference" and "there is a real difference" are the same claim. A hypothesis test exists specifically because they are not automatically the same claim.</a:t>
            </a:r>
          </a:p>
          <a:p/>
          <a:p>
            <a:r>
              <a:t>[SCRIPT] Name the callback directly. Comparing two groups' summary statistics side by side is exactly the Module 2 skill this reuses - today adds the formal question of whether that comparison is real.</a:t>
            </a:r>
          </a:p>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Name the analogy before the terms. In a courtroom, you start by assuming innocence, and the trial only asks whether the evidence is strong enough to reject that assumption. A hypothesis test starts by assuming "no real difference," and only asks whether the data is strong enough to reject that assumption.</a:t>
            </a:r>
          </a:p>
          <a:p/>
          <a:p>
            <a:r>
              <a:t>[SCRIPT] Attach the vocabulary once the picture lands. The null hypothesis is "no real difference, just noise." The alternative is "a real difference exists." You test the null. You never prove it true, the same way a "not guilty" verdict never proves innocence.</a:t>
            </a:r>
          </a:p>
          <a:p/>
          <a:p>
            <a:r>
              <a:t>[MISCONCEPTIONS] People say "we proved the null hypothesis" when a test finds no significant difference. Failing to reject the null is not the same claim as proving it - the same way a "not guilty" verdict is not a certificate of innocence.</a:t>
            </a:r>
          </a:p>
          <a:p/>
          <a:p>
            <a:r>
              <a:t>[OTHER EXAMPLES] Two backups are in the notebook if the courtroom version does not land: a smoke detector's default assumption of "no fire," and a forecaster's own "how surprising is today" framing.</a:t>
            </a:r>
          </a:p>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Extend the courtroom picture one step further, since the same setup names both real error types. A Type I error is rejecting a true null - convicting an innocent defendant. A Type II error is failing to reject a false null - letting a guilty one go free.</a:t>
            </a:r>
          </a:p>
          <a:p/>
          <a:p>
            <a:r>
              <a:t>[SCRIPT] Say the practical framing plainly. Neither error can be eliminated entirely - lowering one tends to raise the other. The significance level you choose before running a test is a direct statement of how much Type I risk you're willing to accept.</a:t>
            </a:r>
          </a:p>
          <a:p/>
          <a:p>
            <a:r>
              <a:t>[MISCONCEPTIONS] People treat a Type II error as somehow less serious than a Type I error, "because at least nothing false got claimed." A real effect getting missed entirely is its own real cost, not a safer kind of wrong.</a:t>
            </a:r>
          </a:p>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[ACTIVITY] Table groups say their sentence out loud to each other, then one person per table shares with the room. In person: circulate and listen for "no real difference" language specifically, not just "they're the same." Online: post in chat, call on 2-3. 3 minutes.</a:t>
            </a:r>
          </a:p>
          <a:p/>
          <a:p>
            <a:r>
              <a:t>[SCRIPT] The target answer: "There is no real difference in average body mass between Gentoo and Adelie penguins - any difference in this sample is just random sampling variation." Anything that captures "no real difference, just noise" counts.</a:t>
            </a:r>
          </a:p>
          <a:p/>
          <a:p>
            <a:r>
              <a:t>[MISCONCEPTIONS] A common near-miss: "Gentoo and Adelie penguins weigh the same." That states the null as a fact about penguins, not as the assumption a test starts from and might reject.</a:t>
            </a:r>
          </a:p>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State it precisely, because the imprecise version is the single most common statistics misconception professionals carry into the workplace. A p-value is the probability of seeing a result at least this extreme, if the null hypothesis were actually true.</a:t>
            </a:r>
          </a:p>
          <a:p/>
          <a:p>
            <a:r>
              <a:t>[SCRIPT] Say the wrong version out loud, on purpose, so the room can hear how close it sounds to the right one. "The probability the null hypothesis is true" is not the same claim, even though it is the version most people say by accident.</a:t>
            </a:r>
          </a:p>
          <a:p/>
          <a:p>
            <a:r>
              <a:t>[MISCONCEPTIONS] The American Statistical Association's own 2016 statement lists this exact confusion first, ahead of every other p-value misuse - it is common enough among working professionals that a national statistics body issued a formal correction.</a:t>
            </a:r>
          </a:p>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[ACTIVITY] Poll: read all three out loud, everyone answers at once. In person: call out A, B, or C on a count of three. Online: type A, B, or C in chat on the same count. 45 seconds.</a:t>
            </a:r>
          </a:p>
          <a:p/>
          <a:p>
            <a:r>
              <a:t>[SCRIPT] Walk why each wrong option is wrong specifically, not just "not that one." Option A restates the exact misconception from two slides ago. Option B inverts a probability that was never about "is this real" in the first place.</a:t>
            </a:r>
          </a:p>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Correct answer: This result is unlikely if the null were true</a:t>
            </a:r>
          </a:p>
          <a:p>
            <a:r>
              <a:t>Why: A p-value of 0.03 means: if the null hypothesis were actually true, a result at least this extreme would only happen 3% of the time. It says nothing directly about the probability that the null hypothesis itself is true or false - that's exactly the confusion the American Statistical Association's own 2016 statement names as the most common p-value misuse.</a:t>
            </a:r>
          </a:p>
          <a:p>
            <a:r>
              <a:t>Source: American Statistical Association, 'Statement on Statistical Significance and P-Values,' 2016</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Name the real gap a p-value alone leaves open. Knowing a difference is "probably not zero" tells you nothing about whether it's a tiny difference or a huge one.</a:t>
            </a:r>
          </a:p>
          <a:p/>
          <a:p>
            <a:r>
              <a:t>[SCRIPT] Introduce the fix directly. A 95% confidence interval gives a real range of plausible values for the true population difference, built from this exact sample. "Gentoo penguins average 1,000 to 1,400 grams heavier" is a genuinely different, more useful claim than "p equals 0.03."</a:t>
            </a:r>
          </a:p>
          <a:p/>
          <a:p>
            <a:r>
              <a:t>[MISCONCEPTIONS] People say "there's a 95% chance the true value is in this range," treating the true value as random and the interval as fixed. The interval is what's random here - it's the method that's right 95% of the time across many samples, not a 95% bet on this one already-computed range.</a:t>
            </a:r>
          </a:p>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[~25 min mark] Name the pivot explicitly. Everything so far assumed the test itself was trustworthy. Now the question becomes whether the sample size behind it was ever adequate in the first place.</a:t>
            </a:r>
          </a:p>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Name the analogy before returning to the case study. A stopwatch precise enough to catch a 0.0001-second gap in a photo finish reports that gap faithfully, every time. Real and repeatable. Also not something any coach restructures training around.</a:t>
            </a:r>
          </a:p>
          <a:p/>
          <a:p>
            <a:r>
              <a:t>[SCRIPT] Connect it back explicitly. That is exactly what happened in the dementia drug trials. The larger trials were precise enough to reliably detect a genuinely tiny effect - and "significant" is all that label was ever claiming.</a:t>
            </a:r>
          </a:p>
          <a:p/>
          <a:p>
            <a:r>
              <a:t>[MISCONCEPTIONS] People treat "the sample was huge, so it must be trustworthy" as settling the question. Sample size fixes precision, not relevance - a huge sample answers "is this exactly zero" more confidently, never "is this big enough to matter."</a:t>
            </a:r>
          </a:p>
          <a:p/>
          <a:p>
            <a:r>
              <a:t>[OTHER EXAMPLES] Two backups are in the notebook if the stopwatch version does not land: a kitchen scale detecting a fingerprint's weight, and a tuning app flagging an inaudible pitch gap.</a:t>
            </a:r>
          </a:p>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Give the classic real example. In 1936, a magazine polled 2.4 million people and confidently predicted a landslide for Landon. Roosevelt won in a landslide instead. The poll's sample was enormous - and it was drawn from telephone and car owners, wealthier than the actual voting population during the Depression.</a:t>
            </a:r>
          </a:p>
          <a:p/>
          <a:p>
            <a:r>
              <a:t>[SCRIPT] Say the mechanism plainly. A bigger sample shrinks random, sample-to-sample noise. It does nothing to a systematic bias in how the sample was collected in the first place - it just reports that same wrong answer with more apparent confidence.</a:t>
            </a:r>
          </a:p>
          <a:p/>
          <a:p>
            <a:r>
              <a:t>[MISCONCEPTIONS] "More data" gets treated as an automatic fix for any data-quality worry. More of a biased sample is not more true. It's the same bias, stated more precisely.</a:t>
            </a:r>
          </a:p>
          <a:p/>
          <a:p>
            <a:r>
              <a:t>[SOURCES] The 1936 Literary Digest poll (2.4 million respondents, sampled from telephone/car-owner/club-membership lists that skewed wealthier than the actual electorate during the Depression) versus Roosevelt's real landslide win is a standard, widely-documented example in introductory statistics teaching and survey-methodology history.</a:t>
            </a:r>
          </a:p>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Introduce the term directly. The minimum detectable effect is the smallest real effect your study is actually sized to catch. Decide that number first, before picking a sample size, not after.</a:t>
            </a:r>
          </a:p>
          <a:p/>
          <a:p>
            <a:r>
              <a:t>[SCRIPT] Walk the three levers plainly. A smaller effect you're trying to catch needs a bigger sample. A bigger, more obvious effect needs a smaller one. More natural variation in the data itself also pushes the needed sample size up, even at the same effect size.</a:t>
            </a:r>
          </a:p>
          <a:p/>
          <a:p>
            <a:r>
              <a:t>[MISCONCEPTIONS] People treat "how big should my sample be" as answerable on its own. It's only answerable once you've named the smallest effect that would actually matter to you first.</a:t>
            </a:r>
          </a:p>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[ACTIVITY] With your table: name one way the team could fix this before running the study, not after. In person: call out answers, collect 2-3 on the board. Online: post in chat. 2 minutes.</a:t>
            </a:r>
          </a:p>
          <a:p/>
          <a:p>
            <a:r>
              <a:t>[SCRIPT] The target fix: either accept a bigger minimum detectable effect (only claim you can catch a bigger improvement), or get a genuinely bigger sample. There's no way around that tradeoff.</a:t>
            </a:r>
          </a:p>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Correct answer: The sample is likely too small to catch it</a:t>
            </a:r>
          </a:p>
          <a:p>
            <a:r>
              <a:t>Why: A small effect is genuinely harder to detect than a large one, and 40 patients is a small sample. That combination is exactly the recipe for a real effect getting missed entirely - a test that fails to reject the null even though a true difference exists. A proposed sample size can't be judged adequate without first knowing how small an effect it actually needs to catch.</a:t>
            </a:r>
          </a:p>
          <a:p>
            <a:r>
              <a:t>Source: Direct application of this lesson's own minimum-detectable-effect reasoning</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[ACTIVITY] With your table: name one real-world cost of switching treatments that a p-value would never capture. In person: call out answers, collect 3-4 on the board. Online: post in chat. 3 minutes.</a:t>
            </a:r>
          </a:p>
          <a:p/>
          <a:p>
            <a:r>
              <a:t>[SCRIPT] Tie this directly back to the case study. This is precisely the dementia-trial pattern - a real, reliably-detected effect, too small to justify the real-world action being considered.</a:t>
            </a:r>
          </a:p>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Correct answer: Is 0.3% actually worth the cost of switching?</a:t>
            </a:r>
          </a:p>
          <a:p>
            <a:r>
              <a:t>Why: The sample size was clearly big enough - that's exactly why a 0.3% difference showed up as 'significant' at all. The p-value being below 0.05 is also already given, not the open question. The one thing this scenario hasn't answered is whether a 0.3% improvement is worth whatever switching treatments actually costs in money, disruption, and risk - a practical-significance question no p-value can answer.</a:t>
            </a:r>
          </a:p>
          <a:p>
            <a:r>
              <a:t>Source: Direct application of this lesson's own statistical-vs-practical-significance distinction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[ACTIVITY] Force a pick before any discussion. In person: move to one side of the room, then two people from each side say why. Online: type "small and big" or "huge and barely-there" in chat at the same count. 4 minutes total.</a:t>
            </a:r>
          </a:p>
          <a:p/>
          <a:p>
            <a:r>
              <a:t>[SCRIPT] Neither extreme is automatically better, and that is the point. A small trial's big effect might just be sample noise that hasn't been checked yet. A huge trial's tiny effect might be real and still not matter.</a:t>
            </a:r>
          </a:p>
          <a:p/>
          <a:p>
            <a:r>
              <a:t>[SCRIPT] Land the actual answer explicitly. You want both pieces together every time: is it real (the test, the p-value), and is it big enough to matter (the effect size, the confidence interval, and your own judgment about the real-world stakes).</a:t>
            </a:r>
          </a:p>
          <a:p/>
          <a:p>
            <a:r>
              <a:t>[MISCONCEPTIONS] Someone will argue bigger is always safer. Bigger is more precise, not more meaningful - precision and importance are two different questions, and this whole lesson is about telling them apart.</a:t>
            </a:r>
          </a:p>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[TECHNIQUE] Both use Teach-Back: Audience, Simplify, Analogy, Check. Both questions are genuinely "explain a technical idea clearly" moments, not "defend a decision" moments, which is exactly when Teach-Back fits better than a framework built for justifying a choice.</a:t>
            </a:r>
          </a:p>
          <a:p/>
          <a:p>
            <a:r>
              <a:t>[SCRIPT] Point out the deliberate callback in the second answer. The courtroom analogy is the exact one taught earlier this lesson - reusing it here is not repetition, it's the same idea proving useful twice.</a:t>
            </a:r>
          </a:p>
          <a:p/>
          <a:p>
            <a:r>
              <a:t>[SCRIPT] [~50 min mark] If you are already past 55 minutes, show the answers and skip the cold attempt. Otherwise have someone attempt the first one cold before advancing.</a:t>
            </a:r>
          </a:p>
          <a:p/>
          <a:p>
            <a:r>
              <a:t>[SOURCES] Both questions verified as current, commonly asked data-analyst interview questions (DataCamp's own interview-prep guide, cross-checked against Dataquest and KDnuggets interview-prep material).</a:t>
            </a:r>
          </a:p>
          <a:p/>
          <a:p/>
          <a:p>
            <a:r>
              <a:t>Short answers:</a:t>
            </a:r>
          </a:p>
          <a:p/>
          <a:p>
            <a:r>
              <a:t>Q: How would you explain a p-value to a non-technical stakeholder?</a:t>
            </a:r>
          </a:p>
          <a:p>
            <a:r>
              <a:t>A: Audience: For a stakeholder, not a fellow analyst, so I'd skip the formal notation. Simplify: A p-value is how surprising your result would be if there were actually no real effect. Analogy: Like a smoke detector - a high reading flags evidence worth checking, it doesn't prove there's a fire. Check: I'd confirm they don't walk away thinking it's 'the probability the null is true.'</a:t>
            </a:r>
          </a:p>
          <a:p/>
          <a:p>
            <a:r>
              <a:t>Q: How would you explain Type I and Type II errors to a hiring manager?</a:t>
            </a:r>
          </a:p>
          <a:p>
            <a:r>
              <a:t>A: Audience: A hiring manager, so I'd lead with the tradeoff, not the labels. Simplify: Type I is a false alarm - rejecting a true null. Type II is a miss - failing to reject a false null. Analogy: Convicting an innocent person versus letting a guilty one go free. Check: I'd confirm they see it as a real tradeoff, not a bug you can just eliminate.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Fast round trip before the summary. Ask the room to supply "p-value" and "confidence interval" from what they just did, rather than reading every row yourself - those two are the pair today's whole example was built around.</a:t>
            </a:r>
          </a:p>
          <a:p/>
          <a:p>
            <a:r>
              <a:t>[MISCONCEPTIONS] Watch for anyone still defining "p-value" as "the probability the null is true" at this recap point - that is the one definition worth correcting again, out loud, before moving on.</a:t>
            </a:r>
          </a:p>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Resolve the case study's hook directly. Would a 'statistically significant' trial alone be enough to recommend a drug to your own grandmother? Not by itself - you'd also want the effect size, the confidence interval, and a real judgment about whether the size of that effect is worth acting on.</a:t>
            </a:r>
          </a:p>
          <a:p/>
          <a:p>
            <a:r>
              <a:t>[SCRIPT] Say the next-class tie out loud. Everything today was the logic. Next class runs the real test, in Python, on exactly the Gentoo-versus-Adelie comparison you stated a hypothesis for today.</a:t>
            </a:r>
          </a:p>
          <a:p/>
          <a:p>
            <a:r>
              <a:t>[SCRIPT] Say the project tie out loud too. Stating your hypothesis before running any test, and judging whether a significant result is actually big enough to matter, are both graded sections on your own project a few weeks from now.</a:t>
            </a:r>
          </a:p>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Be specific about why this matters. Writing the hypothesis before seeing a test result is exactly the discipline the project grades first, and today is the low-stakes place to build the habit.</a:t>
            </a:r>
          </a:p>
          <a:p/>
          <a:p>
            <a:r>
              <a:t>[SCRIPT] Preview next class honestly. You'll run this exact comparison for real, in Python, via `scipy.stats` - today's hypothesis is what makes that result interpretable instead of just a number on a screen.</a:t>
            </a:r>
          </a:p>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Point at the interactive power visualizer specifically, since it makes today's second half genuinely tangible - dragging the sample-size slider and watching power change is a different kind of understanding than hearing it described.</a:t>
            </a:r>
          </a:p>
          <a:p/>
          <a:p>
            <a:r>
              <a:t>[SCRIPT] The ASA statement is worth naming as the actual, official source behind today's most-corrected misconception - it is the field's own professional body publicly correcting how p-values get misread, not just one instructor's opinion.</a:t>
            </a:r>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hyperlink" Target="https://pmc.ncbi.nlm.nih.gov/articles/PMC7047221/" TargetMode="Externa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9.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0.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7.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1.pn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2.pn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3.pn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4.pn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6.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7.png"/><Relationship Id="rId4" Type="http://schemas.openxmlformats.org/officeDocument/2006/relationships/hyperlink" Target="https://www.youtube.com/watch?v=5Z9OIYA8He8" TargetMode="External"/><Relationship Id="rId5" Type="http://schemas.openxmlformats.org/officeDocument/2006/relationships/image" Target="../media/image18.png"/><Relationship Id="rId6" Type="http://schemas.openxmlformats.org/officeDocument/2006/relationships/hyperlink" Target="https://rpsychologist.com/d3/nhst/" TargetMode="External"/><Relationship Id="rId7" Type="http://schemas.openxmlformats.org/officeDocument/2006/relationships/image" Target="../media/image19.png"/><Relationship Id="rId8" Type="http://schemas.openxmlformats.org/officeDocument/2006/relationships/hyperlink" Target="https://www.amstat.org/asa/files/pdfs/p-valuestatement.pdf" TargetMode="External"/><Relationship Id="rId9" Type="http://schemas.openxmlformats.org/officeDocument/2006/relationships/notesSlide" Target="../notesSlides/notesSlide2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264326"/>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320040"/>
            <a:ext cx="11094415" cy="274320"/>
          </a:xfrm>
          <a:prstGeom prst="rect">
            <a:avLst/>
          </a:prstGeom>
          <a:noFill/>
        </p:spPr>
        <p:txBody>
          <a:bodyPr wrap="square" anchor="t" lIns="0" rIns="0" tIns="0" bIns="0">
            <a:noAutofit/>
          </a:bodyPr>
          <a:lstStyle/>
          <a:p>
            <a:pPr algn="l"/>
            <a:r>
              <a:rPr sz="2600" b="1" i="0" u="none">
                <a:solidFill>
                  <a:srgbClr val="FFFCF7"/>
                </a:solidFill>
                <a:latin typeface="Helvetica"/>
              </a:rPr>
              <a:t>THE MARCY LAB SCHOOL</a:t>
            </a:r>
          </a:p>
        </p:txBody>
      </p:sp>
      <p:sp>
        <p:nvSpPr>
          <p:cNvPr id="4" name="Rectangle 3"/>
          <p:cNvSpPr/>
          <p:nvPr/>
        </p:nvSpPr>
        <p:spPr>
          <a:xfrm>
            <a:off x="0" y="6748272"/>
            <a:ext cx="8534186" cy="54864"/>
          </a:xfrm>
          <a:prstGeom prst="rect">
            <a:avLst/>
          </a:prstGeom>
          <a:solidFill>
            <a:srgbClr val="EEBC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2286000"/>
            <a:ext cx="6705295" cy="1463040"/>
          </a:xfrm>
          <a:prstGeom prst="rect">
            <a:avLst/>
          </a:prstGeom>
          <a:noFill/>
        </p:spPr>
        <p:txBody>
          <a:bodyPr wrap="square" anchor="b" lIns="0" rIns="0" tIns="0" bIns="0">
            <a:noAutofit/>
          </a:bodyPr>
          <a:lstStyle/>
          <a:p>
            <a:pPr algn="l"/>
            <a:r>
              <a:rPr sz="4000" b="1" i="0" u="none">
                <a:solidFill>
                  <a:srgbClr val="EEBC32"/>
                </a:solidFill>
                <a:latin typeface="Helvetica"/>
              </a:rPr>
              <a:t>Hypothesis Testing Foundations</a:t>
            </a:r>
          </a:p>
        </p:txBody>
      </p:sp>
      <p:sp>
        <p:nvSpPr>
          <p:cNvPr id="6" name="TextBox 5"/>
          <p:cNvSpPr txBox="1"/>
          <p:nvPr/>
        </p:nvSpPr>
        <p:spPr>
          <a:xfrm>
            <a:off x="548640" y="5943600"/>
            <a:ext cx="6705295" cy="457200"/>
          </a:xfrm>
          <a:prstGeom prst="rect">
            <a:avLst/>
          </a:prstGeom>
          <a:noFill/>
        </p:spPr>
        <p:txBody>
          <a:bodyPr wrap="square" anchor="t" lIns="0" rIns="0" tIns="0" bIns="0">
            <a:noAutofit/>
          </a:bodyPr>
          <a:lstStyle/>
          <a:p>
            <a:pPr algn="l"/>
            <a:r>
              <a:rPr sz="2600" b="0" i="0" u="none">
                <a:solidFill>
                  <a:srgbClr val="FFFCF7"/>
                </a:solidFill>
                <a:latin typeface="Helvetica"/>
              </a:rPr>
              <a:t>Module 5: Inferential Statistics</a:t>
            </a:r>
          </a:p>
        </p:txBody>
      </p:sp>
      <p:sp>
        <p:nvSpPr>
          <p:cNvPr id="7" name="Rounded Rectangle 6"/>
          <p:cNvSpPr/>
          <p:nvPr/>
        </p:nvSpPr>
        <p:spPr>
          <a:xfrm>
            <a:off x="7802575" y="914400"/>
            <a:ext cx="3840480" cy="5029200"/>
          </a:xfrm>
          <a:prstGeom prst="roundRect">
            <a:avLst>
              <a:gd name="adj" fmla="val 3000"/>
            </a:avLst>
          </a:prstGeom>
          <a:solidFill>
            <a:srgbClr val="FFF6E4"/>
          </a:solidFill>
          <a:ln w="19050">
            <a:solidFill>
              <a:srgbClr val="A6C2B4"/>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498482" y="1719072"/>
            <a:ext cx="154229" cy="154229"/>
          </a:xfrm>
          <a:prstGeom prst="ellipse">
            <a:avLst/>
          </a:prstGeom>
          <a:solidFill>
            <a:srgbClr val="EEBC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Isosceles Triangle 8"/>
          <p:cNvSpPr/>
          <p:nvPr/>
        </p:nvSpPr>
        <p:spPr>
          <a:xfrm>
            <a:off x="9372295" y="1845259"/>
            <a:ext cx="701040" cy="385572"/>
          </a:xfrm>
          <a:prstGeom prst="triangle">
            <a:avLst/>
          </a:prstGeom>
          <a:solidFill>
            <a:srgbClr val="327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939735" y="2350008"/>
            <a:ext cx="3566160" cy="384048"/>
          </a:xfrm>
          <a:prstGeom prst="rect">
            <a:avLst/>
          </a:prstGeom>
          <a:noFill/>
        </p:spPr>
        <p:txBody>
          <a:bodyPr wrap="square" anchor="t" lIns="0" rIns="0" tIns="0" bIns="0">
            <a:noAutofit/>
          </a:bodyPr>
          <a:lstStyle/>
          <a:p>
            <a:pPr algn="ctr"/>
            <a:r>
              <a:rPr sz="2600" b="1" i="0" u="none">
                <a:solidFill>
                  <a:srgbClr val="327A5F"/>
                </a:solidFill>
                <a:latin typeface="Helvetica"/>
              </a:rPr>
              <a:t>AI IMAGE NEEDED</a:t>
            </a:r>
          </a:p>
        </p:txBody>
      </p:sp>
      <p:sp>
        <p:nvSpPr>
          <p:cNvPr id="11" name="TextBox 10"/>
          <p:cNvSpPr txBox="1"/>
          <p:nvPr/>
        </p:nvSpPr>
        <p:spPr>
          <a:xfrm>
            <a:off x="8031175" y="2779776"/>
            <a:ext cx="3383280" cy="3072384"/>
          </a:xfrm>
          <a:prstGeom prst="rect">
            <a:avLst/>
          </a:prstGeom>
          <a:noFill/>
        </p:spPr>
        <p:txBody>
          <a:bodyPr wrap="square" anchor="t" lIns="0" rIns="0" tIns="0" bIns="0">
            <a:noAutofit/>
          </a:bodyPr>
          <a:lstStyle/>
          <a:p>
            <a:pPr algn="ctr"/>
            <a:r>
              <a:rPr sz="2600" b="0" i="1" u="none">
                <a:solidFill>
                  <a:srgbClr val="327A5F"/>
                </a:solidFill>
                <a:latin typeface="Fraunces"/>
              </a:rPr>
              <a:t>Flat illustration: A data analyst at a laptop comparing two overlapping bell-curve distributions on screen, curious and analytical, not certain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457200"/>
            <a:ext cx="11094415" cy="731520"/>
          </a:xfrm>
          <a:prstGeom prst="rect">
            <a:avLst/>
          </a:prstGeom>
          <a:noFill/>
        </p:spPr>
        <p:txBody>
          <a:bodyPr wrap="square" anchor="t" lIns="0" rIns="0" tIns="0" bIns="0">
            <a:noAutofit/>
          </a:bodyPr>
          <a:lstStyle/>
          <a:p>
            <a:pPr algn="l"/>
            <a:r>
              <a:rPr sz="3200" b="1" i="0" u="none">
                <a:solidFill>
                  <a:srgbClr val="261F1D"/>
                </a:solidFill>
                <a:latin typeface="Helvetica"/>
              </a:rPr>
              <a:t>By the End of Today, You'll Be Able To...</a:t>
            </a:r>
          </a:p>
        </p:txBody>
      </p:sp>
      <p:sp>
        <p:nvSpPr>
          <p:cNvPr id="4" name="Rounded Rectangle 3"/>
          <p:cNvSpPr/>
          <p:nvPr/>
        </p:nvSpPr>
        <p:spPr>
          <a:xfrm>
            <a:off x="548640" y="2468880"/>
            <a:ext cx="3545738" cy="2560320"/>
          </a:xfrm>
          <a:prstGeom prst="roundRect">
            <a:avLst>
              <a:gd name="adj" fmla="val 6000"/>
            </a:avLst>
          </a:prstGeom>
          <a:solidFill>
            <a:srgbClr val="A6C2B4"/>
          </a:solidFill>
          <a:ln w="50800">
            <a:solidFill>
              <a:srgbClr val="2643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
          <p:cNvPicPr>
            <a:picLocks noChangeAspect="1"/>
          </p:cNvPicPr>
          <p:nvPr/>
        </p:nvPicPr>
        <p:blipFill>
          <a:blip r:embed="rId3"/>
          <a:stretch>
            <a:fillRect/>
          </a:stretch>
        </p:blipFill>
        <p:spPr>
          <a:xfrm>
            <a:off x="2047189" y="2697480"/>
            <a:ext cx="548640" cy="548640"/>
          </a:xfrm>
          <a:prstGeom prst="rect">
            <a:avLst/>
          </a:prstGeom>
        </p:spPr>
      </p:pic>
      <p:sp>
        <p:nvSpPr>
          <p:cNvPr id="6" name="TextBox 5"/>
          <p:cNvSpPr txBox="1"/>
          <p:nvPr/>
        </p:nvSpPr>
        <p:spPr>
          <a:xfrm>
            <a:off x="685800" y="3429000"/>
            <a:ext cx="3271418" cy="1463040"/>
          </a:xfrm>
          <a:prstGeom prst="rect">
            <a:avLst/>
          </a:prstGeom>
          <a:noFill/>
        </p:spPr>
        <p:txBody>
          <a:bodyPr wrap="square" anchor="t" lIns="0" rIns="0" tIns="0" bIns="0">
            <a:noAutofit/>
          </a:bodyPr>
          <a:lstStyle/>
          <a:p>
            <a:pPr algn="ctr"/>
            <a:r>
              <a:rPr sz="2600" b="1" i="0" u="none">
                <a:solidFill>
                  <a:srgbClr val="261F1D"/>
                </a:solidFill>
                <a:latin typeface="Helvetica"/>
              </a:rPr>
              <a:t>State a null and alternative hypothesis</a:t>
            </a:r>
          </a:p>
        </p:txBody>
      </p:sp>
      <p:sp>
        <p:nvSpPr>
          <p:cNvPr id="7" name="Rounded Rectangle 6"/>
          <p:cNvSpPr/>
          <p:nvPr/>
        </p:nvSpPr>
        <p:spPr>
          <a:xfrm>
            <a:off x="4322978" y="2468880"/>
            <a:ext cx="3545738" cy="2560320"/>
          </a:xfrm>
          <a:prstGeom prst="roundRect">
            <a:avLst>
              <a:gd name="adj" fmla="val 6000"/>
            </a:avLst>
          </a:prstGeom>
          <a:solidFill>
            <a:srgbClr val="DEEAF4"/>
          </a:solidFill>
          <a:ln w="50800">
            <a:solidFill>
              <a:srgbClr val="2274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
          <p:cNvPicPr>
            <a:picLocks noChangeAspect="1"/>
          </p:cNvPicPr>
          <p:nvPr/>
        </p:nvPicPr>
        <p:blipFill>
          <a:blip r:embed="rId4"/>
          <a:stretch>
            <a:fillRect/>
          </a:stretch>
        </p:blipFill>
        <p:spPr>
          <a:xfrm>
            <a:off x="5821528" y="2697480"/>
            <a:ext cx="548640" cy="548640"/>
          </a:xfrm>
          <a:prstGeom prst="rect">
            <a:avLst/>
          </a:prstGeom>
        </p:spPr>
      </p:pic>
      <p:sp>
        <p:nvSpPr>
          <p:cNvPr id="9" name="TextBox 8"/>
          <p:cNvSpPr txBox="1"/>
          <p:nvPr/>
        </p:nvSpPr>
        <p:spPr>
          <a:xfrm>
            <a:off x="4460138" y="3429000"/>
            <a:ext cx="3271418" cy="1463040"/>
          </a:xfrm>
          <a:prstGeom prst="rect">
            <a:avLst/>
          </a:prstGeom>
          <a:noFill/>
        </p:spPr>
        <p:txBody>
          <a:bodyPr wrap="square" anchor="t" lIns="0" rIns="0" tIns="0" bIns="0">
            <a:noAutofit/>
          </a:bodyPr>
          <a:lstStyle/>
          <a:p>
            <a:pPr algn="ctr"/>
            <a:r>
              <a:rPr sz="2600" b="1" i="0" u="none">
                <a:solidFill>
                  <a:srgbClr val="261F1D"/>
                </a:solidFill>
                <a:latin typeface="Helvetica"/>
              </a:rPr>
              <a:t>Explain what a p-value actually means</a:t>
            </a:r>
          </a:p>
        </p:txBody>
      </p:sp>
      <p:sp>
        <p:nvSpPr>
          <p:cNvPr id="10" name="Rounded Rectangle 9"/>
          <p:cNvSpPr/>
          <p:nvPr/>
        </p:nvSpPr>
        <p:spPr>
          <a:xfrm>
            <a:off x="8097317" y="2468880"/>
            <a:ext cx="3545738" cy="2560320"/>
          </a:xfrm>
          <a:prstGeom prst="roundRect">
            <a:avLst>
              <a:gd name="adj" fmla="val 6000"/>
            </a:avLst>
          </a:prstGeom>
          <a:solidFill>
            <a:srgbClr val="FECC5B"/>
          </a:solidFill>
          <a:ln w="50800">
            <a:solidFill>
              <a:srgbClr val="8367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
          <p:cNvPicPr>
            <a:picLocks noChangeAspect="1"/>
          </p:cNvPicPr>
          <p:nvPr/>
        </p:nvPicPr>
        <p:blipFill>
          <a:blip r:embed="rId5"/>
          <a:stretch>
            <a:fillRect/>
          </a:stretch>
        </p:blipFill>
        <p:spPr>
          <a:xfrm>
            <a:off x="9595866" y="2697480"/>
            <a:ext cx="548640" cy="548640"/>
          </a:xfrm>
          <a:prstGeom prst="rect">
            <a:avLst/>
          </a:prstGeom>
        </p:spPr>
      </p:pic>
      <p:sp>
        <p:nvSpPr>
          <p:cNvPr id="12" name="TextBox 11"/>
          <p:cNvSpPr txBox="1"/>
          <p:nvPr/>
        </p:nvSpPr>
        <p:spPr>
          <a:xfrm>
            <a:off x="8234477" y="3429000"/>
            <a:ext cx="3271418" cy="1463040"/>
          </a:xfrm>
          <a:prstGeom prst="rect">
            <a:avLst/>
          </a:prstGeom>
          <a:noFill/>
        </p:spPr>
        <p:txBody>
          <a:bodyPr wrap="square" anchor="t" lIns="0" rIns="0" tIns="0" bIns="0">
            <a:noAutofit/>
          </a:bodyPr>
          <a:lstStyle/>
          <a:p>
            <a:pPr algn="ctr"/>
            <a:r>
              <a:rPr sz="2600" b="1" i="0" u="none">
                <a:solidFill>
                  <a:srgbClr val="261F1D"/>
                </a:solidFill>
                <a:latin typeface="Helvetica"/>
              </a:rPr>
              <a:t>Judge if a sample size is big enough to matter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457200"/>
            <a:ext cx="11094415" cy="731520"/>
          </a:xfrm>
          <a:prstGeom prst="rect">
            <a:avLst/>
          </a:prstGeom>
          <a:noFill/>
        </p:spPr>
        <p:txBody>
          <a:bodyPr wrap="square" anchor="t" lIns="0" rIns="0" tIns="0" bIns="0">
            <a:noAutofit/>
          </a:bodyPr>
          <a:lstStyle/>
          <a:p>
            <a:pPr algn="l"/>
            <a:r>
              <a:rPr sz="3200" b="1" i="0" u="none">
                <a:solidFill>
                  <a:srgbClr val="261F1D"/>
                </a:solidFill>
                <a:latin typeface="Helvetica"/>
              </a:rPr>
              <a:t>Key Terms You'll Know by the End of Today</a:t>
            </a:r>
          </a:p>
        </p:txBody>
      </p:sp>
      <p:sp>
        <p:nvSpPr>
          <p:cNvPr id="4" name="Rounded Rectangle 3"/>
          <p:cNvSpPr/>
          <p:nvPr/>
        </p:nvSpPr>
        <p:spPr>
          <a:xfrm>
            <a:off x="548640" y="2468880"/>
            <a:ext cx="2602154" cy="2560320"/>
          </a:xfrm>
          <a:prstGeom prst="roundRect">
            <a:avLst>
              <a:gd name="adj" fmla="val 6000"/>
            </a:avLst>
          </a:prstGeom>
          <a:solidFill>
            <a:srgbClr val="A6C2B4"/>
          </a:solidFill>
          <a:ln w="50800">
            <a:solidFill>
              <a:srgbClr val="2643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
          <p:cNvPicPr>
            <a:picLocks noChangeAspect="1"/>
          </p:cNvPicPr>
          <p:nvPr/>
        </p:nvPicPr>
        <p:blipFill>
          <a:blip r:embed="rId3"/>
          <a:stretch>
            <a:fillRect/>
          </a:stretch>
        </p:blipFill>
        <p:spPr>
          <a:xfrm>
            <a:off x="1575397" y="2697480"/>
            <a:ext cx="548640" cy="548640"/>
          </a:xfrm>
          <a:prstGeom prst="rect">
            <a:avLst/>
          </a:prstGeom>
        </p:spPr>
      </p:pic>
      <p:sp>
        <p:nvSpPr>
          <p:cNvPr id="6" name="TextBox 5"/>
          <p:cNvSpPr txBox="1"/>
          <p:nvPr/>
        </p:nvSpPr>
        <p:spPr>
          <a:xfrm>
            <a:off x="685800" y="3429000"/>
            <a:ext cx="2327834" cy="1463040"/>
          </a:xfrm>
          <a:prstGeom prst="rect">
            <a:avLst/>
          </a:prstGeom>
          <a:noFill/>
        </p:spPr>
        <p:txBody>
          <a:bodyPr wrap="square" anchor="t" lIns="0" rIns="0" tIns="0" bIns="0">
            <a:noAutofit/>
          </a:bodyPr>
          <a:lstStyle/>
          <a:p>
            <a:pPr algn="ctr"/>
            <a:r>
              <a:rPr sz="2600" b="1" i="0" u="none">
                <a:solidFill>
                  <a:srgbClr val="261F1D"/>
                </a:solidFill>
                <a:latin typeface="Helvetica"/>
              </a:rPr>
              <a:t>null hypothesis</a:t>
            </a:r>
          </a:p>
        </p:txBody>
      </p:sp>
      <p:sp>
        <p:nvSpPr>
          <p:cNvPr id="7" name="Rounded Rectangle 6"/>
          <p:cNvSpPr/>
          <p:nvPr/>
        </p:nvSpPr>
        <p:spPr>
          <a:xfrm>
            <a:off x="3379394" y="2468880"/>
            <a:ext cx="2602154" cy="2560320"/>
          </a:xfrm>
          <a:prstGeom prst="roundRect">
            <a:avLst>
              <a:gd name="adj" fmla="val 6000"/>
            </a:avLst>
          </a:prstGeom>
          <a:solidFill>
            <a:srgbClr val="DEEAF4"/>
          </a:solidFill>
          <a:ln w="50800">
            <a:solidFill>
              <a:srgbClr val="2274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
          <p:cNvPicPr>
            <a:picLocks noChangeAspect="1"/>
          </p:cNvPicPr>
          <p:nvPr/>
        </p:nvPicPr>
        <p:blipFill>
          <a:blip r:embed="rId4"/>
          <a:stretch>
            <a:fillRect/>
          </a:stretch>
        </p:blipFill>
        <p:spPr>
          <a:xfrm>
            <a:off x="4406151" y="2697480"/>
            <a:ext cx="548640" cy="548640"/>
          </a:xfrm>
          <a:prstGeom prst="rect">
            <a:avLst/>
          </a:prstGeom>
        </p:spPr>
      </p:pic>
      <p:sp>
        <p:nvSpPr>
          <p:cNvPr id="9" name="TextBox 8"/>
          <p:cNvSpPr txBox="1"/>
          <p:nvPr/>
        </p:nvSpPr>
        <p:spPr>
          <a:xfrm>
            <a:off x="3516554" y="3429000"/>
            <a:ext cx="2327834" cy="1463040"/>
          </a:xfrm>
          <a:prstGeom prst="rect">
            <a:avLst/>
          </a:prstGeom>
          <a:noFill/>
        </p:spPr>
        <p:txBody>
          <a:bodyPr wrap="square" anchor="t" lIns="0" rIns="0" tIns="0" bIns="0">
            <a:noAutofit/>
          </a:bodyPr>
          <a:lstStyle/>
          <a:p>
            <a:pPr algn="ctr"/>
            <a:r>
              <a:rPr sz="2600" b="1" i="0" u="none">
                <a:solidFill>
                  <a:srgbClr val="261F1D"/>
                </a:solidFill>
                <a:latin typeface="Helvetica"/>
              </a:rPr>
              <a:t>alternative hypothesis</a:t>
            </a:r>
          </a:p>
        </p:txBody>
      </p:sp>
      <p:sp>
        <p:nvSpPr>
          <p:cNvPr id="10" name="Rounded Rectangle 9"/>
          <p:cNvSpPr/>
          <p:nvPr/>
        </p:nvSpPr>
        <p:spPr>
          <a:xfrm>
            <a:off x="6210148" y="2468880"/>
            <a:ext cx="2602154" cy="2560320"/>
          </a:xfrm>
          <a:prstGeom prst="roundRect">
            <a:avLst>
              <a:gd name="adj" fmla="val 6000"/>
            </a:avLst>
          </a:prstGeom>
          <a:solidFill>
            <a:srgbClr val="FECC5B"/>
          </a:solidFill>
          <a:ln w="50800">
            <a:solidFill>
              <a:srgbClr val="8367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
          <p:cNvPicPr>
            <a:picLocks noChangeAspect="1"/>
          </p:cNvPicPr>
          <p:nvPr/>
        </p:nvPicPr>
        <p:blipFill>
          <a:blip r:embed="rId5"/>
          <a:stretch>
            <a:fillRect/>
          </a:stretch>
        </p:blipFill>
        <p:spPr>
          <a:xfrm>
            <a:off x="7236904" y="2697480"/>
            <a:ext cx="548640" cy="548640"/>
          </a:xfrm>
          <a:prstGeom prst="rect">
            <a:avLst/>
          </a:prstGeom>
        </p:spPr>
      </p:pic>
      <p:sp>
        <p:nvSpPr>
          <p:cNvPr id="12" name="TextBox 11"/>
          <p:cNvSpPr txBox="1"/>
          <p:nvPr/>
        </p:nvSpPr>
        <p:spPr>
          <a:xfrm>
            <a:off x="6347308" y="3429000"/>
            <a:ext cx="2327834" cy="1463040"/>
          </a:xfrm>
          <a:prstGeom prst="rect">
            <a:avLst/>
          </a:prstGeom>
          <a:noFill/>
        </p:spPr>
        <p:txBody>
          <a:bodyPr wrap="square" anchor="t" lIns="0" rIns="0" tIns="0" bIns="0">
            <a:noAutofit/>
          </a:bodyPr>
          <a:lstStyle/>
          <a:p>
            <a:pPr algn="ctr"/>
            <a:r>
              <a:rPr sz="2600" b="1" i="0" u="none">
                <a:solidFill>
                  <a:srgbClr val="261F1D"/>
                </a:solidFill>
                <a:latin typeface="Helvetica"/>
              </a:rPr>
              <a:t>p-value</a:t>
            </a:r>
          </a:p>
        </p:txBody>
      </p:sp>
      <p:sp>
        <p:nvSpPr>
          <p:cNvPr id="13" name="Rounded Rectangle 12"/>
          <p:cNvSpPr/>
          <p:nvPr/>
        </p:nvSpPr>
        <p:spPr>
          <a:xfrm>
            <a:off x="9040901" y="2468880"/>
            <a:ext cx="2602154" cy="2560320"/>
          </a:xfrm>
          <a:prstGeom prst="roundRect">
            <a:avLst>
              <a:gd name="adj" fmla="val 6000"/>
            </a:avLst>
          </a:prstGeom>
          <a:solidFill>
            <a:srgbClr val="F7DFDF"/>
          </a:solidFill>
          <a:ln w="50800">
            <a:solidFill>
              <a:srgbClr val="C9292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
          <p:cNvPicPr>
            <a:picLocks noChangeAspect="1"/>
          </p:cNvPicPr>
          <p:nvPr/>
        </p:nvPicPr>
        <p:blipFill>
          <a:blip r:embed="rId6"/>
          <a:stretch>
            <a:fillRect/>
          </a:stretch>
        </p:blipFill>
        <p:spPr>
          <a:xfrm>
            <a:off x="10067658" y="2697480"/>
            <a:ext cx="548640" cy="548640"/>
          </a:xfrm>
          <a:prstGeom prst="rect">
            <a:avLst/>
          </a:prstGeom>
        </p:spPr>
      </p:pic>
      <p:sp>
        <p:nvSpPr>
          <p:cNvPr id="15" name="TextBox 14"/>
          <p:cNvSpPr txBox="1"/>
          <p:nvPr/>
        </p:nvSpPr>
        <p:spPr>
          <a:xfrm>
            <a:off x="9178061" y="3429000"/>
            <a:ext cx="2327834" cy="1463040"/>
          </a:xfrm>
          <a:prstGeom prst="rect">
            <a:avLst/>
          </a:prstGeom>
          <a:noFill/>
        </p:spPr>
        <p:txBody>
          <a:bodyPr wrap="square" anchor="t" lIns="0" rIns="0" tIns="0" bIns="0">
            <a:noAutofit/>
          </a:bodyPr>
          <a:lstStyle/>
          <a:p>
            <a:pPr algn="ctr"/>
            <a:r>
              <a:rPr sz="2600" b="1" i="0" u="none">
                <a:solidFill>
                  <a:srgbClr val="261F1D"/>
                </a:solidFill>
                <a:latin typeface="Helvetica"/>
              </a:rPr>
              <a:t>confidence interval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6E4"/>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Rectangle 2"/>
          <p:cNvSpPr/>
          <p:nvPr/>
        </p:nvSpPr>
        <p:spPr>
          <a:xfrm>
            <a:off x="548640" y="365760"/>
            <a:ext cx="3108960" cy="548640"/>
          </a:xfrm>
          <a:prstGeom prst="rect">
            <a:avLst/>
          </a:prstGeom>
          <a:solidFill>
            <a:srgbClr val="FECC5B"/>
          </a:solidFill>
          <a:ln w="50800">
            <a:solidFill>
              <a:srgbClr val="8367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65760"/>
            <a:ext cx="2743200" cy="548640"/>
          </a:xfrm>
          <a:prstGeom prst="rect">
            <a:avLst/>
          </a:prstGeom>
          <a:noFill/>
        </p:spPr>
        <p:txBody>
          <a:bodyPr wrap="square" anchor="ctr" lIns="0" rIns="0" tIns="0" bIns="0">
            <a:noAutofit/>
          </a:bodyPr>
          <a:lstStyle/>
          <a:p>
            <a:pPr algn="l"/>
            <a:r>
              <a:rPr sz="2600" b="1" i="0" u="none">
                <a:solidFill>
                  <a:srgbClr val="261F1D"/>
                </a:solidFill>
                <a:latin typeface="Helvetica"/>
              </a:rPr>
              <a:t>REAL STUDY</a:t>
            </a:r>
          </a:p>
        </p:txBody>
      </p:sp>
      <p:sp>
        <p:nvSpPr>
          <p:cNvPr id="5" name="TextBox 4"/>
          <p:cNvSpPr txBox="1"/>
          <p:nvPr/>
        </p:nvSpPr>
        <p:spPr>
          <a:xfrm>
            <a:off x="548640" y="1097280"/>
            <a:ext cx="11094415" cy="1188720"/>
          </a:xfrm>
          <a:prstGeom prst="rect">
            <a:avLst/>
          </a:prstGeom>
          <a:noFill/>
        </p:spPr>
        <p:txBody>
          <a:bodyPr wrap="square" anchor="t" lIns="0" rIns="0" tIns="0" bIns="0">
            <a:noAutofit/>
          </a:bodyPr>
          <a:lstStyle/>
          <a:p>
            <a:pPr algn="l"/>
            <a:r>
              <a:rPr sz="3200" b="1" i="0" u="none">
                <a:solidFill>
                  <a:srgbClr val="261F1D"/>
                </a:solidFill>
                <a:latin typeface="Helvetica"/>
              </a:rPr>
              <a:t>'Significant.' </a:t>
            </a:r>
            <a:r>
              <a:rPr sz="3200" b="1" i="0" u="none">
                <a:solidFill>
                  <a:srgbClr val="264326"/>
                </a:solidFill>
                <a:latin typeface="Helvetica"/>
              </a:rPr>
              <a:t>It Barely Helped Anyone.</a:t>
            </a:r>
          </a:p>
        </p:txBody>
      </p:sp>
      <p:sp>
        <p:nvSpPr>
          <p:cNvPr id="6" name="TextBox 5"/>
          <p:cNvSpPr txBox="1"/>
          <p:nvPr/>
        </p:nvSpPr>
        <p:spPr>
          <a:xfrm>
            <a:off x="548640" y="2423160"/>
            <a:ext cx="6705295" cy="2889504"/>
          </a:xfrm>
          <a:prstGeom prst="rect">
            <a:avLst/>
          </a:prstGeom>
          <a:noFill/>
        </p:spPr>
        <p:txBody>
          <a:bodyPr wrap="square" lIns="0" rIns="0" tIns="0" bIns="0">
            <a:noAutofit/>
          </a:bodyPr>
          <a:lstStyle/>
          <a:p>
            <a:pPr>
              <a:spcAft>
                <a:spcPts val="1000"/>
              </a:spcAft>
            </a:pPr>
            <a:r>
              <a:rPr sz="2600">
                <a:solidFill>
                  <a:srgbClr val="261F1D"/>
                </a:solidFill>
                <a:latin typeface="Helvetica"/>
              </a:rPr>
              <a:t>•  </a:t>
            </a:r>
            <a:r>
              <a:rPr sz="2600" b="0" i="0" u="none">
                <a:solidFill>
                  <a:srgbClr val="261F1D"/>
                </a:solidFill>
                <a:latin typeface="Helvetica"/>
              </a:rPr>
              <a:t>72% of large trials called it 'significant'</a:t>
            </a:r>
          </a:p>
          <a:p>
            <a:pPr>
              <a:spcAft>
                <a:spcPts val="1000"/>
              </a:spcAft>
            </a:pPr>
            <a:r>
              <a:rPr sz="2600">
                <a:solidFill>
                  <a:srgbClr val="261F1D"/>
                </a:solidFill>
                <a:latin typeface="Helvetica"/>
              </a:rPr>
              <a:t>•  </a:t>
            </a:r>
            <a:r>
              <a:rPr sz="2600" b="0" i="0" u="none">
                <a:solidFill>
                  <a:srgbClr val="261F1D"/>
                </a:solidFill>
                <a:latin typeface="Helvetica"/>
              </a:rPr>
              <a:t>Only 15% actually helped real patients</a:t>
            </a:r>
          </a:p>
          <a:p>
            <a:pPr>
              <a:spcAft>
                <a:spcPts val="1000"/>
              </a:spcAft>
            </a:pPr>
            <a:r>
              <a:rPr sz="2600">
                <a:solidFill>
                  <a:srgbClr val="261F1D"/>
                </a:solidFill>
                <a:latin typeface="Helvetica"/>
              </a:rPr>
              <a:t>•  </a:t>
            </a:r>
            <a:r>
              <a:rPr sz="2600" b="0" i="0" u="none">
                <a:solidFill>
                  <a:srgbClr val="261F1D"/>
                </a:solidFill>
                <a:latin typeface="Helvetica"/>
              </a:rPr>
              <a:t>Smaller trials found meaningful effects more often</a:t>
            </a:r>
          </a:p>
        </p:txBody>
      </p:sp>
      <p:sp>
        <p:nvSpPr>
          <p:cNvPr id="7" name="TextBox 6"/>
          <p:cNvSpPr txBox="1"/>
          <p:nvPr/>
        </p:nvSpPr>
        <p:spPr>
          <a:xfrm>
            <a:off x="548640" y="5449824"/>
            <a:ext cx="6705295" cy="768096"/>
          </a:xfrm>
          <a:prstGeom prst="rect">
            <a:avLst/>
          </a:prstGeom>
          <a:noFill/>
        </p:spPr>
        <p:txBody>
          <a:bodyPr wrap="square" anchor="t" lIns="0" rIns="0" tIns="0" bIns="0">
            <a:noAutofit/>
          </a:bodyPr>
          <a:lstStyle/>
          <a:p>
            <a:pPr algn="l"/>
            <a:r>
              <a:rPr sz="2600" b="0" i="1" u="none">
                <a:solidFill>
                  <a:srgbClr val="2274B5"/>
                </a:solidFill>
                <a:latin typeface="Fraunces"/>
              </a:rPr>
              <a:t>Discussion prompt: Would you recommend this drug to your own grandmother?</a:t>
            </a:r>
          </a:p>
        </p:txBody>
      </p:sp>
      <p:sp>
        <p:nvSpPr>
          <p:cNvPr id="8" name="Rounded Rectangle 7"/>
          <p:cNvSpPr/>
          <p:nvPr/>
        </p:nvSpPr>
        <p:spPr>
          <a:xfrm>
            <a:off x="7802575" y="2423160"/>
            <a:ext cx="3840480" cy="3566160"/>
          </a:xfrm>
          <a:prstGeom prst="roundRect">
            <a:avLst>
              <a:gd name="adj" fmla="val 3000"/>
            </a:avLst>
          </a:prstGeom>
          <a:solidFill>
            <a:srgbClr val="FFF6E4"/>
          </a:solidFill>
          <a:ln w="19050">
            <a:solidFill>
              <a:srgbClr val="A6C2B4"/>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525792" y="2993746"/>
            <a:ext cx="135453" cy="135453"/>
          </a:xfrm>
          <a:prstGeom prst="ellipse">
            <a:avLst/>
          </a:prstGeom>
          <a:solidFill>
            <a:srgbClr val="EEBC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Isosceles Triangle 9"/>
          <p:cNvSpPr/>
          <p:nvPr/>
        </p:nvSpPr>
        <p:spPr>
          <a:xfrm>
            <a:off x="9414967" y="3104571"/>
            <a:ext cx="615696" cy="338633"/>
          </a:xfrm>
          <a:prstGeom prst="triangle">
            <a:avLst/>
          </a:prstGeom>
          <a:solidFill>
            <a:srgbClr val="327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939735" y="3547872"/>
            <a:ext cx="3566160" cy="384048"/>
          </a:xfrm>
          <a:prstGeom prst="rect">
            <a:avLst/>
          </a:prstGeom>
          <a:noFill/>
        </p:spPr>
        <p:txBody>
          <a:bodyPr wrap="square" anchor="t" lIns="0" rIns="0" tIns="0" bIns="0">
            <a:noAutofit/>
          </a:bodyPr>
          <a:lstStyle/>
          <a:p>
            <a:pPr algn="ctr"/>
            <a:r>
              <a:rPr sz="2600" b="1" i="0" u="none">
                <a:solidFill>
                  <a:srgbClr val="327A5F"/>
                </a:solidFill>
                <a:latin typeface="Helvetica"/>
              </a:rPr>
              <a:t>AI IMAGE NEEDED</a:t>
            </a:r>
          </a:p>
        </p:txBody>
      </p:sp>
      <p:sp>
        <p:nvSpPr>
          <p:cNvPr id="12" name="TextBox 11"/>
          <p:cNvSpPr txBox="1"/>
          <p:nvPr/>
        </p:nvSpPr>
        <p:spPr>
          <a:xfrm>
            <a:off x="8031175" y="3977640"/>
            <a:ext cx="3383280" cy="1920240"/>
          </a:xfrm>
          <a:prstGeom prst="rect">
            <a:avLst/>
          </a:prstGeom>
          <a:noFill/>
        </p:spPr>
        <p:txBody>
          <a:bodyPr wrap="square" anchor="t" lIns="0" rIns="0" tIns="0" bIns="0">
            <a:noAutofit/>
          </a:bodyPr>
          <a:lstStyle/>
          <a:p>
            <a:pPr algn="ctr"/>
            <a:r>
              <a:rPr sz="2600" b="0" i="1" u="none">
                <a:solidFill>
                  <a:srgbClr val="327A5F"/>
                </a:solidFill>
                <a:latin typeface="Fraunces"/>
              </a:rPr>
              <a:t>Photo-realistic: A clinical researcher reviewing a printed trial-results chart at a desk…</a:t>
            </a:r>
          </a:p>
        </p:txBody>
      </p:sp>
      <p:sp>
        <p:nvSpPr>
          <p:cNvPr id="13" name="TextBox 12"/>
          <p:cNvSpPr txBox="1"/>
          <p:nvPr/>
        </p:nvSpPr>
        <p:spPr>
          <a:xfrm>
            <a:off x="7802575" y="6080760"/>
            <a:ext cx="3840480" cy="274320"/>
          </a:xfrm>
          <a:prstGeom prst="rect">
            <a:avLst/>
          </a:prstGeom>
          <a:noFill/>
        </p:spPr>
        <p:txBody>
          <a:bodyPr wrap="square" anchor="t" lIns="0" rIns="0" tIns="0" bIns="0">
            <a:noAutofit/>
          </a:bodyPr>
          <a:lstStyle/>
          <a:p>
            <a:pPr algn="l"/>
            <a:r>
              <a:rPr sz="1800" b="0" i="1" u="none">
                <a:solidFill>
                  <a:srgbClr val="327A5F"/>
                </a:solidFill>
                <a:latin typeface="Fraunces"/>
                <a:hlinkClick r:id="rId3"/>
              </a:rPr>
              <a:t>Frontiers in Pharmacology, 2020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264326"/>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1371600"/>
            <a:ext cx="11094415" cy="1188720"/>
          </a:xfrm>
          <a:prstGeom prst="rect">
            <a:avLst/>
          </a:prstGeom>
          <a:noFill/>
        </p:spPr>
        <p:txBody>
          <a:bodyPr wrap="square" anchor="t" lIns="0" rIns="0" tIns="0" bIns="0">
            <a:noAutofit/>
          </a:bodyPr>
          <a:lstStyle/>
          <a:p>
            <a:pPr algn="l"/>
            <a:r>
              <a:rPr sz="2800" b="1" i="0" u="none">
                <a:solidFill>
                  <a:srgbClr val="EEBC32"/>
                </a:solidFill>
                <a:latin typeface="Helvetica"/>
              </a:rPr>
              <a:t>A Confusing Real Result</a:t>
            </a:r>
          </a:p>
        </p:txBody>
      </p:sp>
      <p:sp>
        <p:nvSpPr>
          <p:cNvPr id="4" name="TextBox 3"/>
          <p:cNvSpPr txBox="1"/>
          <p:nvPr/>
        </p:nvSpPr>
        <p:spPr>
          <a:xfrm>
            <a:off x="548640" y="2468880"/>
            <a:ext cx="11094415" cy="1645920"/>
          </a:xfrm>
          <a:prstGeom prst="rect">
            <a:avLst/>
          </a:prstGeom>
          <a:noFill/>
        </p:spPr>
        <p:txBody>
          <a:bodyPr wrap="square" anchor="t" lIns="0" rIns="0" tIns="0" bIns="0">
            <a:noAutofit/>
          </a:bodyPr>
          <a:lstStyle/>
          <a:p>
            <a:pPr algn="l"/>
            <a:r>
              <a:rPr sz="4000" b="1" i="0" u="none">
                <a:solidFill>
                  <a:srgbClr val="FFFCF7"/>
                </a:solidFill>
                <a:latin typeface="Helvetica"/>
              </a:rPr>
              <a:t>Let's Get the Logic Right, From the Start</a:t>
            </a:r>
          </a:p>
        </p:txBody>
      </p:sp>
      <p:sp>
        <p:nvSpPr>
          <p:cNvPr id="5" name="TextBox 4"/>
          <p:cNvSpPr txBox="1"/>
          <p:nvPr/>
        </p:nvSpPr>
        <p:spPr>
          <a:xfrm>
            <a:off x="548640" y="4023360"/>
            <a:ext cx="11094415" cy="731520"/>
          </a:xfrm>
          <a:prstGeom prst="rect">
            <a:avLst/>
          </a:prstGeom>
          <a:noFill/>
        </p:spPr>
        <p:txBody>
          <a:bodyPr wrap="square" anchor="t" lIns="0" rIns="0" tIns="0" bIns="0">
            <a:noAutofit/>
          </a:bodyPr>
          <a:lstStyle/>
          <a:p>
            <a:pPr algn="l"/>
            <a:r>
              <a:rPr sz="2800" b="0" i="0" u="none">
                <a:solidFill>
                  <a:srgbClr val="B3BBB0"/>
                </a:solidFill>
                <a:latin typeface="Helvetica"/>
              </a:rPr>
              <a:t>Before judging whether any result matters, you need to know exactly what you're claiming, and what would count as evidence against it.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457200"/>
            <a:ext cx="11094415" cy="731520"/>
          </a:xfrm>
          <a:prstGeom prst="rect">
            <a:avLst/>
          </a:prstGeom>
          <a:noFill/>
        </p:spPr>
        <p:txBody>
          <a:bodyPr wrap="square" anchor="t" lIns="0" rIns="0" tIns="0" bIns="0">
            <a:noAutofit/>
          </a:bodyPr>
          <a:lstStyle/>
          <a:p>
            <a:pPr algn="l"/>
            <a:r>
              <a:rPr sz="3200" b="1" i="0" u="none">
                <a:solidFill>
                  <a:srgbClr val="261F1D"/>
                </a:solidFill>
                <a:latin typeface="Helvetica"/>
              </a:rPr>
              <a:t>Any Difference You See Has Two Possible Explanations</a:t>
            </a:r>
          </a:p>
        </p:txBody>
      </p:sp>
      <p:sp>
        <p:nvSpPr>
          <p:cNvPr id="4" name="TextBox 3"/>
          <p:cNvSpPr txBox="1"/>
          <p:nvPr/>
        </p:nvSpPr>
        <p:spPr>
          <a:xfrm>
            <a:off x="548640" y="1188720"/>
            <a:ext cx="6705295" cy="5120640"/>
          </a:xfrm>
          <a:prstGeom prst="rect">
            <a:avLst/>
          </a:prstGeom>
          <a:noFill/>
        </p:spPr>
        <p:txBody>
          <a:bodyPr wrap="square" lIns="0" rIns="0" tIns="0" bIns="0">
            <a:noAutofit/>
          </a:bodyPr>
          <a:lstStyle/>
          <a:p>
            <a:pPr>
              <a:spcAft>
                <a:spcPts val="1000"/>
              </a:spcAft>
            </a:pPr>
            <a:r>
              <a:rPr sz="2600">
                <a:solidFill>
                  <a:srgbClr val="261F1D"/>
                </a:solidFill>
                <a:latin typeface="Helvetica"/>
              </a:rPr>
              <a:t>•  </a:t>
            </a:r>
            <a:r>
              <a:rPr sz="2600" b="0" i="0" u="none">
                <a:solidFill>
                  <a:srgbClr val="261F1D"/>
                </a:solidFill>
                <a:latin typeface="Helvetica"/>
              </a:rPr>
              <a:t>Gentoo penguins in your sample weigh more</a:t>
            </a:r>
          </a:p>
          <a:p>
            <a:pPr>
              <a:spcAft>
                <a:spcPts val="1000"/>
              </a:spcAft>
            </a:pPr>
            <a:r>
              <a:rPr sz="2600">
                <a:solidFill>
                  <a:srgbClr val="261F1D"/>
                </a:solidFill>
                <a:latin typeface="Helvetica"/>
              </a:rPr>
              <a:t>•  </a:t>
            </a:r>
            <a:r>
              <a:rPr sz="2600" b="0" i="0" u="none">
                <a:solidFill>
                  <a:srgbClr val="261F1D"/>
                </a:solidFill>
                <a:latin typeface="Helvetica"/>
              </a:rPr>
              <a:t>Explanation one: A real species difference</a:t>
            </a:r>
          </a:p>
          <a:p>
            <a:pPr>
              <a:spcAft>
                <a:spcPts val="1000"/>
              </a:spcAft>
            </a:pPr>
            <a:r>
              <a:rPr sz="2600">
                <a:solidFill>
                  <a:srgbClr val="261F1D"/>
                </a:solidFill>
                <a:latin typeface="Helvetica"/>
              </a:rPr>
              <a:t>•  </a:t>
            </a:r>
            <a:r>
              <a:rPr sz="2600" b="0" i="0" u="none">
                <a:solidFill>
                  <a:srgbClr val="261F1D"/>
                </a:solidFill>
                <a:latin typeface="Helvetica"/>
              </a:rPr>
              <a:t>Explanation two: Just sample noise</a:t>
            </a:r>
          </a:p>
        </p:txBody>
      </p:sp>
      <p:sp>
        <p:nvSpPr>
          <p:cNvPr id="5" name="Oval 4"/>
          <p:cNvSpPr/>
          <p:nvPr/>
        </p:nvSpPr>
        <p:spPr>
          <a:xfrm>
            <a:off x="8532266" y="2581351"/>
            <a:ext cx="2381098" cy="2381098"/>
          </a:xfrm>
          <a:prstGeom prst="ellipse">
            <a:avLst/>
          </a:prstGeom>
          <a:solidFill>
            <a:srgbClr val="DEEAF4"/>
          </a:solidFill>
          <a:ln w="50800">
            <a:solidFill>
              <a:srgbClr val="2274B5"/>
            </a:solidFill>
          </a:ln>
          <a:effectLst>
            <a:outerShdw blurRad="152400" dist="50800" dir="2700000" rotWithShape="0">
              <a:srgbClr val="1A1A1A">
                <a:alpha val="2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
          <p:cNvPicPr>
            <a:picLocks noChangeAspect="1"/>
          </p:cNvPicPr>
          <p:nvPr/>
        </p:nvPicPr>
        <p:blipFill>
          <a:blip r:embed="rId3"/>
          <a:stretch>
            <a:fillRect/>
          </a:stretch>
        </p:blipFill>
        <p:spPr>
          <a:xfrm>
            <a:off x="9127541" y="3176626"/>
            <a:ext cx="1190549" cy="1190549"/>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457200"/>
            <a:ext cx="11094415" cy="731520"/>
          </a:xfrm>
          <a:prstGeom prst="rect">
            <a:avLst/>
          </a:prstGeom>
          <a:noFill/>
        </p:spPr>
        <p:txBody>
          <a:bodyPr wrap="square" anchor="t" lIns="0" rIns="0" tIns="0" bIns="0">
            <a:noAutofit/>
          </a:bodyPr>
          <a:lstStyle/>
          <a:p>
            <a:pPr algn="l"/>
            <a:r>
              <a:rPr sz="3200" b="1" i="0" u="none">
                <a:solidFill>
                  <a:srgbClr val="261F1D"/>
                </a:solidFill>
                <a:latin typeface="Helvetica"/>
              </a:rPr>
              <a:t>Null Hypothesis: Assume Nothing's Different, First</a:t>
            </a:r>
          </a:p>
        </p:txBody>
      </p:sp>
      <p:sp>
        <p:nvSpPr>
          <p:cNvPr id="4" name="TextBox 3"/>
          <p:cNvSpPr txBox="1"/>
          <p:nvPr/>
        </p:nvSpPr>
        <p:spPr>
          <a:xfrm>
            <a:off x="548640" y="1188720"/>
            <a:ext cx="11094415" cy="1950720"/>
          </a:xfrm>
          <a:prstGeom prst="rect">
            <a:avLst/>
          </a:prstGeom>
          <a:noFill/>
        </p:spPr>
        <p:txBody>
          <a:bodyPr wrap="square" lIns="0" rIns="0" tIns="0" bIns="0">
            <a:noAutofit/>
          </a:bodyPr>
          <a:lstStyle/>
          <a:p>
            <a:pPr>
              <a:spcAft>
                <a:spcPts val="1000"/>
              </a:spcAft>
            </a:pPr>
            <a:r>
              <a:rPr sz="2600">
                <a:solidFill>
                  <a:srgbClr val="261F1D"/>
                </a:solidFill>
                <a:latin typeface="Helvetica"/>
              </a:rPr>
              <a:t>•  </a:t>
            </a:r>
            <a:r>
              <a:rPr sz="2600" b="0" i="0" u="none">
                <a:solidFill>
                  <a:srgbClr val="261F1D"/>
                </a:solidFill>
                <a:latin typeface="Helvetica"/>
              </a:rPr>
              <a:t>Null hypothesis: No real difference, just noise</a:t>
            </a:r>
          </a:p>
          <a:p>
            <a:pPr>
              <a:spcAft>
                <a:spcPts val="1000"/>
              </a:spcAft>
            </a:pPr>
            <a:r>
              <a:rPr sz="2600">
                <a:solidFill>
                  <a:srgbClr val="261F1D"/>
                </a:solidFill>
                <a:latin typeface="Helvetica"/>
              </a:rPr>
              <a:t>•  </a:t>
            </a:r>
            <a:r>
              <a:rPr sz="2600" b="0" i="0" u="none">
                <a:solidFill>
                  <a:srgbClr val="261F1D"/>
                </a:solidFill>
                <a:latin typeface="Helvetica"/>
              </a:rPr>
              <a:t>Alternative hypothesis: A real difference exists</a:t>
            </a:r>
          </a:p>
          <a:p>
            <a:pPr>
              <a:spcAft>
                <a:spcPts val="1000"/>
              </a:spcAft>
            </a:pPr>
            <a:r>
              <a:rPr sz="2600">
                <a:solidFill>
                  <a:srgbClr val="261F1D"/>
                </a:solidFill>
                <a:latin typeface="Helvetica"/>
              </a:rPr>
              <a:t>•  </a:t>
            </a:r>
            <a:r>
              <a:rPr sz="2600" b="0" i="0" u="none">
                <a:solidFill>
                  <a:srgbClr val="261F1D"/>
                </a:solidFill>
                <a:latin typeface="Helvetica"/>
              </a:rPr>
              <a:t>You test the null. Never prove it.</a:t>
            </a:r>
          </a:p>
        </p:txBody>
      </p:sp>
      <p:sp>
        <p:nvSpPr>
          <p:cNvPr id="5" name="Rounded Rectangle 4"/>
          <p:cNvSpPr/>
          <p:nvPr/>
        </p:nvSpPr>
        <p:spPr>
          <a:xfrm>
            <a:off x="548640" y="3322320"/>
            <a:ext cx="11094415" cy="3032760"/>
          </a:xfrm>
          <a:prstGeom prst="roundRect">
            <a:avLst>
              <a:gd name="adj" fmla="val 10000"/>
            </a:avLst>
          </a:prstGeom>
          <a:solidFill>
            <a:srgbClr val="DEEAF4"/>
          </a:solidFill>
          <a:ln w="50800">
            <a:solidFill>
              <a:srgbClr val="2274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3322320"/>
            <a:ext cx="10637215" cy="3032760"/>
          </a:xfrm>
          <a:prstGeom prst="rect">
            <a:avLst/>
          </a:prstGeom>
          <a:noFill/>
        </p:spPr>
        <p:txBody>
          <a:bodyPr wrap="square" anchor="ctr" lIns="0" rIns="0" tIns="0" bIns="0">
            <a:noAutofit/>
          </a:bodyPr>
          <a:lstStyle/>
          <a:p>
            <a:pPr algn="l"/>
            <a:r>
              <a:rPr sz="2600" b="1" i="0" u="none">
                <a:solidFill>
                  <a:srgbClr val="264326"/>
                </a:solidFill>
                <a:latin typeface="Helvetica"/>
              </a:rPr>
              <a:t>Analogy:</a:t>
            </a:r>
            <a:r>
              <a:rPr sz="2600" b="0" i="0" u="none">
                <a:solidFill>
                  <a:srgbClr val="261F1D"/>
                </a:solidFill>
                <a:latin typeface="Helvetica"/>
              </a:rPr>
              <a:t> A hypothesis test works like a courtroom. You start out assuming the defendant is innocent. That's the null hypothesis. The trial never tries to prove innocence. It only asks one thing: is the evidence strong enough to reject that assumption? A 'not guilty' verdict isn't proof of innocence. It just means the evidence wasn't strong enough. A hypothesis test works the same way.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457200"/>
            <a:ext cx="11094415" cy="731520"/>
          </a:xfrm>
          <a:prstGeom prst="rect">
            <a:avLst/>
          </a:prstGeom>
          <a:noFill/>
        </p:spPr>
        <p:txBody>
          <a:bodyPr wrap="square" anchor="t" lIns="0" rIns="0" tIns="0" bIns="0">
            <a:noAutofit/>
          </a:bodyPr>
          <a:lstStyle/>
          <a:p>
            <a:pPr algn="l"/>
            <a:r>
              <a:rPr sz="3200" b="1" i="0" u="none">
                <a:solidFill>
                  <a:srgbClr val="261F1D"/>
                </a:solidFill>
                <a:latin typeface="Helvetica"/>
              </a:rPr>
              <a:t>Two Ways a Verdict Can Go Wrong</a:t>
            </a:r>
          </a:p>
        </p:txBody>
      </p:sp>
      <p:sp>
        <p:nvSpPr>
          <p:cNvPr id="4" name="TextBox 3"/>
          <p:cNvSpPr txBox="1"/>
          <p:nvPr/>
        </p:nvSpPr>
        <p:spPr>
          <a:xfrm>
            <a:off x="548640" y="1188720"/>
            <a:ext cx="6705295" cy="5120640"/>
          </a:xfrm>
          <a:prstGeom prst="rect">
            <a:avLst/>
          </a:prstGeom>
          <a:noFill/>
        </p:spPr>
        <p:txBody>
          <a:bodyPr wrap="square" lIns="0" rIns="0" tIns="0" bIns="0">
            <a:noAutofit/>
          </a:bodyPr>
          <a:lstStyle/>
          <a:p>
            <a:pPr>
              <a:spcAft>
                <a:spcPts val="1000"/>
              </a:spcAft>
            </a:pPr>
            <a:r>
              <a:rPr sz="2600">
                <a:solidFill>
                  <a:srgbClr val="261F1D"/>
                </a:solidFill>
                <a:latin typeface="Helvetica"/>
              </a:rPr>
              <a:t>•  </a:t>
            </a:r>
            <a:r>
              <a:rPr sz="2600" b="0" i="0" u="none">
                <a:solidFill>
                  <a:srgbClr val="261F1D"/>
                </a:solidFill>
                <a:latin typeface="Helvetica"/>
              </a:rPr>
              <a:t>Type I: An innocent person, convicted</a:t>
            </a:r>
          </a:p>
          <a:p>
            <a:pPr>
              <a:spcAft>
                <a:spcPts val="1000"/>
              </a:spcAft>
            </a:pPr>
            <a:r>
              <a:rPr sz="2600">
                <a:solidFill>
                  <a:srgbClr val="261F1D"/>
                </a:solidFill>
                <a:latin typeface="Helvetica"/>
              </a:rPr>
              <a:t>•  </a:t>
            </a:r>
            <a:r>
              <a:rPr sz="2600" b="0" i="0" u="none">
                <a:solidFill>
                  <a:srgbClr val="261F1D"/>
                </a:solidFill>
                <a:latin typeface="Helvetica"/>
              </a:rPr>
              <a:t>Type II: A guilty person goes free</a:t>
            </a:r>
          </a:p>
          <a:p>
            <a:pPr>
              <a:spcAft>
                <a:spcPts val="1000"/>
              </a:spcAft>
            </a:pPr>
            <a:r>
              <a:rPr sz="2600">
                <a:solidFill>
                  <a:srgbClr val="261F1D"/>
                </a:solidFill>
                <a:latin typeface="Helvetica"/>
              </a:rPr>
              <a:t>•  </a:t>
            </a:r>
            <a:r>
              <a:rPr sz="2600" b="0" i="0" u="none">
                <a:solidFill>
                  <a:srgbClr val="261F1D"/>
                </a:solidFill>
                <a:latin typeface="Helvetica"/>
              </a:rPr>
              <a:t>Every test risks one of these two</a:t>
            </a:r>
          </a:p>
        </p:txBody>
      </p:sp>
      <p:sp>
        <p:nvSpPr>
          <p:cNvPr id="5" name="Oval 4"/>
          <p:cNvSpPr/>
          <p:nvPr/>
        </p:nvSpPr>
        <p:spPr>
          <a:xfrm>
            <a:off x="8532266" y="2581351"/>
            <a:ext cx="2381098" cy="2381098"/>
          </a:xfrm>
          <a:prstGeom prst="ellipse">
            <a:avLst/>
          </a:prstGeom>
          <a:solidFill>
            <a:srgbClr val="FECC5B"/>
          </a:solidFill>
          <a:ln w="50800">
            <a:solidFill>
              <a:srgbClr val="83671C"/>
            </a:solidFill>
          </a:ln>
          <a:effectLst>
            <a:outerShdw blurRad="152400" dist="50800" dir="2700000" rotWithShape="0">
              <a:srgbClr val="1A1A1A">
                <a:alpha val="2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
          <p:cNvPicPr>
            <a:picLocks noChangeAspect="1"/>
          </p:cNvPicPr>
          <p:nvPr/>
        </p:nvPicPr>
        <p:blipFill>
          <a:blip r:embed="rId3"/>
          <a:stretch>
            <a:fillRect/>
          </a:stretch>
        </p:blipFill>
        <p:spPr>
          <a:xfrm>
            <a:off x="9127541" y="3176626"/>
            <a:ext cx="1190549" cy="1190549"/>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Rectangle 2"/>
          <p:cNvSpPr/>
          <p:nvPr/>
        </p:nvSpPr>
        <p:spPr>
          <a:xfrm>
            <a:off x="548640" y="457200"/>
            <a:ext cx="11094415" cy="822960"/>
          </a:xfrm>
          <a:prstGeom prst="rect">
            <a:avLst/>
          </a:prstGeom>
          <a:solidFill>
            <a:srgbClr val="A6C2B4"/>
          </a:solidFill>
          <a:ln w="50800">
            <a:solidFill>
              <a:srgbClr val="2643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457200"/>
            <a:ext cx="10545775" cy="822960"/>
          </a:xfrm>
          <a:prstGeom prst="rect">
            <a:avLst/>
          </a:prstGeom>
          <a:noFill/>
        </p:spPr>
        <p:txBody>
          <a:bodyPr wrap="square" anchor="ctr" lIns="0" rIns="0" tIns="0" bIns="0">
            <a:noAutofit/>
          </a:bodyPr>
          <a:lstStyle/>
          <a:p>
            <a:pPr algn="l"/>
            <a:r>
              <a:rPr sz="2600" b="1" i="0" u="none">
                <a:solidFill>
                  <a:srgbClr val="261F1D"/>
                </a:solidFill>
                <a:latin typeface="Helvetica"/>
              </a:rPr>
              <a:t>TURN AND TALK</a:t>
            </a:r>
          </a:p>
        </p:txBody>
      </p:sp>
      <p:sp>
        <p:nvSpPr>
          <p:cNvPr id="5" name="TextBox 4"/>
          <p:cNvSpPr txBox="1"/>
          <p:nvPr/>
        </p:nvSpPr>
        <p:spPr>
          <a:xfrm>
            <a:off x="548640" y="1737360"/>
            <a:ext cx="11094415" cy="1280160"/>
          </a:xfrm>
          <a:prstGeom prst="rect">
            <a:avLst/>
          </a:prstGeom>
          <a:noFill/>
        </p:spPr>
        <p:txBody>
          <a:bodyPr wrap="square" anchor="t" lIns="0" rIns="0" tIns="0" bIns="0">
            <a:noAutofit/>
          </a:bodyPr>
          <a:lstStyle/>
          <a:p>
            <a:pPr algn="l"/>
            <a:r>
              <a:rPr sz="3200" b="1" i="0" u="none">
                <a:solidFill>
                  <a:srgbClr val="261F1D"/>
                </a:solidFill>
                <a:latin typeface="Helvetica"/>
              </a:rPr>
              <a:t>For 'do Gentoo penguins actually weigh more than Adelie penguins,' state the null hypothesis in one plain sentence.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457200"/>
            <a:ext cx="11094415" cy="731520"/>
          </a:xfrm>
          <a:prstGeom prst="rect">
            <a:avLst/>
          </a:prstGeom>
          <a:noFill/>
        </p:spPr>
        <p:txBody>
          <a:bodyPr wrap="square" anchor="t" lIns="0" rIns="0" tIns="0" bIns="0">
            <a:noAutofit/>
          </a:bodyPr>
          <a:lstStyle/>
          <a:p>
            <a:pPr algn="l"/>
            <a:r>
              <a:rPr sz="3200" b="1" i="0" u="none">
                <a:solidFill>
                  <a:srgbClr val="261F1D"/>
                </a:solidFill>
                <a:latin typeface="Helvetica"/>
              </a:rPr>
              <a:t>What a p-value Actually Measures</a:t>
            </a:r>
          </a:p>
        </p:txBody>
      </p:sp>
      <p:sp>
        <p:nvSpPr>
          <p:cNvPr id="4" name="TextBox 3"/>
          <p:cNvSpPr txBox="1"/>
          <p:nvPr/>
        </p:nvSpPr>
        <p:spPr>
          <a:xfrm>
            <a:off x="548640" y="1188720"/>
            <a:ext cx="6705295" cy="5120640"/>
          </a:xfrm>
          <a:prstGeom prst="rect">
            <a:avLst/>
          </a:prstGeom>
          <a:noFill/>
        </p:spPr>
        <p:txBody>
          <a:bodyPr wrap="square" lIns="0" rIns="0" tIns="0" bIns="0">
            <a:noAutofit/>
          </a:bodyPr>
          <a:lstStyle/>
          <a:p>
            <a:pPr>
              <a:spcAft>
                <a:spcPts val="1000"/>
              </a:spcAft>
            </a:pPr>
            <a:r>
              <a:rPr sz="2600">
                <a:solidFill>
                  <a:srgbClr val="261F1D"/>
                </a:solidFill>
                <a:latin typeface="Helvetica"/>
              </a:rPr>
              <a:t>•  </a:t>
            </a:r>
            <a:r>
              <a:rPr sz="2600" b="0" i="0" u="none">
                <a:solidFill>
                  <a:srgbClr val="261F1D"/>
                </a:solidFill>
                <a:latin typeface="Helvetica"/>
              </a:rPr>
              <a:t>How surprising your result would be</a:t>
            </a:r>
          </a:p>
          <a:p>
            <a:pPr>
              <a:spcAft>
                <a:spcPts val="1000"/>
              </a:spcAft>
            </a:pPr>
            <a:r>
              <a:rPr sz="2600">
                <a:solidFill>
                  <a:srgbClr val="261F1D"/>
                </a:solidFill>
                <a:latin typeface="Helvetica"/>
              </a:rPr>
              <a:t>•  </a:t>
            </a:r>
            <a:r>
              <a:rPr sz="2600" b="0" i="0" u="none">
                <a:solidFill>
                  <a:srgbClr val="261F1D"/>
                </a:solidFill>
                <a:latin typeface="Helvetica"/>
              </a:rPr>
              <a:t>If the null hypothesis were actually true</a:t>
            </a:r>
          </a:p>
          <a:p>
            <a:pPr>
              <a:spcAft>
                <a:spcPts val="1000"/>
              </a:spcAft>
            </a:pPr>
            <a:r>
              <a:rPr sz="2600">
                <a:solidFill>
                  <a:srgbClr val="261F1D"/>
                </a:solidFill>
                <a:latin typeface="Helvetica"/>
              </a:rPr>
              <a:t>•  </a:t>
            </a:r>
            <a:r>
              <a:rPr sz="2600" b="0" i="0" u="none">
                <a:solidFill>
                  <a:srgbClr val="261F1D"/>
                </a:solidFill>
                <a:latin typeface="Helvetica"/>
              </a:rPr>
              <a:t>Not the odds the null is true</a:t>
            </a:r>
          </a:p>
        </p:txBody>
      </p:sp>
      <p:sp>
        <p:nvSpPr>
          <p:cNvPr id="5" name="Oval 4"/>
          <p:cNvSpPr/>
          <p:nvPr/>
        </p:nvSpPr>
        <p:spPr>
          <a:xfrm>
            <a:off x="8532266" y="2581351"/>
            <a:ext cx="2381098" cy="2381098"/>
          </a:xfrm>
          <a:prstGeom prst="ellipse">
            <a:avLst/>
          </a:prstGeom>
          <a:solidFill>
            <a:srgbClr val="FECC5B"/>
          </a:solidFill>
          <a:ln w="50800">
            <a:solidFill>
              <a:srgbClr val="83671C"/>
            </a:solidFill>
          </a:ln>
          <a:effectLst>
            <a:outerShdw blurRad="152400" dist="50800" dir="2700000" rotWithShape="0">
              <a:srgbClr val="1A1A1A">
                <a:alpha val="2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
          <p:cNvPicPr>
            <a:picLocks noChangeAspect="1"/>
          </p:cNvPicPr>
          <p:nvPr/>
        </p:nvPicPr>
        <p:blipFill>
          <a:blip r:embed="rId3"/>
          <a:stretch>
            <a:fillRect/>
          </a:stretch>
        </p:blipFill>
        <p:spPr>
          <a:xfrm>
            <a:off x="9127541" y="3176626"/>
            <a:ext cx="1190549" cy="1190549"/>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Rectangle 2"/>
          <p:cNvSpPr/>
          <p:nvPr/>
        </p:nvSpPr>
        <p:spPr>
          <a:xfrm>
            <a:off x="548640" y="457200"/>
            <a:ext cx="11094415" cy="822960"/>
          </a:xfrm>
          <a:prstGeom prst="rect">
            <a:avLst/>
          </a:prstGeom>
          <a:solidFill>
            <a:srgbClr val="A6C2B4"/>
          </a:solidFill>
          <a:ln w="50800">
            <a:solidFill>
              <a:srgbClr val="2643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457200"/>
            <a:ext cx="10545775" cy="822960"/>
          </a:xfrm>
          <a:prstGeom prst="rect">
            <a:avLst/>
          </a:prstGeom>
          <a:noFill/>
        </p:spPr>
        <p:txBody>
          <a:bodyPr wrap="square" anchor="ctr" lIns="0" rIns="0" tIns="0" bIns="0">
            <a:noAutofit/>
          </a:bodyPr>
          <a:lstStyle/>
          <a:p>
            <a:pPr algn="l"/>
            <a:r>
              <a:rPr sz="2600" b="1" i="0" u="none">
                <a:solidFill>
                  <a:srgbClr val="261F1D"/>
                </a:solidFill>
                <a:latin typeface="Helvetica"/>
              </a:rPr>
              <a:t>QUICK CHALLENGE</a:t>
            </a:r>
          </a:p>
        </p:txBody>
      </p:sp>
      <p:sp>
        <p:nvSpPr>
          <p:cNvPr id="5" name="TextBox 4"/>
          <p:cNvSpPr txBox="1"/>
          <p:nvPr/>
        </p:nvSpPr>
        <p:spPr>
          <a:xfrm>
            <a:off x="548640" y="1737360"/>
            <a:ext cx="11094415" cy="1280160"/>
          </a:xfrm>
          <a:prstGeom prst="rect">
            <a:avLst/>
          </a:prstGeom>
          <a:noFill/>
        </p:spPr>
        <p:txBody>
          <a:bodyPr wrap="square" anchor="t" lIns="0" rIns="0" tIns="0" bIns="0">
            <a:noAutofit/>
          </a:bodyPr>
          <a:lstStyle/>
          <a:p>
            <a:pPr algn="l"/>
            <a:r>
              <a:rPr sz="3200" b="1" i="0" u="none">
                <a:solidFill>
                  <a:srgbClr val="261F1D"/>
                </a:solidFill>
                <a:latin typeface="Helvetica"/>
              </a:rPr>
              <a:t>A test returns p = 0.03. What does that tell you?</a:t>
            </a:r>
          </a:p>
        </p:txBody>
      </p:sp>
      <p:sp>
        <p:nvSpPr>
          <p:cNvPr id="6" name="TextBox 5"/>
          <p:cNvSpPr txBox="1"/>
          <p:nvPr/>
        </p:nvSpPr>
        <p:spPr>
          <a:xfrm>
            <a:off x="822960" y="3291840"/>
            <a:ext cx="10545775" cy="2560320"/>
          </a:xfrm>
          <a:prstGeom prst="rect">
            <a:avLst/>
          </a:prstGeom>
          <a:noFill/>
        </p:spPr>
        <p:txBody>
          <a:bodyPr wrap="square" lIns="0" rIns="0" tIns="0" bIns="0">
            <a:noAutofit/>
          </a:bodyPr>
          <a:lstStyle/>
          <a:p>
            <a:pPr>
              <a:spcAft>
                <a:spcPts val="1000"/>
              </a:spcAft>
            </a:pPr>
            <a:r>
              <a:rPr sz="2600" b="0" i="0" u="none">
                <a:solidFill>
                  <a:srgbClr val="261F1D"/>
                </a:solidFill>
                <a:latin typeface="Helvetica"/>
              </a:rPr>
              <a:t>A.  There's a 3% chance the null hypothesis is true</a:t>
            </a:r>
          </a:p>
          <a:p>
            <a:pPr>
              <a:spcAft>
                <a:spcPts val="1000"/>
              </a:spcAft>
            </a:pPr>
            <a:r>
              <a:rPr sz="2600" b="0" i="0" u="none">
                <a:solidFill>
                  <a:srgbClr val="261F1D"/>
                </a:solidFill>
                <a:latin typeface="Helvetica"/>
              </a:rPr>
              <a:t>B.  This result is 97% likely to be real</a:t>
            </a:r>
          </a:p>
          <a:p>
            <a:pPr>
              <a:spcAft>
                <a:spcPts val="1000"/>
              </a:spcAft>
            </a:pPr>
            <a:r>
              <a:rPr sz="2600" b="0" i="0" u="none">
                <a:solidFill>
                  <a:srgbClr val="261F1D"/>
                </a:solidFill>
                <a:latin typeface="Helvetica"/>
              </a:rPr>
              <a:t>C.  This result is unlikely if the null were true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EECA"/>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Rectangle 2"/>
          <p:cNvSpPr/>
          <p:nvPr/>
        </p:nvSpPr>
        <p:spPr>
          <a:xfrm>
            <a:off x="548640" y="457200"/>
            <a:ext cx="11094415" cy="566928"/>
          </a:xfrm>
          <a:prstGeom prst="rect">
            <a:avLst/>
          </a:prstGeom>
          <a:solidFill>
            <a:srgbClr val="A6C2B4"/>
          </a:solidFill>
          <a:ln w="50800">
            <a:solidFill>
              <a:srgbClr val="2643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28655" cy="566928"/>
          </a:xfrm>
          <a:prstGeom prst="rect">
            <a:avLst/>
          </a:prstGeom>
          <a:noFill/>
        </p:spPr>
        <p:txBody>
          <a:bodyPr wrap="square" anchor="ctr" lIns="0" rIns="0" tIns="0" bIns="0">
            <a:noAutofit/>
          </a:bodyPr>
          <a:lstStyle/>
          <a:p>
            <a:pPr algn="l"/>
            <a:r>
              <a:rPr sz="2600" b="1" i="0" u="none">
                <a:solidFill>
                  <a:srgbClr val="261F1D"/>
                </a:solidFill>
                <a:latin typeface="Helvetica"/>
              </a:rPr>
              <a:t>Answer Key: What Does a p-value Actually Tell You?</a:t>
            </a:r>
          </a:p>
        </p:txBody>
      </p:sp>
      <p:sp>
        <p:nvSpPr>
          <p:cNvPr id="5" name="TextBox 4"/>
          <p:cNvSpPr txBox="1"/>
          <p:nvPr/>
        </p:nvSpPr>
        <p:spPr>
          <a:xfrm>
            <a:off x="548640" y="1389888"/>
            <a:ext cx="11094415" cy="914400"/>
          </a:xfrm>
          <a:prstGeom prst="rect">
            <a:avLst/>
          </a:prstGeom>
          <a:noFill/>
        </p:spPr>
        <p:txBody>
          <a:bodyPr wrap="square" anchor="t" lIns="0" rIns="0" tIns="0" bIns="0">
            <a:noAutofit/>
          </a:bodyPr>
          <a:lstStyle/>
          <a:p>
            <a:pPr algn="l"/>
            <a:r>
              <a:rPr sz="3200" b="1" i="0" u="none">
                <a:solidFill>
                  <a:srgbClr val="261F1D"/>
                </a:solidFill>
                <a:latin typeface="Helvetica"/>
              </a:rPr>
              <a:t>Correct answer: This result is unlikely if the null were true</a:t>
            </a:r>
          </a:p>
        </p:txBody>
      </p:sp>
      <p:sp>
        <p:nvSpPr>
          <p:cNvPr id="6" name="TextBox 5"/>
          <p:cNvSpPr txBox="1"/>
          <p:nvPr/>
        </p:nvSpPr>
        <p:spPr>
          <a:xfrm>
            <a:off x="548640" y="2487168"/>
            <a:ext cx="11094415" cy="2286000"/>
          </a:xfrm>
          <a:prstGeom prst="rect">
            <a:avLst/>
          </a:prstGeom>
          <a:noFill/>
        </p:spPr>
        <p:txBody>
          <a:bodyPr wrap="square" anchor="t" lIns="0" rIns="0" tIns="0" bIns="0">
            <a:noAutofit/>
          </a:bodyPr>
          <a:lstStyle/>
          <a:p>
            <a:pPr algn="l"/>
            <a:r>
              <a:rPr sz="2600" b="0" i="0" u="none">
                <a:solidFill>
                  <a:srgbClr val="261F1D"/>
                </a:solidFill>
                <a:latin typeface="Helvetica"/>
              </a:rPr>
              <a:t>A p-value of 0.03 means: if the null hypothesis were actually true, a result at least this extreme would only happen 3% of the time. It says nothing directly about the probability that the null hypothesis itself is true or false - that's exactly the confusion the American Statistical Association's own 2016 statement names as the most common p-value misuse.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457200"/>
            <a:ext cx="11094415" cy="731520"/>
          </a:xfrm>
          <a:prstGeom prst="rect">
            <a:avLst/>
          </a:prstGeom>
          <a:noFill/>
        </p:spPr>
        <p:txBody>
          <a:bodyPr wrap="square" anchor="t" lIns="0" rIns="0" tIns="0" bIns="0">
            <a:noAutofit/>
          </a:bodyPr>
          <a:lstStyle/>
          <a:p>
            <a:pPr algn="l"/>
            <a:r>
              <a:rPr sz="3200" b="1" i="0" u="none">
                <a:solidFill>
                  <a:srgbClr val="261F1D"/>
                </a:solidFill>
                <a:latin typeface="Helvetica"/>
              </a:rPr>
              <a:t>Confidence Intervals: A Range, Not a Single Number</a:t>
            </a:r>
          </a:p>
        </p:txBody>
      </p:sp>
      <p:sp>
        <p:nvSpPr>
          <p:cNvPr id="4" name="TextBox 3"/>
          <p:cNvSpPr txBox="1"/>
          <p:nvPr/>
        </p:nvSpPr>
        <p:spPr>
          <a:xfrm>
            <a:off x="548640" y="1188720"/>
            <a:ext cx="6705295" cy="5120640"/>
          </a:xfrm>
          <a:prstGeom prst="rect">
            <a:avLst/>
          </a:prstGeom>
          <a:noFill/>
        </p:spPr>
        <p:txBody>
          <a:bodyPr wrap="square" lIns="0" rIns="0" tIns="0" bIns="0">
            <a:noAutofit/>
          </a:bodyPr>
          <a:lstStyle/>
          <a:p>
            <a:pPr>
              <a:spcAft>
                <a:spcPts val="1000"/>
              </a:spcAft>
            </a:pPr>
            <a:r>
              <a:rPr sz="2600">
                <a:solidFill>
                  <a:srgbClr val="261F1D"/>
                </a:solidFill>
                <a:latin typeface="Helvetica"/>
              </a:rPr>
              <a:t>•  </a:t>
            </a:r>
            <a:r>
              <a:rPr sz="2600" b="0" i="0" u="none">
                <a:solidFill>
                  <a:srgbClr val="261F1D"/>
                </a:solidFill>
                <a:latin typeface="Helvetica"/>
              </a:rPr>
              <a:t>A single p-value hides the actual size</a:t>
            </a:r>
          </a:p>
          <a:p>
            <a:pPr>
              <a:spcAft>
                <a:spcPts val="1000"/>
              </a:spcAft>
            </a:pPr>
            <a:r>
              <a:rPr sz="2600">
                <a:solidFill>
                  <a:srgbClr val="261F1D"/>
                </a:solidFill>
                <a:latin typeface="Helvetica"/>
              </a:rPr>
              <a:t>•  </a:t>
            </a:r>
            <a:r>
              <a:rPr sz="2600" b="0" i="0" u="none">
                <a:solidFill>
                  <a:srgbClr val="261F1D"/>
                </a:solidFill>
                <a:latin typeface="Helvetica"/>
              </a:rPr>
              <a:t>CI shows a range of plausible values</a:t>
            </a:r>
          </a:p>
          <a:p>
            <a:pPr>
              <a:spcAft>
                <a:spcPts val="1000"/>
              </a:spcAft>
            </a:pPr>
            <a:r>
              <a:rPr sz="2600">
                <a:solidFill>
                  <a:srgbClr val="261F1D"/>
                </a:solidFill>
                <a:latin typeface="Helvetica"/>
              </a:rPr>
              <a:t>•  </a:t>
            </a:r>
            <a:r>
              <a:rPr sz="2600" b="0" i="0" u="none">
                <a:solidFill>
                  <a:srgbClr val="261F1D"/>
                </a:solidFill>
                <a:latin typeface="Helvetica"/>
              </a:rPr>
              <a:t>Wide range: Less certain. Narrow: More certain.</a:t>
            </a:r>
          </a:p>
        </p:txBody>
      </p:sp>
      <p:sp>
        <p:nvSpPr>
          <p:cNvPr id="5" name="Oval 4"/>
          <p:cNvSpPr/>
          <p:nvPr/>
        </p:nvSpPr>
        <p:spPr>
          <a:xfrm>
            <a:off x="8532266" y="2581351"/>
            <a:ext cx="2381098" cy="2381098"/>
          </a:xfrm>
          <a:prstGeom prst="ellipse">
            <a:avLst/>
          </a:prstGeom>
          <a:solidFill>
            <a:srgbClr val="A6C2B4"/>
          </a:solidFill>
          <a:ln w="50800">
            <a:solidFill>
              <a:srgbClr val="264326"/>
            </a:solidFill>
          </a:ln>
          <a:effectLst>
            <a:outerShdw blurRad="152400" dist="50800" dir="2700000" rotWithShape="0">
              <a:srgbClr val="1A1A1A">
                <a:alpha val="2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
          <p:cNvPicPr>
            <a:picLocks noChangeAspect="1"/>
          </p:cNvPicPr>
          <p:nvPr/>
        </p:nvPicPr>
        <p:blipFill>
          <a:blip r:embed="rId3"/>
          <a:stretch>
            <a:fillRect/>
          </a:stretch>
        </p:blipFill>
        <p:spPr>
          <a:xfrm>
            <a:off x="9127541" y="3176626"/>
            <a:ext cx="1190549" cy="1190549"/>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264326"/>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Oval 2"/>
          <p:cNvSpPr/>
          <p:nvPr/>
        </p:nvSpPr>
        <p:spPr>
          <a:xfrm>
            <a:off x="5784037" y="556870"/>
            <a:ext cx="623621" cy="623621"/>
          </a:xfrm>
          <a:prstGeom prst="ellipse">
            <a:avLst/>
          </a:prstGeom>
          <a:solidFill>
            <a:srgbClr val="DEEAF4"/>
          </a:solidFill>
          <a:ln w="50800">
            <a:solidFill>
              <a:srgbClr val="2274B5"/>
            </a:solidFill>
          </a:ln>
          <a:effectLst>
            <a:outerShdw blurRad="152400" dist="50800" dir="2700000" rotWithShape="0">
              <a:srgbClr val="1A1A1A">
                <a:alpha val="2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
          <p:cNvPicPr>
            <a:picLocks noChangeAspect="1"/>
          </p:cNvPicPr>
          <p:nvPr/>
        </p:nvPicPr>
        <p:blipFill>
          <a:blip r:embed="rId3"/>
          <a:stretch>
            <a:fillRect/>
          </a:stretch>
        </p:blipFill>
        <p:spPr>
          <a:xfrm>
            <a:off x="5939942" y="712775"/>
            <a:ext cx="311810" cy="311810"/>
          </a:xfrm>
          <a:prstGeom prst="rect">
            <a:avLst/>
          </a:prstGeom>
        </p:spPr>
      </p:pic>
      <p:sp>
        <p:nvSpPr>
          <p:cNvPr id="5" name="TextBox 4"/>
          <p:cNvSpPr txBox="1"/>
          <p:nvPr/>
        </p:nvSpPr>
        <p:spPr>
          <a:xfrm>
            <a:off x="548640" y="1508760"/>
            <a:ext cx="11094415" cy="1188720"/>
          </a:xfrm>
          <a:prstGeom prst="rect">
            <a:avLst/>
          </a:prstGeom>
          <a:noFill/>
        </p:spPr>
        <p:txBody>
          <a:bodyPr wrap="square" anchor="t" lIns="0" rIns="0" tIns="0" bIns="0">
            <a:noAutofit/>
          </a:bodyPr>
          <a:lstStyle/>
          <a:p>
            <a:pPr algn="l"/>
            <a:r>
              <a:rPr sz="2800" b="1" i="0" u="none">
                <a:solidFill>
                  <a:srgbClr val="EEBC32"/>
                </a:solidFill>
                <a:latin typeface="Helvetica"/>
              </a:rPr>
              <a:t>The Logic of One Test</a:t>
            </a:r>
          </a:p>
        </p:txBody>
      </p:sp>
      <p:sp>
        <p:nvSpPr>
          <p:cNvPr id="6" name="TextBox 5"/>
          <p:cNvSpPr txBox="1"/>
          <p:nvPr/>
        </p:nvSpPr>
        <p:spPr>
          <a:xfrm>
            <a:off x="548640" y="2606040"/>
            <a:ext cx="11094415" cy="1645920"/>
          </a:xfrm>
          <a:prstGeom prst="rect">
            <a:avLst/>
          </a:prstGeom>
          <a:noFill/>
        </p:spPr>
        <p:txBody>
          <a:bodyPr wrap="square" anchor="t" lIns="0" rIns="0" tIns="0" bIns="0">
            <a:noAutofit/>
          </a:bodyPr>
          <a:lstStyle/>
          <a:p>
            <a:pPr algn="l"/>
            <a:r>
              <a:rPr sz="4000" b="1" i="0" u="none">
                <a:solidFill>
                  <a:srgbClr val="FFFCF7"/>
                </a:solidFill>
                <a:latin typeface="Helvetica"/>
              </a:rPr>
              <a:t>A Second, Separate Question: Is Your Sample Big Enough?</a:t>
            </a:r>
          </a:p>
        </p:txBody>
      </p:sp>
      <p:sp>
        <p:nvSpPr>
          <p:cNvPr id="7" name="TextBox 6"/>
          <p:cNvSpPr txBox="1"/>
          <p:nvPr/>
        </p:nvSpPr>
        <p:spPr>
          <a:xfrm>
            <a:off x="548640" y="4160520"/>
            <a:ext cx="11094415" cy="731520"/>
          </a:xfrm>
          <a:prstGeom prst="rect">
            <a:avLst/>
          </a:prstGeom>
          <a:noFill/>
        </p:spPr>
        <p:txBody>
          <a:bodyPr wrap="square" anchor="t" lIns="0" rIns="0" tIns="0" bIns="0">
            <a:noAutofit/>
          </a:bodyPr>
          <a:lstStyle/>
          <a:p>
            <a:pPr algn="l"/>
            <a:r>
              <a:rPr sz="2800" b="0" i="0" u="none">
                <a:solidFill>
                  <a:srgbClr val="B3BBB0"/>
                </a:solidFill>
                <a:latin typeface="Helvetica"/>
              </a:rPr>
              <a:t>A test can be run perfectly and still mislead you, if the sample size doesn't match what you're actually trying to detect.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457200"/>
            <a:ext cx="11094415" cy="731520"/>
          </a:xfrm>
          <a:prstGeom prst="rect">
            <a:avLst/>
          </a:prstGeom>
          <a:noFill/>
        </p:spPr>
        <p:txBody>
          <a:bodyPr wrap="square" anchor="t" lIns="0" rIns="0" tIns="0" bIns="0">
            <a:noAutofit/>
          </a:bodyPr>
          <a:lstStyle/>
          <a:p>
            <a:pPr algn="l"/>
            <a:r>
              <a:rPr sz="3200" b="1" i="0" u="none">
                <a:solidFill>
                  <a:srgbClr val="261F1D"/>
                </a:solidFill>
                <a:latin typeface="Helvetica"/>
              </a:rPr>
              <a:t>'Significant' Doesn't Mean 'Big Enough to Matter'</a:t>
            </a:r>
          </a:p>
        </p:txBody>
      </p:sp>
      <p:sp>
        <p:nvSpPr>
          <p:cNvPr id="4" name="TextBox 3"/>
          <p:cNvSpPr txBox="1"/>
          <p:nvPr/>
        </p:nvSpPr>
        <p:spPr>
          <a:xfrm>
            <a:off x="548640" y="1188720"/>
            <a:ext cx="11094415" cy="2344420"/>
          </a:xfrm>
          <a:prstGeom prst="rect">
            <a:avLst/>
          </a:prstGeom>
          <a:noFill/>
        </p:spPr>
        <p:txBody>
          <a:bodyPr wrap="square" lIns="0" rIns="0" tIns="0" bIns="0">
            <a:noAutofit/>
          </a:bodyPr>
          <a:lstStyle/>
          <a:p>
            <a:pPr>
              <a:spcAft>
                <a:spcPts val="1000"/>
              </a:spcAft>
            </a:pPr>
            <a:r>
              <a:rPr sz="2600">
                <a:solidFill>
                  <a:srgbClr val="261F1D"/>
                </a:solidFill>
                <a:latin typeface="Helvetica"/>
              </a:rPr>
              <a:t>•  </a:t>
            </a:r>
            <a:r>
              <a:rPr sz="2600" b="0" i="0" u="none">
                <a:solidFill>
                  <a:srgbClr val="261F1D"/>
                </a:solidFill>
                <a:latin typeface="Helvetica"/>
              </a:rPr>
              <a:t>A huge sample can detect tiny differences</a:t>
            </a:r>
          </a:p>
          <a:p>
            <a:pPr>
              <a:spcAft>
                <a:spcPts val="1000"/>
              </a:spcAft>
            </a:pPr>
            <a:r>
              <a:rPr sz="2600">
                <a:solidFill>
                  <a:srgbClr val="261F1D"/>
                </a:solidFill>
                <a:latin typeface="Helvetica"/>
              </a:rPr>
              <a:t>•  </a:t>
            </a:r>
            <a:r>
              <a:rPr sz="2600" b="0" i="0" u="none">
                <a:solidFill>
                  <a:srgbClr val="261F1D"/>
                </a:solidFill>
                <a:latin typeface="Helvetica"/>
              </a:rPr>
              <a:t>Tiny and 'significant' can both be true</a:t>
            </a:r>
          </a:p>
          <a:p>
            <a:pPr>
              <a:spcAft>
                <a:spcPts val="1000"/>
              </a:spcAft>
            </a:pPr>
            <a:r>
              <a:rPr sz="2600">
                <a:solidFill>
                  <a:srgbClr val="261F1D"/>
                </a:solidFill>
                <a:latin typeface="Helvetica"/>
              </a:rPr>
              <a:t>•  </a:t>
            </a:r>
            <a:r>
              <a:rPr sz="2600" b="0" i="0" u="none">
                <a:solidFill>
                  <a:srgbClr val="261F1D"/>
                </a:solidFill>
                <a:latin typeface="Helvetica"/>
              </a:rPr>
              <a:t>Significant only means: Probably not exactly zero</a:t>
            </a:r>
          </a:p>
          <a:p>
            <a:pPr>
              <a:spcAft>
                <a:spcPts val="1000"/>
              </a:spcAft>
            </a:pPr>
            <a:r>
              <a:rPr sz="2600">
                <a:solidFill>
                  <a:srgbClr val="261F1D"/>
                </a:solidFill>
                <a:latin typeface="Helvetica"/>
              </a:rPr>
              <a:t>•  </a:t>
            </a:r>
            <a:r>
              <a:rPr sz="2600" b="0" i="0" u="none">
                <a:solidFill>
                  <a:srgbClr val="261F1D"/>
                </a:solidFill>
                <a:latin typeface="Helvetica"/>
              </a:rPr>
              <a:t>The name for this: Practical significance</a:t>
            </a:r>
          </a:p>
        </p:txBody>
      </p:sp>
      <p:sp>
        <p:nvSpPr>
          <p:cNvPr id="5" name="Rounded Rectangle 4"/>
          <p:cNvSpPr/>
          <p:nvPr/>
        </p:nvSpPr>
        <p:spPr>
          <a:xfrm>
            <a:off x="548640" y="3716020"/>
            <a:ext cx="11094415" cy="2639060"/>
          </a:xfrm>
          <a:prstGeom prst="roundRect">
            <a:avLst>
              <a:gd name="adj" fmla="val 10000"/>
            </a:avLst>
          </a:prstGeom>
          <a:solidFill>
            <a:srgbClr val="DEEAF4"/>
          </a:solidFill>
          <a:ln w="50800">
            <a:solidFill>
              <a:srgbClr val="2274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3716020"/>
            <a:ext cx="10637215" cy="2639060"/>
          </a:xfrm>
          <a:prstGeom prst="rect">
            <a:avLst/>
          </a:prstGeom>
          <a:noFill/>
        </p:spPr>
        <p:txBody>
          <a:bodyPr wrap="square" anchor="ctr" lIns="0" rIns="0" tIns="0" bIns="0">
            <a:noAutofit/>
          </a:bodyPr>
          <a:lstStyle/>
          <a:p>
            <a:pPr algn="l"/>
            <a:r>
              <a:rPr sz="2600" b="1" i="0" u="none">
                <a:solidFill>
                  <a:srgbClr val="264326"/>
                </a:solidFill>
                <a:latin typeface="Helvetica"/>
              </a:rPr>
              <a:t>Analogy:</a:t>
            </a:r>
            <a:r>
              <a:rPr sz="2600" b="0" i="0" u="none">
                <a:solidFill>
                  <a:srgbClr val="261F1D"/>
                </a:solidFill>
                <a:latin typeface="Helvetica"/>
              </a:rPr>
              <a:t> A stopwatch precise enough to catch a tiny gap in a photo finish will report that gap every single race. That gap is real. No coach would ever restructure training around it, though. A large enough sample works the same way. It can reliably detect a real difference. That difference can still be too small to act on.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457200"/>
            <a:ext cx="11094415" cy="731520"/>
          </a:xfrm>
          <a:prstGeom prst="rect">
            <a:avLst/>
          </a:prstGeom>
          <a:noFill/>
        </p:spPr>
        <p:txBody>
          <a:bodyPr wrap="square" anchor="t" lIns="0" rIns="0" tIns="0" bIns="0">
            <a:noAutofit/>
          </a:bodyPr>
          <a:lstStyle/>
          <a:p>
            <a:pPr algn="l"/>
            <a:r>
              <a:rPr sz="3200" b="1" i="0" u="none">
                <a:solidFill>
                  <a:srgbClr val="261F1D"/>
                </a:solidFill>
                <a:latin typeface="Helvetica"/>
              </a:rPr>
              <a:t>One Sample-Size Trap Runs the Other Direction</a:t>
            </a:r>
          </a:p>
        </p:txBody>
      </p:sp>
      <p:sp>
        <p:nvSpPr>
          <p:cNvPr id="4" name="TextBox 3"/>
          <p:cNvSpPr txBox="1"/>
          <p:nvPr/>
        </p:nvSpPr>
        <p:spPr>
          <a:xfrm>
            <a:off x="548640" y="1188720"/>
            <a:ext cx="6705295" cy="5120640"/>
          </a:xfrm>
          <a:prstGeom prst="rect">
            <a:avLst/>
          </a:prstGeom>
          <a:noFill/>
        </p:spPr>
        <p:txBody>
          <a:bodyPr wrap="square" lIns="0" rIns="0" tIns="0" bIns="0">
            <a:noAutofit/>
          </a:bodyPr>
          <a:lstStyle/>
          <a:p>
            <a:pPr>
              <a:spcAft>
                <a:spcPts val="1000"/>
              </a:spcAft>
            </a:pPr>
            <a:r>
              <a:rPr sz="2600">
                <a:solidFill>
                  <a:srgbClr val="261F1D"/>
                </a:solidFill>
                <a:latin typeface="Helvetica"/>
              </a:rPr>
              <a:t>•  </a:t>
            </a:r>
            <a:r>
              <a:rPr sz="2600" b="0" i="0" u="none">
                <a:solidFill>
                  <a:srgbClr val="261F1D"/>
                </a:solidFill>
                <a:latin typeface="Helvetica"/>
              </a:rPr>
              <a:t>A bigger sample doesn't fix bias</a:t>
            </a:r>
          </a:p>
          <a:p>
            <a:pPr>
              <a:spcAft>
                <a:spcPts val="1000"/>
              </a:spcAft>
            </a:pPr>
            <a:r>
              <a:rPr sz="2600">
                <a:solidFill>
                  <a:srgbClr val="261F1D"/>
                </a:solidFill>
                <a:latin typeface="Helvetica"/>
              </a:rPr>
              <a:t>•  </a:t>
            </a:r>
            <a:r>
              <a:rPr sz="2600" b="0" i="0" u="none">
                <a:solidFill>
                  <a:srgbClr val="261F1D"/>
                </a:solidFill>
                <a:latin typeface="Helvetica"/>
              </a:rPr>
              <a:t>It just states the wrong answer precisely</a:t>
            </a:r>
          </a:p>
          <a:p>
            <a:pPr>
              <a:spcAft>
                <a:spcPts val="1000"/>
              </a:spcAft>
            </a:pPr>
            <a:r>
              <a:rPr sz="2600">
                <a:solidFill>
                  <a:srgbClr val="261F1D"/>
                </a:solidFill>
                <a:latin typeface="Helvetica"/>
              </a:rPr>
              <a:t>•  </a:t>
            </a:r>
            <a:r>
              <a:rPr sz="2600" b="0" i="0" u="none">
                <a:solidFill>
                  <a:srgbClr val="261F1D"/>
                </a:solidFill>
                <a:latin typeface="Helvetica"/>
              </a:rPr>
              <a:t>Random noise shrinks. A biased method doesn't.</a:t>
            </a:r>
          </a:p>
        </p:txBody>
      </p:sp>
      <p:sp>
        <p:nvSpPr>
          <p:cNvPr id="5" name="Oval 4"/>
          <p:cNvSpPr/>
          <p:nvPr/>
        </p:nvSpPr>
        <p:spPr>
          <a:xfrm>
            <a:off x="8532266" y="2581351"/>
            <a:ext cx="2381098" cy="2381098"/>
          </a:xfrm>
          <a:prstGeom prst="ellipse">
            <a:avLst/>
          </a:prstGeom>
          <a:solidFill>
            <a:srgbClr val="F7DFDF"/>
          </a:solidFill>
          <a:ln w="50800">
            <a:solidFill>
              <a:srgbClr val="C92929"/>
            </a:solidFill>
          </a:ln>
          <a:effectLst>
            <a:outerShdw blurRad="152400" dist="50800" dir="2700000" rotWithShape="0">
              <a:srgbClr val="1A1A1A">
                <a:alpha val="2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
          <p:cNvPicPr>
            <a:picLocks noChangeAspect="1"/>
          </p:cNvPicPr>
          <p:nvPr/>
        </p:nvPicPr>
        <p:blipFill>
          <a:blip r:embed="rId3"/>
          <a:stretch>
            <a:fillRect/>
          </a:stretch>
        </p:blipFill>
        <p:spPr>
          <a:xfrm>
            <a:off x="9127541" y="3176626"/>
            <a:ext cx="1190549" cy="1190549"/>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457200"/>
            <a:ext cx="11094415" cy="731520"/>
          </a:xfrm>
          <a:prstGeom prst="rect">
            <a:avLst/>
          </a:prstGeom>
          <a:noFill/>
        </p:spPr>
        <p:txBody>
          <a:bodyPr wrap="square" anchor="t" lIns="0" rIns="0" tIns="0" bIns="0">
            <a:noAutofit/>
          </a:bodyPr>
          <a:lstStyle/>
          <a:p>
            <a:pPr algn="l"/>
            <a:r>
              <a:rPr sz="3200" b="1" i="0" u="none">
                <a:solidFill>
                  <a:srgbClr val="261F1D"/>
                </a:solidFill>
                <a:latin typeface="Helvetica"/>
              </a:rPr>
              <a:t>How Big a Sample Do You Actually Need?</a:t>
            </a:r>
          </a:p>
        </p:txBody>
      </p:sp>
      <p:sp>
        <p:nvSpPr>
          <p:cNvPr id="4" name="TextBox 3"/>
          <p:cNvSpPr txBox="1"/>
          <p:nvPr/>
        </p:nvSpPr>
        <p:spPr>
          <a:xfrm>
            <a:off x="548640" y="1188720"/>
            <a:ext cx="6705295" cy="5120640"/>
          </a:xfrm>
          <a:prstGeom prst="rect">
            <a:avLst/>
          </a:prstGeom>
          <a:noFill/>
        </p:spPr>
        <p:txBody>
          <a:bodyPr wrap="square" lIns="0" rIns="0" tIns="0" bIns="0">
            <a:noAutofit/>
          </a:bodyPr>
          <a:lstStyle/>
          <a:p>
            <a:pPr>
              <a:spcAft>
                <a:spcPts val="1000"/>
              </a:spcAft>
            </a:pPr>
            <a:r>
              <a:rPr sz="2600">
                <a:solidFill>
                  <a:srgbClr val="261F1D"/>
                </a:solidFill>
                <a:latin typeface="Helvetica"/>
              </a:rPr>
              <a:t>•  </a:t>
            </a:r>
            <a:r>
              <a:rPr sz="2600" b="0" i="0" u="none">
                <a:solidFill>
                  <a:srgbClr val="261F1D"/>
                </a:solidFill>
                <a:latin typeface="Helvetica"/>
              </a:rPr>
              <a:t>A tiny effect needs a bigger sample</a:t>
            </a:r>
          </a:p>
          <a:p>
            <a:pPr>
              <a:spcAft>
                <a:spcPts val="1000"/>
              </a:spcAft>
            </a:pPr>
            <a:r>
              <a:rPr sz="2600">
                <a:solidFill>
                  <a:srgbClr val="261F1D"/>
                </a:solidFill>
                <a:latin typeface="Helvetica"/>
              </a:rPr>
              <a:t>•  </a:t>
            </a:r>
            <a:r>
              <a:rPr sz="2600" b="0" i="0" u="none">
                <a:solidFill>
                  <a:srgbClr val="261F1D"/>
                </a:solidFill>
                <a:latin typeface="Helvetica"/>
              </a:rPr>
              <a:t>A big effect needs a small one</a:t>
            </a:r>
          </a:p>
          <a:p>
            <a:pPr>
              <a:spcAft>
                <a:spcPts val="1000"/>
              </a:spcAft>
            </a:pPr>
            <a:r>
              <a:rPr sz="2600">
                <a:solidFill>
                  <a:srgbClr val="261F1D"/>
                </a:solidFill>
                <a:latin typeface="Helvetica"/>
              </a:rPr>
              <a:t>•  </a:t>
            </a:r>
            <a:r>
              <a:rPr sz="2600" b="0" i="0" u="none">
                <a:solidFill>
                  <a:srgbClr val="261F1D"/>
                </a:solidFill>
                <a:latin typeface="Helvetica"/>
              </a:rPr>
              <a:t>More variation needs more data too</a:t>
            </a:r>
          </a:p>
        </p:txBody>
      </p:sp>
      <p:sp>
        <p:nvSpPr>
          <p:cNvPr id="5" name="Oval 4"/>
          <p:cNvSpPr/>
          <p:nvPr/>
        </p:nvSpPr>
        <p:spPr>
          <a:xfrm>
            <a:off x="8532266" y="2581351"/>
            <a:ext cx="2381098" cy="2381098"/>
          </a:xfrm>
          <a:prstGeom prst="ellipse">
            <a:avLst/>
          </a:prstGeom>
          <a:solidFill>
            <a:srgbClr val="DEEAF4"/>
          </a:solidFill>
          <a:ln w="50800">
            <a:solidFill>
              <a:srgbClr val="2274B5"/>
            </a:solidFill>
          </a:ln>
          <a:effectLst>
            <a:outerShdw blurRad="152400" dist="50800" dir="2700000" rotWithShape="0">
              <a:srgbClr val="1A1A1A">
                <a:alpha val="2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
          <p:cNvPicPr>
            <a:picLocks noChangeAspect="1"/>
          </p:cNvPicPr>
          <p:nvPr/>
        </p:nvPicPr>
        <p:blipFill>
          <a:blip r:embed="rId3"/>
          <a:stretch>
            <a:fillRect/>
          </a:stretch>
        </p:blipFill>
        <p:spPr>
          <a:xfrm>
            <a:off x="9127541" y="3176626"/>
            <a:ext cx="1190549" cy="1190549"/>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Rectangle 2"/>
          <p:cNvSpPr/>
          <p:nvPr/>
        </p:nvSpPr>
        <p:spPr>
          <a:xfrm>
            <a:off x="548640" y="457200"/>
            <a:ext cx="11094415" cy="822960"/>
          </a:xfrm>
          <a:prstGeom prst="rect">
            <a:avLst/>
          </a:prstGeom>
          <a:solidFill>
            <a:srgbClr val="A6C2B4"/>
          </a:solidFill>
          <a:ln w="50800">
            <a:solidFill>
              <a:srgbClr val="2643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457200"/>
            <a:ext cx="10545775" cy="822960"/>
          </a:xfrm>
          <a:prstGeom prst="rect">
            <a:avLst/>
          </a:prstGeom>
          <a:noFill/>
        </p:spPr>
        <p:txBody>
          <a:bodyPr wrap="square" anchor="ctr" lIns="0" rIns="0" tIns="0" bIns="0">
            <a:noAutofit/>
          </a:bodyPr>
          <a:lstStyle/>
          <a:p>
            <a:pPr algn="l"/>
            <a:r>
              <a:rPr sz="2600" b="1" i="0" u="none">
                <a:solidFill>
                  <a:srgbClr val="261F1D"/>
                </a:solidFill>
                <a:latin typeface="Helvetica"/>
              </a:rPr>
              <a:t>QUICK CHALLENGE</a:t>
            </a:r>
          </a:p>
        </p:txBody>
      </p:sp>
      <p:sp>
        <p:nvSpPr>
          <p:cNvPr id="5" name="TextBox 4"/>
          <p:cNvSpPr txBox="1"/>
          <p:nvPr/>
        </p:nvSpPr>
        <p:spPr>
          <a:xfrm>
            <a:off x="548640" y="1737360"/>
            <a:ext cx="11094415" cy="1280160"/>
          </a:xfrm>
          <a:prstGeom prst="rect">
            <a:avLst/>
          </a:prstGeom>
          <a:noFill/>
        </p:spPr>
        <p:txBody>
          <a:bodyPr wrap="square" anchor="t" lIns="0" rIns="0" tIns="0" bIns="0">
            <a:noAutofit/>
          </a:bodyPr>
          <a:lstStyle/>
          <a:p>
            <a:pPr algn="l"/>
            <a:r>
              <a:rPr sz="3200" b="1" i="0" u="none">
                <a:solidFill>
                  <a:srgbClr val="261F1D"/>
                </a:solidFill>
                <a:latin typeface="Helvetica"/>
              </a:rPr>
              <a:t>A team wants to detect a small 2-minute improvement in average wait time, using only 40 patients. What's the real risk?</a:t>
            </a:r>
          </a:p>
        </p:txBody>
      </p:sp>
      <p:sp>
        <p:nvSpPr>
          <p:cNvPr id="6" name="TextBox 5"/>
          <p:cNvSpPr txBox="1"/>
          <p:nvPr/>
        </p:nvSpPr>
        <p:spPr>
          <a:xfrm>
            <a:off x="822960" y="3291840"/>
            <a:ext cx="10545775" cy="2560320"/>
          </a:xfrm>
          <a:prstGeom prst="rect">
            <a:avLst/>
          </a:prstGeom>
          <a:noFill/>
        </p:spPr>
        <p:txBody>
          <a:bodyPr wrap="square" lIns="0" rIns="0" tIns="0" bIns="0">
            <a:noAutofit/>
          </a:bodyPr>
          <a:lstStyle/>
          <a:p>
            <a:pPr>
              <a:spcAft>
                <a:spcPts val="1000"/>
              </a:spcAft>
            </a:pPr>
            <a:r>
              <a:rPr sz="2600" b="0" i="0" u="none">
                <a:solidFill>
                  <a:srgbClr val="261F1D"/>
                </a:solidFill>
                <a:latin typeface="Helvetica"/>
              </a:rPr>
              <a:t>A.  No risk - the test will work fine either way</a:t>
            </a:r>
          </a:p>
          <a:p>
            <a:pPr>
              <a:spcAft>
                <a:spcPts val="1000"/>
              </a:spcAft>
            </a:pPr>
            <a:r>
              <a:rPr sz="2600" b="0" i="0" u="none">
                <a:solidFill>
                  <a:srgbClr val="261F1D"/>
                </a:solidFill>
                <a:latin typeface="Helvetica"/>
              </a:rPr>
              <a:t>B.  The sample is likely too small to catch it</a:t>
            </a:r>
          </a:p>
          <a:p>
            <a:pPr>
              <a:spcAft>
                <a:spcPts val="1000"/>
              </a:spcAft>
            </a:pPr>
            <a:r>
              <a:rPr sz="2600" b="0" i="0" u="none">
                <a:solidFill>
                  <a:srgbClr val="261F1D"/>
                </a:solidFill>
                <a:latin typeface="Helvetica"/>
              </a:rPr>
              <a:t>C.  The p-value will definitely come back significant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EECA"/>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Rectangle 2"/>
          <p:cNvSpPr/>
          <p:nvPr/>
        </p:nvSpPr>
        <p:spPr>
          <a:xfrm>
            <a:off x="548640" y="457200"/>
            <a:ext cx="11094415" cy="566928"/>
          </a:xfrm>
          <a:prstGeom prst="rect">
            <a:avLst/>
          </a:prstGeom>
          <a:solidFill>
            <a:srgbClr val="A6C2B4"/>
          </a:solidFill>
          <a:ln w="50800">
            <a:solidFill>
              <a:srgbClr val="2643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28655" cy="566928"/>
          </a:xfrm>
          <a:prstGeom prst="rect">
            <a:avLst/>
          </a:prstGeom>
          <a:noFill/>
        </p:spPr>
        <p:txBody>
          <a:bodyPr wrap="square" anchor="ctr" lIns="0" rIns="0" tIns="0" bIns="0">
            <a:noAutofit/>
          </a:bodyPr>
          <a:lstStyle/>
          <a:p>
            <a:pPr algn="l"/>
            <a:r>
              <a:rPr sz="2600" b="1" i="0" u="none">
                <a:solidFill>
                  <a:srgbClr val="261F1D"/>
                </a:solidFill>
                <a:latin typeface="Helvetica"/>
              </a:rPr>
              <a:t>Answer Key: Sample Size Versus the Effect You're Chasing</a:t>
            </a:r>
          </a:p>
        </p:txBody>
      </p:sp>
      <p:sp>
        <p:nvSpPr>
          <p:cNvPr id="5" name="TextBox 4"/>
          <p:cNvSpPr txBox="1"/>
          <p:nvPr/>
        </p:nvSpPr>
        <p:spPr>
          <a:xfrm>
            <a:off x="548640" y="1389888"/>
            <a:ext cx="11094415" cy="914400"/>
          </a:xfrm>
          <a:prstGeom prst="rect">
            <a:avLst/>
          </a:prstGeom>
          <a:noFill/>
        </p:spPr>
        <p:txBody>
          <a:bodyPr wrap="square" anchor="t" lIns="0" rIns="0" tIns="0" bIns="0">
            <a:noAutofit/>
          </a:bodyPr>
          <a:lstStyle/>
          <a:p>
            <a:pPr algn="l"/>
            <a:r>
              <a:rPr sz="3200" b="1" i="0" u="none">
                <a:solidFill>
                  <a:srgbClr val="261F1D"/>
                </a:solidFill>
                <a:latin typeface="Helvetica"/>
              </a:rPr>
              <a:t>Correct answer: The sample is likely too small to catch it</a:t>
            </a:r>
          </a:p>
        </p:txBody>
      </p:sp>
      <p:sp>
        <p:nvSpPr>
          <p:cNvPr id="6" name="TextBox 5"/>
          <p:cNvSpPr txBox="1"/>
          <p:nvPr/>
        </p:nvSpPr>
        <p:spPr>
          <a:xfrm>
            <a:off x="548640" y="2487168"/>
            <a:ext cx="11094415" cy="2286000"/>
          </a:xfrm>
          <a:prstGeom prst="rect">
            <a:avLst/>
          </a:prstGeom>
          <a:noFill/>
        </p:spPr>
        <p:txBody>
          <a:bodyPr wrap="square" anchor="t" lIns="0" rIns="0" tIns="0" bIns="0">
            <a:noAutofit/>
          </a:bodyPr>
          <a:lstStyle/>
          <a:p>
            <a:pPr algn="l"/>
            <a:r>
              <a:rPr sz="2600" b="0" i="0" u="none">
                <a:solidFill>
                  <a:srgbClr val="261F1D"/>
                </a:solidFill>
                <a:latin typeface="Helvetica"/>
              </a:rPr>
              <a:t>A small effect is genuinely harder to detect than a large one, and 40 patients is a small sample. That combination is exactly the recipe for a real effect getting missed entirely - a test that fails to reject the null even though a true difference exists. A proposed sample size can't be judged adequate without first knowing how small an effect it actually needs to catch.</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Rectangle 2"/>
          <p:cNvSpPr/>
          <p:nvPr/>
        </p:nvSpPr>
        <p:spPr>
          <a:xfrm>
            <a:off x="548640" y="457200"/>
            <a:ext cx="11094415" cy="822960"/>
          </a:xfrm>
          <a:prstGeom prst="rect">
            <a:avLst/>
          </a:prstGeom>
          <a:solidFill>
            <a:srgbClr val="A6C2B4"/>
          </a:solidFill>
          <a:ln w="50800">
            <a:solidFill>
              <a:srgbClr val="2643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457200"/>
            <a:ext cx="10545775" cy="822960"/>
          </a:xfrm>
          <a:prstGeom prst="rect">
            <a:avLst/>
          </a:prstGeom>
          <a:noFill/>
        </p:spPr>
        <p:txBody>
          <a:bodyPr wrap="square" anchor="ctr" lIns="0" rIns="0" tIns="0" bIns="0">
            <a:noAutofit/>
          </a:bodyPr>
          <a:lstStyle/>
          <a:p>
            <a:pPr algn="l"/>
            <a:r>
              <a:rPr sz="2600" b="1" i="0" u="none">
                <a:solidFill>
                  <a:srgbClr val="261F1D"/>
                </a:solidFill>
                <a:latin typeface="Helvetica"/>
              </a:rPr>
              <a:t>QUICK CHALLENGE</a:t>
            </a:r>
          </a:p>
        </p:txBody>
      </p:sp>
      <p:sp>
        <p:nvSpPr>
          <p:cNvPr id="5" name="TextBox 4"/>
          <p:cNvSpPr txBox="1"/>
          <p:nvPr/>
        </p:nvSpPr>
        <p:spPr>
          <a:xfrm>
            <a:off x="548640" y="1737360"/>
            <a:ext cx="11094415" cy="1280160"/>
          </a:xfrm>
          <a:prstGeom prst="rect">
            <a:avLst/>
          </a:prstGeom>
          <a:noFill/>
        </p:spPr>
        <p:txBody>
          <a:bodyPr wrap="square" anchor="t" lIns="0" rIns="0" tIns="0" bIns="0">
            <a:noAutofit/>
          </a:bodyPr>
          <a:lstStyle/>
          <a:p>
            <a:pPr algn="l"/>
            <a:r>
              <a:rPr sz="3200" b="1" i="0" u="none">
                <a:solidFill>
                  <a:srgbClr val="261F1D"/>
                </a:solidFill>
                <a:latin typeface="Helvetica"/>
              </a:rPr>
              <a:t>A trial of 50,000 patients finds a 'significant' 0.3% improvement in recovery rate. A hospital wants to switch treatments over it. What's the real question to ask first?</a:t>
            </a:r>
          </a:p>
        </p:txBody>
      </p:sp>
      <p:sp>
        <p:nvSpPr>
          <p:cNvPr id="6" name="TextBox 5"/>
          <p:cNvSpPr txBox="1"/>
          <p:nvPr/>
        </p:nvSpPr>
        <p:spPr>
          <a:xfrm>
            <a:off x="822960" y="3291840"/>
            <a:ext cx="10545775" cy="2560320"/>
          </a:xfrm>
          <a:prstGeom prst="rect">
            <a:avLst/>
          </a:prstGeom>
          <a:noFill/>
        </p:spPr>
        <p:txBody>
          <a:bodyPr wrap="square" lIns="0" rIns="0" tIns="0" bIns="0">
            <a:noAutofit/>
          </a:bodyPr>
          <a:lstStyle/>
          <a:p>
            <a:pPr>
              <a:spcAft>
                <a:spcPts val="1000"/>
              </a:spcAft>
            </a:pPr>
            <a:r>
              <a:rPr sz="2600" b="0" i="0" u="none">
                <a:solidFill>
                  <a:srgbClr val="261F1D"/>
                </a:solidFill>
                <a:latin typeface="Helvetica"/>
              </a:rPr>
              <a:t>A.  Was the sample size big enough to trust this?</a:t>
            </a:r>
          </a:p>
          <a:p>
            <a:pPr>
              <a:spcAft>
                <a:spcPts val="1000"/>
              </a:spcAft>
            </a:pPr>
            <a:r>
              <a:rPr sz="2600" b="0" i="0" u="none">
                <a:solidFill>
                  <a:srgbClr val="261F1D"/>
                </a:solidFill>
                <a:latin typeface="Helvetica"/>
              </a:rPr>
              <a:t>B.  Is 0.3% actually worth the cost of switching?</a:t>
            </a:r>
          </a:p>
          <a:p>
            <a:pPr>
              <a:spcAft>
                <a:spcPts val="1000"/>
              </a:spcAft>
            </a:pPr>
            <a:r>
              <a:rPr sz="2600" b="0" i="0" u="none">
                <a:solidFill>
                  <a:srgbClr val="261F1D"/>
                </a:solidFill>
                <a:latin typeface="Helvetica"/>
              </a:rPr>
              <a:t>C.  Was the p-value below 0.05?</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EECA"/>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Rectangle 2"/>
          <p:cNvSpPr/>
          <p:nvPr/>
        </p:nvSpPr>
        <p:spPr>
          <a:xfrm>
            <a:off x="548640" y="457200"/>
            <a:ext cx="11094415" cy="566928"/>
          </a:xfrm>
          <a:prstGeom prst="rect">
            <a:avLst/>
          </a:prstGeom>
          <a:solidFill>
            <a:srgbClr val="A6C2B4"/>
          </a:solidFill>
          <a:ln w="50800">
            <a:solidFill>
              <a:srgbClr val="2643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28655" cy="566928"/>
          </a:xfrm>
          <a:prstGeom prst="rect">
            <a:avLst/>
          </a:prstGeom>
          <a:noFill/>
        </p:spPr>
        <p:txBody>
          <a:bodyPr wrap="square" anchor="ctr" lIns="0" rIns="0" tIns="0" bIns="0">
            <a:noAutofit/>
          </a:bodyPr>
          <a:lstStyle/>
          <a:p>
            <a:pPr algn="l"/>
            <a:r>
              <a:rPr sz="2600" b="1" i="0" u="none">
                <a:solidFill>
                  <a:srgbClr val="261F1D"/>
                </a:solidFill>
                <a:latin typeface="Helvetica"/>
              </a:rPr>
              <a:t>Answer Key: Big Sample, Tiny Difference</a:t>
            </a:r>
          </a:p>
        </p:txBody>
      </p:sp>
      <p:sp>
        <p:nvSpPr>
          <p:cNvPr id="5" name="TextBox 4"/>
          <p:cNvSpPr txBox="1"/>
          <p:nvPr/>
        </p:nvSpPr>
        <p:spPr>
          <a:xfrm>
            <a:off x="548640" y="1389888"/>
            <a:ext cx="11094415" cy="914400"/>
          </a:xfrm>
          <a:prstGeom prst="rect">
            <a:avLst/>
          </a:prstGeom>
          <a:noFill/>
        </p:spPr>
        <p:txBody>
          <a:bodyPr wrap="square" anchor="t" lIns="0" rIns="0" tIns="0" bIns="0">
            <a:noAutofit/>
          </a:bodyPr>
          <a:lstStyle/>
          <a:p>
            <a:pPr algn="l"/>
            <a:r>
              <a:rPr sz="3200" b="1" i="0" u="none">
                <a:solidFill>
                  <a:srgbClr val="261F1D"/>
                </a:solidFill>
                <a:latin typeface="Helvetica"/>
              </a:rPr>
              <a:t>Correct answer: Is 0.3% actually worth the cost of switching?</a:t>
            </a:r>
          </a:p>
        </p:txBody>
      </p:sp>
      <p:sp>
        <p:nvSpPr>
          <p:cNvPr id="6" name="TextBox 5"/>
          <p:cNvSpPr txBox="1"/>
          <p:nvPr/>
        </p:nvSpPr>
        <p:spPr>
          <a:xfrm>
            <a:off x="548640" y="2487168"/>
            <a:ext cx="11094415" cy="2286000"/>
          </a:xfrm>
          <a:prstGeom prst="rect">
            <a:avLst/>
          </a:prstGeom>
          <a:noFill/>
        </p:spPr>
        <p:txBody>
          <a:bodyPr wrap="square" anchor="t" lIns="0" rIns="0" tIns="0" bIns="0">
            <a:noAutofit/>
          </a:bodyPr>
          <a:lstStyle/>
          <a:p>
            <a:pPr algn="l"/>
            <a:r>
              <a:rPr sz="2600" b="0" i="0" u="none">
                <a:solidFill>
                  <a:srgbClr val="261F1D"/>
                </a:solidFill>
                <a:latin typeface="Helvetica"/>
              </a:rPr>
              <a:t>The sample size was clearly big enough - that's exactly why a 0.3% difference showed up as 'significant' at all. The p-value being below 0.05 is also already given, not the open question. The one thing this scenario hasn't answered is whether a 0.3% improvement is worth whatever switching treatments actually costs in money, disruption, and risk - a practical-significance question no p-value can answer.</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Rectangle 2"/>
          <p:cNvSpPr/>
          <p:nvPr/>
        </p:nvSpPr>
        <p:spPr>
          <a:xfrm>
            <a:off x="548640" y="457200"/>
            <a:ext cx="11094415" cy="822960"/>
          </a:xfrm>
          <a:prstGeom prst="rect">
            <a:avLst/>
          </a:prstGeom>
          <a:solidFill>
            <a:srgbClr val="A6C2B4"/>
          </a:solidFill>
          <a:ln w="50800">
            <a:solidFill>
              <a:srgbClr val="2643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457200"/>
            <a:ext cx="10545775" cy="822960"/>
          </a:xfrm>
          <a:prstGeom prst="rect">
            <a:avLst/>
          </a:prstGeom>
          <a:noFill/>
        </p:spPr>
        <p:txBody>
          <a:bodyPr wrap="square" anchor="ctr" lIns="0" rIns="0" tIns="0" bIns="0">
            <a:noAutofit/>
          </a:bodyPr>
          <a:lstStyle/>
          <a:p>
            <a:pPr algn="l"/>
            <a:r>
              <a:rPr sz="2600" b="1" i="0" u="none">
                <a:solidFill>
                  <a:srgbClr val="261F1D"/>
                </a:solidFill>
                <a:latin typeface="Helvetica"/>
              </a:rPr>
              <a:t>WOULD YOU RATHER?</a:t>
            </a:r>
          </a:p>
        </p:txBody>
      </p:sp>
      <p:sp>
        <p:nvSpPr>
          <p:cNvPr id="5" name="TextBox 4"/>
          <p:cNvSpPr txBox="1"/>
          <p:nvPr/>
        </p:nvSpPr>
        <p:spPr>
          <a:xfrm>
            <a:off x="548640" y="1737360"/>
            <a:ext cx="11094415" cy="1280160"/>
          </a:xfrm>
          <a:prstGeom prst="rect">
            <a:avLst/>
          </a:prstGeom>
          <a:noFill/>
        </p:spPr>
        <p:txBody>
          <a:bodyPr wrap="square" anchor="t" lIns="0" rIns="0" tIns="0" bIns="0">
            <a:noAutofit/>
          </a:bodyPr>
          <a:lstStyle/>
          <a:p>
            <a:pPr algn="l"/>
            <a:r>
              <a:rPr sz="3200" b="1" i="0" u="none">
                <a:solidFill>
                  <a:srgbClr val="261F1D"/>
                </a:solidFill>
                <a:latin typeface="Helvetica"/>
              </a:rPr>
              <a:t>Would you rather have a small trial with an obvious effect, or a huge trial with a barely-there effect?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Rectangle 2"/>
          <p:cNvSpPr/>
          <p:nvPr/>
        </p:nvSpPr>
        <p:spPr>
          <a:xfrm>
            <a:off x="548640" y="457200"/>
            <a:ext cx="11094415" cy="822960"/>
          </a:xfrm>
          <a:prstGeom prst="rect">
            <a:avLst/>
          </a:prstGeom>
          <a:solidFill>
            <a:srgbClr val="A6C2B4"/>
          </a:solidFill>
          <a:ln w="50800">
            <a:solidFill>
              <a:srgbClr val="2643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457200"/>
            <a:ext cx="10545775" cy="822960"/>
          </a:xfrm>
          <a:prstGeom prst="rect">
            <a:avLst/>
          </a:prstGeom>
          <a:noFill/>
        </p:spPr>
        <p:txBody>
          <a:bodyPr wrap="square" anchor="ctr" lIns="0" rIns="0" tIns="0" bIns="0">
            <a:noAutofit/>
          </a:bodyPr>
          <a:lstStyle/>
          <a:p>
            <a:pPr algn="l"/>
            <a:r>
              <a:rPr sz="2600" b="1" i="0" u="none">
                <a:solidFill>
                  <a:srgbClr val="261F1D"/>
                </a:solidFill>
                <a:latin typeface="Helvetica"/>
              </a:rPr>
              <a:t>INTERVIEW PREP</a:t>
            </a:r>
          </a:p>
        </p:txBody>
      </p:sp>
      <p:sp>
        <p:nvSpPr>
          <p:cNvPr id="5" name="TextBox 4"/>
          <p:cNvSpPr txBox="1"/>
          <p:nvPr/>
        </p:nvSpPr>
        <p:spPr>
          <a:xfrm>
            <a:off x="548640" y="1554480"/>
            <a:ext cx="11094415" cy="731520"/>
          </a:xfrm>
          <a:prstGeom prst="rect">
            <a:avLst/>
          </a:prstGeom>
          <a:noFill/>
        </p:spPr>
        <p:txBody>
          <a:bodyPr wrap="square" anchor="t" lIns="0" rIns="0" tIns="0" bIns="0">
            <a:noAutofit/>
          </a:bodyPr>
          <a:lstStyle/>
          <a:p>
            <a:pPr algn="l"/>
            <a:r>
              <a:rPr sz="3200" b="1" i="0" u="none">
                <a:solidFill>
                  <a:srgbClr val="261F1D"/>
                </a:solidFill>
                <a:latin typeface="Helvetica"/>
              </a:rPr>
              <a:t>Topics You Might Get Asked About</a:t>
            </a:r>
          </a:p>
        </p:txBody>
      </p:sp>
      <p:sp>
        <p:nvSpPr>
          <p:cNvPr id="6" name="TextBox 5"/>
          <p:cNvSpPr txBox="1"/>
          <p:nvPr/>
        </p:nvSpPr>
        <p:spPr>
          <a:xfrm>
            <a:off x="822960" y="2560320"/>
            <a:ext cx="10545775" cy="3474720"/>
          </a:xfrm>
          <a:prstGeom prst="rect">
            <a:avLst/>
          </a:prstGeom>
          <a:noFill/>
        </p:spPr>
        <p:txBody>
          <a:bodyPr wrap="square" lIns="0" rIns="0" tIns="0" bIns="0">
            <a:noAutofit/>
          </a:bodyPr>
          <a:lstStyle/>
          <a:p>
            <a:pPr>
              <a:spcAft>
                <a:spcPts val="1000"/>
              </a:spcAft>
            </a:pPr>
            <a:r>
              <a:rPr sz="2600">
                <a:solidFill>
                  <a:srgbClr val="261F1D"/>
                </a:solidFill>
                <a:latin typeface="Helvetica"/>
              </a:rPr>
              <a:t>•  </a:t>
            </a:r>
            <a:r>
              <a:rPr sz="2600" b="0" i="0" u="none">
                <a:solidFill>
                  <a:srgbClr val="261F1D"/>
                </a:solidFill>
                <a:latin typeface="Helvetica"/>
              </a:rPr>
              <a:t>How would you explain a p-value to a non-technical stakeholder?</a:t>
            </a:r>
          </a:p>
          <a:p>
            <a:pPr>
              <a:spcAft>
                <a:spcPts val="1000"/>
              </a:spcAft>
            </a:pPr>
            <a:r>
              <a:rPr sz="2600">
                <a:solidFill>
                  <a:srgbClr val="261F1D"/>
                </a:solidFill>
                <a:latin typeface="Helvetica"/>
              </a:rPr>
              <a:t>•  </a:t>
            </a:r>
            <a:r>
              <a:rPr sz="2600" b="0" i="0" u="none">
                <a:solidFill>
                  <a:srgbClr val="261F1D"/>
                </a:solidFill>
                <a:latin typeface="Helvetica"/>
              </a:rPr>
              <a:t>How would you explain Type I and Type II errors to a hiring manager?</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Rectangle 2"/>
          <p:cNvSpPr/>
          <p:nvPr/>
        </p:nvSpPr>
        <p:spPr>
          <a:xfrm>
            <a:off x="548640" y="457200"/>
            <a:ext cx="11094415" cy="548640"/>
          </a:xfrm>
          <a:prstGeom prst="rect">
            <a:avLst/>
          </a:prstGeom>
          <a:solidFill>
            <a:srgbClr val="A6C2B4"/>
          </a:solidFill>
          <a:ln w="50800">
            <a:solidFill>
              <a:srgbClr val="2643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
          <p:cNvPicPr>
            <a:picLocks noChangeAspect="1"/>
          </p:cNvPicPr>
          <p:nvPr/>
        </p:nvPicPr>
        <p:blipFill>
          <a:blip r:embed="rId3"/>
          <a:stretch>
            <a:fillRect/>
          </a:stretch>
        </p:blipFill>
        <p:spPr>
          <a:xfrm>
            <a:off x="731520" y="548640"/>
            <a:ext cx="365760" cy="365760"/>
          </a:xfrm>
          <a:prstGeom prst="rect">
            <a:avLst/>
          </a:prstGeom>
        </p:spPr>
      </p:pic>
      <p:sp>
        <p:nvSpPr>
          <p:cNvPr id="5" name="TextBox 4"/>
          <p:cNvSpPr txBox="1"/>
          <p:nvPr/>
        </p:nvSpPr>
        <p:spPr>
          <a:xfrm>
            <a:off x="1234440" y="457200"/>
            <a:ext cx="10271455" cy="548640"/>
          </a:xfrm>
          <a:prstGeom prst="rect">
            <a:avLst/>
          </a:prstGeom>
          <a:noFill/>
        </p:spPr>
        <p:txBody>
          <a:bodyPr wrap="square" anchor="ctr" lIns="0" rIns="0" tIns="0" bIns="0">
            <a:noAutofit/>
          </a:bodyPr>
          <a:lstStyle/>
          <a:p>
            <a:pPr algn="l"/>
            <a:r>
              <a:rPr sz="2600" b="1" i="0" u="none">
                <a:solidFill>
                  <a:srgbClr val="261F1D"/>
                </a:solidFill>
                <a:latin typeface="Helvetica"/>
              </a:rPr>
              <a:t>INTERVIEW PREP</a:t>
            </a:r>
          </a:p>
        </p:txBody>
      </p:sp>
      <p:sp>
        <p:nvSpPr>
          <p:cNvPr id="6" name="TextBox 5"/>
          <p:cNvSpPr txBox="1"/>
          <p:nvPr/>
        </p:nvSpPr>
        <p:spPr>
          <a:xfrm>
            <a:off x="548640" y="1280160"/>
            <a:ext cx="11094415" cy="1188720"/>
          </a:xfrm>
          <a:prstGeom prst="rect">
            <a:avLst/>
          </a:prstGeom>
          <a:noFill/>
        </p:spPr>
        <p:txBody>
          <a:bodyPr wrap="square" anchor="t" lIns="0" rIns="0" tIns="0" bIns="0">
            <a:noAutofit/>
          </a:bodyPr>
          <a:lstStyle/>
          <a:p>
            <a:pPr algn="l"/>
            <a:r>
              <a:rPr sz="3200" b="1" i="0" u="none">
                <a:solidFill>
                  <a:srgbClr val="261F1D"/>
                </a:solidFill>
                <a:latin typeface="Helvetica"/>
              </a:rPr>
              <a:t>How would you explain a p-value to a non-technical stakeholder?</a:t>
            </a:r>
          </a:p>
        </p:txBody>
      </p:sp>
      <p:sp>
        <p:nvSpPr>
          <p:cNvPr id="7" name="Rounded Rectangle 6"/>
          <p:cNvSpPr/>
          <p:nvPr/>
        </p:nvSpPr>
        <p:spPr>
          <a:xfrm>
            <a:off x="548640" y="2743200"/>
            <a:ext cx="11094415" cy="3611880"/>
          </a:xfrm>
          <a:prstGeom prst="roundRect">
            <a:avLst>
              <a:gd name="adj" fmla="val 6000"/>
            </a:avLst>
          </a:prstGeom>
          <a:solidFill>
            <a:srgbClr val="DEEAF4"/>
          </a:solidFill>
          <a:ln w="50800">
            <a:solidFill>
              <a:srgbClr val="2274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971800"/>
            <a:ext cx="10545775" cy="3154680"/>
          </a:xfrm>
          <a:prstGeom prst="rect">
            <a:avLst/>
          </a:prstGeom>
          <a:noFill/>
        </p:spPr>
        <p:txBody>
          <a:bodyPr wrap="square" anchor="t" lIns="0" rIns="0" tIns="0" bIns="0">
            <a:noAutofit/>
          </a:bodyPr>
          <a:lstStyle/>
          <a:p>
            <a:pPr algn="l"/>
            <a:r>
              <a:rPr sz="2600" b="1" i="0" u="none">
                <a:solidFill>
                  <a:srgbClr val="264326"/>
                </a:solidFill>
                <a:latin typeface="Helvetica"/>
              </a:rPr>
              <a:t>Answer:</a:t>
            </a:r>
            <a:r>
              <a:rPr sz="2600" b="0" i="0" u="none">
                <a:solidFill>
                  <a:srgbClr val="261F1D"/>
                </a:solidFill>
                <a:latin typeface="Helvetica"/>
              </a:rPr>
              <a:t> Audience: For a stakeholder, not a fellow analyst, so I'd skip the formal notation. Simplify: A p-value is how surprising your result would be if there were actually no real effect. Analogy: Like a smoke detector - a high reading flags evidence worth checking, it doesn't prove there's a fire. Check: I'd confirm they don't walk away thinking it's 'the probability the null is true.'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Rectangle 2"/>
          <p:cNvSpPr/>
          <p:nvPr/>
        </p:nvSpPr>
        <p:spPr>
          <a:xfrm>
            <a:off x="548640" y="457200"/>
            <a:ext cx="11094415" cy="548640"/>
          </a:xfrm>
          <a:prstGeom prst="rect">
            <a:avLst/>
          </a:prstGeom>
          <a:solidFill>
            <a:srgbClr val="A6C2B4"/>
          </a:solidFill>
          <a:ln w="50800">
            <a:solidFill>
              <a:srgbClr val="2643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
          <p:cNvPicPr>
            <a:picLocks noChangeAspect="1"/>
          </p:cNvPicPr>
          <p:nvPr/>
        </p:nvPicPr>
        <p:blipFill>
          <a:blip r:embed="rId3"/>
          <a:stretch>
            <a:fillRect/>
          </a:stretch>
        </p:blipFill>
        <p:spPr>
          <a:xfrm>
            <a:off x="731520" y="548640"/>
            <a:ext cx="365760" cy="365760"/>
          </a:xfrm>
          <a:prstGeom prst="rect">
            <a:avLst/>
          </a:prstGeom>
        </p:spPr>
      </p:pic>
      <p:sp>
        <p:nvSpPr>
          <p:cNvPr id="5" name="TextBox 4"/>
          <p:cNvSpPr txBox="1"/>
          <p:nvPr/>
        </p:nvSpPr>
        <p:spPr>
          <a:xfrm>
            <a:off x="1234440" y="457200"/>
            <a:ext cx="10271455" cy="548640"/>
          </a:xfrm>
          <a:prstGeom prst="rect">
            <a:avLst/>
          </a:prstGeom>
          <a:noFill/>
        </p:spPr>
        <p:txBody>
          <a:bodyPr wrap="square" anchor="ctr" lIns="0" rIns="0" tIns="0" bIns="0">
            <a:noAutofit/>
          </a:bodyPr>
          <a:lstStyle/>
          <a:p>
            <a:pPr algn="l"/>
            <a:r>
              <a:rPr sz="2600" b="1" i="0" u="none">
                <a:solidFill>
                  <a:srgbClr val="261F1D"/>
                </a:solidFill>
                <a:latin typeface="Helvetica"/>
              </a:rPr>
              <a:t>INTERVIEW PREP</a:t>
            </a:r>
          </a:p>
        </p:txBody>
      </p:sp>
      <p:sp>
        <p:nvSpPr>
          <p:cNvPr id="6" name="TextBox 5"/>
          <p:cNvSpPr txBox="1"/>
          <p:nvPr/>
        </p:nvSpPr>
        <p:spPr>
          <a:xfrm>
            <a:off x="548640" y="1280160"/>
            <a:ext cx="11094415" cy="1188720"/>
          </a:xfrm>
          <a:prstGeom prst="rect">
            <a:avLst/>
          </a:prstGeom>
          <a:noFill/>
        </p:spPr>
        <p:txBody>
          <a:bodyPr wrap="square" anchor="t" lIns="0" rIns="0" tIns="0" bIns="0">
            <a:noAutofit/>
          </a:bodyPr>
          <a:lstStyle/>
          <a:p>
            <a:pPr algn="l"/>
            <a:r>
              <a:rPr sz="3200" b="1" i="0" u="none">
                <a:solidFill>
                  <a:srgbClr val="261F1D"/>
                </a:solidFill>
                <a:latin typeface="Helvetica"/>
              </a:rPr>
              <a:t>How would you explain Type I and Type II errors to a hiring manager?</a:t>
            </a:r>
          </a:p>
        </p:txBody>
      </p:sp>
      <p:sp>
        <p:nvSpPr>
          <p:cNvPr id="7" name="Rounded Rectangle 6"/>
          <p:cNvSpPr/>
          <p:nvPr/>
        </p:nvSpPr>
        <p:spPr>
          <a:xfrm>
            <a:off x="548640" y="2743200"/>
            <a:ext cx="11094415" cy="3611880"/>
          </a:xfrm>
          <a:prstGeom prst="roundRect">
            <a:avLst>
              <a:gd name="adj" fmla="val 6000"/>
            </a:avLst>
          </a:prstGeom>
          <a:solidFill>
            <a:srgbClr val="DEEAF4"/>
          </a:solidFill>
          <a:ln w="50800">
            <a:solidFill>
              <a:srgbClr val="2274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971800"/>
            <a:ext cx="10545775" cy="3154680"/>
          </a:xfrm>
          <a:prstGeom prst="rect">
            <a:avLst/>
          </a:prstGeom>
          <a:noFill/>
        </p:spPr>
        <p:txBody>
          <a:bodyPr wrap="square" anchor="t" lIns="0" rIns="0" tIns="0" bIns="0">
            <a:noAutofit/>
          </a:bodyPr>
          <a:lstStyle/>
          <a:p>
            <a:pPr algn="l"/>
            <a:r>
              <a:rPr sz="2600" b="1" i="0" u="none">
                <a:solidFill>
                  <a:srgbClr val="264326"/>
                </a:solidFill>
                <a:latin typeface="Helvetica"/>
              </a:rPr>
              <a:t>Answer:</a:t>
            </a:r>
            <a:r>
              <a:rPr sz="2600" b="0" i="0" u="none">
                <a:solidFill>
                  <a:srgbClr val="261F1D"/>
                </a:solidFill>
                <a:latin typeface="Helvetica"/>
              </a:rPr>
              <a:t> Audience: A hiring manager, so I'd lead with the tradeoff, not the labels. Simplify: Type I is a false alarm - rejecting a true null. Type II is a miss - failing to reject a false null. Analogy: Convicting an innocent person versus letting a guilty one go free. Check: I'd confirm they see it as a real tradeoff, not a bug you can just eliminate.</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457200"/>
            <a:ext cx="11094415" cy="731520"/>
          </a:xfrm>
          <a:prstGeom prst="rect">
            <a:avLst/>
          </a:prstGeom>
          <a:noFill/>
        </p:spPr>
        <p:txBody>
          <a:bodyPr wrap="square" anchor="t" lIns="0" rIns="0" tIns="0" bIns="0">
            <a:noAutofit/>
          </a:bodyPr>
          <a:lstStyle/>
          <a:p>
            <a:pPr algn="l"/>
            <a:r>
              <a:rPr sz="3200" b="1" i="0" u="none">
                <a:solidFill>
                  <a:srgbClr val="261F1D"/>
                </a:solidFill>
                <a:latin typeface="Helvetica"/>
              </a:rPr>
              <a:t>Key Terms — Recap</a:t>
            </a:r>
          </a:p>
        </p:txBody>
      </p:sp>
      <p:graphicFrame>
        <p:nvGraphicFramePr>
          <p:cNvPr id="4" name="Table 3"/>
          <p:cNvGraphicFramePr>
            <a:graphicFrameLocks noGrp="1"/>
          </p:cNvGraphicFramePr>
          <p:nvPr/>
        </p:nvGraphicFramePr>
        <p:xfrm>
          <a:off x="548640" y="1303020"/>
          <a:ext cx="11094415" cy="4892040"/>
        </p:xfrm>
        <a:graphic>
          <a:graphicData uri="http://schemas.openxmlformats.org/drawingml/2006/table">
            <a:tbl>
              <a:tblPr>
                <a:tableStyleId>{5C22544A-7EE6-4342-B048-85BDC9FD1C3A}</a:tableStyleId>
              </a:tblPr>
              <a:tblGrid>
                <a:gridCol w="5547207"/>
                <a:gridCol w="5547208"/>
              </a:tblGrid>
              <a:tr h="502920">
                <a:tc>
                  <a:txBody>
                    <a:bodyPr wrap="square"/>
                    <a:lstStyle/>
                    <a:p>
                      <a:r>
                        <a:rPr sz="2600" b="1" i="0" u="none">
                          <a:solidFill>
                            <a:srgbClr val="FFFCF7"/>
                          </a:solidFill>
                          <a:latin typeface="Helvetica"/>
                        </a:rPr>
                        <a:t>Term</a:t>
                      </a:r>
                    </a:p>
                  </a:txBody>
                  <a:tcPr marL="109728" marR="109728" marT="54864" marB="54864" anchor="ctr">
                    <a:solidFill>
                      <a:srgbClr val="264326"/>
                    </a:solidFill>
                  </a:tcPr>
                </a:tc>
                <a:tc>
                  <a:txBody>
                    <a:bodyPr wrap="square"/>
                    <a:lstStyle/>
                    <a:p>
                      <a:r>
                        <a:rPr sz="2600" b="1" i="0" u="none">
                          <a:solidFill>
                            <a:srgbClr val="FFFCF7"/>
                          </a:solidFill>
                          <a:latin typeface="Helvetica"/>
                        </a:rPr>
                        <a:t>Definition</a:t>
                      </a:r>
                    </a:p>
                  </a:txBody>
                  <a:tcPr marL="109728" marR="109728" marT="54864" marB="54864" anchor="ctr">
                    <a:solidFill>
                      <a:srgbClr val="264326"/>
                    </a:solidFill>
                  </a:tcPr>
                </a:tc>
              </a:tr>
              <a:tr h="877824">
                <a:tc>
                  <a:txBody>
                    <a:bodyPr wrap="square"/>
                    <a:lstStyle/>
                    <a:p>
                      <a:r>
                        <a:rPr sz="2600" b="0" i="0" u="none">
                          <a:solidFill>
                            <a:srgbClr val="261F1D"/>
                          </a:solidFill>
                          <a:latin typeface="Helvetica"/>
                        </a:rPr>
                        <a:t>null hypothesis</a:t>
                      </a:r>
                    </a:p>
                  </a:txBody>
                  <a:tcPr marL="109728" marR="109728" marT="54864" marB="54864" anchor="ctr">
                    <a:solidFill>
                      <a:srgbClr val="FFFCF7"/>
                    </a:solidFill>
                  </a:tcPr>
                </a:tc>
                <a:tc>
                  <a:txBody>
                    <a:bodyPr wrap="square"/>
                    <a:lstStyle/>
                    <a:p>
                      <a:r>
                        <a:rPr sz="2600" b="0" i="0" u="none">
                          <a:solidFill>
                            <a:srgbClr val="261F1D"/>
                          </a:solidFill>
                          <a:latin typeface="Helvetica"/>
                        </a:rPr>
                        <a:t>No real difference - only sample noise</a:t>
                      </a:r>
                    </a:p>
                  </a:txBody>
                  <a:tcPr marL="109728" marR="109728" marT="54864" marB="54864" anchor="ctr">
                    <a:solidFill>
                      <a:srgbClr val="FFFCF7"/>
                    </a:solidFill>
                  </a:tcPr>
                </a:tc>
              </a:tr>
              <a:tr h="877824">
                <a:tc>
                  <a:txBody>
                    <a:bodyPr wrap="square"/>
                    <a:lstStyle/>
                    <a:p>
                      <a:r>
                        <a:rPr sz="2600" b="0" i="0" u="none">
                          <a:solidFill>
                            <a:srgbClr val="261F1D"/>
                          </a:solidFill>
                          <a:latin typeface="Helvetica"/>
                        </a:rPr>
                        <a:t>alternative hypothesis</a:t>
                      </a:r>
                    </a:p>
                  </a:txBody>
                  <a:tcPr marL="109728" marR="109728" marT="54864" marB="54864" anchor="ctr">
                    <a:solidFill>
                      <a:srgbClr val="FFF6E4"/>
                    </a:solidFill>
                  </a:tcPr>
                </a:tc>
                <a:tc>
                  <a:txBody>
                    <a:bodyPr wrap="square"/>
                    <a:lstStyle/>
                    <a:p>
                      <a:r>
                        <a:rPr sz="2600" b="0" i="0" u="none">
                          <a:solidFill>
                            <a:srgbClr val="261F1D"/>
                          </a:solidFill>
                          <a:latin typeface="Helvetica"/>
                        </a:rPr>
                        <a:t>A real difference or effect exists</a:t>
                      </a:r>
                    </a:p>
                  </a:txBody>
                  <a:tcPr marL="109728" marR="109728" marT="54864" marB="54864" anchor="ctr">
                    <a:solidFill>
                      <a:srgbClr val="FFF6E4"/>
                    </a:solidFill>
                  </a:tcPr>
                </a:tc>
              </a:tr>
              <a:tr h="877824">
                <a:tc>
                  <a:txBody>
                    <a:bodyPr wrap="square"/>
                    <a:lstStyle/>
                    <a:p>
                      <a:r>
                        <a:rPr sz="2600" b="0" i="0" u="none">
                          <a:solidFill>
                            <a:srgbClr val="261F1D"/>
                          </a:solidFill>
                          <a:latin typeface="Helvetica"/>
                        </a:rPr>
                        <a:t>p-value</a:t>
                      </a:r>
                    </a:p>
                  </a:txBody>
                  <a:tcPr marL="109728" marR="109728" marT="54864" marB="54864" anchor="ctr">
                    <a:solidFill>
                      <a:srgbClr val="FFFCF7"/>
                    </a:solidFill>
                  </a:tcPr>
                </a:tc>
                <a:tc>
                  <a:txBody>
                    <a:bodyPr wrap="square"/>
                    <a:lstStyle/>
                    <a:p>
                      <a:r>
                        <a:rPr sz="2600" b="0" i="0" u="none">
                          <a:solidFill>
                            <a:srgbClr val="261F1D"/>
                          </a:solidFill>
                          <a:latin typeface="Helvetica"/>
                        </a:rPr>
                        <a:t>How surprising this result is, if null were true</a:t>
                      </a:r>
                    </a:p>
                  </a:txBody>
                  <a:tcPr marL="109728" marR="109728" marT="54864" marB="54864" anchor="ctr">
                    <a:solidFill>
                      <a:srgbClr val="FFFCF7"/>
                    </a:solidFill>
                  </a:tcPr>
                </a:tc>
              </a:tr>
              <a:tr h="877824">
                <a:tc>
                  <a:txBody>
                    <a:bodyPr wrap="square"/>
                    <a:lstStyle/>
                    <a:p>
                      <a:r>
                        <a:rPr sz="2600" b="0" i="0" u="none">
                          <a:solidFill>
                            <a:srgbClr val="261F1D"/>
                          </a:solidFill>
                          <a:latin typeface="Helvetica"/>
                        </a:rPr>
                        <a:t>confidence interval</a:t>
                      </a:r>
                    </a:p>
                  </a:txBody>
                  <a:tcPr marL="109728" marR="109728" marT="54864" marB="54864" anchor="ctr">
                    <a:solidFill>
                      <a:srgbClr val="FFF6E4"/>
                    </a:solidFill>
                  </a:tcPr>
                </a:tc>
                <a:tc>
                  <a:txBody>
                    <a:bodyPr wrap="square"/>
                    <a:lstStyle/>
                    <a:p>
                      <a:r>
                        <a:rPr sz="2600" b="0" i="0" u="none">
                          <a:solidFill>
                            <a:srgbClr val="261F1D"/>
                          </a:solidFill>
                          <a:latin typeface="Helvetica"/>
                        </a:rPr>
                        <a:t>Range of plausible values for the true effect</a:t>
                      </a:r>
                    </a:p>
                  </a:txBody>
                  <a:tcPr marL="109728" marR="109728" marT="54864" marB="54864" anchor="ctr">
                    <a:solidFill>
                      <a:srgbClr val="FFF6E4"/>
                    </a:solidFill>
                  </a:tcPr>
                </a:tc>
              </a:tr>
              <a:tr h="877824">
                <a:tc>
                  <a:txBody>
                    <a:bodyPr wrap="square"/>
                    <a:lstStyle/>
                    <a:p>
                      <a:r>
                        <a:rPr sz="2600" b="0" i="0" u="none">
                          <a:solidFill>
                            <a:srgbClr val="261F1D"/>
                          </a:solidFill>
                          <a:latin typeface="Helvetica"/>
                        </a:rPr>
                        <a:t>minimum detectable effect</a:t>
                      </a:r>
                    </a:p>
                  </a:txBody>
                  <a:tcPr marL="109728" marR="109728" marT="54864" marB="54864" anchor="ctr">
                    <a:solidFill>
                      <a:srgbClr val="FFFCF7"/>
                    </a:solidFill>
                  </a:tcPr>
                </a:tc>
                <a:tc>
                  <a:txBody>
                    <a:bodyPr wrap="square"/>
                    <a:lstStyle/>
                    <a:p>
                      <a:r>
                        <a:rPr sz="2600" b="0" i="0" u="none">
                          <a:solidFill>
                            <a:srgbClr val="261F1D"/>
                          </a:solidFill>
                          <a:latin typeface="Helvetica"/>
                        </a:rPr>
                        <a:t>Smallest real effect a study can reliably catch</a:t>
                      </a:r>
                    </a:p>
                  </a:txBody>
                  <a:tcPr marL="109728" marR="109728" marT="54864" marB="54864" anchor="ctr">
                    <a:solidFill>
                      <a:srgbClr val="FFFCF7"/>
                    </a:solidFill>
                  </a:tcPr>
                </a:tc>
              </a:tr>
            </a:tbl>
          </a:graphicData>
        </a:graphic>
      </p:graphicFrame>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6E4"/>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457200"/>
            <a:ext cx="11094415" cy="731520"/>
          </a:xfrm>
          <a:prstGeom prst="rect">
            <a:avLst/>
          </a:prstGeom>
          <a:noFill/>
        </p:spPr>
        <p:txBody>
          <a:bodyPr wrap="square" anchor="t" lIns="0" rIns="0" tIns="0" bIns="0">
            <a:noAutofit/>
          </a:bodyPr>
          <a:lstStyle/>
          <a:p>
            <a:pPr algn="l"/>
            <a:r>
              <a:rPr sz="3200" b="1" i="0" u="none">
                <a:solidFill>
                  <a:srgbClr val="261F1D"/>
                </a:solidFill>
                <a:latin typeface="Helvetica"/>
              </a:rPr>
              <a:t>So far, we've covered...</a:t>
            </a:r>
          </a:p>
        </p:txBody>
      </p:sp>
      <p:sp>
        <p:nvSpPr>
          <p:cNvPr id="4" name="TextBox 3"/>
          <p:cNvSpPr txBox="1"/>
          <p:nvPr/>
        </p:nvSpPr>
        <p:spPr>
          <a:xfrm>
            <a:off x="548640" y="1188720"/>
            <a:ext cx="11094415" cy="5120640"/>
          </a:xfrm>
          <a:prstGeom prst="rect">
            <a:avLst/>
          </a:prstGeom>
          <a:noFill/>
        </p:spPr>
        <p:txBody>
          <a:bodyPr wrap="square" lIns="0" rIns="0" tIns="0" bIns="0">
            <a:noAutofit/>
          </a:bodyPr>
          <a:lstStyle/>
          <a:p>
            <a:pPr>
              <a:spcAft>
                <a:spcPts val="1000"/>
              </a:spcAft>
            </a:pPr>
            <a:r>
              <a:rPr sz="2600">
                <a:solidFill>
                  <a:srgbClr val="261F1D"/>
                </a:solidFill>
                <a:latin typeface="Helvetica"/>
              </a:rPr>
              <a:t>•  </a:t>
            </a:r>
            <a:r>
              <a:rPr sz="2600" b="0" i="0" u="none">
                <a:solidFill>
                  <a:srgbClr val="261F1D"/>
                </a:solidFill>
                <a:latin typeface="Helvetica"/>
              </a:rPr>
              <a:t>Two explanations for any difference you see</a:t>
            </a:r>
          </a:p>
          <a:p>
            <a:pPr>
              <a:spcAft>
                <a:spcPts val="1000"/>
              </a:spcAft>
            </a:pPr>
            <a:r>
              <a:rPr sz="2600">
                <a:solidFill>
                  <a:srgbClr val="261F1D"/>
                </a:solidFill>
                <a:latin typeface="Helvetica"/>
              </a:rPr>
              <a:t>•  </a:t>
            </a:r>
            <a:r>
              <a:rPr sz="2600" b="0" i="0" u="none">
                <a:solidFill>
                  <a:srgbClr val="261F1D"/>
                </a:solidFill>
                <a:latin typeface="Helvetica"/>
              </a:rPr>
              <a:t>Null and alternative hypothesis, defined for real</a:t>
            </a:r>
          </a:p>
          <a:p>
            <a:pPr>
              <a:spcAft>
                <a:spcPts val="1000"/>
              </a:spcAft>
            </a:pPr>
            <a:r>
              <a:rPr sz="2600">
                <a:solidFill>
                  <a:srgbClr val="261F1D"/>
                </a:solidFill>
                <a:latin typeface="Helvetica"/>
              </a:rPr>
              <a:t>•  </a:t>
            </a:r>
            <a:r>
              <a:rPr sz="2600" b="0" i="0" u="none">
                <a:solidFill>
                  <a:srgbClr val="261F1D"/>
                </a:solidFill>
                <a:latin typeface="Helvetica"/>
              </a:rPr>
              <a:t>What a p-value actually measures</a:t>
            </a:r>
          </a:p>
          <a:p>
            <a:pPr>
              <a:spcAft>
                <a:spcPts val="1000"/>
              </a:spcAft>
            </a:pPr>
            <a:r>
              <a:rPr sz="2600">
                <a:solidFill>
                  <a:srgbClr val="261F1D"/>
                </a:solidFill>
                <a:latin typeface="Helvetica"/>
              </a:rPr>
              <a:t>•  </a:t>
            </a:r>
            <a:r>
              <a:rPr sz="2600" b="0" i="0" u="none">
                <a:solidFill>
                  <a:srgbClr val="261F1D"/>
                </a:solidFill>
                <a:latin typeface="Helvetica"/>
              </a:rPr>
              <a:t>Why a huge sample can mislead you</a:t>
            </a:r>
          </a:p>
          <a:p>
            <a:pPr>
              <a:spcAft>
                <a:spcPts val="1000"/>
              </a:spcAft>
            </a:pPr>
            <a:r>
              <a:rPr sz="2600">
                <a:solidFill>
                  <a:srgbClr val="261F1D"/>
                </a:solidFill>
                <a:latin typeface="Helvetica"/>
              </a:rPr>
              <a:t>•  </a:t>
            </a:r>
            <a:r>
              <a:rPr sz="2600" b="0" i="0" u="none">
                <a:solidFill>
                  <a:srgbClr val="261F1D"/>
                </a:solidFill>
                <a:latin typeface="Helvetica"/>
              </a:rPr>
              <a:t>Statistical significance versus practical significance</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264326"/>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1188720"/>
            <a:ext cx="11094415" cy="1005840"/>
          </a:xfrm>
          <a:prstGeom prst="rect">
            <a:avLst/>
          </a:prstGeom>
          <a:noFill/>
        </p:spPr>
        <p:txBody>
          <a:bodyPr wrap="square" anchor="t" lIns="0" rIns="0" tIns="0" bIns="0">
            <a:noAutofit/>
          </a:bodyPr>
          <a:lstStyle/>
          <a:p>
            <a:pPr algn="l"/>
            <a:r>
              <a:rPr sz="4000" b="1" i="0" u="none">
                <a:solidFill>
                  <a:srgbClr val="FFFCF7"/>
                </a:solidFill>
                <a:latin typeface="Helvetica"/>
              </a:rPr>
              <a:t>Before Next Class Runs the Real Test</a:t>
            </a:r>
          </a:p>
        </p:txBody>
      </p:sp>
      <p:sp>
        <p:nvSpPr>
          <p:cNvPr id="4" name="TextBox 3"/>
          <p:cNvSpPr txBox="1"/>
          <p:nvPr/>
        </p:nvSpPr>
        <p:spPr>
          <a:xfrm>
            <a:off x="548640" y="2651760"/>
            <a:ext cx="11094415" cy="2103120"/>
          </a:xfrm>
          <a:prstGeom prst="rect">
            <a:avLst/>
          </a:prstGeom>
          <a:noFill/>
        </p:spPr>
        <p:txBody>
          <a:bodyPr wrap="square" lIns="0" rIns="0" tIns="0" bIns="0">
            <a:noAutofit/>
          </a:bodyPr>
          <a:lstStyle/>
          <a:p>
            <a:pPr>
              <a:spcAft>
                <a:spcPts val="1000"/>
              </a:spcAft>
            </a:pPr>
            <a:r>
              <a:rPr sz="2600">
                <a:solidFill>
                  <a:srgbClr val="FFFCF7"/>
                </a:solidFill>
                <a:latin typeface="Helvetica"/>
              </a:rPr>
              <a:t>•  </a:t>
            </a:r>
            <a:r>
              <a:rPr sz="2600" b="0" i="0" u="none">
                <a:solidFill>
                  <a:srgbClr val="FFFCF7"/>
                </a:solidFill>
                <a:latin typeface="Helvetica"/>
              </a:rPr>
              <a:t>Write your own null hypothesis</a:t>
            </a:r>
          </a:p>
          <a:p>
            <a:pPr>
              <a:spcAft>
                <a:spcPts val="1000"/>
              </a:spcAft>
            </a:pPr>
            <a:r>
              <a:rPr sz="2600">
                <a:solidFill>
                  <a:srgbClr val="FFFCF7"/>
                </a:solidFill>
                <a:latin typeface="Helvetica"/>
              </a:rPr>
              <a:t>•  </a:t>
            </a:r>
            <a:r>
              <a:rPr sz="2600" b="0" i="0" u="none">
                <a:solidFill>
                  <a:srgbClr val="FFFCF7"/>
                </a:solidFill>
                <a:latin typeface="Helvetica"/>
              </a:rPr>
              <a:t>Write the matching alternative hypothesis</a:t>
            </a:r>
          </a:p>
          <a:p>
            <a:pPr>
              <a:spcAft>
                <a:spcPts val="1000"/>
              </a:spcAft>
            </a:pPr>
            <a:r>
              <a:rPr sz="2600">
                <a:solidFill>
                  <a:srgbClr val="FFFCF7"/>
                </a:solidFill>
                <a:latin typeface="Helvetica"/>
              </a:rPr>
              <a:t>•  </a:t>
            </a:r>
            <a:r>
              <a:rPr sz="2600" b="0" i="0" u="none">
                <a:solidFill>
                  <a:srgbClr val="FFFCF7"/>
                </a:solidFill>
                <a:latin typeface="Helvetica"/>
              </a:rPr>
              <a:t>Bring both to next class</a:t>
            </a:r>
          </a:p>
        </p:txBody>
      </p:sp>
      <p:sp>
        <p:nvSpPr>
          <p:cNvPr id="5" name="TextBox 4"/>
          <p:cNvSpPr txBox="1"/>
          <p:nvPr/>
        </p:nvSpPr>
        <p:spPr>
          <a:xfrm>
            <a:off x="548640" y="5029200"/>
            <a:ext cx="11094415" cy="384048"/>
          </a:xfrm>
          <a:prstGeom prst="rect">
            <a:avLst/>
          </a:prstGeom>
          <a:noFill/>
        </p:spPr>
        <p:txBody>
          <a:bodyPr wrap="square" anchor="t" lIns="0" rIns="0" tIns="0" bIns="0">
            <a:noAutofit/>
          </a:bodyPr>
          <a:lstStyle/>
          <a:p>
            <a:pPr algn="l"/>
            <a:r>
              <a:rPr sz="2600" b="1" i="0" u="none">
                <a:solidFill>
                  <a:srgbClr val="EEBC32"/>
                </a:solidFill>
                <a:latin typeface="Helvetica"/>
              </a:rPr>
              <a:t>Practice: State your own H0 and H1</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Rectangle 2"/>
          <p:cNvSpPr/>
          <p:nvPr/>
        </p:nvSpPr>
        <p:spPr>
          <a:xfrm>
            <a:off x="548640" y="365760"/>
            <a:ext cx="11094415" cy="640080"/>
          </a:xfrm>
          <a:prstGeom prst="rect">
            <a:avLst/>
          </a:prstGeom>
          <a:solidFill>
            <a:srgbClr val="A6C2B4"/>
          </a:solidFill>
          <a:ln w="50800">
            <a:solidFill>
              <a:srgbClr val="2643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365760"/>
            <a:ext cx="10545775" cy="640080"/>
          </a:xfrm>
          <a:prstGeom prst="rect">
            <a:avLst/>
          </a:prstGeom>
          <a:noFill/>
        </p:spPr>
        <p:txBody>
          <a:bodyPr wrap="square" anchor="ctr" lIns="0" rIns="0" tIns="0" bIns="0">
            <a:noAutofit/>
          </a:bodyPr>
          <a:lstStyle/>
          <a:p>
            <a:pPr algn="l"/>
            <a:r>
              <a:rPr sz="2600" b="1" i="0" u="none">
                <a:solidFill>
                  <a:srgbClr val="261F1D"/>
                </a:solidFill>
                <a:latin typeface="Helvetica"/>
              </a:rPr>
              <a:t>KEEP LEARNING</a:t>
            </a:r>
          </a:p>
        </p:txBody>
      </p:sp>
      <p:sp>
        <p:nvSpPr>
          <p:cNvPr id="5" name="TextBox 4"/>
          <p:cNvSpPr txBox="1"/>
          <p:nvPr/>
        </p:nvSpPr>
        <p:spPr>
          <a:xfrm>
            <a:off x="548640" y="1234440"/>
            <a:ext cx="11094415" cy="731520"/>
          </a:xfrm>
          <a:prstGeom prst="rect">
            <a:avLst/>
          </a:prstGeom>
          <a:noFill/>
        </p:spPr>
        <p:txBody>
          <a:bodyPr wrap="square" anchor="t" lIns="0" rIns="0" tIns="0" bIns="0">
            <a:noAutofit/>
          </a:bodyPr>
          <a:lstStyle/>
          <a:p>
            <a:pPr algn="l"/>
            <a:r>
              <a:rPr sz="3200" b="1" i="0" u="none">
                <a:solidFill>
                  <a:srgbClr val="261F1D"/>
                </a:solidFill>
                <a:latin typeface="Helvetica"/>
              </a:rPr>
              <a:t>Where to Go From Here</a:t>
            </a:r>
          </a:p>
        </p:txBody>
      </p:sp>
      <p:pic>
        <p:nvPicPr>
          <p:cNvPr id="6" name="Picture 5" descr=""/>
          <p:cNvPicPr>
            <a:picLocks noChangeAspect="1"/>
          </p:cNvPicPr>
          <p:nvPr/>
        </p:nvPicPr>
        <p:blipFill>
          <a:blip r:embed="rId3"/>
          <a:stretch>
            <a:fillRect/>
          </a:stretch>
        </p:blipFill>
        <p:spPr>
          <a:xfrm>
            <a:off x="548640" y="1984248"/>
            <a:ext cx="365760" cy="365760"/>
          </a:xfrm>
          <a:prstGeom prst="rect">
            <a:avLst/>
          </a:prstGeom>
        </p:spPr>
      </p:pic>
      <p:sp>
        <p:nvSpPr>
          <p:cNvPr id="7" name="TextBox 6"/>
          <p:cNvSpPr txBox="1"/>
          <p:nvPr/>
        </p:nvSpPr>
        <p:spPr>
          <a:xfrm>
            <a:off x="1051560" y="1965960"/>
            <a:ext cx="10591495" cy="384048"/>
          </a:xfrm>
          <a:prstGeom prst="rect">
            <a:avLst/>
          </a:prstGeom>
          <a:noFill/>
        </p:spPr>
        <p:txBody>
          <a:bodyPr wrap="square" anchor="t" lIns="0" rIns="0" tIns="0" bIns="0">
            <a:noAutofit/>
          </a:bodyPr>
          <a:lstStyle/>
          <a:p>
            <a:pPr algn="l"/>
            <a:r>
              <a:rPr sz="2600" b="1" i="0" u="none">
                <a:solidFill>
                  <a:srgbClr val="2274B5"/>
                </a:solidFill>
                <a:latin typeface="Helvetica"/>
                <a:hlinkClick r:id="rId4"/>
              </a:rPr>
              <a:t>P Values, Clearly Explained</a:t>
            </a:r>
          </a:p>
        </p:txBody>
      </p:sp>
      <p:sp>
        <p:nvSpPr>
          <p:cNvPr id="8" name="TextBox 7"/>
          <p:cNvSpPr txBox="1"/>
          <p:nvPr/>
        </p:nvSpPr>
        <p:spPr>
          <a:xfrm>
            <a:off x="1051560" y="2350008"/>
            <a:ext cx="10591495" cy="384048"/>
          </a:xfrm>
          <a:prstGeom prst="rect">
            <a:avLst/>
          </a:prstGeom>
          <a:noFill/>
        </p:spPr>
        <p:txBody>
          <a:bodyPr wrap="square" anchor="t" lIns="0" rIns="0" tIns="0" bIns="0">
            <a:noAutofit/>
          </a:bodyPr>
          <a:lstStyle/>
          <a:p>
            <a:pPr algn="l"/>
            <a:r>
              <a:rPr sz="2600" b="1" i="0" u="none">
                <a:solidFill>
                  <a:srgbClr val="327A5F"/>
                </a:solidFill>
                <a:latin typeface="Helvetica"/>
              </a:rPr>
              <a:t>StatQuest with Josh Starmer  ·  VIDEO  ·  ~6 min watch</a:t>
            </a:r>
          </a:p>
        </p:txBody>
      </p:sp>
      <p:sp>
        <p:nvSpPr>
          <p:cNvPr id="9" name="TextBox 8"/>
          <p:cNvSpPr txBox="1"/>
          <p:nvPr/>
        </p:nvSpPr>
        <p:spPr>
          <a:xfrm>
            <a:off x="1051560" y="2734056"/>
            <a:ext cx="10591495" cy="384048"/>
          </a:xfrm>
          <a:prstGeom prst="rect">
            <a:avLst/>
          </a:prstGeom>
          <a:noFill/>
        </p:spPr>
        <p:txBody>
          <a:bodyPr wrap="square" anchor="t" lIns="0" rIns="0" tIns="0" bIns="0">
            <a:noAutofit/>
          </a:bodyPr>
          <a:lstStyle/>
          <a:p>
            <a:pPr algn="l"/>
            <a:r>
              <a:rPr sz="2600" b="0" i="0" u="none">
                <a:solidFill>
                  <a:srgbClr val="261F1D"/>
                </a:solidFill>
                <a:latin typeface="Helvetica"/>
              </a:rPr>
              <a:t>StatQuest's plain-language walkthrough</a:t>
            </a:r>
          </a:p>
        </p:txBody>
      </p:sp>
      <p:pic>
        <p:nvPicPr>
          <p:cNvPr id="10" name="Picture 9" descr=""/>
          <p:cNvPicPr>
            <a:picLocks noChangeAspect="1"/>
          </p:cNvPicPr>
          <p:nvPr/>
        </p:nvPicPr>
        <p:blipFill>
          <a:blip r:embed="rId5"/>
          <a:stretch>
            <a:fillRect/>
          </a:stretch>
        </p:blipFill>
        <p:spPr>
          <a:xfrm>
            <a:off x="548640" y="3364992"/>
            <a:ext cx="365760" cy="365760"/>
          </a:xfrm>
          <a:prstGeom prst="rect">
            <a:avLst/>
          </a:prstGeom>
        </p:spPr>
      </p:pic>
      <p:sp>
        <p:nvSpPr>
          <p:cNvPr id="11" name="TextBox 10"/>
          <p:cNvSpPr txBox="1"/>
          <p:nvPr/>
        </p:nvSpPr>
        <p:spPr>
          <a:xfrm>
            <a:off x="1051560" y="3346704"/>
            <a:ext cx="10591495" cy="384048"/>
          </a:xfrm>
          <a:prstGeom prst="rect">
            <a:avLst/>
          </a:prstGeom>
          <a:noFill/>
        </p:spPr>
        <p:txBody>
          <a:bodyPr wrap="square" anchor="t" lIns="0" rIns="0" tIns="0" bIns="0">
            <a:noAutofit/>
          </a:bodyPr>
          <a:lstStyle/>
          <a:p>
            <a:pPr algn="l"/>
            <a:r>
              <a:rPr sz="2600" b="1" i="0" u="none">
                <a:solidFill>
                  <a:srgbClr val="2274B5"/>
                </a:solidFill>
                <a:latin typeface="Helvetica"/>
                <a:hlinkClick r:id="rId6"/>
              </a:rPr>
              <a:t>Understanding Statistical Power</a:t>
            </a:r>
          </a:p>
        </p:txBody>
      </p:sp>
      <p:sp>
        <p:nvSpPr>
          <p:cNvPr id="12" name="TextBox 11"/>
          <p:cNvSpPr txBox="1"/>
          <p:nvPr/>
        </p:nvSpPr>
        <p:spPr>
          <a:xfrm>
            <a:off x="1051560" y="3730752"/>
            <a:ext cx="10591495" cy="384048"/>
          </a:xfrm>
          <a:prstGeom prst="rect">
            <a:avLst/>
          </a:prstGeom>
          <a:noFill/>
        </p:spPr>
        <p:txBody>
          <a:bodyPr wrap="square" anchor="t" lIns="0" rIns="0" tIns="0" bIns="0">
            <a:noAutofit/>
          </a:bodyPr>
          <a:lstStyle/>
          <a:p>
            <a:pPr algn="l"/>
            <a:r>
              <a:rPr sz="2600" b="1" i="0" u="none">
                <a:solidFill>
                  <a:srgbClr val="327A5F"/>
                </a:solidFill>
                <a:latin typeface="Helvetica"/>
              </a:rPr>
              <a:t>Kristoffer Magnusson  ·  PRACTICE  ·  ~10-15 min</a:t>
            </a:r>
          </a:p>
        </p:txBody>
      </p:sp>
      <p:sp>
        <p:nvSpPr>
          <p:cNvPr id="13" name="TextBox 12"/>
          <p:cNvSpPr txBox="1"/>
          <p:nvPr/>
        </p:nvSpPr>
        <p:spPr>
          <a:xfrm>
            <a:off x="1051560" y="4114800"/>
            <a:ext cx="10591495" cy="384048"/>
          </a:xfrm>
          <a:prstGeom prst="rect">
            <a:avLst/>
          </a:prstGeom>
          <a:noFill/>
        </p:spPr>
        <p:txBody>
          <a:bodyPr wrap="square" anchor="t" lIns="0" rIns="0" tIns="0" bIns="0">
            <a:noAutofit/>
          </a:bodyPr>
          <a:lstStyle/>
          <a:p>
            <a:pPr algn="l"/>
            <a:r>
              <a:rPr sz="2600" b="0" i="0" u="none">
                <a:solidFill>
                  <a:srgbClr val="261F1D"/>
                </a:solidFill>
                <a:latin typeface="Helvetica"/>
              </a:rPr>
              <a:t>An interactive sample-size and power visualizer</a:t>
            </a:r>
          </a:p>
        </p:txBody>
      </p:sp>
      <p:pic>
        <p:nvPicPr>
          <p:cNvPr id="14" name="Picture 13" descr=""/>
          <p:cNvPicPr>
            <a:picLocks noChangeAspect="1"/>
          </p:cNvPicPr>
          <p:nvPr/>
        </p:nvPicPr>
        <p:blipFill>
          <a:blip r:embed="rId7"/>
          <a:stretch>
            <a:fillRect/>
          </a:stretch>
        </p:blipFill>
        <p:spPr>
          <a:xfrm>
            <a:off x="548640" y="4745736"/>
            <a:ext cx="365760" cy="365760"/>
          </a:xfrm>
          <a:prstGeom prst="rect">
            <a:avLst/>
          </a:prstGeom>
        </p:spPr>
      </p:pic>
      <p:sp>
        <p:nvSpPr>
          <p:cNvPr id="15" name="TextBox 14"/>
          <p:cNvSpPr txBox="1"/>
          <p:nvPr/>
        </p:nvSpPr>
        <p:spPr>
          <a:xfrm>
            <a:off x="1051560" y="4727448"/>
            <a:ext cx="10591495" cy="384048"/>
          </a:xfrm>
          <a:prstGeom prst="rect">
            <a:avLst/>
          </a:prstGeom>
          <a:noFill/>
        </p:spPr>
        <p:txBody>
          <a:bodyPr wrap="square" anchor="t" lIns="0" rIns="0" tIns="0" bIns="0">
            <a:noAutofit/>
          </a:bodyPr>
          <a:lstStyle/>
          <a:p>
            <a:pPr algn="l"/>
            <a:r>
              <a:rPr sz="2600" b="1" i="0" u="none">
                <a:solidFill>
                  <a:srgbClr val="2274B5"/>
                </a:solidFill>
                <a:latin typeface="Helvetica"/>
                <a:hlinkClick r:id="rId8"/>
              </a:rPr>
              <a:t>ASA Statement on P-Values</a:t>
            </a:r>
          </a:p>
        </p:txBody>
      </p:sp>
      <p:sp>
        <p:nvSpPr>
          <p:cNvPr id="16" name="TextBox 15"/>
          <p:cNvSpPr txBox="1"/>
          <p:nvPr/>
        </p:nvSpPr>
        <p:spPr>
          <a:xfrm>
            <a:off x="1051560" y="5111496"/>
            <a:ext cx="10591495" cy="768096"/>
          </a:xfrm>
          <a:prstGeom prst="rect">
            <a:avLst/>
          </a:prstGeom>
          <a:noFill/>
        </p:spPr>
        <p:txBody>
          <a:bodyPr wrap="square" anchor="t" lIns="0" rIns="0" tIns="0" bIns="0">
            <a:noAutofit/>
          </a:bodyPr>
          <a:lstStyle/>
          <a:p>
            <a:pPr algn="l"/>
            <a:r>
              <a:rPr sz="2600" b="1" i="0" u="none">
                <a:solidFill>
                  <a:srgbClr val="327A5F"/>
                </a:solidFill>
                <a:latin typeface="Helvetica"/>
              </a:rPr>
              <a:t>American Statistical Association  ·  DOCS  ·  ~10 min read</a:t>
            </a:r>
          </a:p>
        </p:txBody>
      </p:sp>
      <p:sp>
        <p:nvSpPr>
          <p:cNvPr id="17" name="TextBox 16"/>
          <p:cNvSpPr txBox="1"/>
          <p:nvPr/>
        </p:nvSpPr>
        <p:spPr>
          <a:xfrm>
            <a:off x="1051560" y="5879592"/>
            <a:ext cx="10591495" cy="384048"/>
          </a:xfrm>
          <a:prstGeom prst="rect">
            <a:avLst/>
          </a:prstGeom>
          <a:noFill/>
        </p:spPr>
        <p:txBody>
          <a:bodyPr wrap="square" anchor="t" lIns="0" rIns="0" tIns="0" bIns="0">
            <a:noAutofit/>
          </a:bodyPr>
          <a:lstStyle/>
          <a:p>
            <a:pPr algn="l"/>
            <a:r>
              <a:rPr sz="2600" b="0" i="0" u="none">
                <a:solidFill>
                  <a:srgbClr val="261F1D"/>
                </a:solidFill>
                <a:latin typeface="Helvetica"/>
              </a:rPr>
              <a:t>The field's own official correction on misuse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