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Open by naming exactly what changes today. Yesterday was the logic - what a hypothesis actually claims, what a p-value actually measures. Today you run real code, on real data, and get a real answer.</a:t>
            </a:r>
          </a:p>
          <a:p/>
          <a:p>
            <a:r>
              <a:t>[SCRIPT] Say the format out loud. Notebooks open today. This is a genuine code-along - type every step, not just watch it happen.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all three, then name the shape. Two different tests, one shared shape: state the hypothesis, run the test, read the output the same careful way every time.</a:t>
            </a:r>
          </a:p>
          <a:p/>
          <a:p>
            <a:r>
              <a:t>[SCRIPT] Name the project tie directly. This exact shape - a real test, a real p-value, a real confidence interval - is a graded section on your own project, on your own data, a few weeks from now.</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Names only for now. All four get a real definition as they come up in the code today, and all four come back with their definitions right before the summary.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Ask for a show of hands or a quick read-aloud: who wrote down their null hypothesis for Gentoo versus Adelie body mass? Use one real answer from the room as today's opening frame.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new tool before typing a line of it. `scipy.stats` is the real, standard Python library data analysts reach for to run hypothesis tests - everything today's demo uses lives inside it.</a:t>
            </a:r>
          </a:p>
          <a:p/>
          <a:p>
            <a:r>
              <a:t>[ACTIVITY] Type this along with the instructor. Confirm your own `df.head()` output shows real rows before moving on - species, island, and body_mass_g should all be visible.</a:t>
            </a:r>
          </a:p>
          <a:p/>
          <a:p>
            <a:r>
              <a:t>[SCRIPT] Name why the drop matters now, not later. A few penguins are missing a body-mass measurement. Testing with those rows still in would silently break the comparison - drop them once, up front, for the column you're about to use.</a:t>
            </a:r>
          </a:p>
          <a:p/>
          <a:p>
            <a:r>
              <a:t>[MISCONCEPTIONS] Someone will ask why not just drop every row with any missing value anywhere. That would throw away real, usable rows whose only gap is in a column you're not even testing today.</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this as the mechanic next class's lab deepens. A real five-number-summary check, one per group, the same Module 2 skill already built - not a new technique, a new place to apply it.</a:t>
            </a:r>
          </a:p>
          <a:p/>
          <a:p>
            <a:r>
              <a:t>[SCRIPT] Keep today's bar honest and simple. If both groups look roughly bell-shaped with no wild outliers, the t-test is defensible enough to proceed today. Tomorrow's lab gives this judgment call real depth, across several harder cases.</a:t>
            </a:r>
          </a:p>
          <a:p/>
          <a:p>
            <a:r>
              <a:t>[MISCONCEPTIONS] People treat this check as optional busywork before "the real test." Skipping it is common project mistake #3 on this module's own rubric - checking the assumption is part of running the test correctly, not a separate extra step.</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Keep this beat short - the concept just landed, now type it.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Run this, then say out loud what you see: are the three species' spreads (the `std` column) roughly similar, or is one way more spread out than the others?</a:t>
            </a:r>
          </a:p>
          <a:p/>
          <a:p>
            <a:r>
              <a:t>[SCRIPT] Point at `mean` and `std` together, not just one. Adelie and Gentoo should look different enough in `mean` to be interesting, without either group's `std` looking wildly larger than the other's.</a:t>
            </a:r>
          </a:p>
          <a:p/>
          <a:p>
            <a:r>
              <a:t>[MISCONCEPTIONS] People expect "roughly similar shape" to mean the three `std` values match almost exactly. It means no group's spread is wildly larger than the others - real groups never match exactly, and demanding that they do would fail almost any real dataset.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Pairs say their sentence out loud to each other before the instructor advances. In person: circulate and listen for "no real difference" language. Online: post in chat. 2 minutes.</a:t>
            </a:r>
          </a:p>
          <a:p/>
          <a:p>
            <a:r>
              <a:t>[SCRIPT] Target answer: "There is no real difference in average body mass between Adelie and Gentoo penguins." Confirm the room has this right before the real test result lands - it is much easier to rationalize a result after seeing it than before.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Short beat, high energy - this is the moment the module has been building toward since yesterday.</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Run it, then read your own three numbers out loud to your partner before the instructor reveals the expected output.</a:t>
            </a:r>
          </a:p>
          <a:p/>
          <a:p>
            <a:r>
              <a:t>[SCRIPT] Walk the real output line by line. The p-value here is far smaller than 0.05 - small enough that "this is just random sampling noise" is not a credible explanation anymore. The 95% CI lands entirely on one side of zero, meaning the real direction of the difference is clear, not just its existence.</a:t>
            </a:r>
          </a:p>
          <a:p/>
          <a:p>
            <a:r>
              <a:t>[MISCONCEPTIONS] A tiny p-value gets read as "an even more true" result than a p-value of 0.04. Both simply clear the same threshold - how far past it a p-value sits doesn't scale to "more real."</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Run it, then read your own three numbers out loud to your partner before the instructor reveals the expected output.</a:t>
            </a:r>
          </a:p>
          <a:p/>
          <a:p>
            <a:r>
              <a:t>[SCRIPT] Walk the real output line by line. The p-value here is far smaller than 0.05 - small enough that "this is just random sampling noise" is not a credible explanation anymore. The 95% CI lands entirely on one side of zero, meaning the real direction of the difference is clear, not just its existence.</a:t>
            </a:r>
          </a:p>
          <a:p/>
          <a:p>
            <a:r>
              <a:t>[MISCONCEPTIONS] A tiny p-value gets read as "an even more true" result than a p-value of 0.04. Both simply clear the same threshold - how far past it a p-value sits doesn't scale to "more real."</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Connect all three numbers back to the actual claim. Reject the null means: a real difference almost certainly exists. The CI's direction says which species is heavier. Neither number alone tells the whole story - together, they do.</a:t>
            </a:r>
          </a:p>
          <a:p/>
          <a:p>
            <a:r>
              <a:t>[MISCONCEPTIONS] "Reject the null" gets treated as the finish line. The project's own final write-up still asks a separate question this result doesn't answer on its own: is the size of this difference actually big enough to matter for a real decision.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real gap the p-value alone leaves open, the same gap last class's whole second half was about. A p-value near zero just means the difference is probably real. It says nothing about how big that difference actually is - Cohen's d rescales the raw mean difference by the data's own spread, so 0.2 counts as small, 0.5 as medium, and 0.8 or above as large.</a:t>
            </a:r>
          </a:p>
          <a:p/>
          <a:p>
            <a:r>
              <a:t>[MISCONCEPTIONS] People treat the p-value as already answering "how big." It only ever answers "probably not zero" - effect size is a genuinely separate number, not a restatement of the same one.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Run it, then say the number out loud: is it closer to 0.2, 0.5, or 0.8 and above?</a:t>
            </a:r>
          </a:p>
          <a:p/>
          <a:p>
            <a:r>
              <a:t>[SCRIPT] Land the real number. Cohen's d here comes out well above 0.8 - large by the standard convention. This is the rare case where statistical significance and practical significance both point the same direction, clearly.</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[~30 min mark] Name the pivot precisely. Not a harder version of the same test - a genuinely different question, for a genuinely different shape of data: two categorical variables, not one continuous outcome split by group.</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Pairs commit to a real prediction and one reason for it, out loud, before the instructor runs the code. In person: quick show of hands, related or independent. Online: type your guess in chat. 2 minutes.</a:t>
            </a:r>
          </a:p>
          <a:p/>
          <a:p>
            <a:r>
              <a:t>[SCRIPT] Do not confirm or deny yet. The whole point is committing to a prediction before the real crosstab makes the answer obvious - that is what makes the reveal actually land.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Short beat - let the room's predictions hang for one more moment before the real numbers settle it.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Look at the printed `table` before reading any test output. Does it match what you predicted a moment ago?</a:t>
            </a:r>
          </a:p>
          <a:p/>
          <a:p>
            <a:r>
              <a:t>[SCRIPT] Walk the real crosstab first, before the test numbers. Some species show up on only one or two islands, not all three - that pattern alone is a strong visual hint before a single p-value is computed.</a:t>
            </a:r>
          </a:p>
          <a:p/>
          <a:p>
            <a:r>
              <a:t>[SCRIPT] Then walk the real output. The p-value here is extremely small - species and island are not independent in this data. Name the expected-counts check explicitly: every value in `expected` needs to be at least 5 for this result to be trustworthy.</a:t>
            </a:r>
          </a:p>
          <a:p/>
          <a:p>
            <a:r>
              <a:t>[SCRIPT] Name `dof` in plain terms before moving on. Degrees of freedom here is (rows - 1) times (columns - 1) - a number the test needs internally to know which chi-square distribution to compare the statistic against. You won't calculate it by hand again; just recognize it as part of the standard output, not a separate concept to master today.</a:t>
            </a:r>
          </a:p>
          <a:p/>
          <a:p>
            <a:r>
              <a:t>[MISCONCEPTIONS] People assume a chi-square test can use raw counts directly. It needs a contingency table first - counts cross-tabbed between the two categorical variables, not a flat list of category labels.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honest limit of what this proves, precisely. Associated is not the same claim as one causing the other - a chi-square test never establishes which, only whether the two variables move together more than chance would predict.</a:t>
            </a:r>
          </a:p>
          <a:p/>
          <a:p>
            <a:r>
              <a:t>[MISCONCEPTIONS] "Species and island are associated" gets restated as "the island determines the species," or the reverse. Association alone never tells you a direction or a cause - a point worth sitting with, since a future lesson comes back to exactly this dataset to ask whether island might be confounding a different comparison.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Same gap as the t-test side, one slide ago. A tiny p-value says the pattern is probably real, not how strong it is. Cramér's V fixes that - it ranges from 0 (no association) to 1 (perfect association), a comparable scale regardless of the table's size.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Run it, then compare the number to the 0-to-1 scale from the last slide - is this closer to "barely related" or "strongly related"?</a:t>
            </a:r>
          </a:p>
          <a:p/>
          <a:p>
            <a:r>
              <a:t>[SCRIPT] Land the real number. Cramér's V here lands well above 0.5 - a strong association, not a marginal one. Same lesson as the t-test side: the p-value said "probably real," the effect size says "and it's a big one."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Poll: read all three out loud, everyone answers at once. In person: call out A, B, or C on a count of three. Online: type A, B, or C in chat. 45 seconds.</a:t>
            </a:r>
          </a:p>
          <a:p/>
          <a:p>
            <a:r>
              <a:t>[SCRIPT] Tie this back explicitly. This is the exact same "you test the null, you never prove it" logic from last class, just applied to a chi-square result instead of a t-test result.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No real evidence found that they're associated</a:t>
            </a:r>
          </a:p>
          <a:p>
            <a:r>
              <a:t>Why: Failing to reject the null is never the same claim as proving it true - the same distinction from last class's null-hypothesis logic applies here. A p-value of 0.41 means this data doesn't give strong evidence of an association. It doesn't prove the two variables are truly independent, and there's nothing wrong with the test itself that would call for rerunning it.</a:t>
            </a:r>
          </a:p>
          <a:p>
            <a:r>
              <a:t>Source: Direct application of this module's own null-hypothesis logic (last class) to a chi-square result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Say the one-question filter out loud, since it is the whole decision rule. What kind of outcome are you actually measuring - a number, or a category? That single question, asked first, decides which test is even on the table.</a:t>
            </a:r>
          </a:p>
          <a:p/>
          <a:p>
            <a:r>
              <a:t>[MISCONCEPTIONS] People pick a test by habit or by whichever one they remember better, rather than by checking the outcome's actual data type first. The data type decides the test - not the other way around.</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Force a pick before any discussion. In person: move to one side of the room, then two people from each side say why. Online: type "skip it" or "always run it" in chat at the same count. 3 minutes.</a:t>
            </a:r>
          </a:p>
          <a:p/>
          <a:p>
            <a:r>
              <a:t>[SCRIPT] Land the real answer explicitly. Confidence is exactly the feeling that leads someone to skip a check right before it would have mattered - today's own shape check and expected-counts check both took one extra line of code, not extra minutes.</a:t>
            </a:r>
          </a:p>
          <a:p/>
          <a:p>
            <a:r>
              <a:t>[MISCONCEPTIONS] Someone will argue that with a big, obviously clean dataset like today's, the check is a formality. The check is what tells you the dataset is actually clean in the first place - skipping it just means finding out the hard way, after the test result is already in hand.</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PREP fits this question well because it's a clean decision-rule question, not an audience-adaptation one - Point, Reason, Example, Point maps directly onto stating the rule, why it holds, a concrete case, then restating it.</a:t>
            </a:r>
          </a:p>
          <a:p/>
          <a:p>
            <a:r>
              <a:t>[SCRIPT] Coach whoever answers to lead with the rule, not a list of test names. "It depends on the outcome's data type" said first reads as someone who has the actual decision logic, not just memorized test names.</a:t>
            </a:r>
          </a:p>
          <a:p/>
          <a:p>
            <a:r>
              <a:t>[SOURCES] Verified as a real, commonly discussed data-analyst interview topic - Built In, "T-test vs. Chi-Square: Which Test Should You Use?", frames the same continuous-vs-categorical decision rule this lesson teaches.</a:t>
            </a:r>
          </a:p>
          <a:p/>
          <a:p/>
          <a:p>
            <a:r>
              <a:t>Short answers:</a:t>
            </a:r>
          </a:p>
          <a:p/>
          <a:p>
            <a:r>
              <a:t>Q: How do you decide between a t-test and a chi-square test?</a:t>
            </a:r>
          </a:p>
          <a:p>
            <a:r>
              <a:t>A: Point: It comes down to the outcome variable's data type. Reason: A t-test compares means of a continuous outcome; a chi-square test checks association between two categorical variables. Example: Today's own two demos - body mass in grams (continuous, t-test) versus species by island (both categorical, chi-square). Point: Check the data type first, every time, before picking a test.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Fast round trip before the summary. Ask the room to supply "contingency table" from what they just built with `pd.crosstab` - that is the one term today's code made concrete, not just defined.</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Close the loop on yesterday's exercise explicitly. The hypothesis you wrote by hand is now a real, tested claim, with a real p-value, a real effect size, and a real confidence interval behind it.</a:t>
            </a:r>
          </a:p>
          <a:p/>
          <a:p>
            <a:r>
              <a:t>[SCRIPT] Preview tomorrow's lab honestly. Today's shape checks were fast and single-example. Tomorrow, with a partner, you get several harder cases in a row and have to make a real defensible-or-not call each time - the judgment this lecture only introduced.</a:t>
            </a:r>
          </a:p>
          <a:p/>
          <a:p>
            <a:r>
              <a:t>[SCRIPT] Say the project tie out loud. This exact sequence - state the hypothesis, check the assumption, run the test, read the p-value and CI - is graded, solo, on your own data, a few weeks from now.</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Frame tomorrow honestly, not as new content but as real practice at a skill today only introduced once. The shape check and the expected-counts check both showed up today - tomorrow is where that judgment call actually gets hard.</a:t>
            </a:r>
          </a:p>
          <a:p/>
          <a:p>
            <a:r>
              <a:t>[SCRIPT] Remind people how to reach office hours rather than naming a time, and encourage anyone whose local Python/scipy setup is unclear to raise it before tomorrow's lab.</a:t>
            </a:r>
          </a:p>
          <a:p/>
          <a:p>
            <a:r>
              <a:t>[SCRIPT] Say the project tie explicitly, one more time. Every piece from today - the assumption check, the test, the p-value, the effect size, the CI - is exactly the sequence graded on your own data a few weeks from now.</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the Statology walkthrough as the one to actually keep open while doing tomorrow's lab - it covers both tests with real runnable code, the same shape as today's own demos.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hyperlink" Target="https://www.statology.org/python-practical-introduction-to-statistical-inference-t-tests-anova-chi-square/" TargetMode="External"/><Relationship Id="rId5" Type="http://schemas.openxmlformats.org/officeDocument/2006/relationships/image" Target="../media/image15.png"/><Relationship Id="rId6" Type="http://schemas.openxmlformats.org/officeDocument/2006/relationships/hyperlink" Target="https://docs.scipy.org/doc/scipy/reference/generated/scipy.stats.ttest_ind.html" TargetMode="External"/><Relationship Id="rId7" Type="http://schemas.openxmlformats.org/officeDocument/2006/relationships/hyperlink" Target="https://docs.scipy.org/doc/scipy/reference/generated/scipy.stats.chi2_contingency.html" TargetMode="External"/><Relationship Id="rId8"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6705295" cy="1463040"/>
          </a:xfrm>
          <a:prstGeom prst="rect">
            <a:avLst/>
          </a:prstGeom>
          <a:noFill/>
        </p:spPr>
        <p:txBody>
          <a:bodyPr wrap="square" anchor="b" lIns="0" rIns="0" tIns="0" bIns="0">
            <a:noAutofit/>
          </a:bodyPr>
          <a:lstStyle/>
          <a:p>
            <a:pPr algn="l"/>
            <a:r>
              <a:rPr sz="4000" b="1" i="0" u="none">
                <a:solidFill>
                  <a:srgbClr val="EEBC32"/>
                </a:solidFill>
                <a:latin typeface="Helvetica"/>
              </a:rPr>
              <a:t>Running Statistical Tests in Python</a:t>
            </a:r>
          </a:p>
        </p:txBody>
      </p:sp>
      <p:sp>
        <p:nvSpPr>
          <p:cNvPr id="6" name="TextBox 5"/>
          <p:cNvSpPr txBox="1"/>
          <p:nvPr/>
        </p:nvSpPr>
        <p:spPr>
          <a:xfrm>
            <a:off x="548640" y="5943600"/>
            <a:ext cx="6705295" cy="457200"/>
          </a:xfrm>
          <a:prstGeom prst="rect">
            <a:avLst/>
          </a:prstGeom>
          <a:noFill/>
        </p:spPr>
        <p:txBody>
          <a:bodyPr wrap="square" anchor="t" lIns="0" rIns="0" tIns="0" bIns="0">
            <a:noAutofit/>
          </a:bodyPr>
          <a:lstStyle/>
          <a:p>
            <a:pPr algn="l"/>
            <a:r>
              <a:rPr sz="2600" b="0" i="0" u="none">
                <a:solidFill>
                  <a:srgbClr val="FFFCF7"/>
                </a:solidFill>
                <a:latin typeface="Helvetica"/>
              </a:rPr>
              <a:t>Module 5: Inferential Statistics</a:t>
            </a:r>
          </a:p>
        </p:txBody>
      </p:sp>
      <p:sp>
        <p:nvSpPr>
          <p:cNvPr id="7" name="Rounded Rectangle 6"/>
          <p:cNvSpPr/>
          <p:nvPr/>
        </p:nvSpPr>
        <p:spPr>
          <a:xfrm>
            <a:off x="7802575" y="914400"/>
            <a:ext cx="3840480" cy="502920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98482" y="1719072"/>
            <a:ext cx="154229" cy="154229"/>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9372295" y="1845259"/>
            <a:ext cx="701040" cy="385572"/>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9735" y="2350008"/>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1" name="TextBox 10"/>
          <p:cNvSpPr txBox="1"/>
          <p:nvPr/>
        </p:nvSpPr>
        <p:spPr>
          <a:xfrm>
            <a:off x="8031175" y="2779776"/>
            <a:ext cx="3383280" cy="3072384"/>
          </a:xfrm>
          <a:prstGeom prst="rect">
            <a:avLst/>
          </a:prstGeom>
          <a:noFill/>
        </p:spPr>
        <p:txBody>
          <a:bodyPr wrap="square" anchor="t" lIns="0" rIns="0" tIns="0" bIns="0">
            <a:noAutofit/>
          </a:bodyPr>
          <a:lstStyle/>
          <a:p>
            <a:pPr algn="ctr"/>
            <a:r>
              <a:rPr sz="2600" b="0" i="1" u="none">
                <a:solidFill>
                  <a:srgbClr val="327A5F"/>
                </a:solidFill>
                <a:latin typeface="Fraunces"/>
              </a:rPr>
              <a:t>Flat illustration: A data analyst at a laptop with a terminal window open, one hand on the keyboard, a small real p-value visible on screen, confident…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Run a real t-test in Python</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Run a real chi-square test in Python</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Read the p-value and CI for real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2602154"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575397" y="2697480"/>
            <a:ext cx="548640" cy="548640"/>
          </a:xfrm>
          <a:prstGeom prst="rect">
            <a:avLst/>
          </a:prstGeom>
        </p:spPr>
      </p:pic>
      <p:sp>
        <p:nvSpPr>
          <p:cNvPr id="6" name="TextBox 5"/>
          <p:cNvSpPr txBox="1"/>
          <p:nvPr/>
        </p:nvSpPr>
        <p:spPr>
          <a:xfrm>
            <a:off x="685800"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t-test</a:t>
            </a:r>
          </a:p>
        </p:txBody>
      </p:sp>
      <p:sp>
        <p:nvSpPr>
          <p:cNvPr id="7" name="Rounded Rectangle 6"/>
          <p:cNvSpPr/>
          <p:nvPr/>
        </p:nvSpPr>
        <p:spPr>
          <a:xfrm>
            <a:off x="3379394" y="2468880"/>
            <a:ext cx="2602154"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4406151" y="2697480"/>
            <a:ext cx="548640" cy="548640"/>
          </a:xfrm>
          <a:prstGeom prst="rect">
            <a:avLst/>
          </a:prstGeom>
        </p:spPr>
      </p:pic>
      <p:sp>
        <p:nvSpPr>
          <p:cNvPr id="9" name="TextBox 8"/>
          <p:cNvSpPr txBox="1"/>
          <p:nvPr/>
        </p:nvSpPr>
        <p:spPr>
          <a:xfrm>
            <a:off x="3516554"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chi-square test</a:t>
            </a:r>
          </a:p>
        </p:txBody>
      </p:sp>
      <p:sp>
        <p:nvSpPr>
          <p:cNvPr id="10" name="Rounded Rectangle 9"/>
          <p:cNvSpPr/>
          <p:nvPr/>
        </p:nvSpPr>
        <p:spPr>
          <a:xfrm>
            <a:off x="6210148" y="2468880"/>
            <a:ext cx="2602154"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7236904" y="2697480"/>
            <a:ext cx="548640" cy="548640"/>
          </a:xfrm>
          <a:prstGeom prst="rect">
            <a:avLst/>
          </a:prstGeom>
        </p:spPr>
      </p:pic>
      <p:sp>
        <p:nvSpPr>
          <p:cNvPr id="12" name="TextBox 11"/>
          <p:cNvSpPr txBox="1"/>
          <p:nvPr/>
        </p:nvSpPr>
        <p:spPr>
          <a:xfrm>
            <a:off x="6347308"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contingency table</a:t>
            </a:r>
          </a:p>
        </p:txBody>
      </p:sp>
      <p:sp>
        <p:nvSpPr>
          <p:cNvPr id="13" name="Rounded Rectangle 12"/>
          <p:cNvSpPr/>
          <p:nvPr/>
        </p:nvSpPr>
        <p:spPr>
          <a:xfrm>
            <a:off x="9040901" y="2468880"/>
            <a:ext cx="2602154" cy="2560320"/>
          </a:xfrm>
          <a:prstGeom prst="roundRect">
            <a:avLst>
              <a:gd name="adj" fmla="val 6000"/>
            </a:avLst>
          </a:prstGeom>
          <a:solidFill>
            <a:srgbClr val="F7DFDF"/>
          </a:solidFill>
          <a:ln w="50800">
            <a:solidFill>
              <a:srgbClr val="C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p:cNvPicPr>
            <a:picLocks noChangeAspect="1"/>
          </p:cNvPicPr>
          <p:nvPr/>
        </p:nvPicPr>
        <p:blipFill>
          <a:blip r:embed="rId6"/>
          <a:stretch>
            <a:fillRect/>
          </a:stretch>
        </p:blipFill>
        <p:spPr>
          <a:xfrm>
            <a:off x="10067658" y="2697480"/>
            <a:ext cx="548640" cy="548640"/>
          </a:xfrm>
          <a:prstGeom prst="rect">
            <a:avLst/>
          </a:prstGeom>
        </p:spPr>
      </p:pic>
      <p:sp>
        <p:nvSpPr>
          <p:cNvPr id="15" name="TextBox 14"/>
          <p:cNvSpPr txBox="1"/>
          <p:nvPr/>
        </p:nvSpPr>
        <p:spPr>
          <a:xfrm>
            <a:off x="9178061"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degrees of freedom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Yesterday's Homework</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Run It For Real</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You already stated the null and alternative hypothesis. Today's whole job is finding out which one the data actually supports.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Load the Real Data</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python</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pandas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pd</a:t>
            </a:r>
          </a:p>
          <a:p>
            <a:pPr>
              <a:lnSpc>
                <a:spcPct val="120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scipy</a:t>
            </a:r>
            <a:r>
              <a:rPr sz="2600" i="0">
                <a:solidFill>
                  <a:srgbClr val="FFFCF7"/>
                </a:solidFill>
                <a:latin typeface="Roboto Mono"/>
              </a:rPr>
              <a:t> </a:t>
            </a: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stats</a:t>
            </a:r>
          </a:p>
          <a:p>
            <a:pPr>
              <a:lnSpc>
                <a:spcPct val="120000"/>
              </a:lnSpc>
              <a:defRPr sz="2600">
                <a:latin typeface="Roboto Mono"/>
              </a:defRPr>
            </a:pPr>
          </a:p>
          <a:p>
            <a:pPr>
              <a:lnSpc>
                <a:spcPct val="120000"/>
              </a:lnSpc>
              <a:defRPr sz="2600">
                <a:latin typeface="Roboto Mono"/>
              </a:defRPr>
            </a:pPr>
            <a:r>
              <a:rPr sz="2600" i="0">
                <a:solidFill>
                  <a:srgbClr val="FFFCF7"/>
                </a:solidFill>
                <a:latin typeface="Roboto Mono"/>
              </a:rPr>
              <a:t>df</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pd</a:t>
            </a:r>
            <a:r>
              <a:rPr sz="2600" i="0">
                <a:solidFill>
                  <a:srgbClr val="FFFCF7"/>
                </a:solidFill>
                <a:latin typeface="Roboto Mono"/>
              </a:rPr>
              <a:t>.</a:t>
            </a:r>
            <a:r>
              <a:rPr sz="2600" i="0">
                <a:solidFill>
                  <a:srgbClr val="FFFCF7"/>
                </a:solidFill>
                <a:latin typeface="Roboto Mono"/>
              </a:rPr>
              <a:t>read_csv</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palmer_penguins.csv</a:t>
            </a:r>
            <a:r>
              <a:rPr sz="2600" i="0">
                <a:solidFill>
                  <a:srgbClr val="F8BAC9"/>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df</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dropna</a:t>
            </a:r>
            <a:r>
              <a:rPr sz="2600" i="0">
                <a:solidFill>
                  <a:srgbClr val="FFFCF7"/>
                </a:solidFill>
                <a:latin typeface="Roboto Mono"/>
              </a:rPr>
              <a:t>(</a:t>
            </a:r>
            <a:r>
              <a:rPr sz="2600" i="0">
                <a:solidFill>
                  <a:srgbClr val="FFFCF7"/>
                </a:solidFill>
                <a:latin typeface="Roboto Mono"/>
              </a:rPr>
              <a:t>subset</a:t>
            </a:r>
            <a:r>
              <a:rPr sz="2600" i="0">
                <a:solidFill>
                  <a:srgbClr val="FFFCF7"/>
                </a:solidFill>
                <a:latin typeface="Roboto Mono"/>
              </a:rPr>
              <a: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body_mass_g</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head</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Before You Test: A Quick Shape Check</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Compare each species' spread, side by side</a:t>
            </a:r>
          </a:p>
          <a:p>
            <a:pPr>
              <a:spcAft>
                <a:spcPts val="1000"/>
              </a:spcAft>
            </a:pPr>
            <a:r>
              <a:rPr sz="2600">
                <a:solidFill>
                  <a:srgbClr val="261F1D"/>
                </a:solidFill>
                <a:latin typeface="Helvetica"/>
              </a:rPr>
              <a:t>•  </a:t>
            </a:r>
            <a:r>
              <a:rPr sz="2600" b="0" i="0" u="none">
                <a:solidFill>
                  <a:srgbClr val="261F1D"/>
                </a:solidFill>
                <a:latin typeface="Helvetica"/>
              </a:rPr>
              <a:t>Roughly similar shape: The t-test is defensible</a:t>
            </a:r>
          </a:p>
          <a:p>
            <a:pPr>
              <a:spcAft>
                <a:spcPts val="1000"/>
              </a:spcAft>
            </a:pPr>
            <a:r>
              <a:rPr sz="2600">
                <a:solidFill>
                  <a:srgbClr val="261F1D"/>
                </a:solidFill>
                <a:latin typeface="Helvetica"/>
              </a:rPr>
              <a:t>•  </a:t>
            </a:r>
            <a:r>
              <a:rPr sz="2600" b="0" i="0" u="none">
                <a:solidFill>
                  <a:srgbClr val="261F1D"/>
                </a:solidFill>
                <a:latin typeface="Helvetica"/>
              </a:rPr>
              <a:t>Wildly different: Flag it for next class</a:t>
            </a:r>
          </a:p>
        </p:txBody>
      </p:sp>
      <p:sp>
        <p:nvSpPr>
          <p:cNvPr id="5" name="Oval 4"/>
          <p:cNvSpPr/>
          <p:nvPr/>
        </p:nvSpPr>
        <p:spPr>
          <a:xfrm>
            <a:off x="8532266" y="2581351"/>
            <a:ext cx="2381098" cy="2381098"/>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Shape Check, Explained</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See the Real Spread</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Same Module 2 skill, a new place to apply it - one line of pandas per group.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The Shape Check, in Code</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python</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groupby</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species</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body_mass_g</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describe</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With your partner: State the null hypothesis you'll test next, in one sentence.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Hypothesis Restated</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Run the Real Test</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Stop predicting. Run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45720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457200"/>
          </a:xfrm>
          <a:prstGeom prst="rect">
            <a:avLst/>
          </a:prstGeom>
          <a:noFill/>
        </p:spPr>
        <p:txBody>
          <a:bodyPr wrap="square" anchor="ctr" lIns="0" rIns="0" tIns="0" bIns="0">
            <a:noAutofit/>
          </a:bodyPr>
          <a:lstStyle/>
          <a:p>
            <a:pPr algn="l"/>
            <a:r>
              <a:rPr sz="2600" b="1" i="0" u="none">
                <a:solidFill>
                  <a:srgbClr val="261F1D"/>
                </a:solidFill>
                <a:latin typeface="Helvetica"/>
              </a:rPr>
              <a:t>FILL IN THE BLANK</a:t>
            </a:r>
          </a:p>
        </p:txBody>
      </p:sp>
      <p:sp>
        <p:nvSpPr>
          <p:cNvPr id="5" name="TextBox 4"/>
          <p:cNvSpPr txBox="1"/>
          <p:nvPr/>
        </p:nvSpPr>
        <p:spPr>
          <a:xfrm>
            <a:off x="548640" y="105156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Run the t-test</a:t>
            </a:r>
          </a:p>
        </p:txBody>
      </p:sp>
      <p:sp>
        <p:nvSpPr>
          <p:cNvPr id="6" name="Rounded Rectangle 5"/>
          <p:cNvSpPr/>
          <p:nvPr/>
        </p:nvSpPr>
        <p:spPr>
          <a:xfrm>
            <a:off x="548640" y="1600200"/>
            <a:ext cx="11094415" cy="475488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79222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2688" y="179222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3856" y="179222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48495" y="160020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python</a:t>
            </a:r>
          </a:p>
        </p:txBody>
      </p:sp>
      <p:sp>
        <p:nvSpPr>
          <p:cNvPr id="11" name="TextBox 10"/>
          <p:cNvSpPr txBox="1"/>
          <p:nvPr/>
        </p:nvSpPr>
        <p:spPr>
          <a:xfrm>
            <a:off x="804672" y="2231136"/>
            <a:ext cx="10582351" cy="3995928"/>
          </a:xfrm>
          <a:prstGeom prst="rect">
            <a:avLst/>
          </a:prstGeom>
          <a:noFill/>
        </p:spPr>
        <p:txBody>
          <a:bodyPr wrap="square" lIns="0" rIns="0" tIns="0" bIns="0">
            <a:noAutofit/>
          </a:bodyPr>
          <a:lstStyle/>
          <a:p>
            <a:pPr>
              <a:lnSpc>
                <a:spcPct val="120000"/>
              </a:lnSpc>
              <a:defRPr sz="2600">
                <a:latin typeface="Roboto Mono"/>
              </a:defRPr>
            </a:pPr>
            <a:r>
              <a:rPr sz="2600" i="0">
                <a:solidFill>
                  <a:srgbClr val="FFFCF7"/>
                </a:solidFill>
                <a:latin typeface="Roboto Mono"/>
              </a:rPr>
              <a:t>adelie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species</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Adelie</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body_mass_g</a:t>
            </a:r>
            <a:r>
              <a:rPr sz="2600" i="0">
                <a:solidFill>
                  <a:srgbClr val="F8BAC9"/>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gentoo</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species</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Gentoo</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body_mass_g</a:t>
            </a:r>
            <a:r>
              <a:rPr sz="2600" i="0">
                <a:solidFill>
                  <a:srgbClr val="F8BAC9"/>
                </a:solidFill>
                <a:latin typeface="Roboto Mono"/>
              </a:rPr>
              <a:t>"</a:t>
            </a:r>
            <a:r>
              <a:rPr sz="2600" i="0">
                <a:solidFill>
                  <a:srgbClr val="FFFCF7"/>
                </a:solidFill>
                <a:latin typeface="Roboto Mono"/>
              </a:rPr>
              <a:t>]</a:t>
            </a:r>
          </a:p>
          <a:p>
            <a:pPr>
              <a:lnSpc>
                <a:spcPct val="120000"/>
              </a:lnSpc>
              <a:defRPr sz="2600">
                <a:latin typeface="Roboto Mono"/>
              </a:defRPr>
            </a:pPr>
          </a:p>
          <a:p>
            <a:pPr>
              <a:lnSpc>
                <a:spcPct val="120000"/>
              </a:lnSpc>
              <a:defRPr sz="2600">
                <a:latin typeface="Roboto Mono"/>
              </a:defRPr>
            </a:pPr>
            <a:r>
              <a:rPr sz="2600" i="0">
                <a:solidFill>
                  <a:srgbClr val="FFFCF7"/>
                </a:solidFill>
                <a:latin typeface="Roboto Mono"/>
              </a:rPr>
              <a:t>result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stats</a:t>
            </a:r>
            <a:r>
              <a:rPr sz="2600" i="0">
                <a:solidFill>
                  <a:srgbClr val="FFFCF7"/>
                </a:solidFill>
                <a:latin typeface="Roboto Mono"/>
              </a:rPr>
              <a:t>.</a:t>
            </a:r>
            <a:r>
              <a:rPr sz="2600" i="0">
                <a:solidFill>
                  <a:srgbClr val="FFFCF7"/>
                </a:solidFill>
                <a:latin typeface="Roboto Mono"/>
              </a:rPr>
              <a:t>____</a:t>
            </a:r>
            <a:r>
              <a:rPr sz="2600" i="0">
                <a:solidFill>
                  <a:srgbClr val="FFFCF7"/>
                </a:solidFill>
                <a:latin typeface="Roboto Mono"/>
              </a:rPr>
              <a:t>(</a:t>
            </a:r>
            <a:r>
              <a:rPr sz="2600" i="0">
                <a:solidFill>
                  <a:srgbClr val="FFFCF7"/>
                </a:solidFill>
                <a:latin typeface="Roboto Mono"/>
              </a:rPr>
              <a:t>adelie</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gentoo</a:t>
            </a:r>
            <a:r>
              <a:rPr sz="2600" i="0">
                <a:solidFill>
                  <a:srgbClr val="FFFCF7"/>
                </a:solidFill>
                <a:latin typeface="Roboto Mono"/>
              </a:rPr>
              <a:t>)</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t-statistic:</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result</a:t>
            </a:r>
            <a:r>
              <a:rPr sz="2600" i="0">
                <a:solidFill>
                  <a:srgbClr val="FFFCF7"/>
                </a:solidFill>
                <a:latin typeface="Roboto Mono"/>
              </a:rPr>
              <a:t>.</a:t>
            </a:r>
            <a:r>
              <a:rPr sz="2600" i="0">
                <a:solidFill>
                  <a:srgbClr val="FFFCF7"/>
                </a:solidFill>
                <a:latin typeface="Roboto Mono"/>
              </a:rPr>
              <a:t>____</a:t>
            </a:r>
            <a:r>
              <a:rPr sz="2600" i="0">
                <a:solidFill>
                  <a:srgbClr val="FFFCF7"/>
                </a:solidFill>
                <a:latin typeface="Roboto Mono"/>
              </a:rPr>
              <a:t>)</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p-value:</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result</a:t>
            </a:r>
            <a:r>
              <a:rPr sz="2600" i="0">
                <a:solidFill>
                  <a:srgbClr val="FFFCF7"/>
                </a:solidFill>
                <a:latin typeface="Roboto Mono"/>
              </a:rPr>
              <a:t>.</a:t>
            </a:r>
            <a:r>
              <a:rPr sz="2600" i="0">
                <a:solidFill>
                  <a:srgbClr val="FFFCF7"/>
                </a:solidFill>
                <a:latin typeface="Roboto Mono"/>
              </a:rPr>
              <a:t>____</a:t>
            </a:r>
            <a:r>
              <a:rPr sz="2600" i="0">
                <a:solidFill>
                  <a:srgbClr val="FFFCF7"/>
                </a:solidFill>
                <a:latin typeface="Roboto Mono"/>
              </a:rPr>
              <a:t>)</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95</a:t>
            </a:r>
            <a:r>
              <a:rPr sz="2600" i="0">
                <a:solidFill>
                  <a:srgbClr val="F8BAC9"/>
                </a:solidFill>
                <a:latin typeface="Roboto Mono"/>
              </a:rPr>
              <a:t>%</a:t>
            </a:r>
            <a:r>
              <a:rPr sz="2600" i="0">
                <a:solidFill>
                  <a:srgbClr val="F8BAC9"/>
                </a:solidFill>
                <a:latin typeface="Roboto Mono"/>
              </a:rPr>
              <a:t> CI:</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result</a:t>
            </a:r>
            <a:r>
              <a:rPr sz="2600" i="0">
                <a:solidFill>
                  <a:srgbClr val="FFFCF7"/>
                </a:solidFill>
                <a:latin typeface="Roboto Mono"/>
              </a:rPr>
              <a:t>.</a:t>
            </a:r>
            <a:r>
              <a:rPr sz="2600" i="0">
                <a:solidFill>
                  <a:srgbClr val="FFFCF7"/>
                </a:solidFill>
                <a:latin typeface="Roboto Mono"/>
              </a:rPr>
              <a:t>____</a:t>
            </a:r>
            <a:r>
              <a:rPr sz="2600" i="0">
                <a:solidFill>
                  <a:srgbClr val="FFFCF7"/>
                </a:solidFill>
                <a:latin typeface="Roboto Mono"/>
              </a:rPr>
              <a:t>(</a:t>
            </a:r>
            <a:r>
              <a:rPr sz="2600" i="0">
                <a:solidFill>
                  <a:srgbClr val="FFFCF7"/>
                </a:solidFill>
                <a:latin typeface="Roboto Mono"/>
              </a:rPr>
              <a:t>confidence_level</a:t>
            </a:r>
            <a:r>
              <a:rPr sz="2600" i="0">
                <a:solidFill>
                  <a:srgbClr val="FFFCF7"/>
                </a:solidFill>
                <a:latin typeface="Roboto Mono"/>
              </a:rPr>
              <a:t>=</a:t>
            </a:r>
            <a:r>
              <a:rPr sz="2600" i="0">
                <a:solidFill>
                  <a:srgbClr val="659B87"/>
                </a:solidFill>
                <a:latin typeface="Roboto Mono"/>
              </a:rPr>
              <a:t>0.95</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4326"/>
                </a:solidFill>
                <a:latin typeface="Helvetica"/>
              </a:rPr>
              <a:t>Answer:</a:t>
            </a:r>
            <a:r>
              <a:rPr sz="3200" b="1" i="0" u="none">
                <a:solidFill>
                  <a:srgbClr val="261F1D"/>
                </a:solidFill>
                <a:latin typeface="Helvetica"/>
              </a:rPr>
              <a:t> Run the t-test</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python</a:t>
            </a:r>
          </a:p>
        </p:txBody>
      </p:sp>
      <p:sp>
        <p:nvSpPr>
          <p:cNvPr id="9" name="Rectangle 8"/>
          <p:cNvSpPr/>
          <p:nvPr/>
        </p:nvSpPr>
        <p:spPr>
          <a:xfrm>
            <a:off x="676656" y="3063240"/>
            <a:ext cx="10838383" cy="475488"/>
          </a:xfrm>
          <a:prstGeom prst="rect">
            <a:avLst/>
          </a:prstGeom>
          <a:no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3538728"/>
            <a:ext cx="10838383" cy="475488"/>
          </a:xfrm>
          <a:prstGeom prst="rect">
            <a:avLst/>
          </a:prstGeom>
          <a:no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4014216"/>
            <a:ext cx="10838383" cy="475488"/>
          </a:xfrm>
          <a:prstGeom prst="rect">
            <a:avLst/>
          </a:prstGeom>
          <a:no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6656" y="4489704"/>
            <a:ext cx="10838383" cy="950976"/>
          </a:xfrm>
          <a:prstGeom prst="rect">
            <a:avLst/>
          </a:prstGeom>
          <a:no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FFFCF7"/>
                </a:solidFill>
                <a:latin typeface="Roboto Mono"/>
              </a:rPr>
              <a:t>adelie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species</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Adelie</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body_mass_g</a:t>
            </a:r>
            <a:r>
              <a:rPr sz="2600" i="0">
                <a:solidFill>
                  <a:srgbClr val="F8BAC9"/>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gentoo</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species</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Gentoo</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body_mass_g</a:t>
            </a:r>
            <a:r>
              <a:rPr sz="2600" i="0">
                <a:solidFill>
                  <a:srgbClr val="F8BAC9"/>
                </a:solidFill>
                <a:latin typeface="Roboto Mono"/>
              </a:rPr>
              <a:t>"</a:t>
            </a:r>
            <a:r>
              <a:rPr sz="2600" i="0">
                <a:solidFill>
                  <a:srgbClr val="FFFCF7"/>
                </a:solidFill>
                <a:latin typeface="Roboto Mono"/>
              </a:rPr>
              <a:t>]</a:t>
            </a:r>
          </a:p>
          <a:p>
            <a:pPr>
              <a:lnSpc>
                <a:spcPct val="120000"/>
              </a:lnSpc>
              <a:defRPr sz="2600">
                <a:latin typeface="Roboto Mono"/>
              </a:defRPr>
            </a:pPr>
          </a:p>
          <a:p>
            <a:pPr>
              <a:lnSpc>
                <a:spcPct val="120000"/>
              </a:lnSpc>
              <a:defRPr sz="2600">
                <a:latin typeface="Roboto Mono"/>
              </a:defRPr>
            </a:pPr>
            <a:r>
              <a:rPr sz="2600" i="0">
                <a:solidFill>
                  <a:srgbClr val="FFFCF7"/>
                </a:solidFill>
                <a:latin typeface="Roboto Mono"/>
              </a:rPr>
              <a:t>result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stats</a:t>
            </a:r>
            <a:r>
              <a:rPr sz="2600" i="0">
                <a:solidFill>
                  <a:srgbClr val="FFFCF7"/>
                </a:solidFill>
                <a:latin typeface="Roboto Mono"/>
              </a:rPr>
              <a:t>.</a:t>
            </a:r>
            <a:r>
              <a:rPr sz="2600" i="0">
                <a:solidFill>
                  <a:srgbClr val="FFFCF7"/>
                </a:solidFill>
                <a:latin typeface="Roboto Mono"/>
              </a:rPr>
              <a:t>ttest_ind</a:t>
            </a:r>
            <a:r>
              <a:rPr sz="2600" i="0">
                <a:solidFill>
                  <a:srgbClr val="FFFCF7"/>
                </a:solidFill>
                <a:latin typeface="Roboto Mono"/>
              </a:rPr>
              <a:t>(</a:t>
            </a:r>
            <a:r>
              <a:rPr sz="2600" i="0">
                <a:solidFill>
                  <a:srgbClr val="FFFCF7"/>
                </a:solidFill>
                <a:latin typeface="Roboto Mono"/>
              </a:rPr>
              <a:t>adelie</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gentoo</a:t>
            </a:r>
            <a:r>
              <a:rPr sz="2600" i="0">
                <a:solidFill>
                  <a:srgbClr val="FFFCF7"/>
                </a:solidFill>
                <a:latin typeface="Roboto Mono"/>
              </a:rPr>
              <a:t>)</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t-statistic:</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result</a:t>
            </a:r>
            <a:r>
              <a:rPr sz="2600" i="0">
                <a:solidFill>
                  <a:srgbClr val="FFFCF7"/>
                </a:solidFill>
                <a:latin typeface="Roboto Mono"/>
              </a:rPr>
              <a:t>.</a:t>
            </a:r>
            <a:r>
              <a:rPr sz="2600" i="0">
                <a:solidFill>
                  <a:srgbClr val="FFFCF7"/>
                </a:solidFill>
                <a:latin typeface="Roboto Mono"/>
              </a:rPr>
              <a:t>statistic</a:t>
            </a:r>
            <a:r>
              <a:rPr sz="2600" i="0">
                <a:solidFill>
                  <a:srgbClr val="FFFCF7"/>
                </a:solidFill>
                <a:latin typeface="Roboto Mono"/>
              </a:rPr>
              <a:t>)</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p-value:</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result</a:t>
            </a:r>
            <a:r>
              <a:rPr sz="2600" i="0">
                <a:solidFill>
                  <a:srgbClr val="FFFCF7"/>
                </a:solidFill>
                <a:latin typeface="Roboto Mono"/>
              </a:rPr>
              <a:t>.</a:t>
            </a:r>
            <a:r>
              <a:rPr sz="2600" i="0">
                <a:solidFill>
                  <a:srgbClr val="FFFCF7"/>
                </a:solidFill>
                <a:latin typeface="Roboto Mono"/>
              </a:rPr>
              <a:t>pvalue</a:t>
            </a:r>
            <a:r>
              <a:rPr sz="2600" i="0">
                <a:solidFill>
                  <a:srgbClr val="FFFCF7"/>
                </a:solidFill>
                <a:latin typeface="Roboto Mono"/>
              </a:rPr>
              <a:t>)</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95</a:t>
            </a:r>
            <a:r>
              <a:rPr sz="2600" i="0">
                <a:solidFill>
                  <a:srgbClr val="F8BAC9"/>
                </a:solidFill>
                <a:latin typeface="Roboto Mono"/>
              </a:rPr>
              <a:t>%</a:t>
            </a:r>
            <a:r>
              <a:rPr sz="2600" i="0">
                <a:solidFill>
                  <a:srgbClr val="F8BAC9"/>
                </a:solidFill>
                <a:latin typeface="Roboto Mono"/>
              </a:rPr>
              <a:t> CI:</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result</a:t>
            </a:r>
            <a:r>
              <a:rPr sz="2600" i="0">
                <a:solidFill>
                  <a:srgbClr val="FFFCF7"/>
                </a:solidFill>
                <a:latin typeface="Roboto Mono"/>
              </a:rPr>
              <a:t>.</a:t>
            </a:r>
            <a:r>
              <a:rPr sz="2600" i="0">
                <a:solidFill>
                  <a:srgbClr val="FFFCF7"/>
                </a:solidFill>
                <a:latin typeface="Roboto Mono"/>
              </a:rPr>
              <a:t>confidence_interval</a:t>
            </a:r>
            <a:r>
              <a:rPr sz="2600" i="0">
                <a:solidFill>
                  <a:srgbClr val="FFFCF7"/>
                </a:solidFill>
                <a:latin typeface="Roboto Mono"/>
              </a:rPr>
              <a:t>(</a:t>
            </a:r>
            <a:r>
              <a:rPr sz="2600" i="0">
                <a:solidFill>
                  <a:srgbClr val="FFFCF7"/>
                </a:solidFill>
                <a:latin typeface="Roboto Mono"/>
              </a:rPr>
              <a:t>confidence_level</a:t>
            </a:r>
            <a:r>
              <a:rPr sz="2600" i="0">
                <a:solidFill>
                  <a:srgbClr val="FFFCF7"/>
                </a:solidFill>
                <a:latin typeface="Roboto Mono"/>
              </a:rPr>
              <a:t>=</a:t>
            </a:r>
            <a:r>
              <a:rPr sz="2600" i="0">
                <a:solidFill>
                  <a:srgbClr val="659B87"/>
                </a:solidFill>
                <a:latin typeface="Roboto Mono"/>
              </a:rPr>
              <a:t>0.95</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Reading the t-test Output</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p-value: Far below 0.05, reject the null</a:t>
            </a:r>
          </a:p>
          <a:p>
            <a:pPr>
              <a:spcAft>
                <a:spcPts val="1000"/>
              </a:spcAft>
            </a:pPr>
            <a:r>
              <a:rPr sz="2600">
                <a:solidFill>
                  <a:srgbClr val="261F1D"/>
                </a:solidFill>
                <a:latin typeface="Helvetica"/>
              </a:rPr>
              <a:t>•  </a:t>
            </a:r>
            <a:r>
              <a:rPr sz="2600" b="0" i="0" u="none">
                <a:solidFill>
                  <a:srgbClr val="261F1D"/>
                </a:solidFill>
                <a:latin typeface="Helvetica"/>
              </a:rPr>
              <a:t>The 95% CI sits on one side</a:t>
            </a:r>
          </a:p>
          <a:p>
            <a:pPr>
              <a:spcAft>
                <a:spcPts val="1000"/>
              </a:spcAft>
            </a:pPr>
            <a:r>
              <a:rPr sz="2600">
                <a:solidFill>
                  <a:srgbClr val="261F1D"/>
                </a:solidFill>
                <a:latin typeface="Helvetica"/>
              </a:rPr>
              <a:t>•  </a:t>
            </a:r>
            <a:r>
              <a:rPr sz="2600" b="0" i="0" u="none">
                <a:solidFill>
                  <a:srgbClr val="261F1D"/>
                </a:solidFill>
                <a:latin typeface="Helvetica"/>
              </a:rPr>
              <a:t>Gentoo really does weigh more, on average</a:t>
            </a:r>
          </a:p>
        </p:txBody>
      </p:sp>
      <p:sp>
        <p:nvSpPr>
          <p:cNvPr id="5" name="Oval 4"/>
          <p:cNvSpPr/>
          <p:nvPr/>
        </p:nvSpPr>
        <p:spPr>
          <a:xfrm>
            <a:off x="8532266" y="2581351"/>
            <a:ext cx="2381098" cy="2381098"/>
          </a:xfrm>
          <a:prstGeom prst="ellipse">
            <a:avLst/>
          </a:prstGeom>
          <a:solidFill>
            <a:srgbClr val="A6C2B4"/>
          </a:solidFill>
          <a:ln w="50800">
            <a:solidFill>
              <a:srgbClr val="264326"/>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p-value Says 'Probably Not Zero'</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How Big, Really?</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p-value never answers how big a difference actually is. Cohen's d does - the project's own next graded step.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Compute Cohen's d</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python</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numpy</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np</a:t>
            </a:r>
          </a:p>
          <a:p>
            <a:pPr>
              <a:lnSpc>
                <a:spcPct val="105000"/>
              </a:lnSpc>
              <a:defRPr sz="2600">
                <a:latin typeface="Roboto Mono"/>
              </a:defRPr>
            </a:pPr>
          </a:p>
          <a:p>
            <a:pPr>
              <a:lnSpc>
                <a:spcPct val="105000"/>
              </a:lnSpc>
              <a:defRPr sz="2600">
                <a:latin typeface="Roboto Mono"/>
              </a:defRPr>
            </a:pPr>
            <a:r>
              <a:rPr sz="2600" i="0">
                <a:solidFill>
                  <a:srgbClr val="FFFCF7"/>
                </a:solidFill>
                <a:latin typeface="Roboto Mono"/>
              </a:rPr>
              <a:t>n1</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n2</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5996C7"/>
                </a:solidFill>
                <a:latin typeface="Roboto Mono"/>
              </a:rPr>
              <a:t>len</a:t>
            </a:r>
            <a:r>
              <a:rPr sz="2600" i="0">
                <a:solidFill>
                  <a:srgbClr val="FFFCF7"/>
                </a:solidFill>
                <a:latin typeface="Roboto Mono"/>
              </a:rPr>
              <a:t>(</a:t>
            </a:r>
            <a:r>
              <a:rPr sz="2600" i="0">
                <a:solidFill>
                  <a:srgbClr val="FFFCF7"/>
                </a:solidFill>
                <a:latin typeface="Roboto Mono"/>
              </a:rPr>
              <a:t>adelie</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5996C7"/>
                </a:solidFill>
                <a:latin typeface="Roboto Mono"/>
              </a:rPr>
              <a:t>len</a:t>
            </a:r>
            <a:r>
              <a:rPr sz="2600" i="0">
                <a:solidFill>
                  <a:srgbClr val="FFFCF7"/>
                </a:solidFill>
                <a:latin typeface="Roboto Mono"/>
              </a:rPr>
              <a:t>(</a:t>
            </a:r>
            <a:r>
              <a:rPr sz="2600" i="0">
                <a:solidFill>
                  <a:srgbClr val="FFFCF7"/>
                </a:solidFill>
                <a:latin typeface="Roboto Mono"/>
              </a:rPr>
              <a:t>gentoo</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pooled_std</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np</a:t>
            </a:r>
            <a:r>
              <a:rPr sz="2600" i="0">
                <a:solidFill>
                  <a:srgbClr val="FFFCF7"/>
                </a:solidFill>
                <a:latin typeface="Roboto Mono"/>
              </a:rPr>
              <a:t>.</a:t>
            </a:r>
            <a:r>
              <a:rPr sz="2600" i="0">
                <a:solidFill>
                  <a:srgbClr val="FFFCF7"/>
                </a:solidFill>
                <a:latin typeface="Roboto Mono"/>
              </a:rPr>
              <a:t>sqrt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n1</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1</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adelie</a:t>
            </a:r>
            <a:r>
              <a:rPr sz="2600" i="0">
                <a:solidFill>
                  <a:srgbClr val="FFFCF7"/>
                </a:solidFill>
                <a:latin typeface="Roboto Mono"/>
              </a:rPr>
              <a:t>.</a:t>
            </a:r>
            <a:r>
              <a:rPr sz="2600" i="0">
                <a:solidFill>
                  <a:srgbClr val="FFFCF7"/>
                </a:solidFill>
                <a:latin typeface="Roboto Mono"/>
              </a:rPr>
              <a:t>std</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659B87"/>
                </a:solidFill>
                <a:latin typeface="Roboto Mono"/>
              </a:rPr>
              <a:t>2</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n2</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1</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gentoo</a:t>
            </a:r>
            <a:r>
              <a:rPr sz="2600" i="0">
                <a:solidFill>
                  <a:srgbClr val="FFFCF7"/>
                </a:solidFill>
                <a:latin typeface="Roboto Mono"/>
              </a:rPr>
              <a:t>.</a:t>
            </a:r>
            <a:r>
              <a:rPr sz="2600" i="0">
                <a:solidFill>
                  <a:srgbClr val="FFFCF7"/>
                </a:solidFill>
                <a:latin typeface="Roboto Mono"/>
              </a:rPr>
              <a:t>std</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659B87"/>
                </a:solidFill>
                <a:latin typeface="Roboto Mono"/>
              </a:rPr>
              <a:t>2</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n1</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n2</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2</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cohens_d</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gentoo</a:t>
            </a:r>
            <a:r>
              <a:rPr sz="2600" i="0">
                <a:solidFill>
                  <a:srgbClr val="FFFCF7"/>
                </a:solidFill>
                <a:latin typeface="Roboto Mono"/>
              </a:rPr>
              <a:t>.</a:t>
            </a:r>
            <a:r>
              <a:rPr sz="2600" i="0">
                <a:solidFill>
                  <a:srgbClr val="FFFCF7"/>
                </a:solidFill>
                <a:latin typeface="Roboto Mono"/>
              </a:rPr>
              <a:t>mean</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adelie</a:t>
            </a:r>
            <a:r>
              <a:rPr sz="2600" i="0">
                <a:solidFill>
                  <a:srgbClr val="FFFCF7"/>
                </a:solidFill>
                <a:latin typeface="Roboto Mono"/>
              </a:rPr>
              <a:t>.</a:t>
            </a:r>
            <a:r>
              <a:rPr sz="2600" i="0">
                <a:solidFill>
                  <a:srgbClr val="FFFCF7"/>
                </a:solidFill>
                <a:latin typeface="Roboto Mono"/>
              </a:rPr>
              <a:t>mean</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pooled_std</a:t>
            </a: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Cohen</a:t>
            </a:r>
            <a:r>
              <a:rPr sz="2600" i="0">
                <a:solidFill>
                  <a:srgbClr val="F8BAC9"/>
                </a:solidFill>
                <a:latin typeface="Roboto Mono"/>
              </a:rPr>
              <a:t>'</a:t>
            </a:r>
            <a:r>
              <a:rPr sz="2600" i="0">
                <a:solidFill>
                  <a:srgbClr val="F8BAC9"/>
                </a:solidFill>
                <a:latin typeface="Roboto Mono"/>
              </a:rPr>
              <a:t>s d:</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cohens_d</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One Test, Run for Real</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A Second Kind of Question: Are Two Categories Related?</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Body mass by species was a continuous outcome. Species by island is a completely different shape of question.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With your partner: Predict whether species and island are related, before running any code.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Prediction Made</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See What the Data Says</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Time to find out if the real crosstab agrees with your guess.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Run the Chi-Square Test</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python</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FFFCF7"/>
                </a:solidFill>
                <a:latin typeface="Roboto Mono"/>
              </a:rPr>
              <a:t>table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pd</a:t>
            </a:r>
            <a:r>
              <a:rPr sz="2600" i="0">
                <a:solidFill>
                  <a:srgbClr val="FFFCF7"/>
                </a:solidFill>
                <a:latin typeface="Roboto Mono"/>
              </a:rPr>
              <a:t>.</a:t>
            </a:r>
            <a:r>
              <a:rPr sz="2600" i="0">
                <a:solidFill>
                  <a:srgbClr val="FFFCF7"/>
                </a:solidFill>
                <a:latin typeface="Roboto Mono"/>
              </a:rPr>
              <a:t>crosstab</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species</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df</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island</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table</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0">
                <a:solidFill>
                  <a:srgbClr val="FFFCF7"/>
                </a:solidFill>
                <a:latin typeface="Roboto Mono"/>
              </a:rPr>
              <a:t>chi2</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dof</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expected</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stats</a:t>
            </a:r>
            <a:r>
              <a:rPr sz="2600" i="0">
                <a:solidFill>
                  <a:srgbClr val="FFFCF7"/>
                </a:solidFill>
                <a:latin typeface="Roboto Mono"/>
              </a:rPr>
              <a:t>.</a:t>
            </a:r>
            <a:r>
              <a:rPr sz="2600" i="0">
                <a:solidFill>
                  <a:srgbClr val="FFFCF7"/>
                </a:solidFill>
                <a:latin typeface="Roboto Mono"/>
              </a:rPr>
              <a:t>chi2_contingency</a:t>
            </a:r>
            <a:r>
              <a:rPr sz="2600" i="0">
                <a:solidFill>
                  <a:srgbClr val="FFFCF7"/>
                </a:solidFill>
                <a:latin typeface="Roboto Mono"/>
              </a:rPr>
              <a:t>(</a:t>
            </a:r>
            <a:r>
              <a:rPr sz="2600" i="0">
                <a:solidFill>
                  <a:srgbClr val="FFFCF7"/>
                </a:solidFill>
                <a:latin typeface="Roboto Mono"/>
              </a:rPr>
              <a:t>table</a:t>
            </a:r>
            <a:r>
              <a:rPr sz="2600" i="0">
                <a:solidFill>
                  <a:srgbClr val="FFFCF7"/>
                </a:solidFill>
                <a:latin typeface="Roboto Mono"/>
              </a:rPr>
              <a:t>)</a:t>
            </a: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chi2:</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chi2</a:t>
            </a:r>
            <a:r>
              <a:rPr sz="2600" i="0">
                <a:solidFill>
                  <a:srgbClr val="FFFCF7"/>
                </a:solidFill>
                <a:latin typeface="Roboto Mono"/>
              </a:rPr>
              <a:t>)</a:t>
            </a: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p-value:</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a:t>
            </a:r>
            <a:r>
              <a:rPr sz="2600" i="0">
                <a:solidFill>
                  <a:srgbClr val="FFFCF7"/>
                </a:solidFill>
                <a:latin typeface="Roboto Mono"/>
              </a:rPr>
              <a:t>)</a:t>
            </a: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degrees of freedom:</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dof</a:t>
            </a:r>
            <a:r>
              <a:rPr sz="2600" i="0">
                <a:solidFill>
                  <a:srgbClr val="FFFCF7"/>
                </a:solidFill>
                <a:latin typeface="Roboto Mono"/>
              </a:rPr>
              <a:t>)</a:t>
            </a: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expected counts:</a:t>
            </a:r>
            <a:r>
              <a:rPr sz="2600" i="0">
                <a:solidFill>
                  <a:srgbClr val="F8BAC9"/>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expected</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Reading the Chi-Square Output</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Species and island are strongly associated</a:t>
            </a:r>
          </a:p>
          <a:p>
            <a:pPr>
              <a:spcAft>
                <a:spcPts val="1000"/>
              </a:spcAft>
            </a:pPr>
            <a:r>
              <a:rPr sz="2600">
                <a:solidFill>
                  <a:srgbClr val="261F1D"/>
                </a:solidFill>
                <a:latin typeface="Helvetica"/>
              </a:rPr>
              <a:t>•  </a:t>
            </a:r>
            <a:r>
              <a:rPr sz="2600" b="0" i="0" u="none">
                <a:solidFill>
                  <a:srgbClr val="261F1D"/>
                </a:solidFill>
                <a:latin typeface="Helvetica"/>
              </a:rPr>
              <a:t>Not evenly spread across all three islands</a:t>
            </a:r>
          </a:p>
          <a:p>
            <a:pPr>
              <a:spcAft>
                <a:spcPts val="1000"/>
              </a:spcAft>
            </a:pPr>
            <a:r>
              <a:rPr sz="2600">
                <a:solidFill>
                  <a:srgbClr val="261F1D"/>
                </a:solidFill>
                <a:latin typeface="Helvetica"/>
              </a:rPr>
              <a:t>•  </a:t>
            </a:r>
            <a:r>
              <a:rPr sz="2600" b="0" i="0" u="none">
                <a:solidFill>
                  <a:srgbClr val="261F1D"/>
                </a:solidFill>
                <a:latin typeface="Helvetica"/>
              </a:rPr>
              <a:t>A real pattern, not just noise</a:t>
            </a:r>
          </a:p>
        </p:txBody>
      </p:sp>
      <p:sp>
        <p:nvSpPr>
          <p:cNvPr id="5" name="Oval 4"/>
          <p:cNvSpPr/>
          <p:nvPr/>
        </p:nvSpPr>
        <p:spPr>
          <a:xfrm>
            <a:off x="8532266" y="2581351"/>
            <a:ext cx="2381098" cy="2381098"/>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Chi-Square Says 'They're Related'</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How Strongly Related?</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chi-square only says a real pattern likely exists. Cramér's V says how strong it 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Compute Cramér's V</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python</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FFFCF7"/>
                </a:solidFill>
                <a:latin typeface="Roboto Mono"/>
              </a:rPr>
              <a:t>n</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table</a:t>
            </a:r>
            <a:r>
              <a:rPr sz="2600" i="0">
                <a:solidFill>
                  <a:srgbClr val="FFFCF7"/>
                </a:solidFill>
                <a:latin typeface="Roboto Mono"/>
              </a:rPr>
              <a:t>.</a:t>
            </a:r>
            <a:r>
              <a:rPr sz="2600" i="0">
                <a:solidFill>
                  <a:srgbClr val="FFFCF7"/>
                </a:solidFill>
                <a:latin typeface="Roboto Mono"/>
              </a:rPr>
              <a:t>sum</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sum</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cramers_v</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chi2</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n</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5996C7"/>
                </a:solidFill>
                <a:latin typeface="Roboto Mono"/>
              </a:rPr>
              <a:t>min</a:t>
            </a:r>
            <a:r>
              <a:rPr sz="2600" i="0">
                <a:solidFill>
                  <a:srgbClr val="FFFCF7"/>
                </a:solidFill>
                <a:latin typeface="Roboto Mono"/>
              </a:rPr>
              <a:t>(</a:t>
            </a:r>
            <a:r>
              <a:rPr sz="2600" i="0">
                <a:solidFill>
                  <a:srgbClr val="FFFCF7"/>
                </a:solidFill>
                <a:latin typeface="Roboto Mono"/>
              </a:rPr>
              <a:t>table</a:t>
            </a:r>
            <a:r>
              <a:rPr sz="2600" i="0">
                <a:solidFill>
                  <a:srgbClr val="FFFCF7"/>
                </a:solidFill>
                <a:latin typeface="Roboto Mono"/>
              </a:rPr>
              <a:t>.</a:t>
            </a:r>
            <a:r>
              <a:rPr sz="2600" i="0">
                <a:solidFill>
                  <a:srgbClr val="FFFCF7"/>
                </a:solidFill>
                <a:latin typeface="Roboto Mono"/>
              </a:rPr>
              <a:t>shape</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1</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0.5</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Cramer</a:t>
            </a:r>
            <a:r>
              <a:rPr sz="2600" i="0">
                <a:solidFill>
                  <a:srgbClr val="F8BAC9"/>
                </a:solidFill>
                <a:latin typeface="Roboto Mono"/>
              </a:rPr>
              <a:t>'</a:t>
            </a:r>
            <a:r>
              <a:rPr sz="2600" i="0">
                <a:solidFill>
                  <a:srgbClr val="F8BAC9"/>
                </a:solidFill>
                <a:latin typeface="Roboto Mono"/>
              </a:rPr>
              <a:t>s V:</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cramers_v</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A chi-square test returns p = 0.41. What's the honest conclusion?</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The two variables are definitely independent</a:t>
            </a:r>
          </a:p>
          <a:p>
            <a:pPr>
              <a:spcAft>
                <a:spcPts val="1000"/>
              </a:spcAft>
            </a:pPr>
            <a:r>
              <a:rPr sz="2600" b="0" i="0" u="none">
                <a:solidFill>
                  <a:srgbClr val="261F1D"/>
                </a:solidFill>
                <a:latin typeface="Helvetica"/>
              </a:rPr>
              <a:t>B.  No real evidence found that they're associated</a:t>
            </a:r>
          </a:p>
          <a:p>
            <a:pPr>
              <a:spcAft>
                <a:spcPts val="1000"/>
              </a:spcAft>
            </a:pPr>
            <a:r>
              <a:rPr sz="2600" b="0" i="0" u="none">
                <a:solidFill>
                  <a:srgbClr val="261F1D"/>
                </a:solidFill>
                <a:latin typeface="Helvetica"/>
              </a:rPr>
              <a:t>C.  The test failed and should be rerun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A Chi-Square Result That Isn't Small</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No real evidence found that they're associated</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Failing to reject the null is never the same claim as proving it true - the same distinction from last class's null-hypothesis logic applies here. A p-value of 0.41 means this data doesn't give strong evidence of an association. It doesn't prove the two variables are truly independent, and there's nothing wrong with the test itself that would call for rerunning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Which Test, When?</a:t>
            </a:r>
          </a:p>
        </p:txBody>
      </p:sp>
      <p:sp>
        <p:nvSpPr>
          <p:cNvPr id="4" name="Rectangle 3"/>
          <p:cNvSpPr/>
          <p:nvPr/>
        </p:nvSpPr>
        <p:spPr>
          <a:xfrm>
            <a:off x="548640" y="1188720"/>
            <a:ext cx="5410048" cy="539496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t-test</a:t>
            </a:r>
          </a:p>
        </p:txBody>
      </p:sp>
      <p:sp>
        <p:nvSpPr>
          <p:cNvPr id="7" name="TextBox 6"/>
          <p:cNvSpPr txBox="1"/>
          <p:nvPr/>
        </p:nvSpPr>
        <p:spPr>
          <a:xfrm>
            <a:off x="777240" y="2011680"/>
            <a:ext cx="4952848" cy="4343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Outcome is continuous (body mass, in grams)</a:t>
            </a:r>
          </a:p>
          <a:p>
            <a:pPr>
              <a:spcAft>
                <a:spcPts val="1000"/>
              </a:spcAft>
            </a:pPr>
            <a:r>
              <a:rPr sz="2600">
                <a:solidFill>
                  <a:srgbClr val="261F1D"/>
                </a:solidFill>
                <a:latin typeface="Helvetica"/>
              </a:rPr>
              <a:t>•  </a:t>
            </a:r>
            <a:r>
              <a:rPr sz="2600" b="0" i="0" u="none">
                <a:solidFill>
                  <a:srgbClr val="261F1D"/>
                </a:solidFill>
                <a:latin typeface="Helvetica"/>
              </a:rPr>
              <a:t>Comparing the means of two groups</a:t>
            </a:r>
          </a:p>
          <a:p>
            <a:pPr>
              <a:spcAft>
                <a:spcPts val="1000"/>
              </a:spcAft>
            </a:pPr>
            <a:r>
              <a:rPr sz="2600">
                <a:solidFill>
                  <a:srgbClr val="261F1D"/>
                </a:solidFill>
                <a:latin typeface="Helvetica"/>
              </a:rPr>
              <a:t>•  </a:t>
            </a:r>
            <a:r>
              <a:rPr sz="2600" b="0" i="0" u="none">
                <a:solidFill>
                  <a:srgbClr val="261F1D"/>
                </a:solidFill>
                <a:latin typeface="Helvetica"/>
              </a:rPr>
              <a:t>Question: 'Do these two groups differ?'</a:t>
            </a:r>
          </a:p>
        </p:txBody>
      </p:sp>
      <p:sp>
        <p:nvSpPr>
          <p:cNvPr id="8" name="Rectangle 7"/>
          <p:cNvSpPr/>
          <p:nvPr/>
        </p:nvSpPr>
        <p:spPr>
          <a:xfrm>
            <a:off x="6233008" y="1188720"/>
            <a:ext cx="5410048" cy="539496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Chi-square test</a:t>
            </a:r>
          </a:p>
        </p:txBody>
      </p:sp>
      <p:sp>
        <p:nvSpPr>
          <p:cNvPr id="11" name="TextBox 10"/>
          <p:cNvSpPr txBox="1"/>
          <p:nvPr/>
        </p:nvSpPr>
        <p:spPr>
          <a:xfrm>
            <a:off x="6461608" y="2011680"/>
            <a:ext cx="4952848" cy="4343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Both variables are categorical</a:t>
            </a:r>
          </a:p>
          <a:p>
            <a:pPr>
              <a:spcAft>
                <a:spcPts val="1000"/>
              </a:spcAft>
            </a:pPr>
            <a:r>
              <a:rPr sz="2600">
                <a:solidFill>
                  <a:srgbClr val="261F1D"/>
                </a:solidFill>
                <a:latin typeface="Helvetica"/>
              </a:rPr>
              <a:t>•  </a:t>
            </a:r>
            <a:r>
              <a:rPr sz="2600" b="0" i="0" u="none">
                <a:solidFill>
                  <a:srgbClr val="261F1D"/>
                </a:solidFill>
                <a:latin typeface="Helvetica"/>
              </a:rPr>
              <a:t>Checking if the two are linked</a:t>
            </a:r>
          </a:p>
          <a:p>
            <a:pPr>
              <a:spcAft>
                <a:spcPts val="1000"/>
              </a:spcAft>
            </a:pPr>
            <a:r>
              <a:rPr sz="2600">
                <a:solidFill>
                  <a:srgbClr val="261F1D"/>
                </a:solidFill>
                <a:latin typeface="Helvetica"/>
              </a:rPr>
              <a:t>•  </a:t>
            </a:r>
            <a:r>
              <a:rPr sz="2600" b="0" i="0" u="none">
                <a:solidFill>
                  <a:srgbClr val="261F1D"/>
                </a:solidFill>
                <a:latin typeface="Helvetica"/>
              </a:rPr>
              <a:t>Question: 'Are these two related at all?'</a:t>
            </a:r>
          </a:p>
        </p:txBody>
      </p:sp>
      <p:cxnSp>
        <p:nvCxnSpPr>
          <p:cNvPr id="12" name="Connector 11"/>
          <p:cNvCxnSpPr/>
          <p:nvPr/>
        </p:nvCxnSpPr>
        <p:spPr>
          <a:xfrm>
            <a:off x="6095848" y="1188720"/>
            <a:ext cx="0" cy="539496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WOULD YOU RATHER?</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Would you rather skip the assumption check to save time, or always run it, even when you're confident?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How do you decide between a t-test and a chi-square test?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How do you decide between a t-test and a chi-square test?</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Point: It comes down to the outcome variable's data type. Reason: A t-test compares means of a continuous outcome; a chi-square test checks association between two categorical variables. Example: Today's own two demos - body mass in grams (continuous, t-test) versus species by island (both categorical, chi-square). Point: Check the data type first, every time, before picking a test.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1303020"/>
          <a:ext cx="11094415" cy="489204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t-test</a:t>
                      </a:r>
                    </a:p>
                  </a:txBody>
                  <a:tcPr marL="109728" marR="109728" marT="54864" marB="54864" anchor="ctr">
                    <a:solidFill>
                      <a:srgbClr val="FFFCF7"/>
                    </a:solidFill>
                  </a:tcPr>
                </a:tc>
                <a:tc>
                  <a:txBody>
                    <a:bodyPr wrap="square"/>
                    <a:lstStyle/>
                    <a:p>
                      <a:r>
                        <a:rPr sz="2600" b="0" i="0" u="none">
                          <a:solidFill>
                            <a:srgbClr val="261F1D"/>
                          </a:solidFill>
                          <a:latin typeface="Helvetica"/>
                        </a:rPr>
                        <a:t>Compares the means of two groups on a continuous outcome</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chi-square test</a:t>
                      </a:r>
                    </a:p>
                  </a:txBody>
                  <a:tcPr marL="109728" marR="109728" marT="54864" marB="54864" anchor="ctr">
                    <a:solidFill>
                      <a:srgbClr val="FFF6E4"/>
                    </a:solidFill>
                  </a:tcPr>
                </a:tc>
                <a:tc>
                  <a:txBody>
                    <a:bodyPr wrap="square"/>
                    <a:lstStyle/>
                    <a:p>
                      <a:r>
                        <a:rPr sz="2600" b="0" i="0" u="none">
                          <a:solidFill>
                            <a:srgbClr val="261F1D"/>
                          </a:solidFill>
                          <a:latin typeface="Helvetica"/>
                        </a:rPr>
                        <a:t>Checks whether two categorical variables are associated</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contingency table</a:t>
                      </a:r>
                    </a:p>
                  </a:txBody>
                  <a:tcPr marL="109728" marR="109728" marT="54864" marB="54864" anchor="ctr">
                    <a:solidFill>
                      <a:srgbClr val="FFFCF7"/>
                    </a:solidFill>
                  </a:tcPr>
                </a:tc>
                <a:tc>
                  <a:txBody>
                    <a:bodyPr wrap="square"/>
                    <a:lstStyle/>
                    <a:p>
                      <a:r>
                        <a:rPr sz="2600" b="0" i="0" u="none">
                          <a:solidFill>
                            <a:srgbClr val="261F1D"/>
                          </a:solidFill>
                          <a:latin typeface="Helvetica"/>
                        </a:rPr>
                        <a:t>A table of counts crossing two categorical variables</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degrees of freedom</a:t>
                      </a:r>
                    </a:p>
                  </a:txBody>
                  <a:tcPr marL="109728" marR="109728" marT="54864" marB="54864" anchor="ctr">
                    <a:solidFill>
                      <a:srgbClr val="FFF6E4"/>
                    </a:solidFill>
                  </a:tcPr>
                </a:tc>
                <a:tc>
                  <a:txBody>
                    <a:bodyPr wrap="square"/>
                    <a:lstStyle/>
                    <a:p>
                      <a:r>
                        <a:rPr sz="2600" b="0" i="0" u="none">
                          <a:solidFill>
                            <a:srgbClr val="261F1D"/>
                          </a:solidFill>
                          <a:latin typeface="Helvetica"/>
                        </a:rPr>
                        <a:t>Ties to how many values were free to vary in the test</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categorical variable</a:t>
                      </a:r>
                    </a:p>
                  </a:txBody>
                  <a:tcPr marL="109728" marR="109728" marT="54864" marB="54864" anchor="ctr">
                    <a:solidFill>
                      <a:srgbClr val="FFFCF7"/>
                    </a:solidFill>
                  </a:tcPr>
                </a:tc>
                <a:tc>
                  <a:txBody>
                    <a:bodyPr wrap="square"/>
                    <a:lstStyle/>
                    <a:p>
                      <a:r>
                        <a:rPr sz="2600" b="0" i="0" u="none">
                          <a:solidFill>
                            <a:srgbClr val="261F1D"/>
                          </a:solidFill>
                          <a:latin typeface="Helvetica"/>
                        </a:rPr>
                        <a:t>A variable whose values are named groups, not numbers</a:t>
                      </a:r>
                    </a:p>
                  </a:txBody>
                  <a:tcPr marL="109728" marR="109728" marT="54864" marB="54864" anchor="ctr">
                    <a:solidFill>
                      <a:srgbClr val="FFFCF7"/>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real t-test, run and interpreted</a:t>
            </a:r>
          </a:p>
          <a:p>
            <a:pPr>
              <a:spcAft>
                <a:spcPts val="1000"/>
              </a:spcAft>
            </a:pPr>
            <a:r>
              <a:rPr sz="2600">
                <a:solidFill>
                  <a:srgbClr val="261F1D"/>
                </a:solidFill>
                <a:latin typeface="Helvetica"/>
              </a:rPr>
              <a:t>•  </a:t>
            </a:r>
            <a:r>
              <a:rPr sz="2600" b="0" i="0" u="none">
                <a:solidFill>
                  <a:srgbClr val="261F1D"/>
                </a:solidFill>
                <a:latin typeface="Helvetica"/>
              </a:rPr>
              <a:t>A real chi-square test, run and interpreted</a:t>
            </a:r>
          </a:p>
          <a:p>
            <a:pPr>
              <a:spcAft>
                <a:spcPts val="1000"/>
              </a:spcAft>
            </a:pPr>
            <a:r>
              <a:rPr sz="2600">
                <a:solidFill>
                  <a:srgbClr val="261F1D"/>
                </a:solidFill>
                <a:latin typeface="Helvetica"/>
              </a:rPr>
              <a:t>•  </a:t>
            </a:r>
            <a:r>
              <a:rPr sz="2600" b="0" i="0" u="none">
                <a:solidFill>
                  <a:srgbClr val="261F1D"/>
                </a:solidFill>
                <a:latin typeface="Helvetica"/>
              </a:rPr>
              <a:t>Which test fits which kind of question</a:t>
            </a:r>
          </a:p>
          <a:p>
            <a:pPr>
              <a:spcAft>
                <a:spcPts val="1000"/>
              </a:spcAft>
            </a:pPr>
            <a:r>
              <a:rPr sz="2600">
                <a:solidFill>
                  <a:srgbClr val="261F1D"/>
                </a:solidFill>
                <a:latin typeface="Helvetica"/>
              </a:rPr>
              <a:t>•  </a:t>
            </a:r>
            <a:r>
              <a:rPr sz="2600" b="0" i="0" u="none">
                <a:solidFill>
                  <a:srgbClr val="261F1D"/>
                </a:solidFill>
                <a:latin typeface="Helvetica"/>
              </a:rPr>
              <a:t>A shape check and a cell-count check</a:t>
            </a:r>
          </a:p>
          <a:p>
            <a:pPr>
              <a:spcAft>
                <a:spcPts val="1000"/>
              </a:spcAft>
            </a:pPr>
            <a:r>
              <a:rPr sz="2600">
                <a:solidFill>
                  <a:srgbClr val="261F1D"/>
                </a:solidFill>
                <a:latin typeface="Helvetica"/>
              </a:rPr>
              <a:t>•  </a:t>
            </a:r>
            <a:r>
              <a:rPr sz="2600" b="0" i="0" u="none">
                <a:solidFill>
                  <a:srgbClr val="261F1D"/>
                </a:solidFill>
                <a:latin typeface="Helvetica"/>
              </a:rPr>
              <a:t>Effect size: How big, not just real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Tomorrow: Is Your Test Defensible?</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Bring today's shape-check habit with you</a:t>
            </a:r>
          </a:p>
          <a:p>
            <a:pPr>
              <a:spcAft>
                <a:spcPts val="1000"/>
              </a:spcAft>
            </a:pPr>
            <a:r>
              <a:rPr sz="2600">
                <a:solidFill>
                  <a:srgbClr val="FFFCF7"/>
                </a:solidFill>
                <a:latin typeface="Helvetica"/>
              </a:rPr>
              <a:t>•  </a:t>
            </a:r>
            <a:r>
              <a:rPr sz="2600" b="0" i="0" u="none">
                <a:solidFill>
                  <a:srgbClr val="FFFCF7"/>
                </a:solidFill>
                <a:latin typeface="Helvetica"/>
              </a:rPr>
              <a:t>Several real cases, not just one</a:t>
            </a:r>
          </a:p>
          <a:p>
            <a:pPr>
              <a:spcAft>
                <a:spcPts val="1000"/>
              </a:spcAft>
            </a:pPr>
            <a:r>
              <a:rPr sz="2600">
                <a:solidFill>
                  <a:srgbClr val="FFFCF7"/>
                </a:solidFill>
                <a:latin typeface="Helvetica"/>
              </a:rPr>
              <a:t>•  </a:t>
            </a:r>
            <a:r>
              <a:rPr sz="2600" b="0" i="0" u="none">
                <a:solidFill>
                  <a:srgbClr val="FFFCF7"/>
                </a:solidFill>
                <a:latin typeface="Helvetica"/>
              </a:rPr>
              <a:t>A real defensible-or-not call, each time</a:t>
            </a:r>
          </a:p>
        </p:txBody>
      </p:sp>
      <p:sp>
        <p:nvSpPr>
          <p:cNvPr id="5" name="TextBox 4"/>
          <p:cNvSpPr txBox="1"/>
          <p:nvPr/>
        </p:nvSpPr>
        <p:spPr>
          <a:xfrm>
            <a:off x="548640" y="5029200"/>
            <a:ext cx="11094415" cy="384048"/>
          </a:xfrm>
          <a:prstGeom prst="rect">
            <a:avLst/>
          </a:prstGeom>
          <a:noFill/>
        </p:spPr>
        <p:txBody>
          <a:bodyPr wrap="square" anchor="t" lIns="0" rIns="0" tIns="0" bIns="0">
            <a:noAutofit/>
          </a:bodyPr>
          <a:lstStyle/>
          <a:p>
            <a:pPr algn="l"/>
            <a:r>
              <a:rPr sz="2600" b="1" i="0" u="none">
                <a:solidFill>
                  <a:srgbClr val="EEBC32"/>
                </a:solidFill>
                <a:latin typeface="Helvetica"/>
              </a:rPr>
              <a:t>Next: Is My Test Defensible? (lab, with a partner)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A Practical Guide to t-tests &amp; Chi-Square in Python</a:t>
            </a:r>
          </a:p>
        </p:txBody>
      </p:sp>
      <p:sp>
        <p:nvSpPr>
          <p:cNvPr id="8" name="TextBox 7"/>
          <p:cNvSpPr txBox="1"/>
          <p:nvPr/>
        </p:nvSpPr>
        <p:spPr>
          <a:xfrm>
            <a:off x="1051560" y="2350008"/>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Statology  ·  READING  ·  ~12-15 min</a:t>
            </a:r>
          </a:p>
        </p:txBody>
      </p:sp>
      <p:sp>
        <p:nvSpPr>
          <p:cNvPr id="9" name="TextBox 8"/>
          <p:cNvSpPr txBox="1"/>
          <p:nvPr/>
        </p:nvSpPr>
        <p:spPr>
          <a:xfrm>
            <a:off x="1051560" y="2734056"/>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A hands-on, code-forward walkthrough of both tests</a:t>
            </a:r>
          </a:p>
        </p:txBody>
      </p:sp>
      <p:pic>
        <p:nvPicPr>
          <p:cNvPr id="10" name="Picture 9" descr=""/>
          <p:cNvPicPr>
            <a:picLocks noChangeAspect="1"/>
          </p:cNvPicPr>
          <p:nvPr/>
        </p:nvPicPr>
        <p:blipFill>
          <a:blip r:embed="rId5"/>
          <a:stretch>
            <a:fillRect/>
          </a:stretch>
        </p:blipFill>
        <p:spPr>
          <a:xfrm>
            <a:off x="548640" y="3364992"/>
            <a:ext cx="365760" cy="365760"/>
          </a:xfrm>
          <a:prstGeom prst="rect">
            <a:avLst/>
          </a:prstGeom>
        </p:spPr>
      </p:pic>
      <p:sp>
        <p:nvSpPr>
          <p:cNvPr id="11" name="TextBox 10"/>
          <p:cNvSpPr txBox="1"/>
          <p:nvPr/>
        </p:nvSpPr>
        <p:spPr>
          <a:xfrm>
            <a:off x="1051560" y="3346704"/>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scipy.stats.ttest_ind documentation</a:t>
            </a:r>
          </a:p>
        </p:txBody>
      </p:sp>
      <p:sp>
        <p:nvSpPr>
          <p:cNvPr id="12" name="TextBox 11"/>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SciPy  ·  DOCS  ·  ~5-8 min</a:t>
            </a:r>
          </a:p>
        </p:txBody>
      </p:sp>
      <p:sp>
        <p:nvSpPr>
          <p:cNvPr id="13" name="TextBox 12"/>
          <p:cNvSpPr txBox="1"/>
          <p:nvPr/>
        </p:nvSpPr>
        <p:spPr>
          <a:xfrm>
            <a:off x="1051560" y="4114800"/>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official reference for today's first test</a:t>
            </a:r>
          </a:p>
        </p:txBody>
      </p:sp>
      <p:pic>
        <p:nvPicPr>
          <p:cNvPr id="14" name="Picture 13" descr=""/>
          <p:cNvPicPr>
            <a:picLocks noChangeAspect="1"/>
          </p:cNvPicPr>
          <p:nvPr/>
        </p:nvPicPr>
        <p:blipFill>
          <a:blip r:embed="rId5"/>
          <a:stretch>
            <a:fillRect/>
          </a:stretch>
        </p:blipFill>
        <p:spPr>
          <a:xfrm>
            <a:off x="548640" y="4745736"/>
            <a:ext cx="365760" cy="365760"/>
          </a:xfrm>
          <a:prstGeom prst="rect">
            <a:avLst/>
          </a:prstGeom>
        </p:spPr>
      </p:pic>
      <p:sp>
        <p:nvSpPr>
          <p:cNvPr id="15" name="TextBox 14"/>
          <p:cNvSpPr txBox="1"/>
          <p:nvPr/>
        </p:nvSpPr>
        <p:spPr>
          <a:xfrm>
            <a:off x="1051560" y="4727448"/>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7"/>
              </a:rPr>
              <a:t>scipy.stats.chi2_contingency documentation</a:t>
            </a:r>
          </a:p>
        </p:txBody>
      </p:sp>
      <p:sp>
        <p:nvSpPr>
          <p:cNvPr id="16" name="TextBox 15"/>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SciPy  ·  DOCS  ·  ~5-8 min</a:t>
            </a:r>
          </a:p>
        </p:txBody>
      </p:sp>
      <p:sp>
        <p:nvSpPr>
          <p:cNvPr id="17" name="TextBox 16"/>
          <p:cNvSpPr txBox="1"/>
          <p:nvPr/>
        </p:nvSpPr>
        <p:spPr>
          <a:xfrm>
            <a:off x="1051560" y="5495544"/>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official reference for today's second 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