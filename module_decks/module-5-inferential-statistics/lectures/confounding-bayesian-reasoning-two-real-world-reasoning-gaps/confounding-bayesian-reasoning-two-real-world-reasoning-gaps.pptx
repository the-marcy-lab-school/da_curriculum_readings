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the shape of today honestly up front. Two real, separate reasoning gaps, one worked example each - not two versions of the same idea, and not meant to blend together in your notes.</a:t>
            </a:r>
          </a:p>
          <a:p/>
          <a:p>
            <a:r>
              <a:t>[SCRIPT] Say why both matter now specifically. Both show up as graded sections on your own project, and neither was taught by any earlier module - today is the only time either gets a real introduction before you're asked to use it independently.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Read both, then name the split plainly. The first is about catching something hidden. The second is about updating a belief honestly as real data arrives. Different skills, same standard: don't trust the first number you see.</a:t>
            </a:r>
          </a:p>
          <a:p/>
          <a:p>
            <a:r>
              <a:t>[SCRIPT] Name the project tie now, not just at the end. Both of today's skills are graded sections on your own project, solo, a few weeks from now - today is the only time either gets a real introduction first.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Names only for now. All four get a real definition as today's two worked examples unfold, and all four come back with their definitions right before the summary.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Ground this in the exact dataset from the last two classes - nothing new to load, a genuinely new question to ask of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State the naive finding plainly, as if it were the whole story. Biscoe penguins average roughly 1,000 grams heavier than Dream or Torgersen penguins. Real numbers, real gap.</a:t>
            </a:r>
          </a:p>
          <a:p/>
          <a:p>
            <a:r>
              <a:t>[SCRIPT] Resist explaining it yet. Let the room sit with the claim "island affects body mass" before anyone checks whether that claim actually holds up.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Pairs generate one real candidate explanation before the reveal. In person: circulate and listen for anyone naming species specifically. Online: post in chat. 2 minutes.</a:t>
            </a:r>
          </a:p>
          <a:p/>
          <a:p>
            <a:r>
              <a:t>[SCRIPT] Do not confirm or deny any specific guess yet. Collect a few out loud, then let the next slide answer it with real data instead of a guess.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Keep this beat short - the room already has a guess, now confirm the real number behind it.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Run it and confirm your own output matches: Biscoe 4716g, Dream 3713g, Torgersen 3706g. This is a real, correctly-run comparison - the problem isn't the code.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Call back directly to the chi-square result from two classes ago. Species and island were strongly associated - Gentoo only ever showed up on Biscoe, Chinstrap only on Dream.</a:t>
            </a:r>
          </a:p>
          <a:p/>
          <a:p>
            <a:r>
              <a:t>[SCRIPT] Connect the dot explicitly. Gentoo is also the heaviest species in this whole dataset, by a wide margin. Biscoe isn't a "heavier island." Biscoe is the island where all the Gentoo happen to live.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exactly what's about to change. Same comparison, same code shape, one added filter.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Run it and read the three real numbers out loud before the next slide names what they mean.</a:t>
            </a:r>
          </a:p>
          <a:p/>
          <a:p>
            <a:r>
              <a:t>[SCRIPT] Do not interpret yet - let the room actually notice the numbers are close before naming why.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Land the real comparison. Within Adelie only, the three islands average within about 22 grams of each other - nowhere close to the naive 1,000-gram gap.</a:t>
            </a:r>
          </a:p>
          <a:p/>
          <a:p>
            <a:r>
              <a:t>[SCRIPT] Name the mechanism precisely. Species was doing almost all the real work in the naive comparison. Island, on its own, barely matters once species is held constant.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the analogy before the formal term. Shoe size and reading ability really do correlate across a group of kids - and neither one causes the other. Age drives both at once.</a:t>
            </a:r>
          </a:p>
          <a:p/>
          <a:p>
            <a:r>
              <a:t>[SCRIPT] Attach the vocabulary once the picture lands. A confounding variable drives both sides of a comparison, making a link look real even when neither side is actually causing the other. Species, for the island/body-mass comparison, played exactly this role.</a:t>
            </a:r>
          </a:p>
          <a:p/>
          <a:p>
            <a:r>
              <a:t>[MISCONCEPTIONS] People hear this and conclude island truly has zero effect on anything. The actual finding is narrower: for body mass specifically, once species is held constant, island's own effect is small - not that island could never matter for anything else.</a:t>
            </a:r>
          </a:p>
          <a:p/>
          <a:p>
            <a:r>
              <a:t>[OTHER EXAMPLES] A backup is in the notebook if the shoe-size version does not land: ice cream sales and drowning deaths, both driven by summer heat.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Poll: read all three out loud, everyone answers at once. In person: call out A, B, or C on a count of three. Online: type A, B, or C in chat. 45 seconds.</a:t>
            </a:r>
          </a:p>
          <a:p/>
          <a:p>
            <a:r>
              <a:t>[SCRIPT] Confirm the room can apply the pattern to a brand-new example, not just recall the penguin one. Same shape every time: something else is driving both numbers at once.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answer: Fire size drives both firefighter count and damage</a:t>
            </a:r>
          </a:p>
          <a:p>
            <a:r>
              <a:t>Why: A bigger fire genuinely calls for more firefighters AND causes more damage - fire size drives both numbers at once. Neither firefighter count nor damage is causing the other; a bigger fire is the real confounder behind the correlation.</a:t>
            </a:r>
          </a:p>
          <a:p>
            <a:r>
              <a:t>Source: A standard textbook confounding example, structurally identical to the ice-cream/drowning and shoe-size/reading-ability cases from this lesson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[~35 min mark] Name the pivot cleanly. Completely different question: not "what's secretly driving this," but "how much should new data actually move what I believe."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the analogy before the terms. Tasting soup for saltiness: before the first spoonful, your guess is wide open. Each spoonful narrows it. That narrowing, spoonful by spoonful, is the whole idea.</a:t>
            </a:r>
          </a:p>
          <a:p/>
          <a:p>
            <a:r>
              <a:t>[SCRIPT] Attach the vocabulary once the picture lands. The prior is your belief before data. The posterior is your updated belief after folding in a real batch. Today's batches are real years of data, not spoonfuls, but the update logic is identical.</a:t>
            </a:r>
          </a:p>
          <a:p/>
          <a:p>
            <a:r>
              <a:t>[MISCONCEPTIONS] People treat the prior as a guess you're stuck with. The whole point is that it changes, batch by batch, as real evidence arrives - a prior is a starting point, not a commitment.</a:t>
            </a:r>
          </a:p>
          <a:p/>
          <a:p>
            <a:r>
              <a:t>[OTHER EXAMPLES] A backup is in the notebook if the soup version does not land: guessing an opponent's hand in a card game, narrowing with each new card played.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Say plainly that this is given, not derived. Beta(alpha, beta) is a standard way to represent a belief about an unknown true proportion. You apply the update rule today - proving why it works is out of scope.</a:t>
            </a:r>
          </a:p>
          <a:p/>
          <a:p>
            <a:r>
              <a:t>[SCRIPT] Walk the rule once, concretely. Start at alpha=1, beta=1 - a flat prior, every proportion equally likely. For each real batch, add the number of successes to alpha and the number of failures to beta. That's the whole update.</a:t>
            </a:r>
          </a:p>
          <a:p/>
          <a:p>
            <a:r>
              <a:t>[SOURCES] Beta(alpha, beta) is the real, standard conjugate prior for a binomial likelihood - confirmed against MIT OpenCourseWare 18.05's own conjugate-priors reading and Wikipedia's "Conjugate prior" table, both giving the identical update rule used here.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the real question before typing. Each year, what fraction of observed penguins were Gentoo? Watch the belief update as each year's batch arrives.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Run it and read all three years' output before the next slide interprets it.</a:t>
            </a:r>
          </a:p>
          <a:p/>
          <a:p>
            <a:r>
              <a:t>[SCRIPT] Name `.ppf` before moving on. It's the inverse of a cumulative distribution - plugging in .025 and .975 finds the two values bounding the middle 95% of the current belief. That range is what the next slide names formally.</a:t>
            </a:r>
          </a:p>
          <a:p/>
          <a:p>
            <a:r>
              <a:t>[SCRIPT] Confirm the real numbers as they print: 2007 mean≈0.312, 2008 mean≈0.358, 2009 mean≈0.361 - and the 95% range narrowing each year.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Walk the drift explicitly. Starting from a flat 50/50 guess, the belief moves to about 31% after 2007, then settles near 36% by 2009 - close to the true full-dataset proportion.</a:t>
            </a:r>
          </a:p>
          <a:p/>
          <a:p>
            <a:r>
              <a:t>[SCRIPT] Name the narrowing separately from the drift. The range's width shrinks from about 0.17 to 0.10 across the three years - the same real number of years, a genuinely tighter range each time.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Pairs compare the 2007-only mean (~0.312) to the 2009-final mean (~0.361) and name what changed. In person: circulate and ask for the actual numbers, not just "it got more accurate." Online: post in chat. 2 minutes.</a:t>
            </a:r>
          </a:p>
          <a:p/>
          <a:p>
            <a:r>
              <a:t>[SCRIPT] Target answer: the 2007-only belief was already in the right neighborhood, but the interval around it was wider - real, honest uncertainty that later years genuinely earned down.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Name the trap directly, since the two terms get used interchangeably constantly, including by working professionals. A confidence interval (from two classes ago) and a credible interval (today) are not the same claim.</a:t>
            </a:r>
          </a:p>
          <a:p/>
          <a:p>
            <a:r>
              <a:t>[SCRIPT] Say the real distinction precisely. A 95% confidence interval means: if you repeated the experiment many times, 95% of the computed intervals would contain the true value - it is not a 95% probability statement about this one interval. A 95% credible interval genuinely does support "there's a 95% chance the true value is in here," because Bayesian reasoning treats the unknown value itself as having a probability distribution.</a:t>
            </a:r>
          </a:p>
          <a:p/>
          <a:p>
            <a:r>
              <a:t>[MISCONCEPTIONS] Nearly everyone says "95% chance the true value is in this interval" about a confidence interval. That sentence is only actually true for a credible interval - confusing the two is one of the most common real misstatements in applied statistics.</a:t>
            </a:r>
          </a:p>
          <a:p/>
          <a:p>
            <a:r>
              <a:t>[SOURCES] Confirmed against Kevin Ross's "An Introduction to Bayesian Reasoning and Methods" (bookdown.org), which states the frequentist and Bayesian interpretations side by side in these exact terms.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[ACTIVITY] Force a pick before discussion. In person: move to one side of the room, then two people from each side say why. Online: type "confidence" or "credible" in chat at the same count. 3 minutes.</a:t>
            </a:r>
          </a:p>
          <a:p/>
          <a:p>
            <a:r>
              <a:t>[SCRIPT] Land the real answer. If a stakeholder genuinely wants "what is the probability the true value is in this range," only a credible interval actually answers that question - a confidence interval answers a different, more roundabout question about the method's own long-run behavior.</a:t>
            </a:r>
          </a:p>
          <a:p/>
          <a:p>
            <a:r>
              <a:t>[MISCONCEPTIONS] Someone will argue confidence intervals are just as good "close enough." The two are answering genuinely different questions, not two phrasings of the same one - this is exactly the kind of imprecision that leads someone to misquote their own result.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[TECHNIQUE] Investigation Framework (Observation, Hypothesis, Evidence, Recommendation) fits because this is a "how would you investigate" question, not a definition to recite - naming today's own confounder example as the evidence step shows real, applied thinking, not a memorized slogan.</a:t>
            </a:r>
          </a:p>
          <a:p/>
          <a:p>
            <a:r>
              <a:t>[SCRIPT] [~65 min mark] If you are already past 70 minutes, show the answer and skip the cold attempt. Otherwise have someone attempt it cold first.</a:t>
            </a:r>
          </a:p>
          <a:p/>
          <a:p>
            <a:r>
              <a:t>[SCRIPT] Coach against the slogan-only answer explicitly. "Correlation isn't causation" alone is the weak version of this answer - naming a specific confounder and a specific way to check it is the strong version.</a:t>
            </a:r>
          </a:p>
          <a:p/>
          <a:p>
            <a:r>
              <a:t>[SOURCES] Verified as a real, commonly asked data-analyst interview question (SkillScouter's own 54-question interview guide lists it directly), corroborated by multiple independent data-analyst interview-question roundups that all pair it with a confounding- variable example in the strong-answer pattern.</a:t>
            </a:r>
          </a:p>
          <a:p/>
          <a:p/>
          <a:p>
            <a:r>
              <a:t>Short answers:</a:t>
            </a:r>
          </a:p>
          <a:p/>
          <a:p>
            <a:r>
              <a:t>Q: What is the difference between correlation and causation?</a:t>
            </a:r>
          </a:p>
          <a:p>
            <a:r>
              <a:t>A: Observation: Two variables move together in the data. Hypothesis: A real causal link, a confounder, or pure chance could all produce that same pattern. Evidence: Check for a plausible confounder driving both sides, and whether a controlled comparison or designed experiment could isolate the real effect. Recommendation: Name the specific confounder you'd check first, and what data or design would actually rule it in or out - not just 'correlation isn't causation' as a slogan.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Fast round trip before the summary. Ask the room to supply "confounding variable" and "credible interval" from what they just did - those two are the pair today's whole example was built around.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Say the callback explicitly. The chi-square result from two classes ago wasn't just a test to run - it was the exact clue that explained today's confounding example.</a:t>
            </a:r>
          </a:p>
          <a:p/>
          <a:p>
            <a:r>
              <a:t>[SCRIPT] Preview the next two classes honestly. One is a full collaborative rep at naming a real confounder, on a genuinely different dataset than today's penguins. The other is a full rep at running this same batch-by-batch update, on a real proportion outcome of your own.</a:t>
            </a:r>
          </a:p>
          <a:p/>
          <a:p>
            <a:r>
              <a:t>[SCRIPT] Say the project tie out loud. Naming a real confounder for your own comparison, and running a real belief update on your own sequential data, are both graded sections on your own project, solo, a few weeks from now.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Frame the next class honestly - not new content, a real collaborative rep at today's first skill on data that hasn't already given away the answer.</a:t>
            </a:r>
          </a:p>
          <a:p/>
          <a:p>
            <a:r>
              <a:t>[SCRIPT] Remind people how to reach office hours rather than naming a time, and encourage anyone still unsure about the prior/posterior mechanics to raise it before the Bayesian lab.</a:t>
            </a:r>
          </a:p>
          <a:p/>
          <a:p>
            <a:r>
              <a:t>[SCRIPT] Close with the project tie one more time. Naming a real confounder and running a real belief update are both graded, solo, on your own data - today and the next two labs are the only rehearsal you get first.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Point at the interactive Bayesian visualizer specifically - dragging the sliders and watching the posterior shape change in real time is a different kind of understanding than reading the update rule.</a:t>
            </a:r>
          </a:p>
          <a:p/>
          <a:p>
            <a:r>
              <a:t>[SCRIPT] The MIT reading is the one to open only if today's "this is given, not derived" framing left someone wanting the real proof underneath - genuinely optional, not required for the lab.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hyperlink" Target="https://seeing-theory.brown.edu/bayesian-inference/index.html" TargetMode="External"/><Relationship Id="rId5" Type="http://schemas.openxmlformats.org/officeDocument/2006/relationships/image" Target="../media/image13.png"/><Relationship Id="rId6" Type="http://schemas.openxmlformats.org/officeDocument/2006/relationships/hyperlink" Target="https://www.nngroup.com/videos/confounding-variables-1/" TargetMode="External"/><Relationship Id="rId7" Type="http://schemas.openxmlformats.org/officeDocument/2006/relationships/image" Target="../media/image14.png"/><Relationship Id="rId8" Type="http://schemas.openxmlformats.org/officeDocument/2006/relationships/hyperlink" Target="https://ocw.mit.edu/courses/18-05-introduction-to-probability-and-statistics-spring-2022/mit18_05_s22_class15-prep.pdf" TargetMode="External"/><Relationship Id="rId9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FFFCF7"/>
                </a:solidFill>
                <a:latin typeface="Helvetica"/>
              </a:rPr>
              <a:t>THE MARCY LAB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8534186" cy="54864"/>
          </a:xfrm>
          <a:prstGeom prst="rect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6705295" cy="146304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EEBC32"/>
                </a:solidFill>
                <a:latin typeface="Helvetica"/>
              </a:rPr>
              <a:t>Confounding &amp; Bayesian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6705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FFFCF7"/>
                </a:solidFill>
                <a:latin typeface="Helvetica"/>
              </a:rPr>
              <a:t>Module 5: Inferential Statistics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02575" y="914400"/>
            <a:ext cx="3840480" cy="5029200"/>
          </a:xfrm>
          <a:prstGeom prst="roundRect">
            <a:avLst>
              <a:gd name="adj" fmla="val 3000"/>
            </a:avLst>
          </a:prstGeom>
          <a:solidFill>
            <a:srgbClr val="FFF6E4"/>
          </a:solidFill>
          <a:ln w="19050">
            <a:solidFill>
              <a:srgbClr val="A6C2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98482" y="1719072"/>
            <a:ext cx="154229" cy="154229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9372295" y="1845259"/>
            <a:ext cx="701040" cy="385572"/>
          </a:xfrm>
          <a:prstGeom prst="triangl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9735" y="2350008"/>
            <a:ext cx="356616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327A5F"/>
                </a:solidFill>
                <a:latin typeface="Helvetica"/>
              </a:rPr>
              <a:t>AI IMAGE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1175" y="2779776"/>
            <a:ext cx="3383280" cy="3072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1" u="none">
                <a:solidFill>
                  <a:srgbClr val="327A5F"/>
                </a:solidFill>
                <a:latin typeface="Fraunces"/>
              </a:rPr>
              <a:t>Flat illustration: A data analyst looking at two overlapping bar charts, one hand raised in a questioning gesture, genuinely curious rather than certain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By the End of Today, You'll Be Able To...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5432908" cy="2560320"/>
          </a:xfrm>
          <a:prstGeom prst="roundRect">
            <a:avLst>
              <a:gd name="adj" fmla="val 6000"/>
            </a:avLst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774" y="269748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429000"/>
            <a:ext cx="515858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Spot a real confounder in a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8" y="2468880"/>
            <a:ext cx="5432908" cy="2560320"/>
          </a:xfrm>
          <a:prstGeom prst="roundRect">
            <a:avLst>
              <a:gd name="adj" fmla="val 6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281" y="269748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47308" y="3429000"/>
            <a:ext cx="5158588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Explain what a prior and posterior 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Key Terms You'll Know by the End of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468880"/>
            <a:ext cx="2602154" cy="2560320"/>
          </a:xfrm>
          <a:prstGeom prst="roundRect">
            <a:avLst>
              <a:gd name="adj" fmla="val 6000"/>
            </a:avLst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397" y="269748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429000"/>
            <a:ext cx="2327834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confounding variable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4" y="2468880"/>
            <a:ext cx="2602154" cy="2560320"/>
          </a:xfrm>
          <a:prstGeom prst="roundRect">
            <a:avLst>
              <a:gd name="adj" fmla="val 6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151" y="269748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16554" y="3429000"/>
            <a:ext cx="2327834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prior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0148" y="2468880"/>
            <a:ext cx="2602154" cy="2560320"/>
          </a:xfrm>
          <a:prstGeom prst="roundRect">
            <a:avLst>
              <a:gd name="adj" fmla="val 6000"/>
            </a:avLst>
          </a:prstGeom>
          <a:solidFill>
            <a:srgbClr val="FECC5B"/>
          </a:solidFill>
          <a:ln w="50800">
            <a:solidFill>
              <a:srgbClr val="8367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6904" y="2697480"/>
            <a:ext cx="548640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47308" y="3429000"/>
            <a:ext cx="2327834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posterior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0901" y="2468880"/>
            <a:ext cx="2602154" cy="2560320"/>
          </a:xfrm>
          <a:prstGeom prst="roundRect">
            <a:avLst>
              <a:gd name="adj" fmla="val 6000"/>
            </a:avLst>
          </a:prstGeom>
          <a:solidFill>
            <a:srgbClr val="F7DFDF"/>
          </a:solidFill>
          <a:ln w="50800">
            <a:solidFill>
              <a:srgbClr val="C929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7658" y="2697480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78061" y="3429000"/>
            <a:ext cx="2327834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 i="0" u="none">
                <a:solidFill>
                  <a:srgbClr val="261F1D"/>
                </a:solidFill>
                <a:latin typeface="Helvetica"/>
              </a:rPr>
              <a:t>credible interval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Two Reasoning Gaps,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A Suspiciously Simple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Real Palmer Penguins data, one honest question: Are islands really different, or is something else going 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Biscoe Penguins Are Heavier... Or Are They?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70529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Biscoe: 4,716g average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Dream: 3,713g average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Torgersen: 3,706g average</a:t>
            </a:r>
          </a:p>
        </p:txBody>
      </p:sp>
      <p:sp>
        <p:nvSpPr>
          <p:cNvPr id="5" name="Oval 4"/>
          <p:cNvSpPr/>
          <p:nvPr/>
        </p:nvSpPr>
        <p:spPr>
          <a:xfrm>
            <a:off x="8532266" y="2581351"/>
            <a:ext cx="2381098" cy="2381098"/>
          </a:xfrm>
          <a:prstGeom prst="ellipse">
            <a:avLst/>
          </a:prstGeom>
          <a:solidFill>
            <a:srgbClr val="FECC5B"/>
          </a:solidFill>
          <a:ln w="50800">
            <a:solidFill>
              <a:srgbClr val="83671C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541" y="3176626"/>
            <a:ext cx="1190549" cy="11905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TURN AND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With your partner: Name one reason island itself might not be the real cause.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A Guess, on the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Check the Naive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Same pandas skill from the last two classes, one new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The Naive Comparison, in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import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pandas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as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pd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df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pd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read_csv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8BAC9"/>
                </a:solidFill>
                <a:latin typeface="Roboto Mono"/>
              </a:rPr>
              <a:t>palmer_penguins.csv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df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df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dropna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subset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[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8BAC9"/>
                </a:solidFill>
                <a:latin typeface="Roboto Mono"/>
              </a:rPr>
              <a:t>body_mass_g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FFCF7"/>
                </a:solidFill>
                <a:latin typeface="Roboto Mono"/>
              </a:rPr>
              <a:t>]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df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groupby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8BAC9"/>
                </a:solidFill>
                <a:latin typeface="Roboto Mono"/>
              </a:rPr>
              <a:t>island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[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8BAC9"/>
                </a:solidFill>
                <a:latin typeface="Roboto Mono"/>
              </a:rPr>
              <a:t>body_mass_g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FFCF7"/>
                </a:solidFill>
                <a:latin typeface="Roboto Mono"/>
              </a:rPr>
              <a:t>]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mean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What's Actually Different Between Islands?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70529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Recall it: Species and island are linked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Gentoo only ever appears on Biscoe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Gentoo is also the heaviest species</a:t>
            </a:r>
          </a:p>
        </p:txBody>
      </p:sp>
      <p:sp>
        <p:nvSpPr>
          <p:cNvPr id="5" name="Oval 4"/>
          <p:cNvSpPr/>
          <p:nvPr/>
        </p:nvSpPr>
        <p:spPr>
          <a:xfrm>
            <a:off x="8532266" y="2581351"/>
            <a:ext cx="2381098" cy="2381098"/>
          </a:xfrm>
          <a:prstGeom prst="ellipse">
            <a:avLst/>
          </a:prstGeom>
          <a:solidFill>
            <a:srgbClr val="DEEAF4"/>
          </a:solidFill>
          <a:ln w="50800">
            <a:solidFill>
              <a:srgbClr val="2274B5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541" y="3176626"/>
            <a:ext cx="1190549" cy="11905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A Real Candidate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Control for Species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Compare islands again, but only within one species this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The Controlled Comparison, in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adelie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df</a:t>
            </a:r>
            <a:r>
              <a:rPr sz="2600" i="0">
                <a:solidFill>
                  <a:srgbClr val="FFFCF7"/>
                </a:solidFill>
                <a:latin typeface="Roboto Mono"/>
              </a:rPr>
              <a:t>[</a:t>
            </a:r>
            <a:r>
              <a:rPr sz="2600" i="0">
                <a:solidFill>
                  <a:srgbClr val="FFFCF7"/>
                </a:solidFill>
                <a:latin typeface="Roboto Mono"/>
              </a:rPr>
              <a:t>df</a:t>
            </a:r>
            <a:r>
              <a:rPr sz="2600" i="0">
                <a:solidFill>
                  <a:srgbClr val="FFFCF7"/>
                </a:solidFill>
                <a:latin typeface="Roboto Mono"/>
              </a:rPr>
              <a:t>[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8BAC9"/>
                </a:solidFill>
                <a:latin typeface="Roboto Mono"/>
              </a:rPr>
              <a:t>species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FFCF7"/>
                </a:solidFill>
                <a:latin typeface="Roboto Mono"/>
              </a:rPr>
              <a:t>]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8BAC9"/>
                </a:solidFill>
                <a:latin typeface="Roboto Mono"/>
              </a:rPr>
              <a:t>Adelie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FFCF7"/>
                </a:solidFill>
                <a:latin typeface="Roboto Mono"/>
              </a:rPr>
              <a:t>]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adelie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groupby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8BAC9"/>
                </a:solidFill>
                <a:latin typeface="Roboto Mono"/>
              </a:rPr>
              <a:t>island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[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8BAC9"/>
                </a:solidFill>
                <a:latin typeface="Roboto Mono"/>
              </a:rPr>
              <a:t>body_mass_g</a:t>
            </a:r>
            <a:r>
              <a:rPr sz="2600" i="0">
                <a:solidFill>
                  <a:srgbClr val="F8BAC9"/>
                </a:solidFill>
                <a:latin typeface="Roboto Mono"/>
              </a:rPr>
              <a:t>"</a:t>
            </a:r>
            <a:r>
              <a:rPr sz="2600" i="0">
                <a:solidFill>
                  <a:srgbClr val="FFFCF7"/>
                </a:solidFill>
                <a:latin typeface="Roboto Mono"/>
              </a:rPr>
              <a:t>]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mean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20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The Island Effect Nearly Disappears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70529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Biscoe: 3,710g. Dream: 3,688g. Torgersen: 3,706g.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22-gram spread, not a 1,000-gram one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Species drove the naive result</a:t>
            </a:r>
          </a:p>
        </p:txBody>
      </p:sp>
      <p:sp>
        <p:nvSpPr>
          <p:cNvPr id="5" name="Oval 4"/>
          <p:cNvSpPr/>
          <p:nvPr/>
        </p:nvSpPr>
        <p:spPr>
          <a:xfrm>
            <a:off x="8532266" y="2581351"/>
            <a:ext cx="2381098" cy="2381098"/>
          </a:xfrm>
          <a:prstGeom prst="ellipse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541" y="3176626"/>
            <a:ext cx="1190549" cy="11905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Confounding Variable: The Formal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1950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Drives both sides of a comparison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Can make a fake link look real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Check for one before trusting a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322320"/>
            <a:ext cx="11094415" cy="3032760"/>
          </a:xfrm>
          <a:prstGeom prst="roundRect">
            <a:avLst>
              <a:gd name="adj" fmla="val 10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322320"/>
            <a:ext cx="10637215" cy="3032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4326"/>
                </a:solidFill>
                <a:latin typeface="Helvetica"/>
              </a:rPr>
              <a:t>Analogy: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Across a group of kids, shoe size and reading ability are genuinely correlated - bigger shoes really do line up with better reading scores. Buying bigger shoes doesn't improve reading, and better reading doesn't grow feet. Age drives both at once: older kids have bigger feet and have had more years of practice reading. Age is the real confounder hiding behind a correlation that looks, at a glance, like one thing causing the other.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QUICK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A study finds towns with more firefighters also have more fire damage. What's the real confounder?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45775" cy="2560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A.  Firefighters cause fires to spread further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B.  Fire size drives both firefighter count and damage</a:t>
            </a:r>
          </a:p>
          <a:p>
            <a:pPr>
              <a:spcAft>
                <a:spcPts val="1000"/>
              </a:spcAft>
            </a:pPr>
            <a:r>
              <a:rPr sz="2600" b="0" i="0" u="none">
                <a:solidFill>
                  <a:srgbClr val="261F1D"/>
                </a:solidFill>
                <a:latin typeface="Helvetica"/>
              </a:rPr>
              <a:t>C.  More fire damage attracts new firefighters to town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C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66928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Answer Key: Firefighters and Fire Damage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Correct answer: Fire size drives both firefighter count and damage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7168"/>
            <a:ext cx="11094415" cy="228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A bigger fire genuinely calls for more firefighters AND causes more damage - fire size drives both numbers at once. Neither firefighter count nor damage is causing the other; a bigger fire is the real confounder behind the correlation.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784037" y="556870"/>
            <a:ext cx="623621" cy="623621"/>
          </a:xfrm>
          <a:prstGeom prst="ellipse">
            <a:avLst/>
          </a:prstGeom>
          <a:solidFill>
            <a:srgbClr val="DEEAF4"/>
          </a:solidFill>
          <a:ln w="50800">
            <a:solidFill>
              <a:srgbClr val="2274B5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942" y="712775"/>
            <a:ext cx="311810" cy="3118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50876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One Reasoning Gap, 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A Second Kind of Reasoning: Updating Belief as Data Arrives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Confounding was about a hidden variable. This is about how a real belief should change as more real data comes 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Before Any Data: What Do You Believe?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23444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prior: Your belief, before you've looked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posterior: Your belief, after real data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Each new batch updates the last belief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716020"/>
            <a:ext cx="11094415" cy="2639060"/>
          </a:xfrm>
          <a:prstGeom prst="roundRect">
            <a:avLst>
              <a:gd name="adj" fmla="val 10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16020"/>
            <a:ext cx="10637215" cy="26390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4326"/>
                </a:solidFill>
                <a:latin typeface="Helvetica"/>
              </a:rPr>
              <a:t>Analogy: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Tasting a big pot of soup for saltiness works the same way. Before the first taste, your best guess is a flat, wide-open one - could be bland, could be salty. Each spoonful is a real batch of evidence. After each one, you update your belief about the true saltiness, and you get more confident - a narrower range of guesses - the more spoonfuls you taste.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The Mechanics: Two Running Counters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70529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Start with a flat, wide-open belief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Each batch updates both running counters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Posterior mean: A simple ratio</a:t>
            </a:r>
          </a:p>
        </p:txBody>
      </p:sp>
      <p:sp>
        <p:nvSpPr>
          <p:cNvPr id="5" name="Oval 4"/>
          <p:cNvSpPr/>
          <p:nvPr/>
        </p:nvSpPr>
        <p:spPr>
          <a:xfrm>
            <a:off x="8532266" y="2581351"/>
            <a:ext cx="2381098" cy="2381098"/>
          </a:xfrm>
          <a:prstGeom prst="ellipse">
            <a:avLst/>
          </a:prstGeom>
          <a:solidFill>
            <a:srgbClr val="FECC5B"/>
          </a:solidFill>
          <a:ln w="50800">
            <a:solidFill>
              <a:srgbClr val="83671C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541" y="3176626"/>
            <a:ext cx="1190549" cy="119054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EEBC32"/>
                </a:solidFill>
                <a:latin typeface="Helvetica"/>
              </a:rPr>
              <a:t>The Rule, Named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Code Along: Update Belief, Batch by 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Real Palmer Penguins data, one real year at a time, in real chronological order.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Run the Real Update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11094415" cy="5349240"/>
          </a:xfrm>
          <a:prstGeom prst="roundRect">
            <a:avLst>
              <a:gd name="adj" fmla="val 3500"/>
            </a:avLst>
          </a:prstGeom>
          <a:solidFill>
            <a:srgbClr val="261F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197864"/>
            <a:ext cx="118872" cy="118872"/>
          </a:xfrm>
          <a:prstGeom prst="ellipse">
            <a:avLst/>
          </a:prstGeom>
          <a:solidFill>
            <a:srgbClr val="C9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197864"/>
            <a:ext cx="118872" cy="118872"/>
          </a:xfrm>
          <a:prstGeom prst="ellipse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" y="1197864"/>
            <a:ext cx="118872" cy="118872"/>
          </a:xfrm>
          <a:prstGeom prst="ellipse">
            <a:avLst/>
          </a:prstGeom>
          <a:solidFill>
            <a:srgbClr val="32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48495" y="10058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2600" b="0" i="0" u="none">
                <a:solidFill>
                  <a:srgbClr val="B3BBB0"/>
                </a:solidFill>
                <a:latin typeface="Roboto Mono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36776"/>
            <a:ext cx="10582351" cy="45902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from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scipy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EEBC32"/>
                </a:solidFill>
                <a:latin typeface="Roboto Mono"/>
              </a:rPr>
              <a:t>import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stats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alpha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beta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batches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[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2007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34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110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2008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46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114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2009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44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120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]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EEBC32"/>
                </a:solidFill>
                <a:latin typeface="Roboto Mono"/>
              </a:rPr>
              <a:t>for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year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k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in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batches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: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alpha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+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k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beta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+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-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k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mean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alpha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/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alpha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+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beta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=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stats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beta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ppf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[</a:t>
            </a:r>
            <a:r>
              <a:rPr sz="2600" i="0">
                <a:solidFill>
                  <a:srgbClr val="659B87"/>
                </a:solidFill>
                <a:latin typeface="Roboto Mono"/>
              </a:rPr>
              <a:t>.025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.975</a:t>
            </a:r>
            <a:r>
              <a:rPr sz="2600" i="0">
                <a:solidFill>
                  <a:srgbClr val="FFFCF7"/>
                </a:solidFill>
                <a:latin typeface="Roboto Mono"/>
              </a:rPr>
              <a:t>]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alpha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beta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  <a:r>
              <a:rPr sz="2600" i="0">
                <a:solidFill>
                  <a:srgbClr val="FFFCF7"/>
                </a:solidFill>
                <a:latin typeface="Roboto Mono"/>
              </a:rPr>
              <a:t>    </a:t>
            </a:r>
            <a:r>
              <a:rPr sz="2600" i="0">
                <a:solidFill>
                  <a:srgbClr val="5996C7"/>
                </a:solidFill>
                <a:latin typeface="Roboto Mono"/>
              </a:rPr>
              <a:t>print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year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5996C7"/>
                </a:solidFill>
                <a:latin typeface="Roboto Mono"/>
              </a:rPr>
              <a:t>round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FFFCF7"/>
                </a:solidFill>
                <a:latin typeface="Roboto Mono"/>
              </a:rPr>
              <a:t>mean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659B87"/>
                </a:solidFill>
                <a:latin typeface="Roboto Mono"/>
              </a:rPr>
              <a:t>3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,</a:t>
            </a:r>
            <a:r>
              <a:rPr sz="2600" i="0">
                <a:solidFill>
                  <a:srgbClr val="FFFCF7"/>
                </a:solidFill>
                <a:latin typeface="Roboto Mono"/>
              </a:rPr>
              <a:t> </a:t>
            </a:r>
            <a:r>
              <a:rPr sz="2600" i="0">
                <a:solidFill>
                  <a:srgbClr val="FFFCF7"/>
                </a:solidFill>
                <a:latin typeface="Roboto Mono"/>
              </a:rPr>
              <a:t>ci</a:t>
            </a:r>
            <a:r>
              <a:rPr sz="2600" i="0">
                <a:solidFill>
                  <a:srgbClr val="FFFCF7"/>
                </a:solidFill>
                <a:latin typeface="Roboto Mono"/>
              </a:rPr>
              <a:t>.</a:t>
            </a:r>
            <a:r>
              <a:rPr sz="2600" i="0">
                <a:solidFill>
                  <a:srgbClr val="FFFCF7"/>
                </a:solidFill>
                <a:latin typeface="Roboto Mono"/>
              </a:rPr>
              <a:t>round</a:t>
            </a:r>
            <a:r>
              <a:rPr sz="2600" i="0">
                <a:solidFill>
                  <a:srgbClr val="FFFCF7"/>
                </a:solidFill>
                <a:latin typeface="Roboto Mono"/>
              </a:rPr>
              <a:t>(</a:t>
            </a:r>
            <a:r>
              <a:rPr sz="2600" i="0">
                <a:solidFill>
                  <a:srgbClr val="659B87"/>
                </a:solidFill>
                <a:latin typeface="Roboto Mono"/>
              </a:rPr>
              <a:t>3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  <a:r>
              <a:rPr sz="2600" i="0">
                <a:solidFill>
                  <a:srgbClr val="FFFCF7"/>
                </a:solidFill>
                <a:latin typeface="Roboto Mono"/>
              </a:rPr>
              <a:t>)</a:t>
            </a:r>
          </a:p>
          <a:p>
            <a:pPr>
              <a:lnSpc>
                <a:spcPct val="105000"/>
              </a:lnSpc>
              <a:defRPr sz="2600">
                <a:latin typeface="Roboto Mono"/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Reading the Real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70529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Belief drifts from 50% toward truth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Each year's interval gets narrower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More data means more certainty</a:t>
            </a:r>
          </a:p>
        </p:txBody>
      </p:sp>
      <p:sp>
        <p:nvSpPr>
          <p:cNvPr id="5" name="Oval 4"/>
          <p:cNvSpPr/>
          <p:nvPr/>
        </p:nvSpPr>
        <p:spPr>
          <a:xfrm>
            <a:off x="8532266" y="2581351"/>
            <a:ext cx="2381098" cy="2381098"/>
          </a:xfrm>
          <a:prstGeom prst="ellipse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541" y="3176626"/>
            <a:ext cx="1190549" cy="11905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TURN AND 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If you'd stopped after only 2007's batch, how would your belief have compared to the full three-year picture?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One Word, Two Different Meanings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70529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Confidence interval: A frequentist idea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Credible interval: Today's Bayesian idea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Only one truly means 95% chance</a:t>
            </a:r>
          </a:p>
        </p:txBody>
      </p:sp>
      <p:sp>
        <p:nvSpPr>
          <p:cNvPr id="5" name="Oval 4"/>
          <p:cNvSpPr/>
          <p:nvPr/>
        </p:nvSpPr>
        <p:spPr>
          <a:xfrm>
            <a:off x="8532266" y="2581351"/>
            <a:ext cx="2381098" cy="2381098"/>
          </a:xfrm>
          <a:prstGeom prst="ellipse">
            <a:avLst/>
          </a:prstGeom>
          <a:solidFill>
            <a:srgbClr val="F7DFDF"/>
          </a:solidFill>
          <a:ln w="50800">
            <a:solidFill>
              <a:srgbClr val="C92929"/>
            </a:solidFill>
          </a:ln>
          <a:effectLst>
            <a:outerShdw blurRad="152400" dist="50800" dir="2700000" rotWithShape="0">
              <a:srgbClr val="1A1A1A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541" y="3176626"/>
            <a:ext cx="1190549" cy="11905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WOULD YOU RATHER?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Would you rather report a confidence interval or a credible interval to a stakeholder who wants a real probability statement?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545775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INTERVIEW PREP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Topics You Might Get Asked About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45775" cy="3474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What is the difference between correlation and causation?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57200"/>
            <a:ext cx="11094415" cy="54864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36576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4440" y="457200"/>
            <a:ext cx="10271455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INTERVIEW PREP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What is the difference between correlation and causation?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11094415" cy="3611880"/>
          </a:xfrm>
          <a:prstGeom prst="roundRect">
            <a:avLst>
              <a:gd name="adj" fmla="val 6000"/>
            </a:avLst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10545775" cy="3154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4326"/>
                </a:solidFill>
                <a:latin typeface="Helvetica"/>
              </a:rPr>
              <a:t>Answer: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 Observation: Two variables move together in the data. Hypothesis: A real causal link, a confounder, or pure chance could all produce that same pattern. Evidence: Check for a plausible confounder driving both sides, and whether a controlled comparison or designed experiment could isolate the real effect. Recommendation: Name the specific confounder you'd check first, and what data or design would actually rule it in or out - not just 'correlation isn't causation' as a slogan.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Key Terms — Recap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41932"/>
          <a:ext cx="11094415" cy="4014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confounding variable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Drives both sides of a comparison, hiding the real story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prior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Your belief about a true proportion, before real data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posterior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Your updated belief, after folding in real data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credible interval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range that genuinely supports a real probability claim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So far, we've covered...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real confounder, found inside real data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Naive versus controlled, side by side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prior updated into a real posterior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Credible intervals versus confidence intervals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8872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Next: Naming a Real Confounder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21031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A dataset you have not seen yet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Your own comparison, your own confounder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The same judgment call, on your 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109441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EEBC32"/>
                </a:solidFill>
                <a:latin typeface="Helvetica"/>
              </a:rPr>
              <a:t>Next: Naming a Real Confounder (lab, with a partner)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solidFill>
            <a:srgbClr val="A6C2B4"/>
          </a:solidFill>
          <a:ln w="50800">
            <a:solidFill>
              <a:srgbClr val="2643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45775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61F1D"/>
                </a:solidFill>
                <a:latin typeface="Helvetica"/>
              </a:rPr>
              <a:t>KEEP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Where to Go From Here</a:t>
            </a:r>
          </a:p>
        </p:txBody>
      </p:sp>
      <p:pic>
        <p:nvPicPr>
          <p:cNvPr id="6" name="Picture 5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84248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965960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274B5"/>
                </a:solidFill>
                <a:latin typeface="Helvetica"/>
                <a:hlinkClick r:id="rId4"/>
              </a:rPr>
              <a:t>Bayesian Inference (Interactive)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50008"/>
            <a:ext cx="10591495" cy="7680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Seeing Theory, Brown University  ·  PRACTICE  ·  ~10-15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18104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Drag sliders and watch a posterior form</a:t>
            </a:r>
          </a:p>
        </p:txBody>
      </p:sp>
      <p:pic>
        <p:nvPicPr>
          <p:cNvPr id="10" name="Picture 9" descr="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49040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3730752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274B5"/>
                </a:solidFill>
                <a:latin typeface="Helvetica"/>
                <a:hlinkClick r:id="rId6"/>
              </a:rPr>
              <a:t>Confounding Variables 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14800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Nielsen Norman Group  ·  VIDEO  ·  ~3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498848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A short, plain-language confounding explainer</a:t>
            </a:r>
          </a:p>
        </p:txBody>
      </p:sp>
      <p:pic>
        <p:nvPicPr>
          <p:cNvPr id="14" name="Picture 13" descr="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129784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5111496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2274B5"/>
                </a:solidFill>
                <a:latin typeface="Helvetica"/>
                <a:hlinkClick r:id="rId8"/>
              </a:rPr>
              <a:t>Conjugate Priors: Beta and 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95544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327A5F"/>
                </a:solidFill>
                <a:latin typeface="Helvetica"/>
              </a:rPr>
              <a:t>MIT OpenCourseWare  ·  DOCS  ·  ~20-30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879592"/>
            <a:ext cx="1059149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261F1D"/>
                </a:solidFill>
                <a:latin typeface="Helvetica"/>
              </a:rPr>
              <a:t>The real math behind today's update rule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